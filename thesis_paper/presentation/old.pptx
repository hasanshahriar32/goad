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73" r:id="rId3"/>
    <p:sldId id="274" r:id="rId4"/>
    <p:sldId id="275" r:id="rId5"/>
    <p:sldId id="260" r:id="rId6"/>
    <p:sldId id="262" r:id="rId7"/>
    <p:sldId id="270" r:id="rId8"/>
    <p:sldId id="271" r:id="rId9"/>
    <p:sldId id="272" r:id="rId10"/>
    <p:sldId id="263" r:id="rId11"/>
    <p:sldId id="264" r:id="rId12"/>
    <p:sldId id="265" r:id="rId13"/>
    <p:sldId id="266" r:id="rId14"/>
    <p:sldId id="267" r:id="rId15"/>
  </p:sldIdLst>
  <p:sldSz cx="18288000" cy="10287000"/>
  <p:notesSz cx="6858000" cy="9144000"/>
  <p:embeddedFontLst>
    <p:embeddedFont>
      <p:font typeface="Big Shoulders Display Bold" panose="020B0604020202020204" charset="0"/>
      <p:regular r:id="rId16"/>
    </p:embeddedFont>
    <p:embeddedFont>
      <p:font typeface="Calibri (MS)" panose="020B0604020202020204" charset="0"/>
      <p:regular r:id="rId17"/>
    </p:embeddedFont>
    <p:embeddedFont>
      <p:font typeface="Telegraf Bold" panose="020B0604020202020204" charset="0"/>
      <p:regular r:id="rId18"/>
    </p:embeddedFont>
    <p:embeddedFont>
      <p:font typeface="Times New Roman Bold" panose="02020803070505020304" pitchFamily="18" charset="0"/>
      <p:regular r:id="rId19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2" d="100"/>
          <a:sy n="62" d="100"/>
        </p:scale>
        <p:origin x="1146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2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18" Type="http://schemas.openxmlformats.org/officeDocument/2006/relationships/image" Target="../media/image25.svg"/><Relationship Id="rId3" Type="http://schemas.openxmlformats.org/officeDocument/2006/relationships/image" Target="../media/image2.png"/><Relationship Id="rId21" Type="http://schemas.openxmlformats.org/officeDocument/2006/relationships/image" Target="../media/image28.png"/><Relationship Id="rId7" Type="http://schemas.openxmlformats.org/officeDocument/2006/relationships/image" Target="../media/image14.sv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image" Target="../media/image1.jpeg"/><Relationship Id="rId16" Type="http://schemas.openxmlformats.org/officeDocument/2006/relationships/image" Target="../media/image23.svg"/><Relationship Id="rId20" Type="http://schemas.openxmlformats.org/officeDocument/2006/relationships/image" Target="../media/image2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19" Type="http://schemas.openxmlformats.org/officeDocument/2006/relationships/image" Target="../media/image26.png"/><Relationship Id="rId4" Type="http://schemas.openxmlformats.org/officeDocument/2006/relationships/image" Target="../media/image11.png"/><Relationship Id="rId9" Type="http://schemas.openxmlformats.org/officeDocument/2006/relationships/image" Target="../media/image16.svg"/><Relationship Id="rId14" Type="http://schemas.openxmlformats.org/officeDocument/2006/relationships/image" Target="../media/image21.svg"/><Relationship Id="rId22" Type="http://schemas.openxmlformats.org/officeDocument/2006/relationships/image" Target="../media/image2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5.png"/><Relationship Id="rId7" Type="http://schemas.openxmlformats.org/officeDocument/2006/relationships/image" Target="../media/image4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36.svg"/><Relationship Id="rId9" Type="http://schemas.openxmlformats.org/officeDocument/2006/relationships/image" Target="../media/image3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13" Type="http://schemas.openxmlformats.org/officeDocument/2006/relationships/image" Target="../media/image46.svg"/><Relationship Id="rId3" Type="http://schemas.openxmlformats.org/officeDocument/2006/relationships/image" Target="../media/image5.png"/><Relationship Id="rId7" Type="http://schemas.openxmlformats.org/officeDocument/2006/relationships/image" Target="../media/image41.png"/><Relationship Id="rId12" Type="http://schemas.openxmlformats.org/officeDocument/2006/relationships/image" Target="../media/image4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svg"/><Relationship Id="rId11" Type="http://schemas.openxmlformats.org/officeDocument/2006/relationships/image" Target="../media/image44.svg"/><Relationship Id="rId5" Type="http://schemas.openxmlformats.org/officeDocument/2006/relationships/image" Target="../media/image39.png"/><Relationship Id="rId15" Type="http://schemas.openxmlformats.org/officeDocument/2006/relationships/image" Target="../media/image48.svg"/><Relationship Id="rId10" Type="http://schemas.openxmlformats.org/officeDocument/2006/relationships/image" Target="../media/image43.png"/><Relationship Id="rId4" Type="http://schemas.openxmlformats.org/officeDocument/2006/relationships/image" Target="../media/image6.svg"/><Relationship Id="rId9" Type="http://schemas.openxmlformats.org/officeDocument/2006/relationships/image" Target="../media/image2.png"/><Relationship Id="rId14" Type="http://schemas.openxmlformats.org/officeDocument/2006/relationships/image" Target="../media/image4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13" Type="http://schemas.openxmlformats.org/officeDocument/2006/relationships/image" Target="../media/image46.svg"/><Relationship Id="rId18" Type="http://schemas.openxmlformats.org/officeDocument/2006/relationships/image" Target="../media/image51.svg"/><Relationship Id="rId3" Type="http://schemas.openxmlformats.org/officeDocument/2006/relationships/image" Target="../media/image5.png"/><Relationship Id="rId7" Type="http://schemas.openxmlformats.org/officeDocument/2006/relationships/image" Target="../media/image41.png"/><Relationship Id="rId12" Type="http://schemas.openxmlformats.org/officeDocument/2006/relationships/image" Target="../media/image45.png"/><Relationship Id="rId17" Type="http://schemas.openxmlformats.org/officeDocument/2006/relationships/image" Target="../media/image50.png"/><Relationship Id="rId2" Type="http://schemas.openxmlformats.org/officeDocument/2006/relationships/image" Target="../media/image1.jpeg"/><Relationship Id="rId16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svg"/><Relationship Id="rId11" Type="http://schemas.openxmlformats.org/officeDocument/2006/relationships/image" Target="../media/image44.svg"/><Relationship Id="rId5" Type="http://schemas.openxmlformats.org/officeDocument/2006/relationships/image" Target="../media/image39.png"/><Relationship Id="rId15" Type="http://schemas.openxmlformats.org/officeDocument/2006/relationships/image" Target="../media/image48.svg"/><Relationship Id="rId10" Type="http://schemas.openxmlformats.org/officeDocument/2006/relationships/image" Target="../media/image43.png"/><Relationship Id="rId4" Type="http://schemas.openxmlformats.org/officeDocument/2006/relationships/image" Target="../media/image6.svg"/><Relationship Id="rId9" Type="http://schemas.openxmlformats.org/officeDocument/2006/relationships/image" Target="../media/image2.png"/><Relationship Id="rId14" Type="http://schemas.openxmlformats.org/officeDocument/2006/relationships/image" Target="../media/image4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13" Type="http://schemas.openxmlformats.org/officeDocument/2006/relationships/image" Target="../media/image46.svg"/><Relationship Id="rId18" Type="http://schemas.openxmlformats.org/officeDocument/2006/relationships/image" Target="../media/image53.gif"/><Relationship Id="rId3" Type="http://schemas.openxmlformats.org/officeDocument/2006/relationships/image" Target="../media/image5.png"/><Relationship Id="rId7" Type="http://schemas.openxmlformats.org/officeDocument/2006/relationships/image" Target="../media/image41.png"/><Relationship Id="rId12" Type="http://schemas.openxmlformats.org/officeDocument/2006/relationships/image" Target="../media/image45.png"/><Relationship Id="rId17" Type="http://schemas.openxmlformats.org/officeDocument/2006/relationships/image" Target="../media/image52.jpeg"/><Relationship Id="rId2" Type="http://schemas.openxmlformats.org/officeDocument/2006/relationships/image" Target="../media/image1.jpeg"/><Relationship Id="rId16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svg"/><Relationship Id="rId11" Type="http://schemas.openxmlformats.org/officeDocument/2006/relationships/image" Target="../media/image44.svg"/><Relationship Id="rId5" Type="http://schemas.openxmlformats.org/officeDocument/2006/relationships/image" Target="../media/image39.png"/><Relationship Id="rId15" Type="http://schemas.openxmlformats.org/officeDocument/2006/relationships/image" Target="../media/image48.svg"/><Relationship Id="rId10" Type="http://schemas.openxmlformats.org/officeDocument/2006/relationships/image" Target="../media/image43.png"/><Relationship Id="rId4" Type="http://schemas.openxmlformats.org/officeDocument/2006/relationships/image" Target="../media/image6.svg"/><Relationship Id="rId9" Type="http://schemas.openxmlformats.org/officeDocument/2006/relationships/image" Target="../media/image2.png"/><Relationship Id="rId14" Type="http://schemas.openxmlformats.org/officeDocument/2006/relationships/image" Target="../media/image4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13" Type="http://schemas.openxmlformats.org/officeDocument/2006/relationships/image" Target="../media/image46.svg"/><Relationship Id="rId18" Type="http://schemas.openxmlformats.org/officeDocument/2006/relationships/image" Target="../media/image51.svg"/><Relationship Id="rId3" Type="http://schemas.openxmlformats.org/officeDocument/2006/relationships/image" Target="../media/image5.png"/><Relationship Id="rId7" Type="http://schemas.openxmlformats.org/officeDocument/2006/relationships/image" Target="../media/image41.png"/><Relationship Id="rId12" Type="http://schemas.openxmlformats.org/officeDocument/2006/relationships/image" Target="../media/image45.png"/><Relationship Id="rId17" Type="http://schemas.openxmlformats.org/officeDocument/2006/relationships/image" Target="../media/image50.png"/><Relationship Id="rId2" Type="http://schemas.openxmlformats.org/officeDocument/2006/relationships/image" Target="../media/image1.jpeg"/><Relationship Id="rId16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svg"/><Relationship Id="rId11" Type="http://schemas.openxmlformats.org/officeDocument/2006/relationships/image" Target="../media/image44.svg"/><Relationship Id="rId5" Type="http://schemas.openxmlformats.org/officeDocument/2006/relationships/image" Target="../media/image39.png"/><Relationship Id="rId15" Type="http://schemas.openxmlformats.org/officeDocument/2006/relationships/image" Target="../media/image48.svg"/><Relationship Id="rId10" Type="http://schemas.openxmlformats.org/officeDocument/2006/relationships/image" Target="../media/image43.png"/><Relationship Id="rId4" Type="http://schemas.openxmlformats.org/officeDocument/2006/relationships/image" Target="../media/image6.svg"/><Relationship Id="rId9" Type="http://schemas.openxmlformats.org/officeDocument/2006/relationships/image" Target="../media/image2.png"/><Relationship Id="rId14" Type="http://schemas.openxmlformats.org/officeDocument/2006/relationships/image" Target="../media/image4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svg"/><Relationship Id="rId5" Type="http://schemas.openxmlformats.org/officeDocument/2006/relationships/image" Target="../media/image57.png"/><Relationship Id="rId4" Type="http://schemas.openxmlformats.org/officeDocument/2006/relationships/image" Target="../media/image56.svg"/><Relationship Id="rId9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66.png"/><Relationship Id="rId4" Type="http://schemas.openxmlformats.org/officeDocument/2006/relationships/image" Target="../media/image65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6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76700" y="-4076700"/>
            <a:ext cx="10287000" cy="184404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150355" y="8073419"/>
            <a:ext cx="905853" cy="1151752"/>
          </a:xfrm>
          <a:custGeom>
            <a:avLst/>
            <a:gdLst/>
            <a:ahLst/>
            <a:cxnLst/>
            <a:rect l="l" t="t" r="r" b="b"/>
            <a:pathLst>
              <a:path w="905853" h="1151752">
                <a:moveTo>
                  <a:pt x="0" y="0"/>
                </a:moveTo>
                <a:lnTo>
                  <a:pt x="905853" y="0"/>
                </a:lnTo>
                <a:lnTo>
                  <a:pt x="905853" y="1151751"/>
                </a:lnTo>
                <a:lnTo>
                  <a:pt x="0" y="11517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71698" y="1224511"/>
            <a:ext cx="16736126" cy="1257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1"/>
              </a:lnSpc>
            </a:pPr>
            <a:r>
              <a:rPr lang="en-US" sz="3501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 BLOCKCHAIN-ENABLED FEDERATED LEARNING FRAMEWORK FOR</a:t>
            </a:r>
          </a:p>
          <a:p>
            <a:pPr algn="ctr">
              <a:lnSpc>
                <a:spcPts val="3151"/>
              </a:lnSpc>
            </a:pPr>
            <a:endParaRPr lang="en-US" sz="3501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ctr">
              <a:lnSpc>
                <a:spcPts val="3151"/>
              </a:lnSpc>
            </a:pPr>
            <a:r>
              <a:rPr lang="en-US" sz="3501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PRIVACY-PRESERVING HISTOPATHOLOGICAL IMAGE CLASSIFICATION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71846" y="6851741"/>
            <a:ext cx="3535831" cy="391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3030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Date: February 22, 2026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98029" y="3388456"/>
            <a:ext cx="5236315" cy="879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500" b="1">
                <a:solidFill>
                  <a:srgbClr val="3030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Course Code</a:t>
            </a:r>
            <a:r>
              <a:rPr lang="en-US" sz="25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ECE 402 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b="1">
                <a:solidFill>
                  <a:srgbClr val="3030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Course Title</a:t>
            </a:r>
            <a:r>
              <a:rPr lang="en-US" sz="25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Project and Thesis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341864" y="4658454"/>
            <a:ext cx="1595795" cy="391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3030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Prepared By-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298029" y="5491535"/>
            <a:ext cx="5589171" cy="15569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b="1" dirty="0">
                <a:solidFill>
                  <a:srgbClr val="3030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Student ID</a:t>
            </a:r>
            <a:r>
              <a:rPr lang="en-US" sz="2200" dirty="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2002126 </a:t>
            </a:r>
            <a:r>
              <a:rPr lang="en-US" sz="2200" b="1" dirty="0">
                <a:solidFill>
                  <a:srgbClr val="3030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Level</a:t>
            </a:r>
            <a:r>
              <a:rPr lang="en-US" sz="2200" dirty="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:4,</a:t>
            </a:r>
            <a:r>
              <a:rPr lang="en-US" sz="2200" b="1" dirty="0">
                <a:solidFill>
                  <a:srgbClr val="3030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200" b="1" dirty="0" err="1">
                <a:solidFill>
                  <a:srgbClr val="3030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Semester</a:t>
            </a:r>
            <a:r>
              <a:rPr lang="en-US" sz="2200" dirty="0" err="1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:I</a:t>
            </a:r>
            <a:endParaRPr lang="en-US" sz="2200" dirty="0">
              <a:solidFill>
                <a:srgbClr val="30303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b="1" dirty="0">
                <a:solidFill>
                  <a:srgbClr val="3030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Student ID:</a:t>
            </a:r>
            <a:r>
              <a:rPr lang="en-US" sz="2200" dirty="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2002138 </a:t>
            </a:r>
            <a:r>
              <a:rPr lang="en-US" sz="2200" b="1" dirty="0">
                <a:solidFill>
                  <a:srgbClr val="3030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Level</a:t>
            </a:r>
            <a:r>
              <a:rPr lang="en-US" sz="2200" dirty="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:4, </a:t>
            </a:r>
            <a:r>
              <a:rPr lang="en-US" sz="2200" b="1" dirty="0" err="1">
                <a:solidFill>
                  <a:srgbClr val="3030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Semester</a:t>
            </a:r>
            <a:r>
              <a:rPr lang="en-US" sz="2200" dirty="0" err="1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:I</a:t>
            </a:r>
            <a:endParaRPr lang="en-US" sz="2200" dirty="0">
              <a:solidFill>
                <a:srgbClr val="30303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b="1" dirty="0">
                <a:solidFill>
                  <a:srgbClr val="3030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Student ID</a:t>
            </a:r>
            <a:r>
              <a:rPr lang="en-US" sz="2200" dirty="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2102151 </a:t>
            </a:r>
            <a:r>
              <a:rPr lang="en-US" sz="2200" b="1" dirty="0">
                <a:solidFill>
                  <a:srgbClr val="3030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Level</a:t>
            </a:r>
            <a:r>
              <a:rPr lang="en-US" sz="2200" dirty="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:4, </a:t>
            </a:r>
            <a:r>
              <a:rPr lang="en-US" sz="2200" b="1" dirty="0" err="1">
                <a:solidFill>
                  <a:srgbClr val="3030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Semester:</a:t>
            </a:r>
            <a:r>
              <a:rPr lang="en-US" sz="2200" dirty="0" err="1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endParaRPr lang="en-US" sz="2200" dirty="0">
              <a:solidFill>
                <a:srgbClr val="30303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3080"/>
              </a:lnSpc>
              <a:spcBef>
                <a:spcPct val="0"/>
              </a:spcBef>
            </a:pPr>
            <a:endParaRPr lang="en-US" sz="2200" dirty="0">
              <a:solidFill>
                <a:srgbClr val="30303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822275" y="7634059"/>
            <a:ext cx="9272228" cy="782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3030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Department of Electronics and Communication Engineering (ECE)</a:t>
            </a:r>
          </a:p>
          <a:p>
            <a:pPr algn="ctr">
              <a:lnSpc>
                <a:spcPts val="3080"/>
              </a:lnSpc>
              <a:spcBef>
                <a:spcPct val="0"/>
              </a:spcBef>
            </a:pPr>
            <a:endParaRPr lang="en-US" sz="2200" b="1">
              <a:solidFill>
                <a:srgbClr val="30303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177763" y="8442852"/>
            <a:ext cx="12578044" cy="782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3030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Hajee Mohammad Danesh Science and Technology University, Dinajpur-5200, Bangladesh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  <a:endParaRPr lang="en-US" sz="2200" b="1">
              <a:solidFill>
                <a:srgbClr val="30303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763724" y="2269304"/>
            <a:ext cx="4129678" cy="629601"/>
            <a:chOff x="0" y="0"/>
            <a:chExt cx="1140105" cy="17381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40105" cy="173818"/>
            </a:xfrm>
            <a:custGeom>
              <a:avLst/>
              <a:gdLst/>
              <a:ahLst/>
              <a:cxnLst/>
              <a:rect l="l" t="t" r="r" b="b"/>
              <a:pathLst>
                <a:path w="1140105" h="173818">
                  <a:moveTo>
                    <a:pt x="0" y="0"/>
                  </a:moveTo>
                  <a:lnTo>
                    <a:pt x="1140105" y="0"/>
                  </a:lnTo>
                  <a:lnTo>
                    <a:pt x="1140105" y="173818"/>
                  </a:lnTo>
                  <a:lnTo>
                    <a:pt x="0" y="173818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140105" cy="230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722268" y="5220503"/>
            <a:ext cx="4129678" cy="629601"/>
            <a:chOff x="0" y="0"/>
            <a:chExt cx="1140105" cy="17381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40105" cy="173818"/>
            </a:xfrm>
            <a:custGeom>
              <a:avLst/>
              <a:gdLst/>
              <a:ahLst/>
              <a:cxnLst/>
              <a:rect l="l" t="t" r="r" b="b"/>
              <a:pathLst>
                <a:path w="1140105" h="173818">
                  <a:moveTo>
                    <a:pt x="0" y="0"/>
                  </a:moveTo>
                  <a:lnTo>
                    <a:pt x="1140105" y="0"/>
                  </a:lnTo>
                  <a:lnTo>
                    <a:pt x="1140105" y="173818"/>
                  </a:lnTo>
                  <a:lnTo>
                    <a:pt x="0" y="173818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140105" cy="230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9988438" y="2473689"/>
            <a:ext cx="164795" cy="220831"/>
          </a:xfrm>
          <a:custGeom>
            <a:avLst/>
            <a:gdLst/>
            <a:ahLst/>
            <a:cxnLst/>
            <a:rect l="l" t="t" r="r" b="b"/>
            <a:pathLst>
              <a:path w="164795" h="220831">
                <a:moveTo>
                  <a:pt x="0" y="0"/>
                </a:moveTo>
                <a:lnTo>
                  <a:pt x="164796" y="0"/>
                </a:lnTo>
                <a:lnTo>
                  <a:pt x="164796" y="220831"/>
                </a:lnTo>
                <a:lnTo>
                  <a:pt x="0" y="2208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9826965" y="5332889"/>
            <a:ext cx="404829" cy="404829"/>
            <a:chOff x="0" y="0"/>
            <a:chExt cx="111764" cy="11176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1764" cy="111764"/>
            </a:xfrm>
            <a:custGeom>
              <a:avLst/>
              <a:gdLst/>
              <a:ahLst/>
              <a:cxnLst/>
              <a:rect l="l" t="t" r="r" b="b"/>
              <a:pathLst>
                <a:path w="111764" h="111764">
                  <a:moveTo>
                    <a:pt x="0" y="0"/>
                  </a:moveTo>
                  <a:lnTo>
                    <a:pt x="111764" y="0"/>
                  </a:lnTo>
                  <a:lnTo>
                    <a:pt x="111764" y="111764"/>
                  </a:lnTo>
                  <a:lnTo>
                    <a:pt x="0" y="11176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111764" cy="1689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9919378" y="5424887"/>
            <a:ext cx="220003" cy="220831"/>
          </a:xfrm>
          <a:custGeom>
            <a:avLst/>
            <a:gdLst/>
            <a:ahLst/>
            <a:cxnLst/>
            <a:rect l="l" t="t" r="r" b="b"/>
            <a:pathLst>
              <a:path w="220003" h="220831">
                <a:moveTo>
                  <a:pt x="0" y="0"/>
                </a:moveTo>
                <a:lnTo>
                  <a:pt x="220003" y="0"/>
                </a:lnTo>
                <a:lnTo>
                  <a:pt x="220003" y="220832"/>
                </a:lnTo>
                <a:lnTo>
                  <a:pt x="0" y="2208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351729" y="980975"/>
            <a:ext cx="14741078" cy="830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38"/>
              </a:lnSpc>
            </a:pPr>
            <a:r>
              <a:rPr lang="en-US" sz="648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&amp; SOLUTION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648119" y="2269304"/>
            <a:ext cx="4129678" cy="629601"/>
            <a:chOff x="0" y="0"/>
            <a:chExt cx="1140105" cy="17381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40105" cy="173818"/>
            </a:xfrm>
            <a:custGeom>
              <a:avLst/>
              <a:gdLst/>
              <a:ahLst/>
              <a:cxnLst/>
              <a:rect l="l" t="t" r="r" b="b"/>
              <a:pathLst>
                <a:path w="1140105" h="173818">
                  <a:moveTo>
                    <a:pt x="0" y="0"/>
                  </a:moveTo>
                  <a:lnTo>
                    <a:pt x="1140105" y="0"/>
                  </a:lnTo>
                  <a:lnTo>
                    <a:pt x="1140105" y="173818"/>
                  </a:lnTo>
                  <a:lnTo>
                    <a:pt x="0" y="173818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1140105" cy="230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1872834" y="2456538"/>
            <a:ext cx="164795" cy="220831"/>
          </a:xfrm>
          <a:custGeom>
            <a:avLst/>
            <a:gdLst/>
            <a:ahLst/>
            <a:cxnLst/>
            <a:rect l="l" t="t" r="r" b="b"/>
            <a:pathLst>
              <a:path w="164795" h="220831">
                <a:moveTo>
                  <a:pt x="0" y="0"/>
                </a:moveTo>
                <a:lnTo>
                  <a:pt x="164795" y="0"/>
                </a:lnTo>
                <a:lnTo>
                  <a:pt x="164795" y="220831"/>
                </a:lnTo>
                <a:lnTo>
                  <a:pt x="0" y="2208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819672" y="2398841"/>
            <a:ext cx="435914" cy="370527"/>
          </a:xfrm>
          <a:custGeom>
            <a:avLst/>
            <a:gdLst/>
            <a:ahLst/>
            <a:cxnLst/>
            <a:rect l="l" t="t" r="r" b="b"/>
            <a:pathLst>
              <a:path w="435914" h="370527">
                <a:moveTo>
                  <a:pt x="0" y="0"/>
                </a:moveTo>
                <a:lnTo>
                  <a:pt x="435914" y="0"/>
                </a:lnTo>
                <a:lnTo>
                  <a:pt x="435914" y="370527"/>
                </a:lnTo>
                <a:lnTo>
                  <a:pt x="0" y="3705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9935277" y="2359424"/>
            <a:ext cx="393265" cy="432159"/>
          </a:xfrm>
          <a:custGeom>
            <a:avLst/>
            <a:gdLst/>
            <a:ahLst/>
            <a:cxnLst/>
            <a:rect l="l" t="t" r="r" b="b"/>
            <a:pathLst>
              <a:path w="393265" h="432159">
                <a:moveTo>
                  <a:pt x="0" y="0"/>
                </a:moveTo>
                <a:lnTo>
                  <a:pt x="393265" y="0"/>
                </a:lnTo>
                <a:lnTo>
                  <a:pt x="393265" y="432159"/>
                </a:lnTo>
                <a:lnTo>
                  <a:pt x="0" y="43215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648119" y="3047951"/>
            <a:ext cx="7495881" cy="455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97"/>
              </a:lnSpc>
              <a:spcBef>
                <a:spcPct val="0"/>
              </a:spcBef>
            </a:pPr>
            <a:r>
              <a:rPr lang="en-US" sz="2865" b="1">
                <a:solidFill>
                  <a:srgbClr val="3030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 </a:t>
            </a:r>
            <a:r>
              <a:rPr lang="en-US" sz="2865" b="1" u="none" strike="noStrike">
                <a:solidFill>
                  <a:srgbClr val="3030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requires massive data, but the Personal Data Protection Ordinance (PDPO) 2025 prohibits centralized pooling of sensitive medical records.</a:t>
            </a:r>
          </a:p>
          <a:p>
            <a:pPr marL="0" lvl="0" indent="0" algn="just">
              <a:lnSpc>
                <a:spcPts val="4297"/>
              </a:lnSpc>
              <a:spcBef>
                <a:spcPct val="0"/>
              </a:spcBef>
            </a:pPr>
            <a:endParaRPr lang="en-US" sz="2865" b="1" u="none" strike="noStrike">
              <a:solidFill>
                <a:srgbClr val="30303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664246" lvl="1" indent="-332123" algn="just">
              <a:lnSpc>
                <a:spcPts val="4614"/>
              </a:lnSpc>
              <a:spcBef>
                <a:spcPct val="0"/>
              </a:spcBef>
              <a:buFont typeface="Arial"/>
              <a:buChar char="•"/>
            </a:pPr>
            <a:r>
              <a:rPr lang="en-US" sz="3076" u="none" strike="noStrike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Medical data isolated across hospitals</a:t>
            </a:r>
          </a:p>
          <a:p>
            <a:pPr marL="664246" lvl="1" indent="-332123" algn="just">
              <a:lnSpc>
                <a:spcPts val="4614"/>
              </a:lnSpc>
              <a:spcBef>
                <a:spcPct val="0"/>
              </a:spcBef>
              <a:buFont typeface="Arial"/>
              <a:buChar char="•"/>
            </a:pPr>
            <a:r>
              <a:rPr lang="en-US" sz="3076" u="none" strike="noStrike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Centralized AI → privacy &amp; breach risk</a:t>
            </a:r>
          </a:p>
          <a:p>
            <a:pPr marL="664246" lvl="1" indent="-332123" algn="just">
              <a:lnSpc>
                <a:spcPts val="4614"/>
              </a:lnSpc>
              <a:spcBef>
                <a:spcPct val="0"/>
              </a:spcBef>
              <a:buFont typeface="Arial"/>
              <a:buChar char="•"/>
            </a:pPr>
            <a:r>
              <a:rPr lang="en-US" sz="3076" u="none" strike="noStrike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Poor model generalization, low trust</a:t>
            </a:r>
          </a:p>
          <a:p>
            <a:pPr marL="0" lvl="0" indent="0" algn="just">
              <a:lnSpc>
                <a:spcPts val="5091"/>
              </a:lnSpc>
              <a:spcBef>
                <a:spcPct val="0"/>
              </a:spcBef>
            </a:pPr>
            <a:endParaRPr lang="en-US" sz="3076" u="none" strike="noStrike">
              <a:solidFill>
                <a:srgbClr val="30303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763724" y="6097753"/>
            <a:ext cx="7600351" cy="1977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just">
              <a:lnSpc>
                <a:spcPts val="3900"/>
              </a:lnSpc>
              <a:buAutoNum type="arabicPeriod"/>
            </a:pPr>
            <a:r>
              <a:rPr lang="en-US" sz="26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 of end-to-end FL + blockchain systems</a:t>
            </a:r>
          </a:p>
          <a:p>
            <a:pPr marL="561341" lvl="1" indent="-280670" algn="just">
              <a:lnSpc>
                <a:spcPts val="3900"/>
              </a:lnSpc>
              <a:buAutoNum type="arabicPeriod"/>
            </a:pPr>
            <a:r>
              <a:rPr lang="en-US" sz="26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Missing transparent &amp; verifiable model provenance</a:t>
            </a:r>
          </a:p>
          <a:p>
            <a:pPr marL="561341" lvl="1" indent="-280670" algn="just">
              <a:lnSpc>
                <a:spcPts val="3900"/>
              </a:lnSpc>
              <a:buAutoNum type="arabicPeriod"/>
            </a:pPr>
            <a:r>
              <a:rPr lang="en-US" sz="26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real healthcare-oriented prototypes</a:t>
            </a:r>
          </a:p>
          <a:p>
            <a:pPr algn="just">
              <a:lnSpc>
                <a:spcPts val="3900"/>
              </a:lnSpc>
            </a:pPr>
            <a:endParaRPr lang="en-US" sz="2600">
              <a:solidFill>
                <a:srgbClr val="30303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0599707" y="2372042"/>
            <a:ext cx="3202916" cy="357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62"/>
              </a:lnSpc>
            </a:pPr>
            <a:r>
              <a:rPr lang="en-US" sz="19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Solution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558251" y="5323241"/>
            <a:ext cx="2923448" cy="357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62"/>
              </a:lnSpc>
            </a:pPr>
            <a:r>
              <a:rPr lang="en-US" sz="19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Gap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456843" y="2354891"/>
            <a:ext cx="3202916" cy="357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62"/>
              </a:lnSpc>
            </a:pPr>
            <a:r>
              <a:rPr lang="en-US" sz="190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Problem</a:t>
            </a:r>
          </a:p>
        </p:txBody>
      </p:sp>
      <p:sp>
        <p:nvSpPr>
          <p:cNvPr id="26" name="Freeform 26"/>
          <p:cNvSpPr/>
          <p:nvPr/>
        </p:nvSpPr>
        <p:spPr>
          <a:xfrm>
            <a:off x="1195193" y="828220"/>
            <a:ext cx="905853" cy="1151752"/>
          </a:xfrm>
          <a:custGeom>
            <a:avLst/>
            <a:gdLst/>
            <a:ahLst/>
            <a:cxnLst/>
            <a:rect l="l" t="t" r="r" b="b"/>
            <a:pathLst>
              <a:path w="905853" h="1151752">
                <a:moveTo>
                  <a:pt x="0" y="0"/>
                </a:moveTo>
                <a:lnTo>
                  <a:pt x="905853" y="0"/>
                </a:lnTo>
                <a:lnTo>
                  <a:pt x="905853" y="1151751"/>
                </a:lnTo>
                <a:lnTo>
                  <a:pt x="0" y="115175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6719211" y="9201150"/>
            <a:ext cx="3839039" cy="364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Course Title:</a:t>
            </a:r>
            <a:r>
              <a:rPr lang="en-US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Project and Thesis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5582700" y="436426"/>
            <a:ext cx="1781375" cy="391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02/10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763724" y="2942422"/>
            <a:ext cx="7084660" cy="2135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4629" lvl="1" indent="-292314" algn="just">
              <a:lnSpc>
                <a:spcPts val="4061"/>
              </a:lnSpc>
              <a:buAutoNum type="arabicPeriod"/>
            </a:pPr>
            <a:r>
              <a:rPr lang="en-US" sz="2707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Fed</a:t>
            </a:r>
            <a:r>
              <a:rPr lang="en-US" sz="2707" u="none" strike="noStrike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erated Learn</a:t>
            </a:r>
            <a:r>
              <a:rPr lang="en-US" sz="2707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707" u="none" strike="noStrike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 (no r</a:t>
            </a:r>
            <a:r>
              <a:rPr lang="en-US" sz="2707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707" u="none" strike="noStrike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</a:t>
            </a:r>
            <a:r>
              <a:rPr lang="en-US" sz="2707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 s</a:t>
            </a:r>
            <a:r>
              <a:rPr lang="en-US" sz="2707" u="none" strike="noStrike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2707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</a:t>
            </a:r>
            <a:r>
              <a:rPr lang="en-US" sz="2707" u="none" strike="noStrike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ing)</a:t>
            </a:r>
          </a:p>
          <a:p>
            <a:pPr marL="584629" lvl="1" indent="-292314" algn="just">
              <a:lnSpc>
                <a:spcPts val="4061"/>
              </a:lnSpc>
              <a:buAutoNum type="arabicPeriod"/>
            </a:pPr>
            <a:r>
              <a:rPr lang="en-US" sz="2707" u="none" strike="noStrike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</a:t>
            </a:r>
            <a:r>
              <a:rPr lang="en-US" sz="2707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2707" u="none" strike="noStrike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ckc</a:t>
            </a:r>
            <a:r>
              <a:rPr lang="en-US" sz="2707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hai</a:t>
            </a:r>
            <a:r>
              <a:rPr lang="en-US" sz="2707" u="none" strike="noStrike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+</a:t>
            </a:r>
            <a:r>
              <a:rPr lang="en-US" sz="2707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</a:t>
            </a:r>
            <a:r>
              <a:rPr lang="en-US" sz="2707" u="none" strike="noStrike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PFS</a:t>
            </a:r>
            <a:r>
              <a:rPr lang="en-US" sz="2707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07" u="none" strike="noStrike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</a:t>
            </a:r>
            <a:r>
              <a:rPr lang="en-US" sz="2707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07" u="none" strike="noStrike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</a:t>
            </a:r>
            <a:r>
              <a:rPr lang="en-US" sz="2707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2707" u="none" strike="noStrike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</a:t>
            </a:r>
            <a:r>
              <a:rPr lang="en-US" sz="2707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</a:t>
            </a:r>
            <a:r>
              <a:rPr lang="en-US" sz="2707" u="none" strike="noStrike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707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2707" u="none" strike="noStrike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oo</a:t>
            </a:r>
            <a:r>
              <a:rPr lang="en-US" sz="2707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707" u="none" strike="noStrike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707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707" u="none" strike="noStrike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nation</a:t>
            </a:r>
          </a:p>
          <a:p>
            <a:pPr marL="584629" lvl="1" indent="-292314" algn="just">
              <a:lnSpc>
                <a:spcPts val="4061"/>
              </a:lnSpc>
              <a:buAutoNum type="arabicPeriod"/>
            </a:pPr>
            <a:r>
              <a:rPr lang="en-US" sz="2707" u="none" strike="noStrike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</a:t>
            </a:r>
            <a:r>
              <a:rPr lang="en-US" sz="2707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707" u="none" strike="noStrike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ypted</a:t>
            </a:r>
            <a:r>
              <a:rPr lang="en-US" sz="2707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model </a:t>
            </a:r>
            <a:r>
              <a:rPr lang="en-US" sz="2707" u="none" strike="noStrike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upd</a:t>
            </a:r>
            <a:r>
              <a:rPr lang="en-US" sz="2707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</a:t>
            </a:r>
            <a:r>
              <a:rPr lang="en-US" sz="2707" u="none" strike="noStrike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</a:t>
            </a:r>
            <a:r>
              <a:rPr lang="en-US" sz="2707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707" u="none" strike="noStrike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auditab</a:t>
            </a:r>
            <a:r>
              <a:rPr lang="en-US" sz="2707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US" sz="2707" u="none" strike="noStrike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707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</a:t>
            </a:r>
            <a:r>
              <a:rPr lang="en-US" sz="2707" u="none" strike="noStrike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aining</a:t>
            </a:r>
          </a:p>
          <a:p>
            <a:pPr marL="0" lvl="0" indent="0" algn="just">
              <a:lnSpc>
                <a:spcPts val="4811"/>
              </a:lnSpc>
              <a:spcBef>
                <a:spcPct val="0"/>
              </a:spcBef>
            </a:pPr>
            <a:endParaRPr lang="en-US" sz="2707" u="none" strike="noStrike">
              <a:solidFill>
                <a:srgbClr val="30303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95193" y="1163373"/>
            <a:ext cx="905853" cy="1151752"/>
          </a:xfrm>
          <a:custGeom>
            <a:avLst/>
            <a:gdLst/>
            <a:ahLst/>
            <a:cxnLst/>
            <a:rect l="l" t="t" r="r" b="b"/>
            <a:pathLst>
              <a:path w="905853" h="1151752">
                <a:moveTo>
                  <a:pt x="0" y="0"/>
                </a:moveTo>
                <a:lnTo>
                  <a:pt x="905853" y="0"/>
                </a:lnTo>
                <a:lnTo>
                  <a:pt x="905853" y="1151751"/>
                </a:lnTo>
                <a:lnTo>
                  <a:pt x="0" y="11517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311126" y="1315773"/>
            <a:ext cx="14741078" cy="830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38"/>
              </a:lnSpc>
            </a:pPr>
            <a:r>
              <a:rPr lang="en-US" sz="648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582700" y="436426"/>
            <a:ext cx="1781375" cy="364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80"/>
              </a:lnSpc>
              <a:spcBef>
                <a:spcPct val="0"/>
              </a:spcBef>
            </a:pPr>
            <a:r>
              <a:rPr lang="en-US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03/10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64545" y="4762009"/>
            <a:ext cx="15887660" cy="3476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3"/>
              </a:lnSpc>
              <a:spcBef>
                <a:spcPct val="0"/>
              </a:spcBef>
            </a:pPr>
            <a:r>
              <a:rPr lang="en-US" sz="272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primary goal is to resolve the conflict between data utility and patient privacy in the Bangladeshi healthcare sector by inverting the traditional data-to-model paradigm.</a:t>
            </a:r>
          </a:p>
          <a:p>
            <a:pPr algn="just">
              <a:lnSpc>
                <a:spcPts val="2861"/>
              </a:lnSpc>
              <a:spcBef>
                <a:spcPct val="0"/>
              </a:spcBef>
            </a:pPr>
            <a:endParaRPr lang="en-US" sz="272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41361" lvl="1" indent="-220680" algn="just">
              <a:lnSpc>
                <a:spcPts val="2861"/>
              </a:lnSpc>
              <a:buAutoNum type="arabicPeriod"/>
            </a:pPr>
            <a:r>
              <a:rPr lang="en-US" sz="2044" b="1" spc="-12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Secure Patient Data Handling: </a:t>
            </a:r>
            <a:r>
              <a:rPr lang="en-US" sz="2044" spc="-12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 decentralized system where raw data remains localized to comply with PDPO 2025.</a:t>
            </a:r>
          </a:p>
          <a:p>
            <a:pPr marL="441361" lvl="1" indent="-220680" algn="just">
              <a:lnSpc>
                <a:spcPts val="2861"/>
              </a:lnSpc>
              <a:buAutoNum type="arabicPeriod"/>
            </a:pPr>
            <a:r>
              <a:rPr lang="en-US" sz="2044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 Model Retrain Without Sharing Actual Data (FL):</a:t>
            </a:r>
            <a:r>
              <a:rPr lang="en-US" sz="204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Inter organizational data sharing with </a:t>
            </a:r>
            <a:r>
              <a:rPr lang="en-US" sz="2044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federated learning </a:t>
            </a:r>
            <a:r>
              <a:rPr lang="en-US" sz="204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framework.</a:t>
            </a:r>
          </a:p>
          <a:p>
            <a:pPr marL="441361" lvl="1" indent="-220680" algn="just">
              <a:lnSpc>
                <a:spcPts val="2861"/>
              </a:lnSpc>
              <a:buAutoNum type="arabicPeriod"/>
            </a:pPr>
            <a:r>
              <a:rPr lang="en-US" sz="2044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Decentralized Trust</a:t>
            </a:r>
            <a:r>
              <a:rPr lang="en-US" sz="204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Use Ethereum smart contracts and IPFS to create an immutable, transparent audit trail for model versioning.</a:t>
            </a:r>
          </a:p>
          <a:p>
            <a:pPr marL="441361" lvl="1" indent="-220680" algn="just">
              <a:lnSpc>
                <a:spcPts val="2861"/>
              </a:lnSpc>
              <a:buAutoNum type="arabicPeriod"/>
            </a:pPr>
            <a:r>
              <a:rPr lang="en-US" sz="2044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Clinical Excellence:</a:t>
            </a:r>
            <a:r>
              <a:rPr lang="en-US" sz="204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Integrate Grad-CAM and Coordinate Attention to align AI decisions with pathological landmarks like irregular nuclei.</a:t>
            </a:r>
          </a:p>
          <a:p>
            <a:pPr marL="441361" lvl="1" indent="-220680" algn="just">
              <a:lnSpc>
                <a:spcPts val="2861"/>
              </a:lnSpc>
              <a:buAutoNum type="arabicPeriod"/>
            </a:pPr>
            <a:r>
              <a:rPr lang="en-US" sz="2044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Operational Optimization</a:t>
            </a:r>
            <a:r>
              <a:rPr lang="en-US" sz="204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Maintain a lightweight 5.9M parameter footprint to minimize communication overhead in resource-constrained clinics.</a:t>
            </a:r>
          </a:p>
          <a:p>
            <a:pPr algn="l">
              <a:lnSpc>
                <a:spcPts val="2726"/>
              </a:lnSpc>
              <a:spcBef>
                <a:spcPct val="0"/>
              </a:spcBef>
            </a:pPr>
            <a:endParaRPr lang="en-US" sz="2044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297181" y="9620250"/>
            <a:ext cx="3946039" cy="364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Course Title:</a:t>
            </a:r>
            <a:r>
              <a:rPr lang="en-US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Project and Thesis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28700" y="2828858"/>
            <a:ext cx="2527632" cy="1460061"/>
            <a:chOff x="0" y="0"/>
            <a:chExt cx="3370177" cy="1946749"/>
          </a:xfrm>
        </p:grpSpPr>
        <p:sp>
          <p:nvSpPr>
            <p:cNvPr id="9" name="Freeform 9"/>
            <p:cNvSpPr/>
            <p:nvPr/>
          </p:nvSpPr>
          <p:spPr>
            <a:xfrm>
              <a:off x="1217554" y="0"/>
              <a:ext cx="935068" cy="1071711"/>
            </a:xfrm>
            <a:custGeom>
              <a:avLst/>
              <a:gdLst/>
              <a:ahLst/>
              <a:cxnLst/>
              <a:rect l="l" t="t" r="r" b="b"/>
              <a:pathLst>
                <a:path w="935068" h="1071711">
                  <a:moveTo>
                    <a:pt x="0" y="0"/>
                  </a:moveTo>
                  <a:lnTo>
                    <a:pt x="935068" y="0"/>
                  </a:lnTo>
                  <a:lnTo>
                    <a:pt x="935068" y="1071711"/>
                  </a:lnTo>
                  <a:lnTo>
                    <a:pt x="0" y="1071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88714" y="0"/>
              <a:ext cx="423131" cy="423131"/>
            </a:xfrm>
            <a:custGeom>
              <a:avLst/>
              <a:gdLst/>
              <a:ahLst/>
              <a:cxnLst/>
              <a:rect l="l" t="t" r="r" b="b"/>
              <a:pathLst>
                <a:path w="423131" h="423131">
                  <a:moveTo>
                    <a:pt x="0" y="0"/>
                  </a:moveTo>
                  <a:lnTo>
                    <a:pt x="423132" y="0"/>
                  </a:lnTo>
                  <a:lnTo>
                    <a:pt x="423132" y="423131"/>
                  </a:lnTo>
                  <a:lnTo>
                    <a:pt x="0" y="423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1195493"/>
              <a:ext cx="3370177" cy="7512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98"/>
                </a:lnSpc>
              </a:pPr>
              <a:r>
                <a:rPr lang="en-US" sz="1641" b="1" spc="-101">
                  <a:solidFill>
                    <a:srgbClr val="4A4A4A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Secure Patient </a:t>
              </a:r>
            </a:p>
            <a:p>
              <a:pPr algn="ctr">
                <a:lnSpc>
                  <a:spcPts val="2298"/>
                </a:lnSpc>
                <a:spcBef>
                  <a:spcPct val="0"/>
                </a:spcBef>
              </a:pPr>
              <a:r>
                <a:rPr lang="en-US" sz="1641" b="1" spc="-101">
                  <a:solidFill>
                    <a:srgbClr val="4A4A4A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Data Handling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4869871" y="2822512"/>
            <a:ext cx="803783" cy="803783"/>
          </a:xfrm>
          <a:custGeom>
            <a:avLst/>
            <a:gdLst/>
            <a:ahLst/>
            <a:cxnLst/>
            <a:rect l="l" t="t" r="r" b="b"/>
            <a:pathLst>
              <a:path w="803783" h="803783">
                <a:moveTo>
                  <a:pt x="0" y="0"/>
                </a:moveTo>
                <a:lnTo>
                  <a:pt x="803784" y="0"/>
                </a:lnTo>
                <a:lnTo>
                  <a:pt x="803784" y="803784"/>
                </a:lnTo>
                <a:lnTo>
                  <a:pt x="0" y="8037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4214897" y="2893601"/>
            <a:ext cx="338572" cy="338572"/>
          </a:xfrm>
          <a:custGeom>
            <a:avLst/>
            <a:gdLst/>
            <a:ahLst/>
            <a:cxnLst/>
            <a:rect l="l" t="t" r="r" b="b"/>
            <a:pathLst>
              <a:path w="338572" h="338572">
                <a:moveTo>
                  <a:pt x="0" y="0"/>
                </a:moveTo>
                <a:lnTo>
                  <a:pt x="338572" y="0"/>
                </a:lnTo>
                <a:lnTo>
                  <a:pt x="338572" y="338572"/>
                </a:lnTo>
                <a:lnTo>
                  <a:pt x="0" y="33857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4007947" y="3707226"/>
            <a:ext cx="2527632" cy="575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8"/>
              </a:lnSpc>
              <a:spcBef>
                <a:spcPct val="0"/>
              </a:spcBef>
            </a:pPr>
            <a:r>
              <a:rPr lang="en-US" sz="1641" b="1" spc="-101">
                <a:solidFill>
                  <a:srgbClr val="4A4A4A"/>
                </a:solidFill>
                <a:latin typeface="Telegraf Bold"/>
                <a:ea typeface="Telegraf Bold"/>
                <a:cs typeface="Telegraf Bold"/>
                <a:sym typeface="Telegraf Bold"/>
              </a:rPr>
              <a:t>AI Model  Retrain Without Sharing Actual Data (FL)</a:t>
            </a:r>
          </a:p>
        </p:txBody>
      </p:sp>
      <p:sp>
        <p:nvSpPr>
          <p:cNvPr id="15" name="Freeform 15"/>
          <p:cNvSpPr/>
          <p:nvPr/>
        </p:nvSpPr>
        <p:spPr>
          <a:xfrm>
            <a:off x="8604337" y="2981187"/>
            <a:ext cx="915420" cy="912811"/>
          </a:xfrm>
          <a:custGeom>
            <a:avLst/>
            <a:gdLst/>
            <a:ahLst/>
            <a:cxnLst/>
            <a:rect l="l" t="t" r="r" b="b"/>
            <a:pathLst>
              <a:path w="915420" h="912811">
                <a:moveTo>
                  <a:pt x="0" y="0"/>
                </a:moveTo>
                <a:lnTo>
                  <a:pt x="915419" y="0"/>
                </a:lnTo>
                <a:lnTo>
                  <a:pt x="915419" y="912811"/>
                </a:lnTo>
                <a:lnTo>
                  <a:pt x="0" y="91281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36" r="-36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8047327" y="2822512"/>
            <a:ext cx="317129" cy="317129"/>
          </a:xfrm>
          <a:custGeom>
            <a:avLst/>
            <a:gdLst/>
            <a:ahLst/>
            <a:cxnLst/>
            <a:rect l="l" t="t" r="r" b="b"/>
            <a:pathLst>
              <a:path w="317129" h="317129">
                <a:moveTo>
                  <a:pt x="0" y="0"/>
                </a:moveTo>
                <a:lnTo>
                  <a:pt x="317129" y="0"/>
                </a:lnTo>
                <a:lnTo>
                  <a:pt x="317129" y="317129"/>
                </a:lnTo>
                <a:lnTo>
                  <a:pt x="0" y="31712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7910536" y="3998285"/>
            <a:ext cx="2527632" cy="290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8"/>
              </a:lnSpc>
              <a:spcBef>
                <a:spcPct val="0"/>
              </a:spcBef>
            </a:pPr>
            <a:r>
              <a:rPr lang="en-US" sz="1641" b="1" spc="-101">
                <a:solidFill>
                  <a:srgbClr val="4A4A4A"/>
                </a:solidFill>
                <a:latin typeface="Telegraf Bold"/>
                <a:ea typeface="Telegraf Bold"/>
                <a:cs typeface="Telegraf Bold"/>
                <a:sym typeface="Telegraf Bold"/>
              </a:rPr>
              <a:t>Decentralized Trust:</a:t>
            </a:r>
          </a:p>
        </p:txBody>
      </p:sp>
      <p:sp>
        <p:nvSpPr>
          <p:cNvPr id="18" name="Freeform 18"/>
          <p:cNvSpPr/>
          <p:nvPr/>
        </p:nvSpPr>
        <p:spPr>
          <a:xfrm>
            <a:off x="12019077" y="2822512"/>
            <a:ext cx="975921" cy="861250"/>
          </a:xfrm>
          <a:custGeom>
            <a:avLst/>
            <a:gdLst/>
            <a:ahLst/>
            <a:cxnLst/>
            <a:rect l="l" t="t" r="r" b="b"/>
            <a:pathLst>
              <a:path w="975921" h="861250">
                <a:moveTo>
                  <a:pt x="0" y="0"/>
                </a:moveTo>
                <a:lnTo>
                  <a:pt x="975920" y="0"/>
                </a:lnTo>
                <a:lnTo>
                  <a:pt x="975920" y="861250"/>
                </a:lnTo>
                <a:lnTo>
                  <a:pt x="0" y="86125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1383782" y="2858126"/>
            <a:ext cx="395011" cy="395011"/>
          </a:xfrm>
          <a:custGeom>
            <a:avLst/>
            <a:gdLst/>
            <a:ahLst/>
            <a:cxnLst/>
            <a:rect l="l" t="t" r="r" b="b"/>
            <a:pathLst>
              <a:path w="395011" h="395011">
                <a:moveTo>
                  <a:pt x="0" y="0"/>
                </a:moveTo>
                <a:lnTo>
                  <a:pt x="395011" y="0"/>
                </a:lnTo>
                <a:lnTo>
                  <a:pt x="395011" y="395011"/>
                </a:lnTo>
                <a:lnTo>
                  <a:pt x="0" y="39501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1243221" y="3927197"/>
            <a:ext cx="2527632" cy="290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8"/>
              </a:lnSpc>
              <a:spcBef>
                <a:spcPct val="0"/>
              </a:spcBef>
            </a:pPr>
            <a:r>
              <a:rPr lang="en-US" sz="1641" b="1" spc="-101">
                <a:solidFill>
                  <a:srgbClr val="4A4A4A"/>
                </a:solidFill>
                <a:latin typeface="Telegraf Bold"/>
                <a:ea typeface="Telegraf Bold"/>
                <a:cs typeface="Telegraf Bold"/>
                <a:sym typeface="Telegraf Bold"/>
              </a:rPr>
              <a:t>Clinical Excellence</a:t>
            </a:r>
          </a:p>
        </p:txBody>
      </p:sp>
      <p:sp>
        <p:nvSpPr>
          <p:cNvPr id="21" name="Freeform 21"/>
          <p:cNvSpPr/>
          <p:nvPr/>
        </p:nvSpPr>
        <p:spPr>
          <a:xfrm>
            <a:off x="14923351" y="2893601"/>
            <a:ext cx="1125901" cy="955608"/>
          </a:xfrm>
          <a:custGeom>
            <a:avLst/>
            <a:gdLst/>
            <a:ahLst/>
            <a:cxnLst/>
            <a:rect l="l" t="t" r="r" b="b"/>
            <a:pathLst>
              <a:path w="1125901" h="955608">
                <a:moveTo>
                  <a:pt x="0" y="0"/>
                </a:moveTo>
                <a:lnTo>
                  <a:pt x="1125901" y="0"/>
                </a:lnTo>
                <a:lnTo>
                  <a:pt x="1125901" y="955608"/>
                </a:lnTo>
                <a:lnTo>
                  <a:pt x="0" y="955608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4489469" y="2853865"/>
            <a:ext cx="340003" cy="328103"/>
          </a:xfrm>
          <a:custGeom>
            <a:avLst/>
            <a:gdLst/>
            <a:ahLst/>
            <a:cxnLst/>
            <a:rect l="l" t="t" r="r" b="b"/>
            <a:pathLst>
              <a:path w="340003" h="328103">
                <a:moveTo>
                  <a:pt x="0" y="0"/>
                </a:moveTo>
                <a:lnTo>
                  <a:pt x="340003" y="0"/>
                </a:lnTo>
                <a:lnTo>
                  <a:pt x="340003" y="328103"/>
                </a:lnTo>
                <a:lnTo>
                  <a:pt x="0" y="328103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4222485" y="3867285"/>
            <a:ext cx="2527632" cy="290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8"/>
              </a:lnSpc>
              <a:spcBef>
                <a:spcPct val="0"/>
              </a:spcBef>
            </a:pPr>
            <a:r>
              <a:rPr lang="en-US" sz="1641" b="1" spc="-101">
                <a:solidFill>
                  <a:srgbClr val="4A4A4A"/>
                </a:solidFill>
                <a:latin typeface="Telegraf Bold"/>
                <a:ea typeface="Telegraf Bold"/>
                <a:cs typeface="Telegraf Bold"/>
                <a:sym typeface="Telegraf Bold"/>
              </a:rPr>
              <a:t>Operational Optimization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952151" y="3240820"/>
            <a:ext cx="6548443" cy="659964"/>
            <a:chOff x="0" y="0"/>
            <a:chExt cx="1724693" cy="17381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24693" cy="173818"/>
            </a:xfrm>
            <a:custGeom>
              <a:avLst/>
              <a:gdLst/>
              <a:ahLst/>
              <a:cxnLst/>
              <a:rect l="l" t="t" r="r" b="b"/>
              <a:pathLst>
                <a:path w="1724693" h="173818">
                  <a:moveTo>
                    <a:pt x="0" y="0"/>
                  </a:moveTo>
                  <a:lnTo>
                    <a:pt x="1724693" y="0"/>
                  </a:lnTo>
                  <a:lnTo>
                    <a:pt x="1724693" y="173818"/>
                  </a:lnTo>
                  <a:lnTo>
                    <a:pt x="0" y="173818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724693" cy="230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091206" y="3387934"/>
            <a:ext cx="365736" cy="365736"/>
            <a:chOff x="0" y="0"/>
            <a:chExt cx="96325" cy="9632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6325" cy="96325"/>
            </a:xfrm>
            <a:custGeom>
              <a:avLst/>
              <a:gdLst/>
              <a:ahLst/>
              <a:cxnLst/>
              <a:rect l="l" t="t" r="r" b="b"/>
              <a:pathLst>
                <a:path w="96325" h="96325">
                  <a:moveTo>
                    <a:pt x="0" y="0"/>
                  </a:moveTo>
                  <a:lnTo>
                    <a:pt x="96325" y="0"/>
                  </a:lnTo>
                  <a:lnTo>
                    <a:pt x="96325" y="96325"/>
                  </a:lnTo>
                  <a:lnTo>
                    <a:pt x="0" y="9632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96325" cy="153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952151" y="6230119"/>
            <a:ext cx="4328837" cy="659964"/>
            <a:chOff x="0" y="0"/>
            <a:chExt cx="1140105" cy="17381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40105" cy="173818"/>
            </a:xfrm>
            <a:custGeom>
              <a:avLst/>
              <a:gdLst/>
              <a:ahLst/>
              <a:cxnLst/>
              <a:rect l="l" t="t" r="r" b="b"/>
              <a:pathLst>
                <a:path w="1140105" h="173818">
                  <a:moveTo>
                    <a:pt x="0" y="0"/>
                  </a:moveTo>
                  <a:lnTo>
                    <a:pt x="1140105" y="0"/>
                  </a:lnTo>
                  <a:lnTo>
                    <a:pt x="1140105" y="173818"/>
                  </a:lnTo>
                  <a:lnTo>
                    <a:pt x="0" y="173818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1140105" cy="230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091206" y="6377233"/>
            <a:ext cx="365736" cy="365736"/>
            <a:chOff x="0" y="0"/>
            <a:chExt cx="96325" cy="9632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6325" cy="96325"/>
            </a:xfrm>
            <a:custGeom>
              <a:avLst/>
              <a:gdLst/>
              <a:ahLst/>
              <a:cxnLst/>
              <a:rect l="l" t="t" r="r" b="b"/>
              <a:pathLst>
                <a:path w="96325" h="96325">
                  <a:moveTo>
                    <a:pt x="0" y="0"/>
                  </a:moveTo>
                  <a:lnTo>
                    <a:pt x="96325" y="0"/>
                  </a:lnTo>
                  <a:lnTo>
                    <a:pt x="96325" y="96325"/>
                  </a:lnTo>
                  <a:lnTo>
                    <a:pt x="0" y="9632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96325" cy="153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9952151" y="7109158"/>
            <a:ext cx="6823752" cy="1089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19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SOTA models achieve high accuracy but fail to provide a decentralized, auditable framework that reconciles privacy-preserving training with clinical explainability and regulatory compliance.</a:t>
            </a:r>
          </a:p>
        </p:txBody>
      </p:sp>
      <p:sp>
        <p:nvSpPr>
          <p:cNvPr id="16" name="Freeform 16"/>
          <p:cNvSpPr/>
          <p:nvPr/>
        </p:nvSpPr>
        <p:spPr>
          <a:xfrm>
            <a:off x="10177329" y="3455008"/>
            <a:ext cx="193489" cy="193489"/>
          </a:xfrm>
          <a:custGeom>
            <a:avLst/>
            <a:gdLst/>
            <a:ahLst/>
            <a:cxnLst/>
            <a:rect l="l" t="t" r="r" b="b"/>
            <a:pathLst>
              <a:path w="193489" h="193489">
                <a:moveTo>
                  <a:pt x="0" y="0"/>
                </a:moveTo>
                <a:lnTo>
                  <a:pt x="193489" y="0"/>
                </a:lnTo>
                <a:lnTo>
                  <a:pt x="193489" y="193488"/>
                </a:lnTo>
                <a:lnTo>
                  <a:pt x="0" y="1934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-2700000">
            <a:off x="10132583" y="6418610"/>
            <a:ext cx="282982" cy="282982"/>
          </a:xfrm>
          <a:custGeom>
            <a:avLst/>
            <a:gdLst/>
            <a:ahLst/>
            <a:cxnLst/>
            <a:rect l="l" t="t" r="r" b="b"/>
            <a:pathLst>
              <a:path w="282982" h="282982">
                <a:moveTo>
                  <a:pt x="0" y="0"/>
                </a:moveTo>
                <a:lnTo>
                  <a:pt x="282981" y="0"/>
                </a:lnTo>
                <a:lnTo>
                  <a:pt x="282981" y="282981"/>
                </a:lnTo>
                <a:lnTo>
                  <a:pt x="0" y="2829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200186" y="3165661"/>
            <a:ext cx="8072719" cy="4682177"/>
          </a:xfrm>
          <a:custGeom>
            <a:avLst/>
            <a:gdLst/>
            <a:ahLst/>
            <a:cxnLst/>
            <a:rect l="l" t="t" r="r" b="b"/>
            <a:pathLst>
              <a:path w="8072719" h="4682177">
                <a:moveTo>
                  <a:pt x="0" y="0"/>
                </a:moveTo>
                <a:lnTo>
                  <a:pt x="8072719" y="0"/>
                </a:lnTo>
                <a:lnTo>
                  <a:pt x="8072719" y="4682177"/>
                </a:lnTo>
                <a:lnTo>
                  <a:pt x="0" y="46821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0826447" y="6291486"/>
            <a:ext cx="3064436" cy="451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Gap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952151" y="4120573"/>
            <a:ext cx="6823752" cy="1813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26" lvl="1" indent="-205113" algn="l">
              <a:lnSpc>
                <a:spcPts val="2850"/>
              </a:lnSpc>
              <a:buFont typeface="Arial"/>
              <a:buChar char="•"/>
            </a:pPr>
            <a:r>
              <a:rPr lang="en-US" sz="1900" b="1">
                <a:solidFill>
                  <a:srgbClr val="3030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C2T2Net</a:t>
            </a:r>
            <a:r>
              <a:rPr lang="en-US" sz="19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Capsule Twin attention (95.68% ACC).</a:t>
            </a:r>
          </a:p>
          <a:p>
            <a:pPr marL="410226" lvl="1" indent="-205113" algn="l">
              <a:lnSpc>
                <a:spcPts val="2850"/>
              </a:lnSpc>
              <a:buFont typeface="Arial"/>
              <a:buChar char="•"/>
            </a:pPr>
            <a:r>
              <a:rPr lang="en-US" sz="1900" b="1">
                <a:solidFill>
                  <a:srgbClr val="3030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FedAvg-CNN</a:t>
            </a:r>
            <a:r>
              <a:rPr lang="en-US" sz="19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Customized FL logic balancing privacy and performance.</a:t>
            </a:r>
          </a:p>
          <a:p>
            <a:pPr marL="410226" lvl="1" indent="-205113" algn="l">
              <a:lnSpc>
                <a:spcPts val="2850"/>
              </a:lnSpc>
              <a:buFont typeface="Arial"/>
              <a:buChar char="•"/>
            </a:pPr>
            <a:r>
              <a:rPr lang="en-US" sz="1900" b="1">
                <a:solidFill>
                  <a:srgbClr val="3030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BC-FL-Breast</a:t>
            </a:r>
            <a:r>
              <a:rPr lang="en-US" sz="19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Blockchain-empowered framework reaching 98.4% accuracy.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828451" y="3302198"/>
            <a:ext cx="3452537" cy="451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Innovations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582700" y="436426"/>
            <a:ext cx="1781375" cy="391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04/10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879009" y="7623366"/>
            <a:ext cx="3349466" cy="342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Figure: Benchmarked Architecture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297182" y="9620250"/>
            <a:ext cx="3904218" cy="364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Course Title:</a:t>
            </a:r>
            <a:r>
              <a:rPr lang="en-US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Project and Thesis</a:t>
            </a:r>
          </a:p>
        </p:txBody>
      </p:sp>
      <p:sp>
        <p:nvSpPr>
          <p:cNvPr id="25" name="Freeform 25"/>
          <p:cNvSpPr/>
          <p:nvPr/>
        </p:nvSpPr>
        <p:spPr>
          <a:xfrm>
            <a:off x="1028928" y="1080459"/>
            <a:ext cx="905853" cy="1151752"/>
          </a:xfrm>
          <a:custGeom>
            <a:avLst/>
            <a:gdLst/>
            <a:ahLst/>
            <a:cxnLst/>
            <a:rect l="l" t="t" r="r" b="b"/>
            <a:pathLst>
              <a:path w="905853" h="1151752">
                <a:moveTo>
                  <a:pt x="0" y="0"/>
                </a:moveTo>
                <a:lnTo>
                  <a:pt x="905853" y="0"/>
                </a:lnTo>
                <a:lnTo>
                  <a:pt x="905853" y="1151752"/>
                </a:lnTo>
                <a:lnTo>
                  <a:pt x="0" y="115175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2175939" y="1233214"/>
            <a:ext cx="15340943" cy="788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68"/>
              </a:lnSpc>
            </a:pPr>
            <a:r>
              <a:rPr lang="en-US" sz="618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 &amp; SOTA MODELS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2754026"/>
            <a:ext cx="7377726" cy="645657"/>
            <a:chOff x="0" y="0"/>
            <a:chExt cx="1986162" cy="17381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86162" cy="173818"/>
            </a:xfrm>
            <a:custGeom>
              <a:avLst/>
              <a:gdLst/>
              <a:ahLst/>
              <a:cxnLst/>
              <a:rect l="l" t="t" r="r" b="b"/>
              <a:pathLst>
                <a:path w="1986162" h="173818">
                  <a:moveTo>
                    <a:pt x="0" y="0"/>
                  </a:moveTo>
                  <a:lnTo>
                    <a:pt x="1986162" y="0"/>
                  </a:lnTo>
                  <a:lnTo>
                    <a:pt x="1986162" y="173818"/>
                  </a:lnTo>
                  <a:lnTo>
                    <a:pt x="0" y="173818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986162" cy="230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36068" y="2869277"/>
            <a:ext cx="415153" cy="415153"/>
            <a:chOff x="0" y="0"/>
            <a:chExt cx="111764" cy="11176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1764" cy="111764"/>
            </a:xfrm>
            <a:custGeom>
              <a:avLst/>
              <a:gdLst/>
              <a:ahLst/>
              <a:cxnLst/>
              <a:rect l="l" t="t" r="r" b="b"/>
              <a:pathLst>
                <a:path w="111764" h="111764">
                  <a:moveTo>
                    <a:pt x="0" y="0"/>
                  </a:moveTo>
                  <a:lnTo>
                    <a:pt x="111764" y="0"/>
                  </a:lnTo>
                  <a:lnTo>
                    <a:pt x="111764" y="111764"/>
                  </a:lnTo>
                  <a:lnTo>
                    <a:pt x="0" y="11176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11764" cy="1689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214751" y="2928289"/>
            <a:ext cx="276424" cy="282787"/>
          </a:xfrm>
          <a:custGeom>
            <a:avLst/>
            <a:gdLst/>
            <a:ahLst/>
            <a:cxnLst/>
            <a:rect l="l" t="t" r="r" b="b"/>
            <a:pathLst>
              <a:path w="276424" h="282787">
                <a:moveTo>
                  <a:pt x="0" y="0"/>
                </a:moveTo>
                <a:lnTo>
                  <a:pt x="276423" y="0"/>
                </a:lnTo>
                <a:lnTo>
                  <a:pt x="276423" y="282786"/>
                </a:lnTo>
                <a:lnTo>
                  <a:pt x="0" y="2827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28700" y="1056351"/>
            <a:ext cx="905853" cy="1151752"/>
          </a:xfrm>
          <a:custGeom>
            <a:avLst/>
            <a:gdLst/>
            <a:ahLst/>
            <a:cxnLst/>
            <a:rect l="l" t="t" r="r" b="b"/>
            <a:pathLst>
              <a:path w="905853" h="1151752">
                <a:moveTo>
                  <a:pt x="0" y="0"/>
                </a:moveTo>
                <a:lnTo>
                  <a:pt x="905853" y="0"/>
                </a:lnTo>
                <a:lnTo>
                  <a:pt x="905853" y="1151752"/>
                </a:lnTo>
                <a:lnTo>
                  <a:pt x="0" y="11517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1028700" y="5341269"/>
            <a:ext cx="7377726" cy="645657"/>
            <a:chOff x="0" y="0"/>
            <a:chExt cx="1986162" cy="17381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86162" cy="173818"/>
            </a:xfrm>
            <a:custGeom>
              <a:avLst/>
              <a:gdLst/>
              <a:ahLst/>
              <a:cxnLst/>
              <a:rect l="l" t="t" r="r" b="b"/>
              <a:pathLst>
                <a:path w="1986162" h="173818">
                  <a:moveTo>
                    <a:pt x="0" y="0"/>
                  </a:moveTo>
                  <a:lnTo>
                    <a:pt x="1986162" y="0"/>
                  </a:lnTo>
                  <a:lnTo>
                    <a:pt x="1986162" y="173818"/>
                  </a:lnTo>
                  <a:lnTo>
                    <a:pt x="0" y="173818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1986162" cy="230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36068" y="5456521"/>
            <a:ext cx="415153" cy="415153"/>
            <a:chOff x="0" y="0"/>
            <a:chExt cx="111764" cy="11176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1764" cy="111764"/>
            </a:xfrm>
            <a:custGeom>
              <a:avLst/>
              <a:gdLst/>
              <a:ahLst/>
              <a:cxnLst/>
              <a:rect l="l" t="t" r="r" b="b"/>
              <a:pathLst>
                <a:path w="111764" h="111764">
                  <a:moveTo>
                    <a:pt x="0" y="0"/>
                  </a:moveTo>
                  <a:lnTo>
                    <a:pt x="111764" y="0"/>
                  </a:lnTo>
                  <a:lnTo>
                    <a:pt x="111764" y="111764"/>
                  </a:lnTo>
                  <a:lnTo>
                    <a:pt x="0" y="11176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111764" cy="1689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238129" y="5522704"/>
            <a:ext cx="211029" cy="282787"/>
          </a:xfrm>
          <a:custGeom>
            <a:avLst/>
            <a:gdLst/>
            <a:ahLst/>
            <a:cxnLst/>
            <a:rect l="l" t="t" r="r" b="b"/>
            <a:pathLst>
              <a:path w="211029" h="282787">
                <a:moveTo>
                  <a:pt x="0" y="0"/>
                </a:moveTo>
                <a:lnTo>
                  <a:pt x="211030" y="0"/>
                </a:lnTo>
                <a:lnTo>
                  <a:pt x="211030" y="282786"/>
                </a:lnTo>
                <a:lnTo>
                  <a:pt x="0" y="2827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028700" y="3668085"/>
            <a:ext cx="7377726" cy="704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185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Integrating Ethereum blockchain and Federated Learning to enable privacy-preserving, multi-institutional collaboration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886003" y="2836649"/>
            <a:ext cx="3428319" cy="40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8"/>
              </a:lnSpc>
            </a:pPr>
            <a:r>
              <a:rPr lang="en-US" sz="215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 Research Objectives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297182" y="9620250"/>
            <a:ext cx="4537298" cy="364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Course Title:</a:t>
            </a:r>
            <a:r>
              <a:rPr lang="en-US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Project and Thesis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185236" y="1209106"/>
            <a:ext cx="13194424" cy="830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38"/>
              </a:lnSpc>
            </a:pPr>
            <a:r>
              <a:rPr lang="en-US" sz="648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METHODOLOGICAL WORKFLOW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582700" y="436426"/>
            <a:ext cx="1781375" cy="364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80"/>
              </a:lnSpc>
              <a:spcBef>
                <a:spcPct val="0"/>
              </a:spcBef>
            </a:pPr>
            <a:r>
              <a:rPr lang="en-US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05/10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700" y="6043401"/>
            <a:ext cx="7377726" cy="2919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1332" lvl="1" indent="-200666" algn="l">
              <a:lnSpc>
                <a:spcPts val="3327"/>
              </a:lnSpc>
              <a:buFont typeface="Arial"/>
              <a:buChar char="•"/>
            </a:pPr>
            <a:r>
              <a:rPr lang="en-US" sz="185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Phase 1</a:t>
            </a:r>
            <a:r>
              <a:rPr lang="en-US" sz="185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Pre-processing: 160×160 RGB resizing, pixel normalization, and stochastic augmentation (rotation/flipping).</a:t>
            </a:r>
          </a:p>
          <a:p>
            <a:pPr marL="401332" lvl="1" indent="-200666" algn="l">
              <a:lnSpc>
                <a:spcPts val="3327"/>
              </a:lnSpc>
              <a:buFont typeface="Arial"/>
              <a:buChar char="•"/>
            </a:pPr>
            <a:r>
              <a:rPr lang="en-US" sz="185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Phase 2</a:t>
            </a:r>
            <a:r>
              <a:rPr lang="en-US" sz="185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Hybrid Feature Extraction: Integration of EfficientNet-B0 with a Coordinate Attention module to capture spatially structured pathological features.</a:t>
            </a:r>
          </a:p>
          <a:p>
            <a:pPr marL="401332" lvl="1" indent="-200666" algn="l">
              <a:lnSpc>
                <a:spcPts val="3327"/>
              </a:lnSpc>
              <a:buFont typeface="Arial"/>
              <a:buChar char="•"/>
            </a:pPr>
            <a:r>
              <a:rPr lang="en-US" sz="185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Phase 3</a:t>
            </a:r>
            <a:r>
              <a:rPr lang="en-US" sz="185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Centralized vs. Federated Baseline: Rigorous training using Adam optimizer and BCE loss to establish a performance upper bound.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886003" y="5399458"/>
            <a:ext cx="2973096" cy="443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2"/>
              </a:lnSpc>
            </a:pPr>
            <a:r>
              <a:rPr lang="en-US" sz="23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Materials and Methods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8844576" y="2499093"/>
            <a:ext cx="8970305" cy="6719109"/>
            <a:chOff x="0" y="0"/>
            <a:chExt cx="11960407" cy="895881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1960407" cy="8958811"/>
            </a:xfrm>
            <a:custGeom>
              <a:avLst/>
              <a:gdLst/>
              <a:ahLst/>
              <a:cxnLst/>
              <a:rect l="l" t="t" r="r" b="b"/>
              <a:pathLst>
                <a:path w="11960407" h="8958811">
                  <a:moveTo>
                    <a:pt x="0" y="0"/>
                  </a:moveTo>
                  <a:lnTo>
                    <a:pt x="11960407" y="0"/>
                  </a:lnTo>
                  <a:lnTo>
                    <a:pt x="11960407" y="8958811"/>
                  </a:lnTo>
                  <a:lnTo>
                    <a:pt x="0" y="89588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592280" y="1399712"/>
              <a:ext cx="568324" cy="3224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69"/>
                </a:lnSpc>
              </a:pPr>
              <a:r>
                <a:rPr lang="en-US" sz="1557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58313" y="1716295"/>
              <a:ext cx="1188065" cy="3224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69"/>
                </a:lnSpc>
              </a:pPr>
              <a:r>
                <a:rPr lang="en-US" sz="1557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acquisition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669578" y="2283701"/>
              <a:ext cx="1431326" cy="3224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69"/>
                </a:lnSpc>
              </a:pPr>
              <a:r>
                <a:rPr lang="en-US" sz="155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Multi source 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892699" y="2600285"/>
              <a:ext cx="916001" cy="3224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69"/>
                </a:lnSpc>
              </a:pPr>
              <a:r>
                <a:rPr lang="en-US" sz="1557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datasets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334131" y="6241860"/>
              <a:ext cx="1382157" cy="6390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69"/>
                </a:lnSpc>
              </a:pPr>
              <a:r>
                <a:rPr lang="en-US" sz="1557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Binary Core Entropy Loss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361620" y="6852089"/>
              <a:ext cx="1322882" cy="8009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11"/>
                </a:lnSpc>
              </a:pPr>
              <a:r>
                <a:rPr lang="en-US" sz="1557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Forward </a:t>
              </a:r>
            </a:p>
            <a:p>
              <a:pPr algn="ctr">
                <a:lnSpc>
                  <a:spcPts val="778"/>
                </a:lnSpc>
              </a:pPr>
              <a:r>
                <a:rPr lang="en-US" sz="1557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Propagation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366371" y="7435624"/>
              <a:ext cx="2054544" cy="3510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81"/>
                </a:lnSpc>
              </a:pPr>
              <a:r>
                <a:rPr lang="en-US" sz="1557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Classification Head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009872" y="5621247"/>
              <a:ext cx="2029754" cy="3917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36"/>
                </a:lnSpc>
              </a:pPr>
              <a:r>
                <a:rPr lang="en-US" sz="166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Back Propagation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583209" y="2601292"/>
              <a:ext cx="1957208" cy="1013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36"/>
                </a:lnSpc>
              </a:pPr>
              <a:r>
                <a:rPr lang="en-US" sz="166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Dataset Splitting</a:t>
              </a:r>
            </a:p>
            <a:p>
              <a:pPr algn="l">
                <a:lnSpc>
                  <a:spcPts val="2804"/>
                </a:lnSpc>
              </a:pPr>
              <a:r>
                <a:rPr lang="en-US" sz="200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Preprocessing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277685" y="8116831"/>
              <a:ext cx="2271941" cy="3917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36"/>
                </a:lnSpc>
              </a:pPr>
              <a:r>
                <a:rPr lang="en-US" sz="166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 Architecture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83424" y="7789264"/>
              <a:ext cx="988815" cy="4281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03"/>
                </a:lnSpc>
              </a:pPr>
              <a:r>
                <a:rPr lang="en-US" sz="2003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 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14116" y="8196300"/>
              <a:ext cx="1460031" cy="4281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03"/>
                </a:lnSpc>
              </a:pPr>
              <a:r>
                <a:rPr lang="en-US" sz="2003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Evaluation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07472" y="3412960"/>
              <a:ext cx="1658970" cy="4281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03"/>
                </a:lnSpc>
              </a:pPr>
              <a:r>
                <a:rPr lang="en-US" sz="2003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Automated 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36596" y="3819996"/>
              <a:ext cx="2539836" cy="29466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3"/>
                </a:lnSpc>
              </a:pPr>
              <a:r>
                <a:rPr lang="en-US" sz="2003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Medical Report</a:t>
              </a:r>
            </a:p>
            <a:p>
              <a:pPr algn="ctr">
                <a:lnSpc>
                  <a:spcPts val="5007"/>
                </a:lnSpc>
              </a:pPr>
              <a:r>
                <a:rPr lang="en-US" sz="2003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Produced Class </a:t>
              </a:r>
            </a:p>
            <a:p>
              <a:pPr algn="ctr">
                <a:lnSpc>
                  <a:spcPts val="1001"/>
                </a:lnSpc>
              </a:pPr>
              <a:r>
                <a:rPr lang="en-US" sz="2003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Lebel</a:t>
              </a:r>
            </a:p>
            <a:p>
              <a:pPr algn="ctr">
                <a:lnSpc>
                  <a:spcPts val="5007"/>
                </a:lnSpc>
              </a:pPr>
              <a:r>
                <a:rPr lang="en-US" sz="2003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Probability </a:t>
              </a:r>
            </a:p>
            <a:p>
              <a:pPr algn="ctr">
                <a:lnSpc>
                  <a:spcPts val="1001"/>
                </a:lnSpc>
              </a:pPr>
              <a:r>
                <a:rPr lang="en-US" sz="2003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Score</a:t>
              </a:r>
            </a:p>
            <a:p>
              <a:pPr algn="ctr">
                <a:lnSpc>
                  <a:spcPts val="3940"/>
                </a:lnSpc>
              </a:pPr>
              <a:r>
                <a:rPr lang="en-US" sz="2003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Diagnostic Output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656758" y="213798"/>
              <a:ext cx="1885935" cy="6186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18"/>
                </a:lnSpc>
              </a:pPr>
              <a:r>
                <a:rPr lang="en-US" sz="2003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Image Resize 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467486" y="962151"/>
              <a:ext cx="2233301" cy="6186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418"/>
                </a:lnSpc>
              </a:pPr>
              <a:r>
                <a:rPr lang="en-US" sz="2003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Pixel Normalize 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329511" y="4463919"/>
              <a:ext cx="2154070" cy="26838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03"/>
                </a:lnSpc>
              </a:pPr>
              <a:r>
                <a:rPr lang="en-US" sz="2003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Input Tensor Representation</a:t>
              </a:r>
            </a:p>
            <a:p>
              <a:pPr algn="ctr">
                <a:lnSpc>
                  <a:spcPts val="5007"/>
                </a:lnSpc>
              </a:pPr>
              <a:r>
                <a:rPr lang="en-US" sz="2003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CNN Extraction</a:t>
              </a:r>
            </a:p>
            <a:p>
              <a:pPr algn="ctr">
                <a:lnSpc>
                  <a:spcPts val="3529"/>
                </a:lnSpc>
              </a:pPr>
              <a:r>
                <a:rPr lang="en-US" sz="2003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Deep Feature </a:t>
              </a:r>
            </a:p>
            <a:p>
              <a:pPr algn="ctr">
                <a:lnSpc>
                  <a:spcPts val="1277"/>
                </a:lnSpc>
              </a:pPr>
              <a:r>
                <a:rPr lang="en-US" sz="2003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Extraction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048880" y="4720863"/>
              <a:ext cx="1987312" cy="4134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92"/>
                </a:lnSpc>
              </a:pPr>
              <a:r>
                <a:rPr lang="en-US" sz="178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Adam optimizer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467670" y="1877856"/>
              <a:ext cx="2155229" cy="4134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92"/>
                </a:lnSpc>
              </a:pPr>
              <a:r>
                <a:rPr lang="en-US" sz="178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Aggregation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800472" y="2863447"/>
              <a:ext cx="1248640" cy="4476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4"/>
                </a:lnSpc>
              </a:pPr>
              <a:r>
                <a:rPr lang="en-US" sz="2003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Test Set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505060" y="389784"/>
              <a:ext cx="1850997" cy="4476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4"/>
                </a:lnSpc>
              </a:pPr>
              <a:r>
                <a:rPr lang="en-US" sz="2003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Training Set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335122" y="1615570"/>
              <a:ext cx="2107360" cy="4476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04"/>
                </a:lnSpc>
              </a:pPr>
              <a:r>
                <a:rPr lang="en-US" sz="2003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Validation Set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986539" y="8128645"/>
              <a:ext cx="2151427" cy="3809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36"/>
                </a:lnSpc>
              </a:pPr>
              <a:r>
                <a:rPr lang="en-US" sz="166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Training Process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494539" y="1118700"/>
              <a:ext cx="1723120" cy="3487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68"/>
                </a:lnSpc>
              </a:pPr>
              <a:r>
                <a:rPr lang="en-US" sz="89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Histopathological Images Types: 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172932" y="1661415"/>
              <a:ext cx="666437" cy="36821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68"/>
                </a:lnSpc>
              </a:pPr>
              <a:r>
                <a:rPr lang="en-US" sz="89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Benign, Malignant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416384" y="4728606"/>
              <a:ext cx="494747" cy="3198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53"/>
                </a:lnSpc>
              </a:pPr>
              <a:r>
                <a:rPr lang="en-US" sz="144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Early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229360" y="5025403"/>
              <a:ext cx="932523" cy="3198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53"/>
                </a:lnSpc>
              </a:pPr>
              <a:r>
                <a:rPr lang="en-US" sz="144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stopping 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374522" y="5322200"/>
              <a:ext cx="579702" cy="3198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53"/>
                </a:lnSpc>
              </a:pPr>
              <a:r>
                <a:rPr lang="en-US" sz="1446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check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57649" y="-4057652"/>
            <a:ext cx="10553703" cy="18668999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1728574" y="2588260"/>
            <a:ext cx="3865493" cy="659964"/>
            <a:chOff x="0" y="0"/>
            <a:chExt cx="1018072" cy="17381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18072" cy="173818"/>
            </a:xfrm>
            <a:custGeom>
              <a:avLst/>
              <a:gdLst/>
              <a:ahLst/>
              <a:cxnLst/>
              <a:rect l="l" t="t" r="r" b="b"/>
              <a:pathLst>
                <a:path w="1018072" h="173818">
                  <a:moveTo>
                    <a:pt x="0" y="0"/>
                  </a:moveTo>
                  <a:lnTo>
                    <a:pt x="1018072" y="0"/>
                  </a:lnTo>
                  <a:lnTo>
                    <a:pt x="1018072" y="173818"/>
                  </a:lnTo>
                  <a:lnTo>
                    <a:pt x="0" y="173818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018072" cy="230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28574" y="4680385"/>
            <a:ext cx="5086147" cy="659964"/>
            <a:chOff x="0" y="0"/>
            <a:chExt cx="1339561" cy="17381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39561" cy="173818"/>
            </a:xfrm>
            <a:custGeom>
              <a:avLst/>
              <a:gdLst/>
              <a:ahLst/>
              <a:cxnLst/>
              <a:rect l="l" t="t" r="r" b="b"/>
              <a:pathLst>
                <a:path w="1339561" h="173818">
                  <a:moveTo>
                    <a:pt x="0" y="0"/>
                  </a:moveTo>
                  <a:lnTo>
                    <a:pt x="1339561" y="0"/>
                  </a:lnTo>
                  <a:lnTo>
                    <a:pt x="1339561" y="173818"/>
                  </a:lnTo>
                  <a:lnTo>
                    <a:pt x="0" y="173818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339561" cy="230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28574" y="6677259"/>
            <a:ext cx="4052607" cy="659964"/>
            <a:chOff x="0" y="0"/>
            <a:chExt cx="1067353" cy="17381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67353" cy="173818"/>
            </a:xfrm>
            <a:custGeom>
              <a:avLst/>
              <a:gdLst/>
              <a:ahLst/>
              <a:cxnLst/>
              <a:rect l="l" t="t" r="r" b="b"/>
              <a:pathLst>
                <a:path w="1067353" h="173818">
                  <a:moveTo>
                    <a:pt x="0" y="0"/>
                  </a:moveTo>
                  <a:lnTo>
                    <a:pt x="1067353" y="0"/>
                  </a:lnTo>
                  <a:lnTo>
                    <a:pt x="1067353" y="173818"/>
                  </a:lnTo>
                  <a:lnTo>
                    <a:pt x="0" y="173818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1067353" cy="230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867629" y="2735374"/>
            <a:ext cx="365736" cy="365736"/>
            <a:chOff x="0" y="0"/>
            <a:chExt cx="96325" cy="9632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6325" cy="96325"/>
            </a:xfrm>
            <a:custGeom>
              <a:avLst/>
              <a:gdLst/>
              <a:ahLst/>
              <a:cxnLst/>
              <a:rect l="l" t="t" r="r" b="b"/>
              <a:pathLst>
                <a:path w="96325" h="96325">
                  <a:moveTo>
                    <a:pt x="0" y="0"/>
                  </a:moveTo>
                  <a:lnTo>
                    <a:pt x="96325" y="0"/>
                  </a:lnTo>
                  <a:lnTo>
                    <a:pt x="96325" y="96325"/>
                  </a:lnTo>
                  <a:lnTo>
                    <a:pt x="0" y="9632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96325" cy="153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867629" y="6824374"/>
            <a:ext cx="365736" cy="365736"/>
            <a:chOff x="0" y="0"/>
            <a:chExt cx="96325" cy="9632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6325" cy="96325"/>
            </a:xfrm>
            <a:custGeom>
              <a:avLst/>
              <a:gdLst/>
              <a:ahLst/>
              <a:cxnLst/>
              <a:rect l="l" t="t" r="r" b="b"/>
              <a:pathLst>
                <a:path w="96325" h="96325">
                  <a:moveTo>
                    <a:pt x="0" y="0"/>
                  </a:moveTo>
                  <a:lnTo>
                    <a:pt x="96325" y="0"/>
                  </a:lnTo>
                  <a:lnTo>
                    <a:pt x="96325" y="96325"/>
                  </a:lnTo>
                  <a:lnTo>
                    <a:pt x="0" y="9632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96325" cy="153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1928392" y="2795679"/>
            <a:ext cx="244208" cy="245127"/>
          </a:xfrm>
          <a:custGeom>
            <a:avLst/>
            <a:gdLst/>
            <a:ahLst/>
            <a:cxnLst/>
            <a:rect l="l" t="t" r="r" b="b"/>
            <a:pathLst>
              <a:path w="244208" h="245127">
                <a:moveTo>
                  <a:pt x="0" y="0"/>
                </a:moveTo>
                <a:lnTo>
                  <a:pt x="244209" y="0"/>
                </a:lnTo>
                <a:lnTo>
                  <a:pt x="244209" y="245127"/>
                </a:lnTo>
                <a:lnTo>
                  <a:pt x="0" y="2451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1867629" y="4827499"/>
            <a:ext cx="365736" cy="365736"/>
            <a:chOff x="0" y="0"/>
            <a:chExt cx="96325" cy="9632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6325" cy="96325"/>
            </a:xfrm>
            <a:custGeom>
              <a:avLst/>
              <a:gdLst/>
              <a:ahLst/>
              <a:cxnLst/>
              <a:rect l="l" t="t" r="r" b="b"/>
              <a:pathLst>
                <a:path w="96325" h="96325">
                  <a:moveTo>
                    <a:pt x="0" y="0"/>
                  </a:moveTo>
                  <a:lnTo>
                    <a:pt x="96325" y="0"/>
                  </a:lnTo>
                  <a:lnTo>
                    <a:pt x="96325" y="96325"/>
                  </a:lnTo>
                  <a:lnTo>
                    <a:pt x="0" y="9632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96325" cy="153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1948462" y="4887803"/>
            <a:ext cx="204069" cy="245127"/>
          </a:xfrm>
          <a:custGeom>
            <a:avLst/>
            <a:gdLst/>
            <a:ahLst/>
            <a:cxnLst/>
            <a:rect l="l" t="t" r="r" b="b"/>
            <a:pathLst>
              <a:path w="204069" h="245127">
                <a:moveTo>
                  <a:pt x="0" y="0"/>
                </a:moveTo>
                <a:lnTo>
                  <a:pt x="204069" y="0"/>
                </a:lnTo>
                <a:lnTo>
                  <a:pt x="204069" y="245128"/>
                </a:lnTo>
                <a:lnTo>
                  <a:pt x="0" y="2451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912784" y="6884678"/>
            <a:ext cx="275424" cy="245127"/>
          </a:xfrm>
          <a:custGeom>
            <a:avLst/>
            <a:gdLst/>
            <a:ahLst/>
            <a:cxnLst/>
            <a:rect l="l" t="t" r="r" b="b"/>
            <a:pathLst>
              <a:path w="275424" h="245127">
                <a:moveTo>
                  <a:pt x="0" y="0"/>
                </a:moveTo>
                <a:lnTo>
                  <a:pt x="275424" y="0"/>
                </a:lnTo>
                <a:lnTo>
                  <a:pt x="275424" y="245127"/>
                </a:lnTo>
                <a:lnTo>
                  <a:pt x="0" y="2451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632870" y="1032234"/>
            <a:ext cx="905853" cy="1151752"/>
          </a:xfrm>
          <a:custGeom>
            <a:avLst/>
            <a:gdLst/>
            <a:ahLst/>
            <a:cxnLst/>
            <a:rect l="l" t="t" r="r" b="b"/>
            <a:pathLst>
              <a:path w="905853" h="1151752">
                <a:moveTo>
                  <a:pt x="0" y="0"/>
                </a:moveTo>
                <a:lnTo>
                  <a:pt x="905853" y="0"/>
                </a:lnTo>
                <a:lnTo>
                  <a:pt x="905853" y="1151752"/>
                </a:lnTo>
                <a:lnTo>
                  <a:pt x="0" y="115175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grpSp>
        <p:nvGrpSpPr>
          <p:cNvPr id="25" name="Group 25"/>
          <p:cNvGrpSpPr/>
          <p:nvPr/>
        </p:nvGrpSpPr>
        <p:grpSpPr>
          <a:xfrm>
            <a:off x="12815520" y="2282542"/>
            <a:ext cx="2476558" cy="2471847"/>
            <a:chOff x="0" y="0"/>
            <a:chExt cx="3302077" cy="3295796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3302077" cy="3295796"/>
              <a:chOff x="0" y="0"/>
              <a:chExt cx="812800" cy="811254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812800" cy="81125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1254">
                    <a:moveTo>
                      <a:pt x="406400" y="0"/>
                    </a:moveTo>
                    <a:cubicBezTo>
                      <a:pt x="181951" y="0"/>
                      <a:pt x="0" y="181605"/>
                      <a:pt x="0" y="405627"/>
                    </a:cubicBezTo>
                    <a:cubicBezTo>
                      <a:pt x="0" y="629649"/>
                      <a:pt x="181951" y="811254"/>
                      <a:pt x="406400" y="811254"/>
                    </a:cubicBezTo>
                    <a:cubicBezTo>
                      <a:pt x="630849" y="811254"/>
                      <a:pt x="812800" y="629649"/>
                      <a:pt x="812800" y="405627"/>
                    </a:cubicBezTo>
                    <a:cubicBezTo>
                      <a:pt x="812800" y="181605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76200" y="18905"/>
                <a:ext cx="660400" cy="71629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sp>
          <p:nvSpPr>
            <p:cNvPr id="29" name="Freeform 29"/>
            <p:cNvSpPr/>
            <p:nvPr/>
          </p:nvSpPr>
          <p:spPr>
            <a:xfrm>
              <a:off x="939122" y="658480"/>
              <a:ext cx="1423833" cy="1482515"/>
            </a:xfrm>
            <a:custGeom>
              <a:avLst/>
              <a:gdLst/>
              <a:ahLst/>
              <a:cxnLst/>
              <a:rect l="l" t="t" r="r" b="b"/>
              <a:pathLst>
                <a:path w="1423833" h="1482515">
                  <a:moveTo>
                    <a:pt x="0" y="0"/>
                  </a:moveTo>
                  <a:lnTo>
                    <a:pt x="1423833" y="0"/>
                  </a:lnTo>
                  <a:lnTo>
                    <a:pt x="1423833" y="1482515"/>
                  </a:lnTo>
                  <a:lnTo>
                    <a:pt x="0" y="14825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709670" y="2198682"/>
              <a:ext cx="1882737" cy="360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87"/>
                </a:lnSpc>
              </a:pPr>
              <a:r>
                <a:rPr lang="en-US" sz="1524" b="1">
                  <a:solidFill>
                    <a:srgbClr val="30303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Admin Control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3097596" y="4242235"/>
            <a:ext cx="1912407" cy="1907187"/>
            <a:chOff x="0" y="0"/>
            <a:chExt cx="2549876" cy="2542916"/>
          </a:xfrm>
        </p:grpSpPr>
        <p:grpSp>
          <p:nvGrpSpPr>
            <p:cNvPr id="32" name="Group 32"/>
            <p:cNvGrpSpPr/>
            <p:nvPr/>
          </p:nvGrpSpPr>
          <p:grpSpPr>
            <a:xfrm>
              <a:off x="0" y="0"/>
              <a:ext cx="2549876" cy="2542916"/>
              <a:chOff x="0" y="0"/>
              <a:chExt cx="812800" cy="810582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812800" cy="810582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0582">
                    <a:moveTo>
                      <a:pt x="406400" y="0"/>
                    </a:moveTo>
                    <a:cubicBezTo>
                      <a:pt x="181951" y="0"/>
                      <a:pt x="0" y="181455"/>
                      <a:pt x="0" y="405291"/>
                    </a:cubicBezTo>
                    <a:cubicBezTo>
                      <a:pt x="0" y="629127"/>
                      <a:pt x="181951" y="810582"/>
                      <a:pt x="406400" y="810582"/>
                    </a:cubicBezTo>
                    <a:cubicBezTo>
                      <a:pt x="630849" y="810582"/>
                      <a:pt x="812800" y="629127"/>
                      <a:pt x="812800" y="405291"/>
                    </a:cubicBezTo>
                    <a:cubicBezTo>
                      <a:pt x="812800" y="181455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472C4"/>
              </a:solid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76200" y="18842"/>
                <a:ext cx="660400" cy="71574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sp>
          <p:nvSpPr>
            <p:cNvPr id="35" name="Freeform 35"/>
            <p:cNvSpPr/>
            <p:nvPr/>
          </p:nvSpPr>
          <p:spPr>
            <a:xfrm>
              <a:off x="678360" y="475253"/>
              <a:ext cx="1193156" cy="1238035"/>
            </a:xfrm>
            <a:custGeom>
              <a:avLst/>
              <a:gdLst/>
              <a:ahLst/>
              <a:cxnLst/>
              <a:rect l="l" t="t" r="r" b="b"/>
              <a:pathLst>
                <a:path w="1193156" h="1238035">
                  <a:moveTo>
                    <a:pt x="0" y="0"/>
                  </a:moveTo>
                  <a:lnTo>
                    <a:pt x="1193156" y="0"/>
                  </a:lnTo>
                  <a:lnTo>
                    <a:pt x="1193156" y="1238035"/>
                  </a:lnTo>
                  <a:lnTo>
                    <a:pt x="0" y="12380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548010" y="1752233"/>
              <a:ext cx="1453856" cy="2799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66"/>
                </a:lnSpc>
              </a:pPr>
              <a:r>
                <a:rPr lang="en-US" sz="1177" b="1">
                  <a:solidFill>
                    <a:srgbClr val="EFEFE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Global Model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307141" y="7337223"/>
            <a:ext cx="2285548" cy="1508462"/>
            <a:chOff x="0" y="0"/>
            <a:chExt cx="635000" cy="4191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635000" cy="419100"/>
            </a:xfrm>
            <a:custGeom>
              <a:avLst/>
              <a:gdLst/>
              <a:ahLst/>
              <a:cxnLst/>
              <a:rect l="l" t="t" r="r" b="b"/>
              <a:pathLst>
                <a:path w="635000" h="419100">
                  <a:moveTo>
                    <a:pt x="66159" y="0"/>
                  </a:moveTo>
                  <a:lnTo>
                    <a:pt x="568841" y="0"/>
                  </a:lnTo>
                  <a:cubicBezTo>
                    <a:pt x="586388" y="0"/>
                    <a:pt x="603215" y="6970"/>
                    <a:pt x="615623" y="19377"/>
                  </a:cubicBezTo>
                  <a:cubicBezTo>
                    <a:pt x="628030" y="31785"/>
                    <a:pt x="635000" y="48612"/>
                    <a:pt x="635000" y="66159"/>
                  </a:cubicBezTo>
                  <a:lnTo>
                    <a:pt x="635000" y="352941"/>
                  </a:lnTo>
                  <a:cubicBezTo>
                    <a:pt x="635000" y="370488"/>
                    <a:pt x="628030" y="387315"/>
                    <a:pt x="615623" y="399723"/>
                  </a:cubicBezTo>
                  <a:cubicBezTo>
                    <a:pt x="603215" y="412130"/>
                    <a:pt x="586388" y="419100"/>
                    <a:pt x="568841" y="419100"/>
                  </a:cubicBezTo>
                  <a:lnTo>
                    <a:pt x="66159" y="419100"/>
                  </a:lnTo>
                  <a:cubicBezTo>
                    <a:pt x="48612" y="419100"/>
                    <a:pt x="31785" y="412130"/>
                    <a:pt x="19377" y="399723"/>
                  </a:cubicBezTo>
                  <a:cubicBezTo>
                    <a:pt x="6970" y="387315"/>
                    <a:pt x="0" y="370488"/>
                    <a:pt x="0" y="352941"/>
                  </a:cubicBezTo>
                  <a:lnTo>
                    <a:pt x="0" y="66159"/>
                  </a:lnTo>
                  <a:cubicBezTo>
                    <a:pt x="0" y="48612"/>
                    <a:pt x="6970" y="31785"/>
                    <a:pt x="19377" y="19377"/>
                  </a:cubicBezTo>
                  <a:cubicBezTo>
                    <a:pt x="31785" y="6970"/>
                    <a:pt x="48612" y="0"/>
                    <a:pt x="66159" y="0"/>
                  </a:cubicBez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57150"/>
              <a:ext cx="635000" cy="476250"/>
            </a:xfrm>
            <a:prstGeom prst="rect">
              <a:avLst/>
            </a:prstGeom>
          </p:spPr>
          <p:txBody>
            <a:bodyPr lIns="37622" tIns="37622" rIns="37622" bIns="37622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sp>
        <p:nvSpPr>
          <p:cNvPr id="40" name="Freeform 40"/>
          <p:cNvSpPr/>
          <p:nvPr/>
        </p:nvSpPr>
        <p:spPr>
          <a:xfrm>
            <a:off x="9667228" y="7685949"/>
            <a:ext cx="666596" cy="664930"/>
          </a:xfrm>
          <a:custGeom>
            <a:avLst/>
            <a:gdLst/>
            <a:ahLst/>
            <a:cxnLst/>
            <a:rect l="l" t="t" r="r" b="b"/>
            <a:pathLst>
              <a:path w="666596" h="664930">
                <a:moveTo>
                  <a:pt x="0" y="0"/>
                </a:moveTo>
                <a:lnTo>
                  <a:pt x="666596" y="0"/>
                </a:lnTo>
                <a:lnTo>
                  <a:pt x="666596" y="664929"/>
                </a:lnTo>
                <a:lnTo>
                  <a:pt x="0" y="66492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2"/>
          <p:cNvSpPr txBox="1"/>
          <p:nvPr/>
        </p:nvSpPr>
        <p:spPr>
          <a:xfrm>
            <a:off x="9307141" y="8453814"/>
            <a:ext cx="1273044" cy="308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12"/>
              </a:lnSpc>
            </a:pPr>
            <a:r>
              <a:rPr lang="en-US" sz="2212" b="1" dirty="0">
                <a:solidFill>
                  <a:srgbClr val="FF0099"/>
                </a:solidFill>
                <a:latin typeface="Big Shoulders Display Bold"/>
                <a:ea typeface="Big Shoulders Display Bold"/>
                <a:cs typeface="Big Shoulders Display Bold"/>
                <a:sym typeface="Big Shoulders Display Bold"/>
              </a:rPr>
              <a:t>HOSPITAL A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15364446" y="7273579"/>
            <a:ext cx="2217883" cy="1463803"/>
            <a:chOff x="0" y="0"/>
            <a:chExt cx="635000" cy="4191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35000" cy="419100"/>
            </a:xfrm>
            <a:custGeom>
              <a:avLst/>
              <a:gdLst/>
              <a:ahLst/>
              <a:cxnLst/>
              <a:rect l="l" t="t" r="r" b="b"/>
              <a:pathLst>
                <a:path w="635000" h="419100">
                  <a:moveTo>
                    <a:pt x="68177" y="0"/>
                  </a:moveTo>
                  <a:lnTo>
                    <a:pt x="566823" y="0"/>
                  </a:lnTo>
                  <a:cubicBezTo>
                    <a:pt x="604476" y="0"/>
                    <a:pt x="635000" y="30524"/>
                    <a:pt x="635000" y="68177"/>
                  </a:cubicBezTo>
                  <a:lnTo>
                    <a:pt x="635000" y="350923"/>
                  </a:lnTo>
                  <a:cubicBezTo>
                    <a:pt x="635000" y="388576"/>
                    <a:pt x="604476" y="419100"/>
                    <a:pt x="566823" y="419100"/>
                  </a:cubicBezTo>
                  <a:lnTo>
                    <a:pt x="68177" y="419100"/>
                  </a:lnTo>
                  <a:cubicBezTo>
                    <a:pt x="30524" y="419100"/>
                    <a:pt x="0" y="388576"/>
                    <a:pt x="0" y="350923"/>
                  </a:cubicBezTo>
                  <a:lnTo>
                    <a:pt x="0" y="68177"/>
                  </a:lnTo>
                  <a:cubicBezTo>
                    <a:pt x="0" y="30524"/>
                    <a:pt x="30524" y="0"/>
                    <a:pt x="68177" y="0"/>
                  </a:cubicBezTo>
                  <a:close/>
                </a:path>
              </a:pathLst>
            </a:custGeom>
            <a:solidFill>
              <a:srgbClr val="8C52FF"/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0" y="-57150"/>
              <a:ext cx="635000" cy="476250"/>
            </a:xfrm>
            <a:prstGeom prst="rect">
              <a:avLst/>
            </a:prstGeom>
          </p:spPr>
          <p:txBody>
            <a:bodyPr lIns="36508" tIns="36508" rIns="36508" bIns="36508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sp>
        <p:nvSpPr>
          <p:cNvPr id="46" name="Freeform 46"/>
          <p:cNvSpPr/>
          <p:nvPr/>
        </p:nvSpPr>
        <p:spPr>
          <a:xfrm>
            <a:off x="15713873" y="7611980"/>
            <a:ext cx="646861" cy="645244"/>
          </a:xfrm>
          <a:custGeom>
            <a:avLst/>
            <a:gdLst/>
            <a:ahLst/>
            <a:cxnLst/>
            <a:rect l="l" t="t" r="r" b="b"/>
            <a:pathLst>
              <a:path w="646861" h="645244">
                <a:moveTo>
                  <a:pt x="0" y="0"/>
                </a:moveTo>
                <a:lnTo>
                  <a:pt x="646861" y="0"/>
                </a:lnTo>
                <a:lnTo>
                  <a:pt x="646861" y="645244"/>
                </a:lnTo>
                <a:lnTo>
                  <a:pt x="0" y="64524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48" name="TextBox 48"/>
          <p:cNvSpPr txBox="1"/>
          <p:nvPr/>
        </p:nvSpPr>
        <p:spPr>
          <a:xfrm>
            <a:off x="15364446" y="8367483"/>
            <a:ext cx="1235354" cy="289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6"/>
              </a:lnSpc>
            </a:pPr>
            <a:r>
              <a:rPr lang="en-US" sz="2146" b="1">
                <a:solidFill>
                  <a:srgbClr val="FF0099"/>
                </a:solidFill>
                <a:latin typeface="Big Shoulders Display Bold"/>
                <a:ea typeface="Big Shoulders Display Bold"/>
                <a:cs typeface="Big Shoulders Display Bold"/>
                <a:sym typeface="Big Shoulders Display Bold"/>
              </a:rPr>
              <a:t>HOSPITAL C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12324049" y="7321720"/>
            <a:ext cx="2309038" cy="1523965"/>
            <a:chOff x="0" y="0"/>
            <a:chExt cx="635000" cy="4191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635000" cy="419100"/>
            </a:xfrm>
            <a:custGeom>
              <a:avLst/>
              <a:gdLst/>
              <a:ahLst/>
              <a:cxnLst/>
              <a:rect l="l" t="t" r="r" b="b"/>
              <a:pathLst>
                <a:path w="635000" h="419100">
                  <a:moveTo>
                    <a:pt x="65486" y="0"/>
                  </a:moveTo>
                  <a:lnTo>
                    <a:pt x="569514" y="0"/>
                  </a:lnTo>
                  <a:cubicBezTo>
                    <a:pt x="586882" y="0"/>
                    <a:pt x="603539" y="6899"/>
                    <a:pt x="615820" y="19180"/>
                  </a:cubicBezTo>
                  <a:cubicBezTo>
                    <a:pt x="628101" y="31461"/>
                    <a:pt x="635000" y="48118"/>
                    <a:pt x="635000" y="65486"/>
                  </a:cubicBezTo>
                  <a:lnTo>
                    <a:pt x="635000" y="353614"/>
                  </a:lnTo>
                  <a:cubicBezTo>
                    <a:pt x="635000" y="370982"/>
                    <a:pt x="628101" y="387639"/>
                    <a:pt x="615820" y="399920"/>
                  </a:cubicBezTo>
                  <a:cubicBezTo>
                    <a:pt x="603539" y="412201"/>
                    <a:pt x="586882" y="419100"/>
                    <a:pt x="569514" y="419100"/>
                  </a:cubicBezTo>
                  <a:lnTo>
                    <a:pt x="65486" y="419100"/>
                  </a:lnTo>
                  <a:cubicBezTo>
                    <a:pt x="48118" y="419100"/>
                    <a:pt x="31461" y="412201"/>
                    <a:pt x="19180" y="399920"/>
                  </a:cubicBezTo>
                  <a:cubicBezTo>
                    <a:pt x="6899" y="387639"/>
                    <a:pt x="0" y="370982"/>
                    <a:pt x="0" y="353614"/>
                  </a:cubicBezTo>
                  <a:lnTo>
                    <a:pt x="0" y="65486"/>
                  </a:lnTo>
                  <a:cubicBezTo>
                    <a:pt x="0" y="48118"/>
                    <a:pt x="6899" y="31461"/>
                    <a:pt x="19180" y="19180"/>
                  </a:cubicBezTo>
                  <a:cubicBezTo>
                    <a:pt x="31461" y="6899"/>
                    <a:pt x="48118" y="0"/>
                    <a:pt x="65486" y="0"/>
                  </a:cubicBezTo>
                  <a:close/>
                </a:path>
              </a:pathLst>
            </a:custGeom>
            <a:solidFill>
              <a:srgbClr val="FF802F"/>
            </a:solidFill>
          </p:spPr>
        </p:sp>
        <p:sp>
          <p:nvSpPr>
            <p:cNvPr id="51" name="TextBox 51"/>
            <p:cNvSpPr txBox="1"/>
            <p:nvPr/>
          </p:nvSpPr>
          <p:spPr>
            <a:xfrm>
              <a:off x="0" y="-57150"/>
              <a:ext cx="635000" cy="476250"/>
            </a:xfrm>
            <a:prstGeom prst="rect">
              <a:avLst/>
            </a:prstGeom>
          </p:spPr>
          <p:txBody>
            <a:bodyPr lIns="38009" tIns="38009" rIns="38009" bIns="38009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sp>
        <p:nvSpPr>
          <p:cNvPr id="52" name="Freeform 52"/>
          <p:cNvSpPr/>
          <p:nvPr/>
        </p:nvSpPr>
        <p:spPr>
          <a:xfrm>
            <a:off x="12687837" y="7674029"/>
            <a:ext cx="673447" cy="671764"/>
          </a:xfrm>
          <a:custGeom>
            <a:avLst/>
            <a:gdLst/>
            <a:ahLst/>
            <a:cxnLst/>
            <a:rect l="l" t="t" r="r" b="b"/>
            <a:pathLst>
              <a:path w="673447" h="671764">
                <a:moveTo>
                  <a:pt x="0" y="0"/>
                </a:moveTo>
                <a:lnTo>
                  <a:pt x="673447" y="0"/>
                </a:lnTo>
                <a:lnTo>
                  <a:pt x="673447" y="671764"/>
                </a:lnTo>
                <a:lnTo>
                  <a:pt x="0" y="67176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54" name="TextBox 54"/>
          <p:cNvSpPr txBox="1"/>
          <p:nvPr/>
        </p:nvSpPr>
        <p:spPr>
          <a:xfrm>
            <a:off x="12324049" y="8449493"/>
            <a:ext cx="1286127" cy="312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5"/>
              </a:lnSpc>
            </a:pPr>
            <a:r>
              <a:rPr lang="en-US" sz="2235" b="1">
                <a:solidFill>
                  <a:srgbClr val="FF0099"/>
                </a:solidFill>
                <a:latin typeface="Big Shoulders Display Bold"/>
                <a:ea typeface="Big Shoulders Display Bold"/>
                <a:cs typeface="Big Shoulders Display Bold"/>
                <a:sym typeface="Big Shoulders Display Bold"/>
              </a:rPr>
              <a:t>HOSPITAL B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728574" y="3514528"/>
            <a:ext cx="8482226" cy="7079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1900" dirty="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=&gt; Consists of 3 main components: Admin Control, Global Model, Hospitals</a:t>
            </a:r>
          </a:p>
          <a:p>
            <a:pPr algn="l">
              <a:lnSpc>
                <a:spcPts val="2850"/>
              </a:lnSpc>
            </a:pPr>
            <a:r>
              <a:rPr lang="en-US" sz="1900" dirty="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=&gt; Ethereum (</a:t>
            </a:r>
            <a:r>
              <a:rPr lang="en-US" sz="1900" dirty="0" err="1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Sepolia</a:t>
            </a:r>
            <a:r>
              <a:rPr lang="en-US" sz="1900" dirty="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Testnet</a:t>
            </a:r>
            <a:r>
              <a:rPr lang="en-US" sz="1900" dirty="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manages hospital registration and model versioning.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728574" y="5606652"/>
            <a:ext cx="6670396" cy="365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19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weights are encrypted (AES-256-CBC) and stored on IPFS.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728574" y="7603527"/>
            <a:ext cx="6670396" cy="727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19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Blockchain records 46-character CIDs; any tampering with the model file invalidates the on-chain hash.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2604874" y="2649638"/>
            <a:ext cx="2458898" cy="451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Orchestration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2604874" y="4741763"/>
            <a:ext cx="3680999" cy="451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Storage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2604874" y="6738638"/>
            <a:ext cx="2638532" cy="451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Verification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7297181" y="9620250"/>
            <a:ext cx="4295507" cy="364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Course Title:</a:t>
            </a:r>
            <a:r>
              <a:rPr lang="en-US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Project and Thesis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2789406" y="1184989"/>
            <a:ext cx="13456610" cy="830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38"/>
              </a:lnSpc>
            </a:pPr>
            <a:r>
              <a:rPr lang="en-US" sz="648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BLOCKCHAIN-FL INTEGRATION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5582700" y="436426"/>
            <a:ext cx="1781375" cy="364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80"/>
              </a:lnSpc>
              <a:spcBef>
                <a:spcPct val="0"/>
              </a:spcBef>
            </a:pPr>
            <a:r>
              <a:rPr lang="en-US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06/10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5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5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5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5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8" grpId="0"/>
      <p:bldP spid="5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FA8E7-E19A-1196-54D2-B9501D262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C1EF7B5-D100-0186-CC6F-CCAA4591449E}"/>
              </a:ext>
            </a:extLst>
          </p:cNvPr>
          <p:cNvSpPr/>
          <p:nvPr/>
        </p:nvSpPr>
        <p:spPr>
          <a:xfrm rot="-5400000">
            <a:off x="4000500" y="-4000501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E5B36F47-55AB-9F0C-0A70-E311A4F90B96}"/>
              </a:ext>
            </a:extLst>
          </p:cNvPr>
          <p:cNvGrpSpPr/>
          <p:nvPr/>
        </p:nvGrpSpPr>
        <p:grpSpPr>
          <a:xfrm>
            <a:off x="1728574" y="2588260"/>
            <a:ext cx="3865493" cy="659964"/>
            <a:chOff x="0" y="0"/>
            <a:chExt cx="1018072" cy="17381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C8E30E9-E94D-739F-9625-E77F766AA762}"/>
                </a:ext>
              </a:extLst>
            </p:cNvPr>
            <p:cNvSpPr/>
            <p:nvPr/>
          </p:nvSpPr>
          <p:spPr>
            <a:xfrm>
              <a:off x="0" y="0"/>
              <a:ext cx="1018072" cy="173818"/>
            </a:xfrm>
            <a:custGeom>
              <a:avLst/>
              <a:gdLst/>
              <a:ahLst/>
              <a:cxnLst/>
              <a:rect l="l" t="t" r="r" b="b"/>
              <a:pathLst>
                <a:path w="1018072" h="173818">
                  <a:moveTo>
                    <a:pt x="0" y="0"/>
                  </a:moveTo>
                  <a:lnTo>
                    <a:pt x="1018072" y="0"/>
                  </a:lnTo>
                  <a:lnTo>
                    <a:pt x="1018072" y="173818"/>
                  </a:lnTo>
                  <a:lnTo>
                    <a:pt x="0" y="173818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174C756-2A68-00A4-0C5E-450A23BB4740}"/>
                </a:ext>
              </a:extLst>
            </p:cNvPr>
            <p:cNvSpPr txBox="1"/>
            <p:nvPr/>
          </p:nvSpPr>
          <p:spPr>
            <a:xfrm>
              <a:off x="0" y="-57150"/>
              <a:ext cx="1018072" cy="230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F4D5928C-8C4C-9161-1693-2C51C35A0102}"/>
              </a:ext>
            </a:extLst>
          </p:cNvPr>
          <p:cNvGrpSpPr/>
          <p:nvPr/>
        </p:nvGrpSpPr>
        <p:grpSpPr>
          <a:xfrm>
            <a:off x="1728574" y="4680385"/>
            <a:ext cx="5086147" cy="659964"/>
            <a:chOff x="0" y="0"/>
            <a:chExt cx="1339561" cy="17381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A15B21C-1C62-F664-DB34-667BB0FBAE75}"/>
                </a:ext>
              </a:extLst>
            </p:cNvPr>
            <p:cNvSpPr/>
            <p:nvPr/>
          </p:nvSpPr>
          <p:spPr>
            <a:xfrm>
              <a:off x="0" y="0"/>
              <a:ext cx="1339561" cy="173818"/>
            </a:xfrm>
            <a:custGeom>
              <a:avLst/>
              <a:gdLst/>
              <a:ahLst/>
              <a:cxnLst/>
              <a:rect l="l" t="t" r="r" b="b"/>
              <a:pathLst>
                <a:path w="1339561" h="173818">
                  <a:moveTo>
                    <a:pt x="0" y="0"/>
                  </a:moveTo>
                  <a:lnTo>
                    <a:pt x="1339561" y="0"/>
                  </a:lnTo>
                  <a:lnTo>
                    <a:pt x="1339561" y="173818"/>
                  </a:lnTo>
                  <a:lnTo>
                    <a:pt x="0" y="173818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24AD8F8-D06A-B5F0-4414-423FCE58296A}"/>
                </a:ext>
              </a:extLst>
            </p:cNvPr>
            <p:cNvSpPr txBox="1"/>
            <p:nvPr/>
          </p:nvSpPr>
          <p:spPr>
            <a:xfrm>
              <a:off x="0" y="-57150"/>
              <a:ext cx="1339561" cy="230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FB7BD38E-CC88-7815-D941-2416B6ECD36D}"/>
              </a:ext>
            </a:extLst>
          </p:cNvPr>
          <p:cNvGrpSpPr/>
          <p:nvPr/>
        </p:nvGrpSpPr>
        <p:grpSpPr>
          <a:xfrm>
            <a:off x="1728574" y="6677259"/>
            <a:ext cx="4052607" cy="659964"/>
            <a:chOff x="0" y="0"/>
            <a:chExt cx="1067353" cy="17381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6D674A7F-C5E9-BA5D-C0B1-1D8366EAB8BB}"/>
                </a:ext>
              </a:extLst>
            </p:cNvPr>
            <p:cNvSpPr/>
            <p:nvPr/>
          </p:nvSpPr>
          <p:spPr>
            <a:xfrm>
              <a:off x="0" y="0"/>
              <a:ext cx="1067353" cy="173818"/>
            </a:xfrm>
            <a:custGeom>
              <a:avLst/>
              <a:gdLst/>
              <a:ahLst/>
              <a:cxnLst/>
              <a:rect l="l" t="t" r="r" b="b"/>
              <a:pathLst>
                <a:path w="1067353" h="173818">
                  <a:moveTo>
                    <a:pt x="0" y="0"/>
                  </a:moveTo>
                  <a:lnTo>
                    <a:pt x="1067353" y="0"/>
                  </a:lnTo>
                  <a:lnTo>
                    <a:pt x="1067353" y="173818"/>
                  </a:lnTo>
                  <a:lnTo>
                    <a:pt x="0" y="173818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038E37B4-F34C-ED53-84B8-B0DEB8F039A8}"/>
                </a:ext>
              </a:extLst>
            </p:cNvPr>
            <p:cNvSpPr txBox="1"/>
            <p:nvPr/>
          </p:nvSpPr>
          <p:spPr>
            <a:xfrm>
              <a:off x="0" y="-57150"/>
              <a:ext cx="1067353" cy="230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7A0FCD2F-842D-3A62-1118-3AA3844B0D55}"/>
              </a:ext>
            </a:extLst>
          </p:cNvPr>
          <p:cNvGrpSpPr/>
          <p:nvPr/>
        </p:nvGrpSpPr>
        <p:grpSpPr>
          <a:xfrm>
            <a:off x="1867629" y="2735374"/>
            <a:ext cx="365736" cy="365736"/>
            <a:chOff x="0" y="0"/>
            <a:chExt cx="96325" cy="96325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3547A71E-6E2A-C1F8-A724-A5760936C089}"/>
                </a:ext>
              </a:extLst>
            </p:cNvPr>
            <p:cNvSpPr/>
            <p:nvPr/>
          </p:nvSpPr>
          <p:spPr>
            <a:xfrm>
              <a:off x="0" y="0"/>
              <a:ext cx="96325" cy="96325"/>
            </a:xfrm>
            <a:custGeom>
              <a:avLst/>
              <a:gdLst/>
              <a:ahLst/>
              <a:cxnLst/>
              <a:rect l="l" t="t" r="r" b="b"/>
              <a:pathLst>
                <a:path w="96325" h="96325">
                  <a:moveTo>
                    <a:pt x="0" y="0"/>
                  </a:moveTo>
                  <a:lnTo>
                    <a:pt x="96325" y="0"/>
                  </a:lnTo>
                  <a:lnTo>
                    <a:pt x="96325" y="96325"/>
                  </a:lnTo>
                  <a:lnTo>
                    <a:pt x="0" y="9632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F3A36BEA-9821-CAEB-887B-7469852F1C3C}"/>
                </a:ext>
              </a:extLst>
            </p:cNvPr>
            <p:cNvSpPr txBox="1"/>
            <p:nvPr/>
          </p:nvSpPr>
          <p:spPr>
            <a:xfrm>
              <a:off x="0" y="-57150"/>
              <a:ext cx="96325" cy="153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A7F65E0B-94B4-3DCE-9E94-ADCE76C335CF}"/>
              </a:ext>
            </a:extLst>
          </p:cNvPr>
          <p:cNvGrpSpPr/>
          <p:nvPr/>
        </p:nvGrpSpPr>
        <p:grpSpPr>
          <a:xfrm>
            <a:off x="1867629" y="6824374"/>
            <a:ext cx="365736" cy="365736"/>
            <a:chOff x="0" y="0"/>
            <a:chExt cx="96325" cy="96325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AB3D9F59-089E-7142-FA96-16BD5F4444D5}"/>
                </a:ext>
              </a:extLst>
            </p:cNvPr>
            <p:cNvSpPr/>
            <p:nvPr/>
          </p:nvSpPr>
          <p:spPr>
            <a:xfrm>
              <a:off x="0" y="0"/>
              <a:ext cx="96325" cy="96325"/>
            </a:xfrm>
            <a:custGeom>
              <a:avLst/>
              <a:gdLst/>
              <a:ahLst/>
              <a:cxnLst/>
              <a:rect l="l" t="t" r="r" b="b"/>
              <a:pathLst>
                <a:path w="96325" h="96325">
                  <a:moveTo>
                    <a:pt x="0" y="0"/>
                  </a:moveTo>
                  <a:lnTo>
                    <a:pt x="96325" y="0"/>
                  </a:lnTo>
                  <a:lnTo>
                    <a:pt x="96325" y="96325"/>
                  </a:lnTo>
                  <a:lnTo>
                    <a:pt x="0" y="9632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0F4AA989-B6E0-5912-7E1D-4A3ABDB62806}"/>
                </a:ext>
              </a:extLst>
            </p:cNvPr>
            <p:cNvSpPr txBox="1"/>
            <p:nvPr/>
          </p:nvSpPr>
          <p:spPr>
            <a:xfrm>
              <a:off x="0" y="-57150"/>
              <a:ext cx="96325" cy="153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sp>
        <p:nvSpPr>
          <p:cNvPr id="18" name="Freeform 18">
            <a:extLst>
              <a:ext uri="{FF2B5EF4-FFF2-40B4-BE49-F238E27FC236}">
                <a16:creationId xmlns:a16="http://schemas.microsoft.com/office/drawing/2014/main" id="{404347AC-5A28-18D2-8FFC-5C5D4B957486}"/>
              </a:ext>
            </a:extLst>
          </p:cNvPr>
          <p:cNvSpPr/>
          <p:nvPr/>
        </p:nvSpPr>
        <p:spPr>
          <a:xfrm>
            <a:off x="1928392" y="2795679"/>
            <a:ext cx="244208" cy="245127"/>
          </a:xfrm>
          <a:custGeom>
            <a:avLst/>
            <a:gdLst/>
            <a:ahLst/>
            <a:cxnLst/>
            <a:rect l="l" t="t" r="r" b="b"/>
            <a:pathLst>
              <a:path w="244208" h="245127">
                <a:moveTo>
                  <a:pt x="0" y="0"/>
                </a:moveTo>
                <a:lnTo>
                  <a:pt x="244209" y="0"/>
                </a:lnTo>
                <a:lnTo>
                  <a:pt x="244209" y="245127"/>
                </a:lnTo>
                <a:lnTo>
                  <a:pt x="0" y="2451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2C19BA77-7D79-B412-4B65-39ADB4CBC653}"/>
              </a:ext>
            </a:extLst>
          </p:cNvPr>
          <p:cNvGrpSpPr/>
          <p:nvPr/>
        </p:nvGrpSpPr>
        <p:grpSpPr>
          <a:xfrm>
            <a:off x="1867629" y="4827499"/>
            <a:ext cx="365736" cy="365736"/>
            <a:chOff x="0" y="0"/>
            <a:chExt cx="96325" cy="96325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471B7E59-0471-8204-F595-47DE8B319B11}"/>
                </a:ext>
              </a:extLst>
            </p:cNvPr>
            <p:cNvSpPr/>
            <p:nvPr/>
          </p:nvSpPr>
          <p:spPr>
            <a:xfrm>
              <a:off x="0" y="0"/>
              <a:ext cx="96325" cy="96325"/>
            </a:xfrm>
            <a:custGeom>
              <a:avLst/>
              <a:gdLst/>
              <a:ahLst/>
              <a:cxnLst/>
              <a:rect l="l" t="t" r="r" b="b"/>
              <a:pathLst>
                <a:path w="96325" h="96325">
                  <a:moveTo>
                    <a:pt x="0" y="0"/>
                  </a:moveTo>
                  <a:lnTo>
                    <a:pt x="96325" y="0"/>
                  </a:lnTo>
                  <a:lnTo>
                    <a:pt x="96325" y="96325"/>
                  </a:lnTo>
                  <a:lnTo>
                    <a:pt x="0" y="9632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464BF924-A3B8-3BCB-9A09-CE8E34F37AF2}"/>
                </a:ext>
              </a:extLst>
            </p:cNvPr>
            <p:cNvSpPr txBox="1"/>
            <p:nvPr/>
          </p:nvSpPr>
          <p:spPr>
            <a:xfrm>
              <a:off x="0" y="-57150"/>
              <a:ext cx="96325" cy="153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id="{7167B7E7-1495-A62B-C5B8-A0D8A1F0F7C2}"/>
              </a:ext>
            </a:extLst>
          </p:cNvPr>
          <p:cNvSpPr/>
          <p:nvPr/>
        </p:nvSpPr>
        <p:spPr>
          <a:xfrm>
            <a:off x="1948462" y="4887803"/>
            <a:ext cx="204069" cy="245127"/>
          </a:xfrm>
          <a:custGeom>
            <a:avLst/>
            <a:gdLst/>
            <a:ahLst/>
            <a:cxnLst/>
            <a:rect l="l" t="t" r="r" b="b"/>
            <a:pathLst>
              <a:path w="204069" h="245127">
                <a:moveTo>
                  <a:pt x="0" y="0"/>
                </a:moveTo>
                <a:lnTo>
                  <a:pt x="204069" y="0"/>
                </a:lnTo>
                <a:lnTo>
                  <a:pt x="204069" y="245128"/>
                </a:lnTo>
                <a:lnTo>
                  <a:pt x="0" y="2451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AA245453-3242-2C37-E9C6-AD9A39413A1C}"/>
              </a:ext>
            </a:extLst>
          </p:cNvPr>
          <p:cNvSpPr/>
          <p:nvPr/>
        </p:nvSpPr>
        <p:spPr>
          <a:xfrm>
            <a:off x="1912784" y="6884678"/>
            <a:ext cx="275424" cy="245127"/>
          </a:xfrm>
          <a:custGeom>
            <a:avLst/>
            <a:gdLst/>
            <a:ahLst/>
            <a:cxnLst/>
            <a:rect l="l" t="t" r="r" b="b"/>
            <a:pathLst>
              <a:path w="275424" h="245127">
                <a:moveTo>
                  <a:pt x="0" y="0"/>
                </a:moveTo>
                <a:lnTo>
                  <a:pt x="275424" y="0"/>
                </a:lnTo>
                <a:lnTo>
                  <a:pt x="275424" y="245127"/>
                </a:lnTo>
                <a:lnTo>
                  <a:pt x="0" y="2451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97940471-9844-0603-6708-D12E5CFBFFE1}"/>
              </a:ext>
            </a:extLst>
          </p:cNvPr>
          <p:cNvSpPr/>
          <p:nvPr/>
        </p:nvSpPr>
        <p:spPr>
          <a:xfrm>
            <a:off x="1632870" y="1032234"/>
            <a:ext cx="905853" cy="1151752"/>
          </a:xfrm>
          <a:custGeom>
            <a:avLst/>
            <a:gdLst/>
            <a:ahLst/>
            <a:cxnLst/>
            <a:rect l="l" t="t" r="r" b="b"/>
            <a:pathLst>
              <a:path w="905853" h="1151752">
                <a:moveTo>
                  <a:pt x="0" y="0"/>
                </a:moveTo>
                <a:lnTo>
                  <a:pt x="905853" y="0"/>
                </a:lnTo>
                <a:lnTo>
                  <a:pt x="905853" y="1151752"/>
                </a:lnTo>
                <a:lnTo>
                  <a:pt x="0" y="115175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grpSp>
        <p:nvGrpSpPr>
          <p:cNvPr id="25" name="Group 25">
            <a:extLst>
              <a:ext uri="{FF2B5EF4-FFF2-40B4-BE49-F238E27FC236}">
                <a16:creationId xmlns:a16="http://schemas.microsoft.com/office/drawing/2014/main" id="{76F770EB-1E29-9B56-E7B4-C376CC8F8258}"/>
              </a:ext>
            </a:extLst>
          </p:cNvPr>
          <p:cNvGrpSpPr/>
          <p:nvPr/>
        </p:nvGrpSpPr>
        <p:grpSpPr>
          <a:xfrm>
            <a:off x="12815520" y="2282542"/>
            <a:ext cx="2476558" cy="2471847"/>
            <a:chOff x="0" y="0"/>
            <a:chExt cx="3302077" cy="3295796"/>
          </a:xfrm>
        </p:grpSpPr>
        <p:grpSp>
          <p:nvGrpSpPr>
            <p:cNvPr id="26" name="Group 26">
              <a:extLst>
                <a:ext uri="{FF2B5EF4-FFF2-40B4-BE49-F238E27FC236}">
                  <a16:creationId xmlns:a16="http://schemas.microsoft.com/office/drawing/2014/main" id="{25BF0E50-987A-EBC3-EFAC-0EFF704C07EE}"/>
                </a:ext>
              </a:extLst>
            </p:cNvPr>
            <p:cNvGrpSpPr/>
            <p:nvPr/>
          </p:nvGrpSpPr>
          <p:grpSpPr>
            <a:xfrm>
              <a:off x="0" y="0"/>
              <a:ext cx="3302077" cy="3295796"/>
              <a:chOff x="0" y="0"/>
              <a:chExt cx="812800" cy="811254"/>
            </a:xfrm>
          </p:grpSpPr>
          <p:sp>
            <p:nvSpPr>
              <p:cNvPr id="27" name="Freeform 27">
                <a:extLst>
                  <a:ext uri="{FF2B5EF4-FFF2-40B4-BE49-F238E27FC236}">
                    <a16:creationId xmlns:a16="http://schemas.microsoft.com/office/drawing/2014/main" id="{6D6329C7-530E-5FAD-9E81-5195B355830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125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1254">
                    <a:moveTo>
                      <a:pt x="406400" y="0"/>
                    </a:moveTo>
                    <a:cubicBezTo>
                      <a:pt x="181951" y="0"/>
                      <a:pt x="0" y="181605"/>
                      <a:pt x="0" y="405627"/>
                    </a:cubicBezTo>
                    <a:cubicBezTo>
                      <a:pt x="0" y="629649"/>
                      <a:pt x="181951" y="811254"/>
                      <a:pt x="406400" y="811254"/>
                    </a:cubicBezTo>
                    <a:cubicBezTo>
                      <a:pt x="630849" y="811254"/>
                      <a:pt x="812800" y="629649"/>
                      <a:pt x="812800" y="405627"/>
                    </a:cubicBezTo>
                    <a:cubicBezTo>
                      <a:pt x="812800" y="181605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id="28" name="TextBox 28">
                <a:extLst>
                  <a:ext uri="{FF2B5EF4-FFF2-40B4-BE49-F238E27FC236}">
                    <a16:creationId xmlns:a16="http://schemas.microsoft.com/office/drawing/2014/main" id="{301B8954-FAD0-BEB0-B896-F8B32A9A6FD1}"/>
                  </a:ext>
                </a:extLst>
              </p:cNvPr>
              <p:cNvSpPr txBox="1"/>
              <p:nvPr/>
            </p:nvSpPr>
            <p:spPr>
              <a:xfrm>
                <a:off x="76200" y="18905"/>
                <a:ext cx="660400" cy="71629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5370886B-BED3-6DF4-A2AC-56D3DC0F7122}"/>
                </a:ext>
              </a:extLst>
            </p:cNvPr>
            <p:cNvSpPr/>
            <p:nvPr/>
          </p:nvSpPr>
          <p:spPr>
            <a:xfrm>
              <a:off x="939122" y="658480"/>
              <a:ext cx="1423833" cy="1482515"/>
            </a:xfrm>
            <a:custGeom>
              <a:avLst/>
              <a:gdLst/>
              <a:ahLst/>
              <a:cxnLst/>
              <a:rect l="l" t="t" r="r" b="b"/>
              <a:pathLst>
                <a:path w="1423833" h="1482515">
                  <a:moveTo>
                    <a:pt x="0" y="0"/>
                  </a:moveTo>
                  <a:lnTo>
                    <a:pt x="1423833" y="0"/>
                  </a:lnTo>
                  <a:lnTo>
                    <a:pt x="1423833" y="1482515"/>
                  </a:lnTo>
                  <a:lnTo>
                    <a:pt x="0" y="14825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14DF64AB-679E-5608-CDA7-973DEF290C8F}"/>
                </a:ext>
              </a:extLst>
            </p:cNvPr>
            <p:cNvSpPr txBox="1"/>
            <p:nvPr/>
          </p:nvSpPr>
          <p:spPr>
            <a:xfrm>
              <a:off x="709670" y="2198682"/>
              <a:ext cx="1882737" cy="360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87"/>
                </a:lnSpc>
              </a:pPr>
              <a:r>
                <a:rPr lang="en-US" sz="1524" b="1">
                  <a:solidFill>
                    <a:srgbClr val="30303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Admin Control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CDF8E09-6337-599A-B9B9-B910EFD3F922}"/>
              </a:ext>
            </a:extLst>
          </p:cNvPr>
          <p:cNvGrpSpPr/>
          <p:nvPr/>
        </p:nvGrpSpPr>
        <p:grpSpPr>
          <a:xfrm>
            <a:off x="13097596" y="4242235"/>
            <a:ext cx="1912407" cy="1907187"/>
            <a:chOff x="0" y="0"/>
            <a:chExt cx="2549876" cy="2542916"/>
          </a:xfrm>
        </p:grpSpPr>
        <p:grpSp>
          <p:nvGrpSpPr>
            <p:cNvPr id="32" name="Group 32">
              <a:extLst>
                <a:ext uri="{FF2B5EF4-FFF2-40B4-BE49-F238E27FC236}">
                  <a16:creationId xmlns:a16="http://schemas.microsoft.com/office/drawing/2014/main" id="{AFD40703-DE9A-60DE-F6B8-7286F3906F91}"/>
                </a:ext>
              </a:extLst>
            </p:cNvPr>
            <p:cNvGrpSpPr/>
            <p:nvPr/>
          </p:nvGrpSpPr>
          <p:grpSpPr>
            <a:xfrm>
              <a:off x="0" y="0"/>
              <a:ext cx="2549876" cy="2542916"/>
              <a:chOff x="0" y="0"/>
              <a:chExt cx="812800" cy="810582"/>
            </a:xfrm>
          </p:grpSpPr>
          <p:sp>
            <p:nvSpPr>
              <p:cNvPr id="33" name="Freeform 33">
                <a:extLst>
                  <a:ext uri="{FF2B5EF4-FFF2-40B4-BE49-F238E27FC236}">
                    <a16:creationId xmlns:a16="http://schemas.microsoft.com/office/drawing/2014/main" id="{A0AC35F9-8A2A-A0AB-7676-0A613FFA2BAE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0582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0582">
                    <a:moveTo>
                      <a:pt x="406400" y="0"/>
                    </a:moveTo>
                    <a:cubicBezTo>
                      <a:pt x="181951" y="0"/>
                      <a:pt x="0" y="181455"/>
                      <a:pt x="0" y="405291"/>
                    </a:cubicBezTo>
                    <a:cubicBezTo>
                      <a:pt x="0" y="629127"/>
                      <a:pt x="181951" y="810582"/>
                      <a:pt x="406400" y="810582"/>
                    </a:cubicBezTo>
                    <a:cubicBezTo>
                      <a:pt x="630849" y="810582"/>
                      <a:pt x="812800" y="629127"/>
                      <a:pt x="812800" y="405291"/>
                    </a:cubicBezTo>
                    <a:cubicBezTo>
                      <a:pt x="812800" y="181455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472C4"/>
              </a:solidFill>
            </p:spPr>
          </p:sp>
          <p:sp>
            <p:nvSpPr>
              <p:cNvPr id="34" name="TextBox 34">
                <a:extLst>
                  <a:ext uri="{FF2B5EF4-FFF2-40B4-BE49-F238E27FC236}">
                    <a16:creationId xmlns:a16="http://schemas.microsoft.com/office/drawing/2014/main" id="{A6CEB85E-D556-A07F-8C61-4E562EDEA3B2}"/>
                  </a:ext>
                </a:extLst>
              </p:cNvPr>
              <p:cNvSpPr txBox="1"/>
              <p:nvPr/>
            </p:nvSpPr>
            <p:spPr>
              <a:xfrm>
                <a:off x="76200" y="18842"/>
                <a:ext cx="660400" cy="71574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907E9C62-BD39-8E38-D436-B81295698E4E}"/>
                </a:ext>
              </a:extLst>
            </p:cNvPr>
            <p:cNvSpPr/>
            <p:nvPr/>
          </p:nvSpPr>
          <p:spPr>
            <a:xfrm>
              <a:off x="678360" y="475253"/>
              <a:ext cx="1193156" cy="1238035"/>
            </a:xfrm>
            <a:custGeom>
              <a:avLst/>
              <a:gdLst/>
              <a:ahLst/>
              <a:cxnLst/>
              <a:rect l="l" t="t" r="r" b="b"/>
              <a:pathLst>
                <a:path w="1193156" h="1238035">
                  <a:moveTo>
                    <a:pt x="0" y="0"/>
                  </a:moveTo>
                  <a:lnTo>
                    <a:pt x="1193156" y="0"/>
                  </a:lnTo>
                  <a:lnTo>
                    <a:pt x="1193156" y="1238035"/>
                  </a:lnTo>
                  <a:lnTo>
                    <a:pt x="0" y="12380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6" name="TextBox 36">
              <a:extLst>
                <a:ext uri="{FF2B5EF4-FFF2-40B4-BE49-F238E27FC236}">
                  <a16:creationId xmlns:a16="http://schemas.microsoft.com/office/drawing/2014/main" id="{F06C8382-3B4B-DF0F-BF6F-EFBC418B1253}"/>
                </a:ext>
              </a:extLst>
            </p:cNvPr>
            <p:cNvSpPr txBox="1"/>
            <p:nvPr/>
          </p:nvSpPr>
          <p:spPr>
            <a:xfrm>
              <a:off x="548010" y="1752233"/>
              <a:ext cx="1453856" cy="2799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66"/>
                </a:lnSpc>
              </a:pPr>
              <a:r>
                <a:rPr lang="en-US" sz="1177" b="1">
                  <a:solidFill>
                    <a:srgbClr val="EFEFE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Global Model</a:t>
              </a:r>
            </a:p>
          </p:txBody>
        </p:sp>
      </p:grpSp>
      <p:grpSp>
        <p:nvGrpSpPr>
          <p:cNvPr id="37" name="Group 37">
            <a:extLst>
              <a:ext uri="{FF2B5EF4-FFF2-40B4-BE49-F238E27FC236}">
                <a16:creationId xmlns:a16="http://schemas.microsoft.com/office/drawing/2014/main" id="{76AFFA8C-2ADB-A655-B2A5-60EB4601AE44}"/>
              </a:ext>
            </a:extLst>
          </p:cNvPr>
          <p:cNvGrpSpPr/>
          <p:nvPr/>
        </p:nvGrpSpPr>
        <p:grpSpPr>
          <a:xfrm>
            <a:off x="9307141" y="7337223"/>
            <a:ext cx="2285548" cy="1508462"/>
            <a:chOff x="0" y="0"/>
            <a:chExt cx="635000" cy="419100"/>
          </a:xfrm>
        </p:grpSpPr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7FEDF44B-7379-0750-BE4C-8A75B8ECFD8C}"/>
                </a:ext>
              </a:extLst>
            </p:cNvPr>
            <p:cNvSpPr/>
            <p:nvPr/>
          </p:nvSpPr>
          <p:spPr>
            <a:xfrm>
              <a:off x="0" y="0"/>
              <a:ext cx="635000" cy="419100"/>
            </a:xfrm>
            <a:custGeom>
              <a:avLst/>
              <a:gdLst/>
              <a:ahLst/>
              <a:cxnLst/>
              <a:rect l="l" t="t" r="r" b="b"/>
              <a:pathLst>
                <a:path w="635000" h="419100">
                  <a:moveTo>
                    <a:pt x="66159" y="0"/>
                  </a:moveTo>
                  <a:lnTo>
                    <a:pt x="568841" y="0"/>
                  </a:lnTo>
                  <a:cubicBezTo>
                    <a:pt x="586388" y="0"/>
                    <a:pt x="603215" y="6970"/>
                    <a:pt x="615623" y="19377"/>
                  </a:cubicBezTo>
                  <a:cubicBezTo>
                    <a:pt x="628030" y="31785"/>
                    <a:pt x="635000" y="48612"/>
                    <a:pt x="635000" y="66159"/>
                  </a:cubicBezTo>
                  <a:lnTo>
                    <a:pt x="635000" y="352941"/>
                  </a:lnTo>
                  <a:cubicBezTo>
                    <a:pt x="635000" y="370488"/>
                    <a:pt x="628030" y="387315"/>
                    <a:pt x="615623" y="399723"/>
                  </a:cubicBezTo>
                  <a:cubicBezTo>
                    <a:pt x="603215" y="412130"/>
                    <a:pt x="586388" y="419100"/>
                    <a:pt x="568841" y="419100"/>
                  </a:cubicBezTo>
                  <a:lnTo>
                    <a:pt x="66159" y="419100"/>
                  </a:lnTo>
                  <a:cubicBezTo>
                    <a:pt x="48612" y="419100"/>
                    <a:pt x="31785" y="412130"/>
                    <a:pt x="19377" y="399723"/>
                  </a:cubicBezTo>
                  <a:cubicBezTo>
                    <a:pt x="6970" y="387315"/>
                    <a:pt x="0" y="370488"/>
                    <a:pt x="0" y="352941"/>
                  </a:cubicBezTo>
                  <a:lnTo>
                    <a:pt x="0" y="66159"/>
                  </a:lnTo>
                  <a:cubicBezTo>
                    <a:pt x="0" y="48612"/>
                    <a:pt x="6970" y="31785"/>
                    <a:pt x="19377" y="19377"/>
                  </a:cubicBezTo>
                  <a:cubicBezTo>
                    <a:pt x="31785" y="6970"/>
                    <a:pt x="48612" y="0"/>
                    <a:pt x="66159" y="0"/>
                  </a:cubicBez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id="39" name="TextBox 39">
              <a:extLst>
                <a:ext uri="{FF2B5EF4-FFF2-40B4-BE49-F238E27FC236}">
                  <a16:creationId xmlns:a16="http://schemas.microsoft.com/office/drawing/2014/main" id="{B5245E40-0666-41E5-4695-ECCADCB8A432}"/>
                </a:ext>
              </a:extLst>
            </p:cNvPr>
            <p:cNvSpPr txBox="1"/>
            <p:nvPr/>
          </p:nvSpPr>
          <p:spPr>
            <a:xfrm>
              <a:off x="0" y="-57150"/>
              <a:ext cx="635000" cy="476250"/>
            </a:xfrm>
            <a:prstGeom prst="rect">
              <a:avLst/>
            </a:prstGeom>
          </p:spPr>
          <p:txBody>
            <a:bodyPr lIns="37622" tIns="37622" rIns="37622" bIns="37622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sp>
        <p:nvSpPr>
          <p:cNvPr id="40" name="Freeform 40">
            <a:extLst>
              <a:ext uri="{FF2B5EF4-FFF2-40B4-BE49-F238E27FC236}">
                <a16:creationId xmlns:a16="http://schemas.microsoft.com/office/drawing/2014/main" id="{85EA90B0-420C-65AC-35AA-A0DDAC456372}"/>
              </a:ext>
            </a:extLst>
          </p:cNvPr>
          <p:cNvSpPr/>
          <p:nvPr/>
        </p:nvSpPr>
        <p:spPr>
          <a:xfrm>
            <a:off x="9667228" y="7685949"/>
            <a:ext cx="666596" cy="664930"/>
          </a:xfrm>
          <a:custGeom>
            <a:avLst/>
            <a:gdLst/>
            <a:ahLst/>
            <a:cxnLst/>
            <a:rect l="l" t="t" r="r" b="b"/>
            <a:pathLst>
              <a:path w="666596" h="664930">
                <a:moveTo>
                  <a:pt x="0" y="0"/>
                </a:moveTo>
                <a:lnTo>
                  <a:pt x="666596" y="0"/>
                </a:lnTo>
                <a:lnTo>
                  <a:pt x="666596" y="664929"/>
                </a:lnTo>
                <a:lnTo>
                  <a:pt x="0" y="66492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41" name="Freeform 41">
            <a:extLst>
              <a:ext uri="{FF2B5EF4-FFF2-40B4-BE49-F238E27FC236}">
                <a16:creationId xmlns:a16="http://schemas.microsoft.com/office/drawing/2014/main" id="{A194D119-FE63-37EA-D1BD-F28BB0391D4A}"/>
              </a:ext>
            </a:extLst>
          </p:cNvPr>
          <p:cNvSpPr/>
          <p:nvPr/>
        </p:nvSpPr>
        <p:spPr>
          <a:xfrm>
            <a:off x="10545139" y="7393793"/>
            <a:ext cx="988656" cy="1332147"/>
          </a:xfrm>
          <a:custGeom>
            <a:avLst/>
            <a:gdLst/>
            <a:ahLst/>
            <a:cxnLst/>
            <a:rect l="l" t="t" r="r" b="b"/>
            <a:pathLst>
              <a:path w="988656" h="1332147">
                <a:moveTo>
                  <a:pt x="0" y="0"/>
                </a:moveTo>
                <a:lnTo>
                  <a:pt x="988656" y="0"/>
                </a:lnTo>
                <a:lnTo>
                  <a:pt x="988656" y="1332147"/>
                </a:lnTo>
                <a:lnTo>
                  <a:pt x="0" y="133214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F9E0C39-473E-E45D-99A6-BBDF40AF3936}"/>
              </a:ext>
            </a:extLst>
          </p:cNvPr>
          <p:cNvSpPr txBox="1"/>
          <p:nvPr/>
        </p:nvSpPr>
        <p:spPr>
          <a:xfrm>
            <a:off x="9307141" y="8453814"/>
            <a:ext cx="1273044" cy="308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12"/>
              </a:lnSpc>
            </a:pPr>
            <a:r>
              <a:rPr lang="en-US" sz="2212" b="1">
                <a:solidFill>
                  <a:srgbClr val="FF0099"/>
                </a:solidFill>
                <a:latin typeface="Big Shoulders Display Bold"/>
                <a:ea typeface="Big Shoulders Display Bold"/>
                <a:cs typeface="Big Shoulders Display Bold"/>
                <a:sym typeface="Big Shoulders Display Bold"/>
              </a:rPr>
              <a:t>HOSPITAL A</a:t>
            </a:r>
          </a:p>
        </p:txBody>
      </p:sp>
      <p:grpSp>
        <p:nvGrpSpPr>
          <p:cNvPr id="43" name="Group 43">
            <a:extLst>
              <a:ext uri="{FF2B5EF4-FFF2-40B4-BE49-F238E27FC236}">
                <a16:creationId xmlns:a16="http://schemas.microsoft.com/office/drawing/2014/main" id="{2E5C859A-B968-C9FB-9564-6CA65C314D9D}"/>
              </a:ext>
            </a:extLst>
          </p:cNvPr>
          <p:cNvGrpSpPr/>
          <p:nvPr/>
        </p:nvGrpSpPr>
        <p:grpSpPr>
          <a:xfrm>
            <a:off x="15364446" y="7273579"/>
            <a:ext cx="2217883" cy="1463803"/>
            <a:chOff x="0" y="0"/>
            <a:chExt cx="635000" cy="419100"/>
          </a:xfrm>
        </p:grpSpPr>
        <p:sp>
          <p:nvSpPr>
            <p:cNvPr id="44" name="Freeform 44">
              <a:extLst>
                <a:ext uri="{FF2B5EF4-FFF2-40B4-BE49-F238E27FC236}">
                  <a16:creationId xmlns:a16="http://schemas.microsoft.com/office/drawing/2014/main" id="{D8C0C714-3228-EB2F-2090-A2A73FB6213F}"/>
                </a:ext>
              </a:extLst>
            </p:cNvPr>
            <p:cNvSpPr/>
            <p:nvPr/>
          </p:nvSpPr>
          <p:spPr>
            <a:xfrm>
              <a:off x="0" y="0"/>
              <a:ext cx="635000" cy="419100"/>
            </a:xfrm>
            <a:custGeom>
              <a:avLst/>
              <a:gdLst/>
              <a:ahLst/>
              <a:cxnLst/>
              <a:rect l="l" t="t" r="r" b="b"/>
              <a:pathLst>
                <a:path w="635000" h="419100">
                  <a:moveTo>
                    <a:pt x="68177" y="0"/>
                  </a:moveTo>
                  <a:lnTo>
                    <a:pt x="566823" y="0"/>
                  </a:lnTo>
                  <a:cubicBezTo>
                    <a:pt x="604476" y="0"/>
                    <a:pt x="635000" y="30524"/>
                    <a:pt x="635000" y="68177"/>
                  </a:cubicBezTo>
                  <a:lnTo>
                    <a:pt x="635000" y="350923"/>
                  </a:lnTo>
                  <a:cubicBezTo>
                    <a:pt x="635000" y="388576"/>
                    <a:pt x="604476" y="419100"/>
                    <a:pt x="566823" y="419100"/>
                  </a:cubicBezTo>
                  <a:lnTo>
                    <a:pt x="68177" y="419100"/>
                  </a:lnTo>
                  <a:cubicBezTo>
                    <a:pt x="30524" y="419100"/>
                    <a:pt x="0" y="388576"/>
                    <a:pt x="0" y="350923"/>
                  </a:cubicBezTo>
                  <a:lnTo>
                    <a:pt x="0" y="68177"/>
                  </a:lnTo>
                  <a:cubicBezTo>
                    <a:pt x="0" y="30524"/>
                    <a:pt x="30524" y="0"/>
                    <a:pt x="68177" y="0"/>
                  </a:cubicBezTo>
                  <a:close/>
                </a:path>
              </a:pathLst>
            </a:custGeom>
            <a:solidFill>
              <a:srgbClr val="8C52FF"/>
            </a:solidFill>
          </p:spPr>
        </p:sp>
        <p:sp>
          <p:nvSpPr>
            <p:cNvPr id="45" name="TextBox 45">
              <a:extLst>
                <a:ext uri="{FF2B5EF4-FFF2-40B4-BE49-F238E27FC236}">
                  <a16:creationId xmlns:a16="http://schemas.microsoft.com/office/drawing/2014/main" id="{E8DCCD13-6FA6-40A6-C415-BF0EAE538CEE}"/>
                </a:ext>
              </a:extLst>
            </p:cNvPr>
            <p:cNvSpPr txBox="1"/>
            <p:nvPr/>
          </p:nvSpPr>
          <p:spPr>
            <a:xfrm>
              <a:off x="0" y="-57150"/>
              <a:ext cx="635000" cy="476250"/>
            </a:xfrm>
            <a:prstGeom prst="rect">
              <a:avLst/>
            </a:prstGeom>
          </p:spPr>
          <p:txBody>
            <a:bodyPr lIns="36508" tIns="36508" rIns="36508" bIns="36508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sp>
        <p:nvSpPr>
          <p:cNvPr id="46" name="Freeform 46">
            <a:extLst>
              <a:ext uri="{FF2B5EF4-FFF2-40B4-BE49-F238E27FC236}">
                <a16:creationId xmlns:a16="http://schemas.microsoft.com/office/drawing/2014/main" id="{8692FE07-D17D-CB80-7DF8-262DF678D7F6}"/>
              </a:ext>
            </a:extLst>
          </p:cNvPr>
          <p:cNvSpPr/>
          <p:nvPr/>
        </p:nvSpPr>
        <p:spPr>
          <a:xfrm>
            <a:off x="15713873" y="7611980"/>
            <a:ext cx="646861" cy="645244"/>
          </a:xfrm>
          <a:custGeom>
            <a:avLst/>
            <a:gdLst/>
            <a:ahLst/>
            <a:cxnLst/>
            <a:rect l="l" t="t" r="r" b="b"/>
            <a:pathLst>
              <a:path w="646861" h="645244">
                <a:moveTo>
                  <a:pt x="0" y="0"/>
                </a:moveTo>
                <a:lnTo>
                  <a:pt x="646861" y="0"/>
                </a:lnTo>
                <a:lnTo>
                  <a:pt x="646861" y="645244"/>
                </a:lnTo>
                <a:lnTo>
                  <a:pt x="0" y="64524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47" name="Freeform 47">
            <a:extLst>
              <a:ext uri="{FF2B5EF4-FFF2-40B4-BE49-F238E27FC236}">
                <a16:creationId xmlns:a16="http://schemas.microsoft.com/office/drawing/2014/main" id="{02713938-E7E4-2D36-01CD-306EE9AFA403}"/>
              </a:ext>
            </a:extLst>
          </p:cNvPr>
          <p:cNvSpPr/>
          <p:nvPr/>
        </p:nvSpPr>
        <p:spPr>
          <a:xfrm>
            <a:off x="16553968" y="7359127"/>
            <a:ext cx="959386" cy="1292707"/>
          </a:xfrm>
          <a:custGeom>
            <a:avLst/>
            <a:gdLst/>
            <a:ahLst/>
            <a:cxnLst/>
            <a:rect l="l" t="t" r="r" b="b"/>
            <a:pathLst>
              <a:path w="959386" h="1292707">
                <a:moveTo>
                  <a:pt x="0" y="0"/>
                </a:moveTo>
                <a:lnTo>
                  <a:pt x="959386" y="0"/>
                </a:lnTo>
                <a:lnTo>
                  <a:pt x="959386" y="1292707"/>
                </a:lnTo>
                <a:lnTo>
                  <a:pt x="0" y="129270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E0DD358B-77DE-852D-7886-D7824A28BC2C}"/>
              </a:ext>
            </a:extLst>
          </p:cNvPr>
          <p:cNvSpPr txBox="1"/>
          <p:nvPr/>
        </p:nvSpPr>
        <p:spPr>
          <a:xfrm>
            <a:off x="15364446" y="8367483"/>
            <a:ext cx="1235354" cy="289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6"/>
              </a:lnSpc>
            </a:pPr>
            <a:r>
              <a:rPr lang="en-US" sz="2146" b="1">
                <a:solidFill>
                  <a:srgbClr val="FF0099"/>
                </a:solidFill>
                <a:latin typeface="Big Shoulders Display Bold"/>
                <a:ea typeface="Big Shoulders Display Bold"/>
                <a:cs typeface="Big Shoulders Display Bold"/>
                <a:sym typeface="Big Shoulders Display Bold"/>
              </a:rPr>
              <a:t>HOSPITAL C</a:t>
            </a:r>
          </a:p>
        </p:txBody>
      </p:sp>
      <p:grpSp>
        <p:nvGrpSpPr>
          <p:cNvPr id="49" name="Group 49">
            <a:extLst>
              <a:ext uri="{FF2B5EF4-FFF2-40B4-BE49-F238E27FC236}">
                <a16:creationId xmlns:a16="http://schemas.microsoft.com/office/drawing/2014/main" id="{6C97459B-9AD5-9E27-24E2-984D2BBE08E7}"/>
              </a:ext>
            </a:extLst>
          </p:cNvPr>
          <p:cNvGrpSpPr/>
          <p:nvPr/>
        </p:nvGrpSpPr>
        <p:grpSpPr>
          <a:xfrm>
            <a:off x="12324049" y="7321720"/>
            <a:ext cx="2309038" cy="1523965"/>
            <a:chOff x="0" y="0"/>
            <a:chExt cx="635000" cy="419100"/>
          </a:xfrm>
        </p:grpSpPr>
        <p:sp>
          <p:nvSpPr>
            <p:cNvPr id="50" name="Freeform 50">
              <a:extLst>
                <a:ext uri="{FF2B5EF4-FFF2-40B4-BE49-F238E27FC236}">
                  <a16:creationId xmlns:a16="http://schemas.microsoft.com/office/drawing/2014/main" id="{8DB471A1-E1A6-03C1-4DE1-F85E9739A8B7}"/>
                </a:ext>
              </a:extLst>
            </p:cNvPr>
            <p:cNvSpPr/>
            <p:nvPr/>
          </p:nvSpPr>
          <p:spPr>
            <a:xfrm>
              <a:off x="0" y="0"/>
              <a:ext cx="635000" cy="419100"/>
            </a:xfrm>
            <a:custGeom>
              <a:avLst/>
              <a:gdLst/>
              <a:ahLst/>
              <a:cxnLst/>
              <a:rect l="l" t="t" r="r" b="b"/>
              <a:pathLst>
                <a:path w="635000" h="419100">
                  <a:moveTo>
                    <a:pt x="65486" y="0"/>
                  </a:moveTo>
                  <a:lnTo>
                    <a:pt x="569514" y="0"/>
                  </a:lnTo>
                  <a:cubicBezTo>
                    <a:pt x="586882" y="0"/>
                    <a:pt x="603539" y="6899"/>
                    <a:pt x="615820" y="19180"/>
                  </a:cubicBezTo>
                  <a:cubicBezTo>
                    <a:pt x="628101" y="31461"/>
                    <a:pt x="635000" y="48118"/>
                    <a:pt x="635000" y="65486"/>
                  </a:cubicBezTo>
                  <a:lnTo>
                    <a:pt x="635000" y="353614"/>
                  </a:lnTo>
                  <a:cubicBezTo>
                    <a:pt x="635000" y="370982"/>
                    <a:pt x="628101" y="387639"/>
                    <a:pt x="615820" y="399920"/>
                  </a:cubicBezTo>
                  <a:cubicBezTo>
                    <a:pt x="603539" y="412201"/>
                    <a:pt x="586882" y="419100"/>
                    <a:pt x="569514" y="419100"/>
                  </a:cubicBezTo>
                  <a:lnTo>
                    <a:pt x="65486" y="419100"/>
                  </a:lnTo>
                  <a:cubicBezTo>
                    <a:pt x="48118" y="419100"/>
                    <a:pt x="31461" y="412201"/>
                    <a:pt x="19180" y="399920"/>
                  </a:cubicBezTo>
                  <a:cubicBezTo>
                    <a:pt x="6899" y="387639"/>
                    <a:pt x="0" y="370982"/>
                    <a:pt x="0" y="353614"/>
                  </a:cubicBezTo>
                  <a:lnTo>
                    <a:pt x="0" y="65486"/>
                  </a:lnTo>
                  <a:cubicBezTo>
                    <a:pt x="0" y="48118"/>
                    <a:pt x="6899" y="31461"/>
                    <a:pt x="19180" y="19180"/>
                  </a:cubicBezTo>
                  <a:cubicBezTo>
                    <a:pt x="31461" y="6899"/>
                    <a:pt x="48118" y="0"/>
                    <a:pt x="65486" y="0"/>
                  </a:cubicBezTo>
                  <a:close/>
                </a:path>
              </a:pathLst>
            </a:custGeom>
            <a:solidFill>
              <a:srgbClr val="FF802F"/>
            </a:solidFill>
          </p:spPr>
        </p:sp>
        <p:sp>
          <p:nvSpPr>
            <p:cNvPr id="51" name="TextBox 51">
              <a:extLst>
                <a:ext uri="{FF2B5EF4-FFF2-40B4-BE49-F238E27FC236}">
                  <a16:creationId xmlns:a16="http://schemas.microsoft.com/office/drawing/2014/main" id="{485AB8A2-6AAD-801A-0573-C01167BBA950}"/>
                </a:ext>
              </a:extLst>
            </p:cNvPr>
            <p:cNvSpPr txBox="1"/>
            <p:nvPr/>
          </p:nvSpPr>
          <p:spPr>
            <a:xfrm>
              <a:off x="0" y="-57150"/>
              <a:ext cx="635000" cy="476250"/>
            </a:xfrm>
            <a:prstGeom prst="rect">
              <a:avLst/>
            </a:prstGeom>
          </p:spPr>
          <p:txBody>
            <a:bodyPr lIns="38009" tIns="38009" rIns="38009" bIns="38009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sp>
        <p:nvSpPr>
          <p:cNvPr id="52" name="Freeform 52">
            <a:extLst>
              <a:ext uri="{FF2B5EF4-FFF2-40B4-BE49-F238E27FC236}">
                <a16:creationId xmlns:a16="http://schemas.microsoft.com/office/drawing/2014/main" id="{F4953C0D-6C8E-D7BA-34C3-9B1643E69728}"/>
              </a:ext>
            </a:extLst>
          </p:cNvPr>
          <p:cNvSpPr/>
          <p:nvPr/>
        </p:nvSpPr>
        <p:spPr>
          <a:xfrm>
            <a:off x="12687837" y="7674029"/>
            <a:ext cx="673447" cy="671764"/>
          </a:xfrm>
          <a:custGeom>
            <a:avLst/>
            <a:gdLst/>
            <a:ahLst/>
            <a:cxnLst/>
            <a:rect l="l" t="t" r="r" b="b"/>
            <a:pathLst>
              <a:path w="673447" h="671764">
                <a:moveTo>
                  <a:pt x="0" y="0"/>
                </a:moveTo>
                <a:lnTo>
                  <a:pt x="673447" y="0"/>
                </a:lnTo>
                <a:lnTo>
                  <a:pt x="673447" y="671764"/>
                </a:lnTo>
                <a:lnTo>
                  <a:pt x="0" y="67176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53" name="Freeform 53">
            <a:extLst>
              <a:ext uri="{FF2B5EF4-FFF2-40B4-BE49-F238E27FC236}">
                <a16:creationId xmlns:a16="http://schemas.microsoft.com/office/drawing/2014/main" id="{FBA018BA-A2FC-1453-84D4-35152AE5468F}"/>
              </a:ext>
            </a:extLst>
          </p:cNvPr>
          <p:cNvSpPr/>
          <p:nvPr/>
        </p:nvSpPr>
        <p:spPr>
          <a:xfrm>
            <a:off x="13562460" y="7410784"/>
            <a:ext cx="998817" cy="1345838"/>
          </a:xfrm>
          <a:custGeom>
            <a:avLst/>
            <a:gdLst/>
            <a:ahLst/>
            <a:cxnLst/>
            <a:rect l="l" t="t" r="r" b="b"/>
            <a:pathLst>
              <a:path w="998817" h="1345838">
                <a:moveTo>
                  <a:pt x="0" y="0"/>
                </a:moveTo>
                <a:lnTo>
                  <a:pt x="998817" y="0"/>
                </a:lnTo>
                <a:lnTo>
                  <a:pt x="998817" y="1345838"/>
                </a:lnTo>
                <a:lnTo>
                  <a:pt x="0" y="1345838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377BAD9A-1C97-9E3F-15C8-5FC669B67341}"/>
              </a:ext>
            </a:extLst>
          </p:cNvPr>
          <p:cNvSpPr txBox="1"/>
          <p:nvPr/>
        </p:nvSpPr>
        <p:spPr>
          <a:xfrm>
            <a:off x="12324049" y="8449493"/>
            <a:ext cx="1286127" cy="312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5"/>
              </a:lnSpc>
            </a:pPr>
            <a:r>
              <a:rPr lang="en-US" sz="2235" b="1">
                <a:solidFill>
                  <a:srgbClr val="FF0099"/>
                </a:solidFill>
                <a:latin typeface="Big Shoulders Display Bold"/>
                <a:ea typeface="Big Shoulders Display Bold"/>
                <a:cs typeface="Big Shoulders Display Bold"/>
                <a:sym typeface="Big Shoulders Display Bold"/>
              </a:rPr>
              <a:t>HOSPITAL B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25ED1CBF-5F09-9CC6-CFF3-E6CA60AA5FA6}"/>
              </a:ext>
            </a:extLst>
          </p:cNvPr>
          <p:cNvSpPr txBox="1"/>
          <p:nvPr/>
        </p:nvSpPr>
        <p:spPr>
          <a:xfrm>
            <a:off x="1728574" y="3514528"/>
            <a:ext cx="8482226" cy="7079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1900" dirty="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=&gt; Consists of 3 main components: Admin Control, Global Model, Hospitals</a:t>
            </a:r>
          </a:p>
          <a:p>
            <a:pPr algn="l">
              <a:lnSpc>
                <a:spcPts val="2850"/>
              </a:lnSpc>
            </a:pPr>
            <a:r>
              <a:rPr lang="en-US" sz="1900" dirty="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=&gt; Ethereum (</a:t>
            </a:r>
            <a:r>
              <a:rPr lang="en-US" sz="1900" dirty="0" err="1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Sepolia</a:t>
            </a:r>
            <a:r>
              <a:rPr lang="en-US" sz="1900" dirty="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Testnet</a:t>
            </a:r>
            <a:r>
              <a:rPr lang="en-US" sz="1900" dirty="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manages hospital registration and model versioning.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4CA07D1-3861-73FE-44C1-5A221038A629}"/>
              </a:ext>
            </a:extLst>
          </p:cNvPr>
          <p:cNvSpPr txBox="1"/>
          <p:nvPr/>
        </p:nvSpPr>
        <p:spPr>
          <a:xfrm>
            <a:off x="1728574" y="5606652"/>
            <a:ext cx="6670396" cy="365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19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weights are encrypted (AES-256-CBC) and stored on IPFS.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8A6BDE7C-AB9D-0978-CC75-327B78FB65E0}"/>
              </a:ext>
            </a:extLst>
          </p:cNvPr>
          <p:cNvSpPr txBox="1"/>
          <p:nvPr/>
        </p:nvSpPr>
        <p:spPr>
          <a:xfrm>
            <a:off x="1728574" y="7603527"/>
            <a:ext cx="6670396" cy="727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19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Blockchain records 46-character CIDs; any tampering with the model file invalidates the on-chain hash.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26660752-1AB6-B3AD-FC04-52819175F3FD}"/>
              </a:ext>
            </a:extLst>
          </p:cNvPr>
          <p:cNvSpPr txBox="1"/>
          <p:nvPr/>
        </p:nvSpPr>
        <p:spPr>
          <a:xfrm>
            <a:off x="2604874" y="2649638"/>
            <a:ext cx="2458898" cy="451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Orchestration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4052DD3B-DFAE-C77D-9EAF-F6FE20485FB3}"/>
              </a:ext>
            </a:extLst>
          </p:cNvPr>
          <p:cNvSpPr txBox="1"/>
          <p:nvPr/>
        </p:nvSpPr>
        <p:spPr>
          <a:xfrm>
            <a:off x="2604874" y="4741763"/>
            <a:ext cx="3680999" cy="451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Storage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3DB08267-B818-07CE-F825-81F945736C62}"/>
              </a:ext>
            </a:extLst>
          </p:cNvPr>
          <p:cNvSpPr txBox="1"/>
          <p:nvPr/>
        </p:nvSpPr>
        <p:spPr>
          <a:xfrm>
            <a:off x="2604874" y="6738638"/>
            <a:ext cx="2638532" cy="451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Verification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9C31754B-C604-178C-93EA-8D39354E8542}"/>
              </a:ext>
            </a:extLst>
          </p:cNvPr>
          <p:cNvSpPr txBox="1"/>
          <p:nvPr/>
        </p:nvSpPr>
        <p:spPr>
          <a:xfrm>
            <a:off x="7297181" y="9620250"/>
            <a:ext cx="4295507" cy="364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Course Title:</a:t>
            </a:r>
            <a:r>
              <a:rPr lang="en-US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Project and Thesis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C49FDA68-6773-38CE-03D5-D74D7A497F78}"/>
              </a:ext>
            </a:extLst>
          </p:cNvPr>
          <p:cNvSpPr txBox="1"/>
          <p:nvPr/>
        </p:nvSpPr>
        <p:spPr>
          <a:xfrm>
            <a:off x="2789406" y="1184989"/>
            <a:ext cx="13456610" cy="830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38"/>
              </a:lnSpc>
            </a:pPr>
            <a:r>
              <a:rPr lang="en-US" sz="648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BLOCKCHAIN-FL INTEGRATION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C231C49E-2FFE-4927-3783-A58BC20B6E6E}"/>
              </a:ext>
            </a:extLst>
          </p:cNvPr>
          <p:cNvSpPr txBox="1"/>
          <p:nvPr/>
        </p:nvSpPr>
        <p:spPr>
          <a:xfrm>
            <a:off x="15582700" y="436426"/>
            <a:ext cx="1781375" cy="761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80"/>
              </a:lnSpc>
              <a:spcBef>
                <a:spcPct val="0"/>
              </a:spcBef>
            </a:pPr>
            <a:r>
              <a:rPr lang="en-US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06/10</a:t>
            </a:r>
          </a:p>
          <a:p>
            <a:pPr algn="r">
              <a:lnSpc>
                <a:spcPts val="3080"/>
              </a:lnSpc>
              <a:spcBef>
                <a:spcPct val="0"/>
              </a:spcBef>
            </a:pPr>
            <a:endParaRPr lang="en-US" sz="2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BD767AE-D0BF-67F7-F672-03FD68C9BC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 bwMode="auto">
          <a:xfrm>
            <a:off x="11297819" y="6387533"/>
            <a:ext cx="903199" cy="903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" name="Picture 2">
            <a:extLst>
              <a:ext uri="{FF2B5EF4-FFF2-40B4-BE49-F238E27FC236}">
                <a16:creationId xmlns:a16="http://schemas.microsoft.com/office/drawing/2014/main" id="{16550F4C-9130-2710-4CF7-AB3517ED3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 bwMode="auto">
          <a:xfrm>
            <a:off x="13714492" y="6447145"/>
            <a:ext cx="903199" cy="903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Picture 2">
            <a:extLst>
              <a:ext uri="{FF2B5EF4-FFF2-40B4-BE49-F238E27FC236}">
                <a16:creationId xmlns:a16="http://schemas.microsoft.com/office/drawing/2014/main" id="{BB204AC3-32A1-17D3-0A46-748DD2DDD8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 bwMode="auto">
          <a:xfrm>
            <a:off x="16130462" y="6420525"/>
            <a:ext cx="903199" cy="903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36464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975 -0.09984 L 0.08975 -0.09984 C 0.08663 -0.09737 0.08333 -0.09552 0.08038 -0.09243 C 0.07621 -0.08796 0.073 -0.08055 0.06849 -0.07731 C 0.06371 -0.07376 0.05877 -0.07083 0.05408 -0.06682 C 0.05295 -0.06574 0.05173 -0.06512 0.05069 -0.06373 C 0.04974 -0.0625 0.04913 -0.06049 0.04818 -0.05925 C 0.04713 -0.05787 0.04583 -0.0574 0.04479 -0.05617 C 0.04357 -0.05493 0.04262 -0.05308 0.0414 -0.05169 C 0.04002 -0.05 0.03863 -0.04861 0.03715 -0.04722 C 0.03611 -0.04614 0.03481 -0.04537 0.03377 -0.04413 C 0.03177 -0.04182 0.02969 -0.0395 0.02786 -0.03657 C 0.02569 -0.03333 0.02396 -0.02947 0.02196 -0.02608 C 0.02057 -0.02391 0.0191 -0.02191 0.01771 -0.02006 C 0.01684 -0.01898 0.0158 -0.01836 0.0151 -0.01697 C 0.01189 -0.0108 0.00955 -0.00293 0.00581 0.00263 C -0.0007 0.01204 -0.00738 0.0213 -0.01363 0.03118 C -0.01441 0.03241 -0.01467 0.03442 -0.01537 0.03565 C -0.01728 0.03936 -0.01945 0.0426 -0.02127 0.0463 C -0.02222 0.04815 -0.02283 0.05047 -0.02387 0.05232 C -0.02457 0.05355 -0.0257 0.05402 -0.02639 0.05525 C -0.02952 0.06081 -0.02969 0.0625 -0.03143 0.06883 C -0.03117 0.07392 -0.03099 0.07886 -0.03064 0.08396 C -0.03047 0.08642 -0.02995 0.08889 -0.02978 0.09152 C -0.02943 0.09692 -0.02934 0.10263 -0.02891 0.10803 C -0.02787 0.12207 -0.02804 0.10726 -0.02804 0.11868 " pathEditMode="relative" ptsTypes="AAAAAAAAAAAAAAAAAAAAAAAAAA">
                                      <p:cBhvr>
                                        <p:cTn id="6" dur="5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86 -0.09506 L 0.00086 -0.09506 C -0.002 -0.07654 -0.00269 -0.08225 4.02778E-6 -0.06496 C 0.00069 -0.06049 0.00251 -0.05138 0.00251 -0.05138 C 0.00225 -0.04598 0.00165 -0.04043 0.00165 -0.03487 C 0.00165 -0.03225 0.00234 -0.02993 0.00251 -0.02731 C 0.00295 -0.0199 0.00286 -0.01219 0.00338 -0.00478 C 0.00442 0.00911 0.00494 0.0034 0.0059 0.01328 C 0.00616 0.01636 0.00633 0.01945 0.00677 0.02238 C 0.0072 0.02593 0.0079 0.02933 0.00842 0.03288 C 0.00876 0.03488 0.00894 0.03689 0.00928 0.03889 C 0.00981 0.04244 0.0105 0.04599 0.01093 0.04954 C 0.01137 0.05247 0.01154 0.05556 0.0118 0.05849 C 0.01154 0.06358 0.01093 0.06852 0.01093 0.07362 C 0.01093 0.07608 0.01163 0.07855 0.0118 0.08118 C 0.01354 0.11173 0.01354 0.10649 0.01354 0.12038 " pathEditMode="relative" ptsTypes="AAAAAAAAAAAAAAAA">
                                      <p:cBhvr>
                                        <p:cTn id="8" dur="5000" fill="hold"/>
                                        <p:tgtEl>
                                          <p:spTgt spid="10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7"/>
                                            </p:cond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1093 -0.11204 L -0.11093 -0.11204 C -0.10677 -0.11003 -0.10217 -0.10972 -0.09826 -0.10602 C -0.09392 -0.10216 -0.08454 -0.08719 -0.08046 -0.07901 C -0.07821 -0.07438 -0.07612 -0.0696 -0.07369 -0.06543 C -0.06649 -0.05262 -0.05937 -0.0395 -0.05165 -0.02762 C -0.04965 -0.02469 -0.04757 -0.02191 -0.04574 -0.01867 C -0.03767 -0.00478 -0.03116 0.01219 -0.02196 0.02361 C -0.00616 0.04321 0.00947 0.06312 0.02544 0.08241 C 0.04289 0.1034 0.02882 0.08102 0.04497 0.10803 C 0.04636 0.11034 0.04922 0.11559 0.04922 0.11559 " pathEditMode="relative" ptsTypes="AAAAAAAAAAA">
                                      <p:cBhvr>
                                        <p:cTn id="10" dur="5000" fill="hold"/>
                                        <p:tgtEl>
                                          <p:spTgt spid="10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"/>
                                            </p:cond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F8DDB-91EF-C650-6BDA-A3BACFDE3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6BEF28D-1CBF-E372-4933-AE602DB85551}"/>
              </a:ext>
            </a:extLst>
          </p:cNvPr>
          <p:cNvSpPr/>
          <p:nvPr/>
        </p:nvSpPr>
        <p:spPr>
          <a:xfrm rot="-5400000">
            <a:off x="4057651" y="-4057652"/>
            <a:ext cx="10477500" cy="18592802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7F1572E-A0AF-0BDC-6515-F5BC33726684}"/>
              </a:ext>
            </a:extLst>
          </p:cNvPr>
          <p:cNvGrpSpPr/>
          <p:nvPr/>
        </p:nvGrpSpPr>
        <p:grpSpPr>
          <a:xfrm>
            <a:off x="1728574" y="2588260"/>
            <a:ext cx="3865493" cy="659964"/>
            <a:chOff x="0" y="0"/>
            <a:chExt cx="1018072" cy="17381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85DE0D2-2741-107E-B4BD-4F5846B5DFBF}"/>
                </a:ext>
              </a:extLst>
            </p:cNvPr>
            <p:cNvSpPr/>
            <p:nvPr/>
          </p:nvSpPr>
          <p:spPr>
            <a:xfrm>
              <a:off x="0" y="0"/>
              <a:ext cx="1018072" cy="173818"/>
            </a:xfrm>
            <a:custGeom>
              <a:avLst/>
              <a:gdLst/>
              <a:ahLst/>
              <a:cxnLst/>
              <a:rect l="l" t="t" r="r" b="b"/>
              <a:pathLst>
                <a:path w="1018072" h="173818">
                  <a:moveTo>
                    <a:pt x="0" y="0"/>
                  </a:moveTo>
                  <a:lnTo>
                    <a:pt x="1018072" y="0"/>
                  </a:lnTo>
                  <a:lnTo>
                    <a:pt x="1018072" y="173818"/>
                  </a:lnTo>
                  <a:lnTo>
                    <a:pt x="0" y="173818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9C4FD7B-EDE4-0817-772D-2E515FDC8CC6}"/>
                </a:ext>
              </a:extLst>
            </p:cNvPr>
            <p:cNvSpPr txBox="1"/>
            <p:nvPr/>
          </p:nvSpPr>
          <p:spPr>
            <a:xfrm>
              <a:off x="0" y="-57150"/>
              <a:ext cx="1018072" cy="230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37321498-CB50-4B34-3C5E-FC1B06873700}"/>
              </a:ext>
            </a:extLst>
          </p:cNvPr>
          <p:cNvGrpSpPr/>
          <p:nvPr/>
        </p:nvGrpSpPr>
        <p:grpSpPr>
          <a:xfrm>
            <a:off x="1728574" y="4680385"/>
            <a:ext cx="5086147" cy="659964"/>
            <a:chOff x="0" y="0"/>
            <a:chExt cx="1339561" cy="17381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C1A98C1-F2AE-F0DD-9E61-FC4966F30C13}"/>
                </a:ext>
              </a:extLst>
            </p:cNvPr>
            <p:cNvSpPr/>
            <p:nvPr/>
          </p:nvSpPr>
          <p:spPr>
            <a:xfrm>
              <a:off x="0" y="0"/>
              <a:ext cx="1339561" cy="173818"/>
            </a:xfrm>
            <a:custGeom>
              <a:avLst/>
              <a:gdLst/>
              <a:ahLst/>
              <a:cxnLst/>
              <a:rect l="l" t="t" r="r" b="b"/>
              <a:pathLst>
                <a:path w="1339561" h="173818">
                  <a:moveTo>
                    <a:pt x="0" y="0"/>
                  </a:moveTo>
                  <a:lnTo>
                    <a:pt x="1339561" y="0"/>
                  </a:lnTo>
                  <a:lnTo>
                    <a:pt x="1339561" y="173818"/>
                  </a:lnTo>
                  <a:lnTo>
                    <a:pt x="0" y="173818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456FC375-DA53-0780-0AF9-9E5F3B950944}"/>
                </a:ext>
              </a:extLst>
            </p:cNvPr>
            <p:cNvSpPr txBox="1"/>
            <p:nvPr/>
          </p:nvSpPr>
          <p:spPr>
            <a:xfrm>
              <a:off x="0" y="-57150"/>
              <a:ext cx="1339561" cy="230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94D59C1F-2754-94D3-BC9E-06617C5B2245}"/>
              </a:ext>
            </a:extLst>
          </p:cNvPr>
          <p:cNvGrpSpPr/>
          <p:nvPr/>
        </p:nvGrpSpPr>
        <p:grpSpPr>
          <a:xfrm>
            <a:off x="1728574" y="6677259"/>
            <a:ext cx="4052607" cy="659964"/>
            <a:chOff x="0" y="0"/>
            <a:chExt cx="1067353" cy="17381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8A5E5E8-C78C-ECA3-E4C8-101A1473AF60}"/>
                </a:ext>
              </a:extLst>
            </p:cNvPr>
            <p:cNvSpPr/>
            <p:nvPr/>
          </p:nvSpPr>
          <p:spPr>
            <a:xfrm>
              <a:off x="0" y="0"/>
              <a:ext cx="1067353" cy="173818"/>
            </a:xfrm>
            <a:custGeom>
              <a:avLst/>
              <a:gdLst/>
              <a:ahLst/>
              <a:cxnLst/>
              <a:rect l="l" t="t" r="r" b="b"/>
              <a:pathLst>
                <a:path w="1067353" h="173818">
                  <a:moveTo>
                    <a:pt x="0" y="0"/>
                  </a:moveTo>
                  <a:lnTo>
                    <a:pt x="1067353" y="0"/>
                  </a:lnTo>
                  <a:lnTo>
                    <a:pt x="1067353" y="173818"/>
                  </a:lnTo>
                  <a:lnTo>
                    <a:pt x="0" y="173818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DB83FB28-D29E-05FD-2E61-7F0DE0782C6E}"/>
                </a:ext>
              </a:extLst>
            </p:cNvPr>
            <p:cNvSpPr txBox="1"/>
            <p:nvPr/>
          </p:nvSpPr>
          <p:spPr>
            <a:xfrm>
              <a:off x="0" y="-57150"/>
              <a:ext cx="1067353" cy="230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C4091E97-0E1B-139A-20AD-B35F7AC9A261}"/>
              </a:ext>
            </a:extLst>
          </p:cNvPr>
          <p:cNvGrpSpPr/>
          <p:nvPr/>
        </p:nvGrpSpPr>
        <p:grpSpPr>
          <a:xfrm>
            <a:off x="1867629" y="2735374"/>
            <a:ext cx="365736" cy="365736"/>
            <a:chOff x="0" y="0"/>
            <a:chExt cx="96325" cy="96325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8AF1C219-2B61-D9E3-1FC2-377FC0155F09}"/>
                </a:ext>
              </a:extLst>
            </p:cNvPr>
            <p:cNvSpPr/>
            <p:nvPr/>
          </p:nvSpPr>
          <p:spPr>
            <a:xfrm>
              <a:off x="0" y="0"/>
              <a:ext cx="96325" cy="96325"/>
            </a:xfrm>
            <a:custGeom>
              <a:avLst/>
              <a:gdLst/>
              <a:ahLst/>
              <a:cxnLst/>
              <a:rect l="l" t="t" r="r" b="b"/>
              <a:pathLst>
                <a:path w="96325" h="96325">
                  <a:moveTo>
                    <a:pt x="0" y="0"/>
                  </a:moveTo>
                  <a:lnTo>
                    <a:pt x="96325" y="0"/>
                  </a:lnTo>
                  <a:lnTo>
                    <a:pt x="96325" y="96325"/>
                  </a:lnTo>
                  <a:lnTo>
                    <a:pt x="0" y="9632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9F6CEC85-9F55-0118-675E-5D3C58350025}"/>
                </a:ext>
              </a:extLst>
            </p:cNvPr>
            <p:cNvSpPr txBox="1"/>
            <p:nvPr/>
          </p:nvSpPr>
          <p:spPr>
            <a:xfrm>
              <a:off x="0" y="-57150"/>
              <a:ext cx="96325" cy="153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198D9C7E-4EE9-0F92-6FC0-72415A062AC0}"/>
              </a:ext>
            </a:extLst>
          </p:cNvPr>
          <p:cNvGrpSpPr/>
          <p:nvPr/>
        </p:nvGrpSpPr>
        <p:grpSpPr>
          <a:xfrm>
            <a:off x="1867629" y="6824374"/>
            <a:ext cx="365736" cy="365736"/>
            <a:chOff x="0" y="0"/>
            <a:chExt cx="96325" cy="96325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0FB2EF8F-39D4-2935-CA3C-7BCAE87297E5}"/>
                </a:ext>
              </a:extLst>
            </p:cNvPr>
            <p:cNvSpPr/>
            <p:nvPr/>
          </p:nvSpPr>
          <p:spPr>
            <a:xfrm>
              <a:off x="0" y="0"/>
              <a:ext cx="96325" cy="96325"/>
            </a:xfrm>
            <a:custGeom>
              <a:avLst/>
              <a:gdLst/>
              <a:ahLst/>
              <a:cxnLst/>
              <a:rect l="l" t="t" r="r" b="b"/>
              <a:pathLst>
                <a:path w="96325" h="96325">
                  <a:moveTo>
                    <a:pt x="0" y="0"/>
                  </a:moveTo>
                  <a:lnTo>
                    <a:pt x="96325" y="0"/>
                  </a:lnTo>
                  <a:lnTo>
                    <a:pt x="96325" y="96325"/>
                  </a:lnTo>
                  <a:lnTo>
                    <a:pt x="0" y="9632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06240CC7-F6AD-2721-526C-7EF034609F53}"/>
                </a:ext>
              </a:extLst>
            </p:cNvPr>
            <p:cNvSpPr txBox="1"/>
            <p:nvPr/>
          </p:nvSpPr>
          <p:spPr>
            <a:xfrm>
              <a:off x="0" y="-57150"/>
              <a:ext cx="96325" cy="153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sp>
        <p:nvSpPr>
          <p:cNvPr id="18" name="Freeform 18">
            <a:extLst>
              <a:ext uri="{FF2B5EF4-FFF2-40B4-BE49-F238E27FC236}">
                <a16:creationId xmlns:a16="http://schemas.microsoft.com/office/drawing/2014/main" id="{4E53ABE7-12B8-6D2F-44D9-D527B26DADD4}"/>
              </a:ext>
            </a:extLst>
          </p:cNvPr>
          <p:cNvSpPr/>
          <p:nvPr/>
        </p:nvSpPr>
        <p:spPr>
          <a:xfrm>
            <a:off x="1928392" y="2795679"/>
            <a:ext cx="244208" cy="245127"/>
          </a:xfrm>
          <a:custGeom>
            <a:avLst/>
            <a:gdLst/>
            <a:ahLst/>
            <a:cxnLst/>
            <a:rect l="l" t="t" r="r" b="b"/>
            <a:pathLst>
              <a:path w="244208" h="245127">
                <a:moveTo>
                  <a:pt x="0" y="0"/>
                </a:moveTo>
                <a:lnTo>
                  <a:pt x="244209" y="0"/>
                </a:lnTo>
                <a:lnTo>
                  <a:pt x="244209" y="245127"/>
                </a:lnTo>
                <a:lnTo>
                  <a:pt x="0" y="2451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D83FA424-121E-465F-569E-EF467DE5B828}"/>
              </a:ext>
            </a:extLst>
          </p:cNvPr>
          <p:cNvGrpSpPr/>
          <p:nvPr/>
        </p:nvGrpSpPr>
        <p:grpSpPr>
          <a:xfrm>
            <a:off x="1867629" y="4827499"/>
            <a:ext cx="365736" cy="365736"/>
            <a:chOff x="0" y="0"/>
            <a:chExt cx="96325" cy="96325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7F27E88C-A3E6-ABA0-F62B-4FA035B3C09F}"/>
                </a:ext>
              </a:extLst>
            </p:cNvPr>
            <p:cNvSpPr/>
            <p:nvPr/>
          </p:nvSpPr>
          <p:spPr>
            <a:xfrm>
              <a:off x="0" y="0"/>
              <a:ext cx="96325" cy="96325"/>
            </a:xfrm>
            <a:custGeom>
              <a:avLst/>
              <a:gdLst/>
              <a:ahLst/>
              <a:cxnLst/>
              <a:rect l="l" t="t" r="r" b="b"/>
              <a:pathLst>
                <a:path w="96325" h="96325">
                  <a:moveTo>
                    <a:pt x="0" y="0"/>
                  </a:moveTo>
                  <a:lnTo>
                    <a:pt x="96325" y="0"/>
                  </a:lnTo>
                  <a:lnTo>
                    <a:pt x="96325" y="96325"/>
                  </a:lnTo>
                  <a:lnTo>
                    <a:pt x="0" y="9632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773C77BF-2540-7EF2-50EB-4F4D703DC116}"/>
                </a:ext>
              </a:extLst>
            </p:cNvPr>
            <p:cNvSpPr txBox="1"/>
            <p:nvPr/>
          </p:nvSpPr>
          <p:spPr>
            <a:xfrm>
              <a:off x="0" y="-57150"/>
              <a:ext cx="96325" cy="153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id="{423E51C1-ED3A-B37A-2447-0F5690BB510A}"/>
              </a:ext>
            </a:extLst>
          </p:cNvPr>
          <p:cNvSpPr/>
          <p:nvPr/>
        </p:nvSpPr>
        <p:spPr>
          <a:xfrm>
            <a:off x="1948462" y="4887803"/>
            <a:ext cx="204069" cy="245127"/>
          </a:xfrm>
          <a:custGeom>
            <a:avLst/>
            <a:gdLst/>
            <a:ahLst/>
            <a:cxnLst/>
            <a:rect l="l" t="t" r="r" b="b"/>
            <a:pathLst>
              <a:path w="204069" h="245127">
                <a:moveTo>
                  <a:pt x="0" y="0"/>
                </a:moveTo>
                <a:lnTo>
                  <a:pt x="204069" y="0"/>
                </a:lnTo>
                <a:lnTo>
                  <a:pt x="204069" y="245128"/>
                </a:lnTo>
                <a:lnTo>
                  <a:pt x="0" y="2451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E1D333C5-3BE0-9E86-5CBE-6224C36358B7}"/>
              </a:ext>
            </a:extLst>
          </p:cNvPr>
          <p:cNvSpPr/>
          <p:nvPr/>
        </p:nvSpPr>
        <p:spPr>
          <a:xfrm>
            <a:off x="1912784" y="6884678"/>
            <a:ext cx="275424" cy="245127"/>
          </a:xfrm>
          <a:custGeom>
            <a:avLst/>
            <a:gdLst/>
            <a:ahLst/>
            <a:cxnLst/>
            <a:rect l="l" t="t" r="r" b="b"/>
            <a:pathLst>
              <a:path w="275424" h="245127">
                <a:moveTo>
                  <a:pt x="0" y="0"/>
                </a:moveTo>
                <a:lnTo>
                  <a:pt x="275424" y="0"/>
                </a:lnTo>
                <a:lnTo>
                  <a:pt x="275424" y="245127"/>
                </a:lnTo>
                <a:lnTo>
                  <a:pt x="0" y="2451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1B3B569F-0236-87DA-546D-FC2C81481C08}"/>
              </a:ext>
            </a:extLst>
          </p:cNvPr>
          <p:cNvSpPr/>
          <p:nvPr/>
        </p:nvSpPr>
        <p:spPr>
          <a:xfrm>
            <a:off x="1632870" y="1032234"/>
            <a:ext cx="905853" cy="1151752"/>
          </a:xfrm>
          <a:custGeom>
            <a:avLst/>
            <a:gdLst/>
            <a:ahLst/>
            <a:cxnLst/>
            <a:rect l="l" t="t" r="r" b="b"/>
            <a:pathLst>
              <a:path w="905853" h="1151752">
                <a:moveTo>
                  <a:pt x="0" y="0"/>
                </a:moveTo>
                <a:lnTo>
                  <a:pt x="905853" y="0"/>
                </a:lnTo>
                <a:lnTo>
                  <a:pt x="905853" y="1151752"/>
                </a:lnTo>
                <a:lnTo>
                  <a:pt x="0" y="115175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grpSp>
        <p:nvGrpSpPr>
          <p:cNvPr id="25" name="Group 25">
            <a:extLst>
              <a:ext uri="{FF2B5EF4-FFF2-40B4-BE49-F238E27FC236}">
                <a16:creationId xmlns:a16="http://schemas.microsoft.com/office/drawing/2014/main" id="{39D0D3B2-E42A-3C4A-9196-3FA6E07DECD9}"/>
              </a:ext>
            </a:extLst>
          </p:cNvPr>
          <p:cNvGrpSpPr/>
          <p:nvPr/>
        </p:nvGrpSpPr>
        <p:grpSpPr>
          <a:xfrm>
            <a:off x="12815520" y="2282542"/>
            <a:ext cx="2476558" cy="2471847"/>
            <a:chOff x="0" y="0"/>
            <a:chExt cx="3302077" cy="3295796"/>
          </a:xfrm>
        </p:grpSpPr>
        <p:grpSp>
          <p:nvGrpSpPr>
            <p:cNvPr id="26" name="Group 26">
              <a:extLst>
                <a:ext uri="{FF2B5EF4-FFF2-40B4-BE49-F238E27FC236}">
                  <a16:creationId xmlns:a16="http://schemas.microsoft.com/office/drawing/2014/main" id="{D3896F0D-29D8-5A1D-76ED-743EF730FBC3}"/>
                </a:ext>
              </a:extLst>
            </p:cNvPr>
            <p:cNvGrpSpPr/>
            <p:nvPr/>
          </p:nvGrpSpPr>
          <p:grpSpPr>
            <a:xfrm>
              <a:off x="0" y="0"/>
              <a:ext cx="3302077" cy="3295796"/>
              <a:chOff x="0" y="0"/>
              <a:chExt cx="812800" cy="811254"/>
            </a:xfrm>
          </p:grpSpPr>
          <p:sp>
            <p:nvSpPr>
              <p:cNvPr id="27" name="Freeform 27">
                <a:extLst>
                  <a:ext uri="{FF2B5EF4-FFF2-40B4-BE49-F238E27FC236}">
                    <a16:creationId xmlns:a16="http://schemas.microsoft.com/office/drawing/2014/main" id="{EEE30F20-35F8-908F-423C-1513521FB4B1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125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1254">
                    <a:moveTo>
                      <a:pt x="406400" y="0"/>
                    </a:moveTo>
                    <a:cubicBezTo>
                      <a:pt x="181951" y="0"/>
                      <a:pt x="0" y="181605"/>
                      <a:pt x="0" y="405627"/>
                    </a:cubicBezTo>
                    <a:cubicBezTo>
                      <a:pt x="0" y="629649"/>
                      <a:pt x="181951" y="811254"/>
                      <a:pt x="406400" y="811254"/>
                    </a:cubicBezTo>
                    <a:cubicBezTo>
                      <a:pt x="630849" y="811254"/>
                      <a:pt x="812800" y="629649"/>
                      <a:pt x="812800" y="405627"/>
                    </a:cubicBezTo>
                    <a:cubicBezTo>
                      <a:pt x="812800" y="181605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id="28" name="TextBox 28">
                <a:extLst>
                  <a:ext uri="{FF2B5EF4-FFF2-40B4-BE49-F238E27FC236}">
                    <a16:creationId xmlns:a16="http://schemas.microsoft.com/office/drawing/2014/main" id="{11DA8DB9-DA50-F851-E97D-92AFBD741C54}"/>
                  </a:ext>
                </a:extLst>
              </p:cNvPr>
              <p:cNvSpPr txBox="1"/>
              <p:nvPr/>
            </p:nvSpPr>
            <p:spPr>
              <a:xfrm>
                <a:off x="76200" y="18905"/>
                <a:ext cx="660400" cy="71629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0D9825E-7A00-640D-C84F-F407EE0E6340}"/>
                </a:ext>
              </a:extLst>
            </p:cNvPr>
            <p:cNvSpPr/>
            <p:nvPr/>
          </p:nvSpPr>
          <p:spPr>
            <a:xfrm>
              <a:off x="939122" y="658480"/>
              <a:ext cx="1423833" cy="1482515"/>
            </a:xfrm>
            <a:custGeom>
              <a:avLst/>
              <a:gdLst/>
              <a:ahLst/>
              <a:cxnLst/>
              <a:rect l="l" t="t" r="r" b="b"/>
              <a:pathLst>
                <a:path w="1423833" h="1482515">
                  <a:moveTo>
                    <a:pt x="0" y="0"/>
                  </a:moveTo>
                  <a:lnTo>
                    <a:pt x="1423833" y="0"/>
                  </a:lnTo>
                  <a:lnTo>
                    <a:pt x="1423833" y="1482515"/>
                  </a:lnTo>
                  <a:lnTo>
                    <a:pt x="0" y="14825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49B9B11E-F8B5-1263-87B4-448C78CCE628}"/>
                </a:ext>
              </a:extLst>
            </p:cNvPr>
            <p:cNvSpPr txBox="1"/>
            <p:nvPr/>
          </p:nvSpPr>
          <p:spPr>
            <a:xfrm>
              <a:off x="709670" y="2198682"/>
              <a:ext cx="1882737" cy="360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87"/>
                </a:lnSpc>
              </a:pPr>
              <a:r>
                <a:rPr lang="en-US" sz="1524" b="1">
                  <a:solidFill>
                    <a:srgbClr val="30303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Admin Control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4F98F0A7-4539-36ED-6CE0-BFD3FA20805B}"/>
              </a:ext>
            </a:extLst>
          </p:cNvPr>
          <p:cNvGrpSpPr/>
          <p:nvPr/>
        </p:nvGrpSpPr>
        <p:grpSpPr>
          <a:xfrm>
            <a:off x="13097596" y="4242235"/>
            <a:ext cx="1912407" cy="1907187"/>
            <a:chOff x="0" y="0"/>
            <a:chExt cx="2549876" cy="2542916"/>
          </a:xfrm>
        </p:grpSpPr>
        <p:grpSp>
          <p:nvGrpSpPr>
            <p:cNvPr id="32" name="Group 32">
              <a:extLst>
                <a:ext uri="{FF2B5EF4-FFF2-40B4-BE49-F238E27FC236}">
                  <a16:creationId xmlns:a16="http://schemas.microsoft.com/office/drawing/2014/main" id="{0C5DF7E1-CC88-DF95-782D-305540D9BB31}"/>
                </a:ext>
              </a:extLst>
            </p:cNvPr>
            <p:cNvGrpSpPr/>
            <p:nvPr/>
          </p:nvGrpSpPr>
          <p:grpSpPr>
            <a:xfrm>
              <a:off x="0" y="0"/>
              <a:ext cx="2549876" cy="2542916"/>
              <a:chOff x="0" y="0"/>
              <a:chExt cx="812800" cy="810582"/>
            </a:xfrm>
          </p:grpSpPr>
          <p:sp>
            <p:nvSpPr>
              <p:cNvPr id="33" name="Freeform 33">
                <a:extLst>
                  <a:ext uri="{FF2B5EF4-FFF2-40B4-BE49-F238E27FC236}">
                    <a16:creationId xmlns:a16="http://schemas.microsoft.com/office/drawing/2014/main" id="{A409E9AC-6B6F-989F-FB33-98F91CFD599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0582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0582">
                    <a:moveTo>
                      <a:pt x="406400" y="0"/>
                    </a:moveTo>
                    <a:cubicBezTo>
                      <a:pt x="181951" y="0"/>
                      <a:pt x="0" y="181455"/>
                      <a:pt x="0" y="405291"/>
                    </a:cubicBezTo>
                    <a:cubicBezTo>
                      <a:pt x="0" y="629127"/>
                      <a:pt x="181951" y="810582"/>
                      <a:pt x="406400" y="810582"/>
                    </a:cubicBezTo>
                    <a:cubicBezTo>
                      <a:pt x="630849" y="810582"/>
                      <a:pt x="812800" y="629127"/>
                      <a:pt x="812800" y="405291"/>
                    </a:cubicBezTo>
                    <a:cubicBezTo>
                      <a:pt x="812800" y="181455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472C4"/>
              </a:solidFill>
            </p:spPr>
          </p:sp>
          <p:sp>
            <p:nvSpPr>
              <p:cNvPr id="34" name="TextBox 34">
                <a:extLst>
                  <a:ext uri="{FF2B5EF4-FFF2-40B4-BE49-F238E27FC236}">
                    <a16:creationId xmlns:a16="http://schemas.microsoft.com/office/drawing/2014/main" id="{162DA159-615E-60F9-7A1A-DECD38808359}"/>
                  </a:ext>
                </a:extLst>
              </p:cNvPr>
              <p:cNvSpPr txBox="1"/>
              <p:nvPr/>
            </p:nvSpPr>
            <p:spPr>
              <a:xfrm>
                <a:off x="76200" y="18842"/>
                <a:ext cx="660400" cy="71574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F76E7E8C-822A-E67F-B35D-BAC1D92E7E1C}"/>
                </a:ext>
              </a:extLst>
            </p:cNvPr>
            <p:cNvSpPr/>
            <p:nvPr/>
          </p:nvSpPr>
          <p:spPr>
            <a:xfrm>
              <a:off x="678360" y="475253"/>
              <a:ext cx="1193156" cy="1238035"/>
            </a:xfrm>
            <a:custGeom>
              <a:avLst/>
              <a:gdLst/>
              <a:ahLst/>
              <a:cxnLst/>
              <a:rect l="l" t="t" r="r" b="b"/>
              <a:pathLst>
                <a:path w="1193156" h="1238035">
                  <a:moveTo>
                    <a:pt x="0" y="0"/>
                  </a:moveTo>
                  <a:lnTo>
                    <a:pt x="1193156" y="0"/>
                  </a:lnTo>
                  <a:lnTo>
                    <a:pt x="1193156" y="1238035"/>
                  </a:lnTo>
                  <a:lnTo>
                    <a:pt x="0" y="12380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6" name="TextBox 36">
              <a:extLst>
                <a:ext uri="{FF2B5EF4-FFF2-40B4-BE49-F238E27FC236}">
                  <a16:creationId xmlns:a16="http://schemas.microsoft.com/office/drawing/2014/main" id="{01ECD056-CC7B-D8EB-EFDB-E893802DFFEE}"/>
                </a:ext>
              </a:extLst>
            </p:cNvPr>
            <p:cNvSpPr txBox="1"/>
            <p:nvPr/>
          </p:nvSpPr>
          <p:spPr>
            <a:xfrm>
              <a:off x="548010" y="1752233"/>
              <a:ext cx="1453856" cy="2799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66"/>
                </a:lnSpc>
              </a:pPr>
              <a:r>
                <a:rPr lang="en-US" sz="1177" b="1">
                  <a:solidFill>
                    <a:srgbClr val="EFEFE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Global Model</a:t>
              </a:r>
            </a:p>
          </p:txBody>
        </p:sp>
      </p:grpSp>
      <p:grpSp>
        <p:nvGrpSpPr>
          <p:cNvPr id="37" name="Group 37">
            <a:extLst>
              <a:ext uri="{FF2B5EF4-FFF2-40B4-BE49-F238E27FC236}">
                <a16:creationId xmlns:a16="http://schemas.microsoft.com/office/drawing/2014/main" id="{EA74F48F-92A0-9B60-BB74-E64210C787F7}"/>
              </a:ext>
            </a:extLst>
          </p:cNvPr>
          <p:cNvGrpSpPr/>
          <p:nvPr/>
        </p:nvGrpSpPr>
        <p:grpSpPr>
          <a:xfrm>
            <a:off x="9307141" y="7337223"/>
            <a:ext cx="2285548" cy="1508462"/>
            <a:chOff x="0" y="0"/>
            <a:chExt cx="635000" cy="419100"/>
          </a:xfrm>
        </p:grpSpPr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FB8B2920-532D-A3D2-1612-FD375BBC004D}"/>
                </a:ext>
              </a:extLst>
            </p:cNvPr>
            <p:cNvSpPr/>
            <p:nvPr/>
          </p:nvSpPr>
          <p:spPr>
            <a:xfrm>
              <a:off x="0" y="0"/>
              <a:ext cx="635000" cy="419100"/>
            </a:xfrm>
            <a:custGeom>
              <a:avLst/>
              <a:gdLst/>
              <a:ahLst/>
              <a:cxnLst/>
              <a:rect l="l" t="t" r="r" b="b"/>
              <a:pathLst>
                <a:path w="635000" h="419100">
                  <a:moveTo>
                    <a:pt x="66159" y="0"/>
                  </a:moveTo>
                  <a:lnTo>
                    <a:pt x="568841" y="0"/>
                  </a:lnTo>
                  <a:cubicBezTo>
                    <a:pt x="586388" y="0"/>
                    <a:pt x="603215" y="6970"/>
                    <a:pt x="615623" y="19377"/>
                  </a:cubicBezTo>
                  <a:cubicBezTo>
                    <a:pt x="628030" y="31785"/>
                    <a:pt x="635000" y="48612"/>
                    <a:pt x="635000" y="66159"/>
                  </a:cubicBezTo>
                  <a:lnTo>
                    <a:pt x="635000" y="352941"/>
                  </a:lnTo>
                  <a:cubicBezTo>
                    <a:pt x="635000" y="370488"/>
                    <a:pt x="628030" y="387315"/>
                    <a:pt x="615623" y="399723"/>
                  </a:cubicBezTo>
                  <a:cubicBezTo>
                    <a:pt x="603215" y="412130"/>
                    <a:pt x="586388" y="419100"/>
                    <a:pt x="568841" y="419100"/>
                  </a:cubicBezTo>
                  <a:lnTo>
                    <a:pt x="66159" y="419100"/>
                  </a:lnTo>
                  <a:cubicBezTo>
                    <a:pt x="48612" y="419100"/>
                    <a:pt x="31785" y="412130"/>
                    <a:pt x="19377" y="399723"/>
                  </a:cubicBezTo>
                  <a:cubicBezTo>
                    <a:pt x="6970" y="387315"/>
                    <a:pt x="0" y="370488"/>
                    <a:pt x="0" y="352941"/>
                  </a:cubicBezTo>
                  <a:lnTo>
                    <a:pt x="0" y="66159"/>
                  </a:lnTo>
                  <a:cubicBezTo>
                    <a:pt x="0" y="48612"/>
                    <a:pt x="6970" y="31785"/>
                    <a:pt x="19377" y="19377"/>
                  </a:cubicBezTo>
                  <a:cubicBezTo>
                    <a:pt x="31785" y="6970"/>
                    <a:pt x="48612" y="0"/>
                    <a:pt x="66159" y="0"/>
                  </a:cubicBez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id="39" name="TextBox 39">
              <a:extLst>
                <a:ext uri="{FF2B5EF4-FFF2-40B4-BE49-F238E27FC236}">
                  <a16:creationId xmlns:a16="http://schemas.microsoft.com/office/drawing/2014/main" id="{6E48E0DC-0A32-ACE9-BA42-66FA501F08A4}"/>
                </a:ext>
              </a:extLst>
            </p:cNvPr>
            <p:cNvSpPr txBox="1"/>
            <p:nvPr/>
          </p:nvSpPr>
          <p:spPr>
            <a:xfrm>
              <a:off x="0" y="-57150"/>
              <a:ext cx="635000" cy="476250"/>
            </a:xfrm>
            <a:prstGeom prst="rect">
              <a:avLst/>
            </a:prstGeom>
          </p:spPr>
          <p:txBody>
            <a:bodyPr lIns="37622" tIns="37622" rIns="37622" bIns="37622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sp>
        <p:nvSpPr>
          <p:cNvPr id="40" name="Freeform 40">
            <a:extLst>
              <a:ext uri="{FF2B5EF4-FFF2-40B4-BE49-F238E27FC236}">
                <a16:creationId xmlns:a16="http://schemas.microsoft.com/office/drawing/2014/main" id="{6229488A-CCA8-692C-33B0-E8D906560E33}"/>
              </a:ext>
            </a:extLst>
          </p:cNvPr>
          <p:cNvSpPr/>
          <p:nvPr/>
        </p:nvSpPr>
        <p:spPr>
          <a:xfrm>
            <a:off x="9667228" y="7685949"/>
            <a:ext cx="666596" cy="664930"/>
          </a:xfrm>
          <a:custGeom>
            <a:avLst/>
            <a:gdLst/>
            <a:ahLst/>
            <a:cxnLst/>
            <a:rect l="l" t="t" r="r" b="b"/>
            <a:pathLst>
              <a:path w="666596" h="664930">
                <a:moveTo>
                  <a:pt x="0" y="0"/>
                </a:moveTo>
                <a:lnTo>
                  <a:pt x="666596" y="0"/>
                </a:lnTo>
                <a:lnTo>
                  <a:pt x="666596" y="664929"/>
                </a:lnTo>
                <a:lnTo>
                  <a:pt x="0" y="66492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41" name="Freeform 41">
            <a:extLst>
              <a:ext uri="{FF2B5EF4-FFF2-40B4-BE49-F238E27FC236}">
                <a16:creationId xmlns:a16="http://schemas.microsoft.com/office/drawing/2014/main" id="{A7EEF8E0-71E2-B46D-205B-931228B93B4C}"/>
              </a:ext>
            </a:extLst>
          </p:cNvPr>
          <p:cNvSpPr/>
          <p:nvPr/>
        </p:nvSpPr>
        <p:spPr>
          <a:xfrm>
            <a:off x="10545139" y="7393793"/>
            <a:ext cx="988656" cy="1332147"/>
          </a:xfrm>
          <a:custGeom>
            <a:avLst/>
            <a:gdLst/>
            <a:ahLst/>
            <a:cxnLst/>
            <a:rect l="l" t="t" r="r" b="b"/>
            <a:pathLst>
              <a:path w="988656" h="1332147">
                <a:moveTo>
                  <a:pt x="0" y="0"/>
                </a:moveTo>
                <a:lnTo>
                  <a:pt x="988656" y="0"/>
                </a:lnTo>
                <a:lnTo>
                  <a:pt x="988656" y="1332147"/>
                </a:lnTo>
                <a:lnTo>
                  <a:pt x="0" y="133214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8DFBAF6C-E721-BBA7-56C1-2116D036EF10}"/>
              </a:ext>
            </a:extLst>
          </p:cNvPr>
          <p:cNvSpPr txBox="1"/>
          <p:nvPr/>
        </p:nvSpPr>
        <p:spPr>
          <a:xfrm>
            <a:off x="9307141" y="8453814"/>
            <a:ext cx="1273044" cy="308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12"/>
              </a:lnSpc>
            </a:pPr>
            <a:r>
              <a:rPr lang="en-US" sz="2212" b="1">
                <a:solidFill>
                  <a:srgbClr val="FF0099"/>
                </a:solidFill>
                <a:latin typeface="Big Shoulders Display Bold"/>
                <a:ea typeface="Big Shoulders Display Bold"/>
                <a:cs typeface="Big Shoulders Display Bold"/>
                <a:sym typeface="Big Shoulders Display Bold"/>
              </a:rPr>
              <a:t>HOSPITAL A</a:t>
            </a:r>
          </a:p>
        </p:txBody>
      </p:sp>
      <p:grpSp>
        <p:nvGrpSpPr>
          <p:cNvPr id="43" name="Group 43">
            <a:extLst>
              <a:ext uri="{FF2B5EF4-FFF2-40B4-BE49-F238E27FC236}">
                <a16:creationId xmlns:a16="http://schemas.microsoft.com/office/drawing/2014/main" id="{44444844-E0BE-27DE-3F53-3D2AF38B33A7}"/>
              </a:ext>
            </a:extLst>
          </p:cNvPr>
          <p:cNvGrpSpPr/>
          <p:nvPr/>
        </p:nvGrpSpPr>
        <p:grpSpPr>
          <a:xfrm>
            <a:off x="15364446" y="7273579"/>
            <a:ext cx="2217883" cy="1463803"/>
            <a:chOff x="0" y="0"/>
            <a:chExt cx="635000" cy="419100"/>
          </a:xfrm>
        </p:grpSpPr>
        <p:sp>
          <p:nvSpPr>
            <p:cNvPr id="44" name="Freeform 44">
              <a:extLst>
                <a:ext uri="{FF2B5EF4-FFF2-40B4-BE49-F238E27FC236}">
                  <a16:creationId xmlns:a16="http://schemas.microsoft.com/office/drawing/2014/main" id="{6B5B0685-CCD7-5278-7731-DFE6EF60B68F}"/>
                </a:ext>
              </a:extLst>
            </p:cNvPr>
            <p:cNvSpPr/>
            <p:nvPr/>
          </p:nvSpPr>
          <p:spPr>
            <a:xfrm>
              <a:off x="0" y="0"/>
              <a:ext cx="635000" cy="419100"/>
            </a:xfrm>
            <a:custGeom>
              <a:avLst/>
              <a:gdLst/>
              <a:ahLst/>
              <a:cxnLst/>
              <a:rect l="l" t="t" r="r" b="b"/>
              <a:pathLst>
                <a:path w="635000" h="419100">
                  <a:moveTo>
                    <a:pt x="68177" y="0"/>
                  </a:moveTo>
                  <a:lnTo>
                    <a:pt x="566823" y="0"/>
                  </a:lnTo>
                  <a:cubicBezTo>
                    <a:pt x="604476" y="0"/>
                    <a:pt x="635000" y="30524"/>
                    <a:pt x="635000" y="68177"/>
                  </a:cubicBezTo>
                  <a:lnTo>
                    <a:pt x="635000" y="350923"/>
                  </a:lnTo>
                  <a:cubicBezTo>
                    <a:pt x="635000" y="388576"/>
                    <a:pt x="604476" y="419100"/>
                    <a:pt x="566823" y="419100"/>
                  </a:cubicBezTo>
                  <a:lnTo>
                    <a:pt x="68177" y="419100"/>
                  </a:lnTo>
                  <a:cubicBezTo>
                    <a:pt x="30524" y="419100"/>
                    <a:pt x="0" y="388576"/>
                    <a:pt x="0" y="350923"/>
                  </a:cubicBezTo>
                  <a:lnTo>
                    <a:pt x="0" y="68177"/>
                  </a:lnTo>
                  <a:cubicBezTo>
                    <a:pt x="0" y="30524"/>
                    <a:pt x="30524" y="0"/>
                    <a:pt x="68177" y="0"/>
                  </a:cubicBezTo>
                  <a:close/>
                </a:path>
              </a:pathLst>
            </a:custGeom>
            <a:solidFill>
              <a:srgbClr val="8C52FF"/>
            </a:solidFill>
          </p:spPr>
        </p:sp>
        <p:sp>
          <p:nvSpPr>
            <p:cNvPr id="45" name="TextBox 45">
              <a:extLst>
                <a:ext uri="{FF2B5EF4-FFF2-40B4-BE49-F238E27FC236}">
                  <a16:creationId xmlns:a16="http://schemas.microsoft.com/office/drawing/2014/main" id="{613E2AE8-DF7B-87D8-B79B-DE357AEFE7A2}"/>
                </a:ext>
              </a:extLst>
            </p:cNvPr>
            <p:cNvSpPr txBox="1"/>
            <p:nvPr/>
          </p:nvSpPr>
          <p:spPr>
            <a:xfrm>
              <a:off x="0" y="-57150"/>
              <a:ext cx="635000" cy="476250"/>
            </a:xfrm>
            <a:prstGeom prst="rect">
              <a:avLst/>
            </a:prstGeom>
          </p:spPr>
          <p:txBody>
            <a:bodyPr lIns="36508" tIns="36508" rIns="36508" bIns="36508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sp>
        <p:nvSpPr>
          <p:cNvPr id="46" name="Freeform 46">
            <a:extLst>
              <a:ext uri="{FF2B5EF4-FFF2-40B4-BE49-F238E27FC236}">
                <a16:creationId xmlns:a16="http://schemas.microsoft.com/office/drawing/2014/main" id="{D2B35B77-E700-38BE-133C-087B22D36107}"/>
              </a:ext>
            </a:extLst>
          </p:cNvPr>
          <p:cNvSpPr/>
          <p:nvPr/>
        </p:nvSpPr>
        <p:spPr>
          <a:xfrm>
            <a:off x="15713873" y="7611980"/>
            <a:ext cx="646861" cy="645244"/>
          </a:xfrm>
          <a:custGeom>
            <a:avLst/>
            <a:gdLst/>
            <a:ahLst/>
            <a:cxnLst/>
            <a:rect l="l" t="t" r="r" b="b"/>
            <a:pathLst>
              <a:path w="646861" h="645244">
                <a:moveTo>
                  <a:pt x="0" y="0"/>
                </a:moveTo>
                <a:lnTo>
                  <a:pt x="646861" y="0"/>
                </a:lnTo>
                <a:lnTo>
                  <a:pt x="646861" y="645244"/>
                </a:lnTo>
                <a:lnTo>
                  <a:pt x="0" y="64524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47" name="Freeform 47">
            <a:extLst>
              <a:ext uri="{FF2B5EF4-FFF2-40B4-BE49-F238E27FC236}">
                <a16:creationId xmlns:a16="http://schemas.microsoft.com/office/drawing/2014/main" id="{31719907-D24D-0D97-4980-071F337E2CB2}"/>
              </a:ext>
            </a:extLst>
          </p:cNvPr>
          <p:cNvSpPr/>
          <p:nvPr/>
        </p:nvSpPr>
        <p:spPr>
          <a:xfrm>
            <a:off x="16553968" y="7359127"/>
            <a:ext cx="959386" cy="1292707"/>
          </a:xfrm>
          <a:custGeom>
            <a:avLst/>
            <a:gdLst/>
            <a:ahLst/>
            <a:cxnLst/>
            <a:rect l="l" t="t" r="r" b="b"/>
            <a:pathLst>
              <a:path w="959386" h="1292707">
                <a:moveTo>
                  <a:pt x="0" y="0"/>
                </a:moveTo>
                <a:lnTo>
                  <a:pt x="959386" y="0"/>
                </a:lnTo>
                <a:lnTo>
                  <a:pt x="959386" y="1292707"/>
                </a:lnTo>
                <a:lnTo>
                  <a:pt x="0" y="129270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FD23747E-0687-669E-F71F-444222FABE64}"/>
              </a:ext>
            </a:extLst>
          </p:cNvPr>
          <p:cNvSpPr txBox="1"/>
          <p:nvPr/>
        </p:nvSpPr>
        <p:spPr>
          <a:xfrm>
            <a:off x="15364446" y="8367483"/>
            <a:ext cx="1235354" cy="289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6"/>
              </a:lnSpc>
            </a:pPr>
            <a:r>
              <a:rPr lang="en-US" sz="2146" b="1">
                <a:solidFill>
                  <a:srgbClr val="FF0099"/>
                </a:solidFill>
                <a:latin typeface="Big Shoulders Display Bold"/>
                <a:ea typeface="Big Shoulders Display Bold"/>
                <a:cs typeface="Big Shoulders Display Bold"/>
                <a:sym typeface="Big Shoulders Display Bold"/>
              </a:rPr>
              <a:t>HOSPITAL C</a:t>
            </a:r>
          </a:p>
        </p:txBody>
      </p:sp>
      <p:grpSp>
        <p:nvGrpSpPr>
          <p:cNvPr id="49" name="Group 49">
            <a:extLst>
              <a:ext uri="{FF2B5EF4-FFF2-40B4-BE49-F238E27FC236}">
                <a16:creationId xmlns:a16="http://schemas.microsoft.com/office/drawing/2014/main" id="{3AD26B44-4B02-4768-6002-612B5B75325A}"/>
              </a:ext>
            </a:extLst>
          </p:cNvPr>
          <p:cNvGrpSpPr/>
          <p:nvPr/>
        </p:nvGrpSpPr>
        <p:grpSpPr>
          <a:xfrm>
            <a:off x="12324049" y="7321720"/>
            <a:ext cx="2309038" cy="1523965"/>
            <a:chOff x="0" y="0"/>
            <a:chExt cx="635000" cy="419100"/>
          </a:xfrm>
        </p:grpSpPr>
        <p:sp>
          <p:nvSpPr>
            <p:cNvPr id="50" name="Freeform 50">
              <a:extLst>
                <a:ext uri="{FF2B5EF4-FFF2-40B4-BE49-F238E27FC236}">
                  <a16:creationId xmlns:a16="http://schemas.microsoft.com/office/drawing/2014/main" id="{9941ACF6-9B56-637F-0D7A-767F9417BEF1}"/>
                </a:ext>
              </a:extLst>
            </p:cNvPr>
            <p:cNvSpPr/>
            <p:nvPr/>
          </p:nvSpPr>
          <p:spPr>
            <a:xfrm>
              <a:off x="0" y="0"/>
              <a:ext cx="635000" cy="419100"/>
            </a:xfrm>
            <a:custGeom>
              <a:avLst/>
              <a:gdLst/>
              <a:ahLst/>
              <a:cxnLst/>
              <a:rect l="l" t="t" r="r" b="b"/>
              <a:pathLst>
                <a:path w="635000" h="419100">
                  <a:moveTo>
                    <a:pt x="65486" y="0"/>
                  </a:moveTo>
                  <a:lnTo>
                    <a:pt x="569514" y="0"/>
                  </a:lnTo>
                  <a:cubicBezTo>
                    <a:pt x="586882" y="0"/>
                    <a:pt x="603539" y="6899"/>
                    <a:pt x="615820" y="19180"/>
                  </a:cubicBezTo>
                  <a:cubicBezTo>
                    <a:pt x="628101" y="31461"/>
                    <a:pt x="635000" y="48118"/>
                    <a:pt x="635000" y="65486"/>
                  </a:cubicBezTo>
                  <a:lnTo>
                    <a:pt x="635000" y="353614"/>
                  </a:lnTo>
                  <a:cubicBezTo>
                    <a:pt x="635000" y="370982"/>
                    <a:pt x="628101" y="387639"/>
                    <a:pt x="615820" y="399920"/>
                  </a:cubicBezTo>
                  <a:cubicBezTo>
                    <a:pt x="603539" y="412201"/>
                    <a:pt x="586882" y="419100"/>
                    <a:pt x="569514" y="419100"/>
                  </a:cubicBezTo>
                  <a:lnTo>
                    <a:pt x="65486" y="419100"/>
                  </a:lnTo>
                  <a:cubicBezTo>
                    <a:pt x="48118" y="419100"/>
                    <a:pt x="31461" y="412201"/>
                    <a:pt x="19180" y="399920"/>
                  </a:cubicBezTo>
                  <a:cubicBezTo>
                    <a:pt x="6899" y="387639"/>
                    <a:pt x="0" y="370982"/>
                    <a:pt x="0" y="353614"/>
                  </a:cubicBezTo>
                  <a:lnTo>
                    <a:pt x="0" y="65486"/>
                  </a:lnTo>
                  <a:cubicBezTo>
                    <a:pt x="0" y="48118"/>
                    <a:pt x="6899" y="31461"/>
                    <a:pt x="19180" y="19180"/>
                  </a:cubicBezTo>
                  <a:cubicBezTo>
                    <a:pt x="31461" y="6899"/>
                    <a:pt x="48118" y="0"/>
                    <a:pt x="65486" y="0"/>
                  </a:cubicBezTo>
                  <a:close/>
                </a:path>
              </a:pathLst>
            </a:custGeom>
            <a:solidFill>
              <a:srgbClr val="FF802F"/>
            </a:solidFill>
          </p:spPr>
        </p:sp>
        <p:sp>
          <p:nvSpPr>
            <p:cNvPr id="51" name="TextBox 51">
              <a:extLst>
                <a:ext uri="{FF2B5EF4-FFF2-40B4-BE49-F238E27FC236}">
                  <a16:creationId xmlns:a16="http://schemas.microsoft.com/office/drawing/2014/main" id="{4F36E5E9-A86E-D70F-5B9A-E9BABCA7F02A}"/>
                </a:ext>
              </a:extLst>
            </p:cNvPr>
            <p:cNvSpPr txBox="1"/>
            <p:nvPr/>
          </p:nvSpPr>
          <p:spPr>
            <a:xfrm>
              <a:off x="0" y="-57150"/>
              <a:ext cx="635000" cy="476250"/>
            </a:xfrm>
            <a:prstGeom prst="rect">
              <a:avLst/>
            </a:prstGeom>
          </p:spPr>
          <p:txBody>
            <a:bodyPr lIns="38009" tIns="38009" rIns="38009" bIns="38009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sp>
        <p:nvSpPr>
          <p:cNvPr id="52" name="Freeform 52">
            <a:extLst>
              <a:ext uri="{FF2B5EF4-FFF2-40B4-BE49-F238E27FC236}">
                <a16:creationId xmlns:a16="http://schemas.microsoft.com/office/drawing/2014/main" id="{AD560118-07AC-7F85-0042-2900E0D8967C}"/>
              </a:ext>
            </a:extLst>
          </p:cNvPr>
          <p:cNvSpPr/>
          <p:nvPr/>
        </p:nvSpPr>
        <p:spPr>
          <a:xfrm>
            <a:off x="12687837" y="7674029"/>
            <a:ext cx="673447" cy="671764"/>
          </a:xfrm>
          <a:custGeom>
            <a:avLst/>
            <a:gdLst/>
            <a:ahLst/>
            <a:cxnLst/>
            <a:rect l="l" t="t" r="r" b="b"/>
            <a:pathLst>
              <a:path w="673447" h="671764">
                <a:moveTo>
                  <a:pt x="0" y="0"/>
                </a:moveTo>
                <a:lnTo>
                  <a:pt x="673447" y="0"/>
                </a:lnTo>
                <a:lnTo>
                  <a:pt x="673447" y="671764"/>
                </a:lnTo>
                <a:lnTo>
                  <a:pt x="0" y="67176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53" name="Freeform 53">
            <a:extLst>
              <a:ext uri="{FF2B5EF4-FFF2-40B4-BE49-F238E27FC236}">
                <a16:creationId xmlns:a16="http://schemas.microsoft.com/office/drawing/2014/main" id="{E0C2D113-227A-B005-5513-4CE1D6C185C4}"/>
              </a:ext>
            </a:extLst>
          </p:cNvPr>
          <p:cNvSpPr/>
          <p:nvPr/>
        </p:nvSpPr>
        <p:spPr>
          <a:xfrm>
            <a:off x="13562460" y="7410784"/>
            <a:ext cx="998817" cy="1345838"/>
          </a:xfrm>
          <a:custGeom>
            <a:avLst/>
            <a:gdLst/>
            <a:ahLst/>
            <a:cxnLst/>
            <a:rect l="l" t="t" r="r" b="b"/>
            <a:pathLst>
              <a:path w="998817" h="1345838">
                <a:moveTo>
                  <a:pt x="0" y="0"/>
                </a:moveTo>
                <a:lnTo>
                  <a:pt x="998817" y="0"/>
                </a:lnTo>
                <a:lnTo>
                  <a:pt x="998817" y="1345838"/>
                </a:lnTo>
                <a:lnTo>
                  <a:pt x="0" y="1345838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BB1E5634-744F-BB54-D447-C1541FE83FEB}"/>
              </a:ext>
            </a:extLst>
          </p:cNvPr>
          <p:cNvSpPr txBox="1"/>
          <p:nvPr/>
        </p:nvSpPr>
        <p:spPr>
          <a:xfrm>
            <a:off x="12324049" y="8449493"/>
            <a:ext cx="1286127" cy="312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5"/>
              </a:lnSpc>
            </a:pPr>
            <a:r>
              <a:rPr lang="en-US" sz="2235" b="1">
                <a:solidFill>
                  <a:srgbClr val="FF0099"/>
                </a:solidFill>
                <a:latin typeface="Big Shoulders Display Bold"/>
                <a:ea typeface="Big Shoulders Display Bold"/>
                <a:cs typeface="Big Shoulders Display Bold"/>
                <a:sym typeface="Big Shoulders Display Bold"/>
              </a:rPr>
              <a:t>HOSPITAL B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3B261ED8-937C-8711-D9B7-13B9E2B2F6FF}"/>
              </a:ext>
            </a:extLst>
          </p:cNvPr>
          <p:cNvSpPr txBox="1"/>
          <p:nvPr/>
        </p:nvSpPr>
        <p:spPr>
          <a:xfrm>
            <a:off x="1728574" y="3514528"/>
            <a:ext cx="8482226" cy="7079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1900" dirty="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=&gt; Consists of 3 main components: Admin Control, Global Model, Hospitals</a:t>
            </a:r>
          </a:p>
          <a:p>
            <a:pPr algn="l">
              <a:lnSpc>
                <a:spcPts val="2850"/>
              </a:lnSpc>
            </a:pPr>
            <a:r>
              <a:rPr lang="en-US" sz="1900" dirty="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=&gt; Ethereum (</a:t>
            </a:r>
            <a:r>
              <a:rPr lang="en-US" sz="1900" dirty="0" err="1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Sepolia</a:t>
            </a:r>
            <a:r>
              <a:rPr lang="en-US" sz="1900" dirty="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Testnet</a:t>
            </a:r>
            <a:r>
              <a:rPr lang="en-US" sz="1900" dirty="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manages hospital registration and model versioning.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EB1E089-2FC3-B696-12EC-1D23120B2A7B}"/>
              </a:ext>
            </a:extLst>
          </p:cNvPr>
          <p:cNvSpPr txBox="1"/>
          <p:nvPr/>
        </p:nvSpPr>
        <p:spPr>
          <a:xfrm>
            <a:off x="1728574" y="5606652"/>
            <a:ext cx="6670396" cy="365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19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weights are encrypted (AES-256-CBC) and stored on IPFS.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59E6972D-84CD-6456-3CA6-1BBE09F170C6}"/>
              </a:ext>
            </a:extLst>
          </p:cNvPr>
          <p:cNvSpPr txBox="1"/>
          <p:nvPr/>
        </p:nvSpPr>
        <p:spPr>
          <a:xfrm>
            <a:off x="1728574" y="7603527"/>
            <a:ext cx="6670396" cy="727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19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Blockchain records 46-character CIDs; any tampering with the model file invalidates the on-chain hash.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9C43ECDE-A785-FF6E-421D-87D800F271A7}"/>
              </a:ext>
            </a:extLst>
          </p:cNvPr>
          <p:cNvSpPr txBox="1"/>
          <p:nvPr/>
        </p:nvSpPr>
        <p:spPr>
          <a:xfrm>
            <a:off x="2604874" y="2649638"/>
            <a:ext cx="2458898" cy="451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Orchestration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6B8F69DD-ED0D-7E4A-9E08-96AE9A77381C}"/>
              </a:ext>
            </a:extLst>
          </p:cNvPr>
          <p:cNvSpPr txBox="1"/>
          <p:nvPr/>
        </p:nvSpPr>
        <p:spPr>
          <a:xfrm>
            <a:off x="2604874" y="4741763"/>
            <a:ext cx="3680999" cy="451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Storage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EF4BD65B-7037-17C9-B479-10AC53EDDFFB}"/>
              </a:ext>
            </a:extLst>
          </p:cNvPr>
          <p:cNvSpPr txBox="1"/>
          <p:nvPr/>
        </p:nvSpPr>
        <p:spPr>
          <a:xfrm>
            <a:off x="2604874" y="6738638"/>
            <a:ext cx="2638532" cy="451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Verification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A78FF348-F70A-9D16-4ABC-E72D569B4994}"/>
              </a:ext>
            </a:extLst>
          </p:cNvPr>
          <p:cNvSpPr txBox="1"/>
          <p:nvPr/>
        </p:nvSpPr>
        <p:spPr>
          <a:xfrm>
            <a:off x="7297181" y="9620250"/>
            <a:ext cx="4295507" cy="364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Course Title:</a:t>
            </a:r>
            <a:r>
              <a:rPr lang="en-US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Project and Thesis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9D39C30B-B33A-0D2C-3E40-88E1C3A60DFF}"/>
              </a:ext>
            </a:extLst>
          </p:cNvPr>
          <p:cNvSpPr txBox="1"/>
          <p:nvPr/>
        </p:nvSpPr>
        <p:spPr>
          <a:xfrm>
            <a:off x="2789406" y="1184989"/>
            <a:ext cx="13456610" cy="830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38"/>
              </a:lnSpc>
            </a:pPr>
            <a:r>
              <a:rPr lang="en-US" sz="648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BLOCKCHAIN-FL INTEGRATION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54E4EBB6-2CC1-12E0-1332-6F962418E7E5}"/>
              </a:ext>
            </a:extLst>
          </p:cNvPr>
          <p:cNvSpPr txBox="1"/>
          <p:nvPr/>
        </p:nvSpPr>
        <p:spPr>
          <a:xfrm>
            <a:off x="15582700" y="436426"/>
            <a:ext cx="1781375" cy="761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80"/>
              </a:lnSpc>
              <a:spcBef>
                <a:spcPct val="0"/>
              </a:spcBef>
            </a:pPr>
            <a:r>
              <a:rPr lang="en-US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06/10</a:t>
            </a:r>
          </a:p>
          <a:p>
            <a:pPr algn="r">
              <a:lnSpc>
                <a:spcPts val="3080"/>
              </a:lnSpc>
              <a:spcBef>
                <a:spcPct val="0"/>
              </a:spcBef>
            </a:pPr>
            <a:endParaRPr lang="en-US" sz="2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93E8AAFB-5DAA-26EB-6F91-0317C6746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2888" y="6463162"/>
            <a:ext cx="672302" cy="894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6">
            <a:extLst>
              <a:ext uri="{FF2B5EF4-FFF2-40B4-BE49-F238E27FC236}">
                <a16:creationId xmlns:a16="http://schemas.microsoft.com/office/drawing/2014/main" id="{60F96B1D-137F-89D3-2A99-4FB26F94E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83711" y="6447035"/>
            <a:ext cx="672302" cy="894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BEDD5382-8AFD-1A8B-FCC0-A3B7F58ED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3968" y="6279546"/>
            <a:ext cx="672302" cy="894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Gear Settings Sticker - Gear Settings Machine - Discover &amp; Share GIFs">
            <a:extLst>
              <a:ext uri="{FF2B5EF4-FFF2-40B4-BE49-F238E27FC236}">
                <a16:creationId xmlns:a16="http://schemas.microsoft.com/office/drawing/2014/main" id="{0B4756AE-DE08-C74E-6F89-F558020B4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3785" y="3747005"/>
            <a:ext cx="1178343" cy="1178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99287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404 0.10417 L 0.02404 0.10417 C 0.02378 0.09954 0.02318 0.09506 0.02318 0.09059 C 0.02318 0.08843 0.02404 0.08657 0.02404 0.08457 C 0.02404 0.07639 0.02344 0.06836 0.02318 0.06034 C 0.02378 0.02176 0.0243 -0.01698 0.02491 -0.05556 C 0.02578 -0.12238 0.02187 -0.09985 0.02656 -0.12485 C 0.02491 -0.12994 0.02153 -0.13411 0.02153 -0.13997 C 0.02153 -0.15154 0.02804 -0.17963 0.03082 -0.19275 C 0.03108 -0.20016 0.03064 -0.20803 0.03168 -0.21528 C 0.03594 -0.24722 0.03698 -0.21512 0.03507 -0.24244 C 0.03672 -0.25046 0.03811 -0.25864 0.0401 -0.26651 C 0.04097 -0.26975 0.04262 -0.27238 0.04349 -0.27562 C 0.04401 -0.27747 0.04375 -0.27978 0.04436 -0.28164 C 0.04496 -0.28303 0.04618 -0.28333 0.04687 -0.28457 C 0.05295 -0.29445 0.05981 -0.30309 0.06467 -0.31466 C 0.073 -0.33441 0.06233 -0.31049 0.06979 -0.32377 C 0.08654 -0.35355 0.05799 -0.3088 0.08507 -0.34938 C 0.08707 -0.35232 0.0888 -0.35586 0.09097 -0.35849 C 0.0941 -0.36188 0.09774 -0.36435 0.10035 -0.36898 C 0.10113 -0.37053 0.10174 -0.37269 0.10286 -0.37346 C 0.10859 -0.37778 0.11675 -0.38117 0.12318 -0.38395 C 0.12917 -0.38349 0.13507 -0.38349 0.14097 -0.38256 C 0.14279 -0.38225 0.1513 -0.37917 0.1546 -0.37793 " pathEditMode="relative" ptsTypes="AAAAAAAAAAAAAAAAAAAAAAAA">
                                      <p:cBhvr>
                                        <p:cTn id="6" dur="20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856 0.07577 L 0.02856 0.07577 C 0.02708 0.07222 0.0256 0.06883 0.0243 0.06513 C 0.02083 0.05571 0.01788 0.04553 0.01415 0.03658 C 0.00911 0.02438 0.00243 0.01466 -0.002 0.00185 C -0.01146 -0.02577 -0.01893 -0.0554 -0.02743 -0.0841 C -0.02995 -0.1142 -0.03368 -0.14413 -0.03499 -0.17438 C -0.03603 -0.19737 -0.03264 -0.29367 -0.03082 -0.31312 C -0.02978 -0.32376 -0.02882 -0.33673 -0.02405 -0.34321 C -0.01823 -0.35092 -0.0099 -0.34815 -0.00287 -0.35077 C -0.002 -0.35108 -0.00113 -0.35185 -0.00026 -0.35231 C 0.00112 -0.35293 0.00399 -0.3537 0.00399 -0.3537 " pathEditMode="relative" ptsTypes="AAAAAAAAAAAA">
                                      <p:cBhvr>
                                        <p:cTn id="8" dur="20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7"/>
                                            </p:cond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55 0.09799 L 0.00955 0.09799 C 0.01381 0.0841 0.02257 0.05679 0.02396 0.04676 C 0.02839 0.01358 0.02961 -0.02068 0.03238 -0.05432 C 0.03247 -0.05772 0.03438 -0.10957 0.03238 -0.12655 C 0.03134 -0.13565 0.02553 -0.1679 0.02309 -0.17624 C 0.02014 -0.18642 0.01615 -0.19522 0.01294 -0.20494 C 0.01077 -0.21127 0.00964 -0.21883 0.00695 -0.22454 C 0.00417 -0.23056 -4.30556E-6 -0.23426 -0.00321 -0.23966 C -0.00763 -0.24676 -0.01059 -0.25741 -0.01588 -0.26219 C -0.021 -0.26667 -0.02578 -0.27253 -0.03116 -0.27577 C -0.03862 -0.28009 -0.04687 -0.27932 -0.05408 -0.28472 C -0.05607 -0.28627 -0.05816 -0.28735 -0.05998 -0.28935 C -0.0664 -0.2963 -0.07187 -0.30587 -0.07864 -0.31188 C -0.08298 -0.31574 -0.0848 -0.31729 -0.08967 -0.32253 C -0.0914 -0.32438 -0.09296 -0.3267 -0.0947 -0.32855 C -0.09722 -0.33117 -0.09982 -0.33334 -0.10234 -0.33596 C -0.10607 -0.33997 -0.10946 -0.34476 -0.11336 -0.34815 C -0.11658 -0.35077 -0.12013 -0.35216 -0.12352 -0.35417 L -0.12612 -0.35556 C -0.13125 -0.36482 -0.12552 -0.35648 -0.13541 -0.36158 C -0.14774 -0.36806 -0.13941 -0.36759 -0.1447 -0.36759 " pathEditMode="relative" ptsTypes="AAAAAAAAAAAAAAAAAAAAAA">
                                      <p:cBhvr>
                                        <p:cTn id="10" dur="2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"/>
                                            </p:cond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1B902-9645-E561-E7FF-0159FE7B6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E4E544A-724A-377F-AF05-4A2C603D5029}"/>
              </a:ext>
            </a:extLst>
          </p:cNvPr>
          <p:cNvSpPr/>
          <p:nvPr/>
        </p:nvSpPr>
        <p:spPr>
          <a:xfrm rot="-5400000">
            <a:off x="4000500" y="-4000501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8E9A6105-F4E1-ED17-3B39-EEF0A80210F0}"/>
              </a:ext>
            </a:extLst>
          </p:cNvPr>
          <p:cNvGrpSpPr/>
          <p:nvPr/>
        </p:nvGrpSpPr>
        <p:grpSpPr>
          <a:xfrm>
            <a:off x="1728574" y="2588260"/>
            <a:ext cx="3865493" cy="659964"/>
            <a:chOff x="0" y="0"/>
            <a:chExt cx="1018072" cy="173818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8832A95-3448-7F77-FCAC-BE104C88F7CC}"/>
                </a:ext>
              </a:extLst>
            </p:cNvPr>
            <p:cNvSpPr/>
            <p:nvPr/>
          </p:nvSpPr>
          <p:spPr>
            <a:xfrm>
              <a:off x="0" y="0"/>
              <a:ext cx="1018072" cy="173818"/>
            </a:xfrm>
            <a:custGeom>
              <a:avLst/>
              <a:gdLst/>
              <a:ahLst/>
              <a:cxnLst/>
              <a:rect l="l" t="t" r="r" b="b"/>
              <a:pathLst>
                <a:path w="1018072" h="173818">
                  <a:moveTo>
                    <a:pt x="0" y="0"/>
                  </a:moveTo>
                  <a:lnTo>
                    <a:pt x="1018072" y="0"/>
                  </a:lnTo>
                  <a:lnTo>
                    <a:pt x="1018072" y="173818"/>
                  </a:lnTo>
                  <a:lnTo>
                    <a:pt x="0" y="173818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2FC1067-4CB9-6863-54AA-96EA77EE3C5D}"/>
                </a:ext>
              </a:extLst>
            </p:cNvPr>
            <p:cNvSpPr txBox="1"/>
            <p:nvPr/>
          </p:nvSpPr>
          <p:spPr>
            <a:xfrm>
              <a:off x="0" y="-57150"/>
              <a:ext cx="1018072" cy="230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7E67DE15-453B-6F46-26EB-A09848935304}"/>
              </a:ext>
            </a:extLst>
          </p:cNvPr>
          <p:cNvGrpSpPr/>
          <p:nvPr/>
        </p:nvGrpSpPr>
        <p:grpSpPr>
          <a:xfrm>
            <a:off x="1728574" y="4680385"/>
            <a:ext cx="5086147" cy="659964"/>
            <a:chOff x="0" y="0"/>
            <a:chExt cx="1339561" cy="17381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D14435A-6D95-7A04-17E9-F2F877B04288}"/>
                </a:ext>
              </a:extLst>
            </p:cNvPr>
            <p:cNvSpPr/>
            <p:nvPr/>
          </p:nvSpPr>
          <p:spPr>
            <a:xfrm>
              <a:off x="0" y="0"/>
              <a:ext cx="1339561" cy="173818"/>
            </a:xfrm>
            <a:custGeom>
              <a:avLst/>
              <a:gdLst/>
              <a:ahLst/>
              <a:cxnLst/>
              <a:rect l="l" t="t" r="r" b="b"/>
              <a:pathLst>
                <a:path w="1339561" h="173818">
                  <a:moveTo>
                    <a:pt x="0" y="0"/>
                  </a:moveTo>
                  <a:lnTo>
                    <a:pt x="1339561" y="0"/>
                  </a:lnTo>
                  <a:lnTo>
                    <a:pt x="1339561" y="173818"/>
                  </a:lnTo>
                  <a:lnTo>
                    <a:pt x="0" y="173818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185698BA-63F3-E7E4-F52C-41E40DBFE5D0}"/>
                </a:ext>
              </a:extLst>
            </p:cNvPr>
            <p:cNvSpPr txBox="1"/>
            <p:nvPr/>
          </p:nvSpPr>
          <p:spPr>
            <a:xfrm>
              <a:off x="0" y="-57150"/>
              <a:ext cx="1339561" cy="230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35E2FF4B-B8FC-7F18-B708-0389121043E7}"/>
              </a:ext>
            </a:extLst>
          </p:cNvPr>
          <p:cNvGrpSpPr/>
          <p:nvPr/>
        </p:nvGrpSpPr>
        <p:grpSpPr>
          <a:xfrm>
            <a:off x="1728574" y="6677259"/>
            <a:ext cx="4052607" cy="659964"/>
            <a:chOff x="0" y="0"/>
            <a:chExt cx="1067353" cy="173818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D7222D3D-D627-7106-CE8E-D22E99D5FC1A}"/>
                </a:ext>
              </a:extLst>
            </p:cNvPr>
            <p:cNvSpPr/>
            <p:nvPr/>
          </p:nvSpPr>
          <p:spPr>
            <a:xfrm>
              <a:off x="0" y="0"/>
              <a:ext cx="1067353" cy="173818"/>
            </a:xfrm>
            <a:custGeom>
              <a:avLst/>
              <a:gdLst/>
              <a:ahLst/>
              <a:cxnLst/>
              <a:rect l="l" t="t" r="r" b="b"/>
              <a:pathLst>
                <a:path w="1067353" h="173818">
                  <a:moveTo>
                    <a:pt x="0" y="0"/>
                  </a:moveTo>
                  <a:lnTo>
                    <a:pt x="1067353" y="0"/>
                  </a:lnTo>
                  <a:lnTo>
                    <a:pt x="1067353" y="173818"/>
                  </a:lnTo>
                  <a:lnTo>
                    <a:pt x="0" y="173818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93678EE0-CADB-8957-EF16-3B30E13B1380}"/>
                </a:ext>
              </a:extLst>
            </p:cNvPr>
            <p:cNvSpPr txBox="1"/>
            <p:nvPr/>
          </p:nvSpPr>
          <p:spPr>
            <a:xfrm>
              <a:off x="0" y="-57150"/>
              <a:ext cx="1067353" cy="230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EBCE176C-A60F-617C-3799-D6BEE6581E2D}"/>
              </a:ext>
            </a:extLst>
          </p:cNvPr>
          <p:cNvGrpSpPr/>
          <p:nvPr/>
        </p:nvGrpSpPr>
        <p:grpSpPr>
          <a:xfrm>
            <a:off x="1867629" y="2735374"/>
            <a:ext cx="365736" cy="365736"/>
            <a:chOff x="0" y="0"/>
            <a:chExt cx="96325" cy="96325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7A448E8B-FD01-8013-6DFB-A132448DB439}"/>
                </a:ext>
              </a:extLst>
            </p:cNvPr>
            <p:cNvSpPr/>
            <p:nvPr/>
          </p:nvSpPr>
          <p:spPr>
            <a:xfrm>
              <a:off x="0" y="0"/>
              <a:ext cx="96325" cy="96325"/>
            </a:xfrm>
            <a:custGeom>
              <a:avLst/>
              <a:gdLst/>
              <a:ahLst/>
              <a:cxnLst/>
              <a:rect l="l" t="t" r="r" b="b"/>
              <a:pathLst>
                <a:path w="96325" h="96325">
                  <a:moveTo>
                    <a:pt x="0" y="0"/>
                  </a:moveTo>
                  <a:lnTo>
                    <a:pt x="96325" y="0"/>
                  </a:lnTo>
                  <a:lnTo>
                    <a:pt x="96325" y="96325"/>
                  </a:lnTo>
                  <a:lnTo>
                    <a:pt x="0" y="9632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CB052F35-7FAB-EEF6-7A97-F2319701C785}"/>
                </a:ext>
              </a:extLst>
            </p:cNvPr>
            <p:cNvSpPr txBox="1"/>
            <p:nvPr/>
          </p:nvSpPr>
          <p:spPr>
            <a:xfrm>
              <a:off x="0" y="-57150"/>
              <a:ext cx="96325" cy="153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7DB99D12-942B-BC80-D0C5-FE0659DCC8BD}"/>
              </a:ext>
            </a:extLst>
          </p:cNvPr>
          <p:cNvGrpSpPr/>
          <p:nvPr/>
        </p:nvGrpSpPr>
        <p:grpSpPr>
          <a:xfrm>
            <a:off x="1867629" y="6824374"/>
            <a:ext cx="365736" cy="365736"/>
            <a:chOff x="0" y="0"/>
            <a:chExt cx="96325" cy="96325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0C5E3143-3B7D-E75B-586F-2ACE6FE93057}"/>
                </a:ext>
              </a:extLst>
            </p:cNvPr>
            <p:cNvSpPr/>
            <p:nvPr/>
          </p:nvSpPr>
          <p:spPr>
            <a:xfrm>
              <a:off x="0" y="0"/>
              <a:ext cx="96325" cy="96325"/>
            </a:xfrm>
            <a:custGeom>
              <a:avLst/>
              <a:gdLst/>
              <a:ahLst/>
              <a:cxnLst/>
              <a:rect l="l" t="t" r="r" b="b"/>
              <a:pathLst>
                <a:path w="96325" h="96325">
                  <a:moveTo>
                    <a:pt x="0" y="0"/>
                  </a:moveTo>
                  <a:lnTo>
                    <a:pt x="96325" y="0"/>
                  </a:lnTo>
                  <a:lnTo>
                    <a:pt x="96325" y="96325"/>
                  </a:lnTo>
                  <a:lnTo>
                    <a:pt x="0" y="9632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29C12CE5-F6FF-FE82-3813-D5BE95911445}"/>
                </a:ext>
              </a:extLst>
            </p:cNvPr>
            <p:cNvSpPr txBox="1"/>
            <p:nvPr/>
          </p:nvSpPr>
          <p:spPr>
            <a:xfrm>
              <a:off x="0" y="-57150"/>
              <a:ext cx="96325" cy="153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sp>
        <p:nvSpPr>
          <p:cNvPr id="18" name="Freeform 18">
            <a:extLst>
              <a:ext uri="{FF2B5EF4-FFF2-40B4-BE49-F238E27FC236}">
                <a16:creationId xmlns:a16="http://schemas.microsoft.com/office/drawing/2014/main" id="{9126F222-8915-2A96-53FB-18EB498FACD3}"/>
              </a:ext>
            </a:extLst>
          </p:cNvPr>
          <p:cNvSpPr/>
          <p:nvPr/>
        </p:nvSpPr>
        <p:spPr>
          <a:xfrm>
            <a:off x="1928392" y="2795679"/>
            <a:ext cx="244208" cy="245127"/>
          </a:xfrm>
          <a:custGeom>
            <a:avLst/>
            <a:gdLst/>
            <a:ahLst/>
            <a:cxnLst/>
            <a:rect l="l" t="t" r="r" b="b"/>
            <a:pathLst>
              <a:path w="244208" h="245127">
                <a:moveTo>
                  <a:pt x="0" y="0"/>
                </a:moveTo>
                <a:lnTo>
                  <a:pt x="244209" y="0"/>
                </a:lnTo>
                <a:lnTo>
                  <a:pt x="244209" y="245127"/>
                </a:lnTo>
                <a:lnTo>
                  <a:pt x="0" y="2451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D00D516-B7F4-1339-7F7F-A9C65EDCFCE5}"/>
              </a:ext>
            </a:extLst>
          </p:cNvPr>
          <p:cNvGrpSpPr/>
          <p:nvPr/>
        </p:nvGrpSpPr>
        <p:grpSpPr>
          <a:xfrm>
            <a:off x="1867629" y="4827499"/>
            <a:ext cx="365736" cy="365736"/>
            <a:chOff x="0" y="0"/>
            <a:chExt cx="96325" cy="96325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28745319-DD1C-862F-1A08-2EAD2E8801FC}"/>
                </a:ext>
              </a:extLst>
            </p:cNvPr>
            <p:cNvSpPr/>
            <p:nvPr/>
          </p:nvSpPr>
          <p:spPr>
            <a:xfrm>
              <a:off x="0" y="0"/>
              <a:ext cx="96325" cy="96325"/>
            </a:xfrm>
            <a:custGeom>
              <a:avLst/>
              <a:gdLst/>
              <a:ahLst/>
              <a:cxnLst/>
              <a:rect l="l" t="t" r="r" b="b"/>
              <a:pathLst>
                <a:path w="96325" h="96325">
                  <a:moveTo>
                    <a:pt x="0" y="0"/>
                  </a:moveTo>
                  <a:lnTo>
                    <a:pt x="96325" y="0"/>
                  </a:lnTo>
                  <a:lnTo>
                    <a:pt x="96325" y="96325"/>
                  </a:lnTo>
                  <a:lnTo>
                    <a:pt x="0" y="9632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D37C74E0-CDF0-BD53-025C-0CF8E748855E}"/>
                </a:ext>
              </a:extLst>
            </p:cNvPr>
            <p:cNvSpPr txBox="1"/>
            <p:nvPr/>
          </p:nvSpPr>
          <p:spPr>
            <a:xfrm>
              <a:off x="0" y="-57150"/>
              <a:ext cx="96325" cy="153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sp>
        <p:nvSpPr>
          <p:cNvPr id="22" name="Freeform 22">
            <a:extLst>
              <a:ext uri="{FF2B5EF4-FFF2-40B4-BE49-F238E27FC236}">
                <a16:creationId xmlns:a16="http://schemas.microsoft.com/office/drawing/2014/main" id="{8353DEB4-FE68-8E7F-76ED-8346530CBB9F}"/>
              </a:ext>
            </a:extLst>
          </p:cNvPr>
          <p:cNvSpPr/>
          <p:nvPr/>
        </p:nvSpPr>
        <p:spPr>
          <a:xfrm>
            <a:off x="1948462" y="4887803"/>
            <a:ext cx="204069" cy="245127"/>
          </a:xfrm>
          <a:custGeom>
            <a:avLst/>
            <a:gdLst/>
            <a:ahLst/>
            <a:cxnLst/>
            <a:rect l="l" t="t" r="r" b="b"/>
            <a:pathLst>
              <a:path w="204069" h="245127">
                <a:moveTo>
                  <a:pt x="0" y="0"/>
                </a:moveTo>
                <a:lnTo>
                  <a:pt x="204069" y="0"/>
                </a:lnTo>
                <a:lnTo>
                  <a:pt x="204069" y="245128"/>
                </a:lnTo>
                <a:lnTo>
                  <a:pt x="0" y="2451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58907955-5192-C4DD-04AB-C40A28FC046C}"/>
              </a:ext>
            </a:extLst>
          </p:cNvPr>
          <p:cNvSpPr/>
          <p:nvPr/>
        </p:nvSpPr>
        <p:spPr>
          <a:xfrm>
            <a:off x="1912784" y="6884678"/>
            <a:ext cx="275424" cy="245127"/>
          </a:xfrm>
          <a:custGeom>
            <a:avLst/>
            <a:gdLst/>
            <a:ahLst/>
            <a:cxnLst/>
            <a:rect l="l" t="t" r="r" b="b"/>
            <a:pathLst>
              <a:path w="275424" h="245127">
                <a:moveTo>
                  <a:pt x="0" y="0"/>
                </a:moveTo>
                <a:lnTo>
                  <a:pt x="275424" y="0"/>
                </a:lnTo>
                <a:lnTo>
                  <a:pt x="275424" y="245127"/>
                </a:lnTo>
                <a:lnTo>
                  <a:pt x="0" y="2451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84571230-A409-FA1A-C4E1-EB549AA4A1EF}"/>
              </a:ext>
            </a:extLst>
          </p:cNvPr>
          <p:cNvSpPr/>
          <p:nvPr/>
        </p:nvSpPr>
        <p:spPr>
          <a:xfrm>
            <a:off x="1632870" y="1032234"/>
            <a:ext cx="905853" cy="1151752"/>
          </a:xfrm>
          <a:custGeom>
            <a:avLst/>
            <a:gdLst/>
            <a:ahLst/>
            <a:cxnLst/>
            <a:rect l="l" t="t" r="r" b="b"/>
            <a:pathLst>
              <a:path w="905853" h="1151752">
                <a:moveTo>
                  <a:pt x="0" y="0"/>
                </a:moveTo>
                <a:lnTo>
                  <a:pt x="905853" y="0"/>
                </a:lnTo>
                <a:lnTo>
                  <a:pt x="905853" y="1151752"/>
                </a:lnTo>
                <a:lnTo>
                  <a:pt x="0" y="115175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grpSp>
        <p:nvGrpSpPr>
          <p:cNvPr id="25" name="Group 25">
            <a:extLst>
              <a:ext uri="{FF2B5EF4-FFF2-40B4-BE49-F238E27FC236}">
                <a16:creationId xmlns:a16="http://schemas.microsoft.com/office/drawing/2014/main" id="{D8BA0BC9-3553-79C3-E009-55DCA817FC01}"/>
              </a:ext>
            </a:extLst>
          </p:cNvPr>
          <p:cNvGrpSpPr/>
          <p:nvPr/>
        </p:nvGrpSpPr>
        <p:grpSpPr>
          <a:xfrm>
            <a:off x="12815520" y="2282542"/>
            <a:ext cx="2476558" cy="2471847"/>
            <a:chOff x="0" y="0"/>
            <a:chExt cx="3302077" cy="3295796"/>
          </a:xfrm>
        </p:grpSpPr>
        <p:grpSp>
          <p:nvGrpSpPr>
            <p:cNvPr id="26" name="Group 26">
              <a:extLst>
                <a:ext uri="{FF2B5EF4-FFF2-40B4-BE49-F238E27FC236}">
                  <a16:creationId xmlns:a16="http://schemas.microsoft.com/office/drawing/2014/main" id="{5F8E045D-5D23-4157-90C9-4FD8986B2D64}"/>
                </a:ext>
              </a:extLst>
            </p:cNvPr>
            <p:cNvGrpSpPr/>
            <p:nvPr/>
          </p:nvGrpSpPr>
          <p:grpSpPr>
            <a:xfrm>
              <a:off x="0" y="0"/>
              <a:ext cx="3302077" cy="3295796"/>
              <a:chOff x="0" y="0"/>
              <a:chExt cx="812800" cy="811254"/>
            </a:xfrm>
          </p:grpSpPr>
          <p:sp>
            <p:nvSpPr>
              <p:cNvPr id="27" name="Freeform 27">
                <a:extLst>
                  <a:ext uri="{FF2B5EF4-FFF2-40B4-BE49-F238E27FC236}">
                    <a16:creationId xmlns:a16="http://schemas.microsoft.com/office/drawing/2014/main" id="{4E9C2C9B-C395-5597-AA80-4B4766436FE8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125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1254">
                    <a:moveTo>
                      <a:pt x="406400" y="0"/>
                    </a:moveTo>
                    <a:cubicBezTo>
                      <a:pt x="181951" y="0"/>
                      <a:pt x="0" y="181605"/>
                      <a:pt x="0" y="405627"/>
                    </a:cubicBezTo>
                    <a:cubicBezTo>
                      <a:pt x="0" y="629649"/>
                      <a:pt x="181951" y="811254"/>
                      <a:pt x="406400" y="811254"/>
                    </a:cubicBezTo>
                    <a:cubicBezTo>
                      <a:pt x="630849" y="811254"/>
                      <a:pt x="812800" y="629649"/>
                      <a:pt x="812800" y="405627"/>
                    </a:cubicBezTo>
                    <a:cubicBezTo>
                      <a:pt x="812800" y="181605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id="28" name="TextBox 28">
                <a:extLst>
                  <a:ext uri="{FF2B5EF4-FFF2-40B4-BE49-F238E27FC236}">
                    <a16:creationId xmlns:a16="http://schemas.microsoft.com/office/drawing/2014/main" id="{14404B69-A2AB-403E-0BD4-B8C217875D73}"/>
                  </a:ext>
                </a:extLst>
              </p:cNvPr>
              <p:cNvSpPr txBox="1"/>
              <p:nvPr/>
            </p:nvSpPr>
            <p:spPr>
              <a:xfrm>
                <a:off x="76200" y="18905"/>
                <a:ext cx="660400" cy="71629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5A555B36-1BE8-939D-C12C-CB7E1ED1F4C2}"/>
                </a:ext>
              </a:extLst>
            </p:cNvPr>
            <p:cNvSpPr/>
            <p:nvPr/>
          </p:nvSpPr>
          <p:spPr>
            <a:xfrm>
              <a:off x="939122" y="658480"/>
              <a:ext cx="1423833" cy="1482515"/>
            </a:xfrm>
            <a:custGeom>
              <a:avLst/>
              <a:gdLst/>
              <a:ahLst/>
              <a:cxnLst/>
              <a:rect l="l" t="t" r="r" b="b"/>
              <a:pathLst>
                <a:path w="1423833" h="1482515">
                  <a:moveTo>
                    <a:pt x="0" y="0"/>
                  </a:moveTo>
                  <a:lnTo>
                    <a:pt x="1423833" y="0"/>
                  </a:lnTo>
                  <a:lnTo>
                    <a:pt x="1423833" y="1482515"/>
                  </a:lnTo>
                  <a:lnTo>
                    <a:pt x="0" y="14825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15FD182A-0BFE-ECA2-9EA0-913FA0412DDA}"/>
                </a:ext>
              </a:extLst>
            </p:cNvPr>
            <p:cNvSpPr txBox="1"/>
            <p:nvPr/>
          </p:nvSpPr>
          <p:spPr>
            <a:xfrm>
              <a:off x="709670" y="2198682"/>
              <a:ext cx="1882737" cy="360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87"/>
                </a:lnSpc>
              </a:pPr>
              <a:r>
                <a:rPr lang="en-US" sz="1524" b="1">
                  <a:solidFill>
                    <a:srgbClr val="30303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Admin Control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0F6FF59-5915-32D1-82AE-F3C3AB31934D}"/>
              </a:ext>
            </a:extLst>
          </p:cNvPr>
          <p:cNvGrpSpPr/>
          <p:nvPr/>
        </p:nvGrpSpPr>
        <p:grpSpPr>
          <a:xfrm>
            <a:off x="13097596" y="4242235"/>
            <a:ext cx="1912407" cy="1907187"/>
            <a:chOff x="0" y="0"/>
            <a:chExt cx="2549876" cy="2542916"/>
          </a:xfrm>
        </p:grpSpPr>
        <p:grpSp>
          <p:nvGrpSpPr>
            <p:cNvPr id="32" name="Group 32">
              <a:extLst>
                <a:ext uri="{FF2B5EF4-FFF2-40B4-BE49-F238E27FC236}">
                  <a16:creationId xmlns:a16="http://schemas.microsoft.com/office/drawing/2014/main" id="{1CAA74EB-89D0-A180-60B2-4D683BB56ED6}"/>
                </a:ext>
              </a:extLst>
            </p:cNvPr>
            <p:cNvGrpSpPr/>
            <p:nvPr/>
          </p:nvGrpSpPr>
          <p:grpSpPr>
            <a:xfrm>
              <a:off x="0" y="0"/>
              <a:ext cx="2549876" cy="2542916"/>
              <a:chOff x="0" y="0"/>
              <a:chExt cx="812800" cy="810582"/>
            </a:xfrm>
          </p:grpSpPr>
          <p:sp>
            <p:nvSpPr>
              <p:cNvPr id="33" name="Freeform 33">
                <a:extLst>
                  <a:ext uri="{FF2B5EF4-FFF2-40B4-BE49-F238E27FC236}">
                    <a16:creationId xmlns:a16="http://schemas.microsoft.com/office/drawing/2014/main" id="{77FC7DDF-08F7-D15C-F917-ECA4FFC7F314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0582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0582">
                    <a:moveTo>
                      <a:pt x="406400" y="0"/>
                    </a:moveTo>
                    <a:cubicBezTo>
                      <a:pt x="181951" y="0"/>
                      <a:pt x="0" y="181455"/>
                      <a:pt x="0" y="405291"/>
                    </a:cubicBezTo>
                    <a:cubicBezTo>
                      <a:pt x="0" y="629127"/>
                      <a:pt x="181951" y="810582"/>
                      <a:pt x="406400" y="810582"/>
                    </a:cubicBezTo>
                    <a:cubicBezTo>
                      <a:pt x="630849" y="810582"/>
                      <a:pt x="812800" y="629127"/>
                      <a:pt x="812800" y="405291"/>
                    </a:cubicBezTo>
                    <a:cubicBezTo>
                      <a:pt x="812800" y="181455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472C4"/>
              </a:solidFill>
            </p:spPr>
          </p:sp>
          <p:sp>
            <p:nvSpPr>
              <p:cNvPr id="34" name="TextBox 34">
                <a:extLst>
                  <a:ext uri="{FF2B5EF4-FFF2-40B4-BE49-F238E27FC236}">
                    <a16:creationId xmlns:a16="http://schemas.microsoft.com/office/drawing/2014/main" id="{6DD22E5F-5DEC-DF8D-A4AE-7A5CF3FD5D99}"/>
                  </a:ext>
                </a:extLst>
              </p:cNvPr>
              <p:cNvSpPr txBox="1"/>
              <p:nvPr/>
            </p:nvSpPr>
            <p:spPr>
              <a:xfrm>
                <a:off x="76200" y="18842"/>
                <a:ext cx="660400" cy="71574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80"/>
                  </a:lnSpc>
                </a:pPr>
                <a:endParaRPr/>
              </a:p>
            </p:txBody>
          </p:sp>
        </p:grpSp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371E0B07-0B05-03FB-800A-33945E496C76}"/>
                </a:ext>
              </a:extLst>
            </p:cNvPr>
            <p:cNvSpPr/>
            <p:nvPr/>
          </p:nvSpPr>
          <p:spPr>
            <a:xfrm>
              <a:off x="678360" y="475253"/>
              <a:ext cx="1193156" cy="1238035"/>
            </a:xfrm>
            <a:custGeom>
              <a:avLst/>
              <a:gdLst/>
              <a:ahLst/>
              <a:cxnLst/>
              <a:rect l="l" t="t" r="r" b="b"/>
              <a:pathLst>
                <a:path w="1193156" h="1238035">
                  <a:moveTo>
                    <a:pt x="0" y="0"/>
                  </a:moveTo>
                  <a:lnTo>
                    <a:pt x="1193156" y="0"/>
                  </a:lnTo>
                  <a:lnTo>
                    <a:pt x="1193156" y="1238035"/>
                  </a:lnTo>
                  <a:lnTo>
                    <a:pt x="0" y="12380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6" name="TextBox 36">
              <a:extLst>
                <a:ext uri="{FF2B5EF4-FFF2-40B4-BE49-F238E27FC236}">
                  <a16:creationId xmlns:a16="http://schemas.microsoft.com/office/drawing/2014/main" id="{09892FE7-74EC-39EF-DCEE-758BB8D43075}"/>
                </a:ext>
              </a:extLst>
            </p:cNvPr>
            <p:cNvSpPr txBox="1"/>
            <p:nvPr/>
          </p:nvSpPr>
          <p:spPr>
            <a:xfrm>
              <a:off x="548010" y="1752233"/>
              <a:ext cx="1453856" cy="2799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66"/>
                </a:lnSpc>
              </a:pPr>
              <a:r>
                <a:rPr lang="en-US" sz="1177" b="1">
                  <a:solidFill>
                    <a:srgbClr val="EFEFE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Global Model</a:t>
              </a:r>
            </a:p>
          </p:txBody>
        </p:sp>
      </p:grpSp>
      <p:grpSp>
        <p:nvGrpSpPr>
          <p:cNvPr id="37" name="Group 37">
            <a:extLst>
              <a:ext uri="{FF2B5EF4-FFF2-40B4-BE49-F238E27FC236}">
                <a16:creationId xmlns:a16="http://schemas.microsoft.com/office/drawing/2014/main" id="{0D58BAC3-AF19-AD58-FDAA-DDAD8AFE74B9}"/>
              </a:ext>
            </a:extLst>
          </p:cNvPr>
          <p:cNvGrpSpPr/>
          <p:nvPr/>
        </p:nvGrpSpPr>
        <p:grpSpPr>
          <a:xfrm>
            <a:off x="9307141" y="7337223"/>
            <a:ext cx="2285548" cy="1508462"/>
            <a:chOff x="0" y="0"/>
            <a:chExt cx="635000" cy="419100"/>
          </a:xfrm>
        </p:grpSpPr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89C19239-8F23-BB66-DC5A-6259C5BEF589}"/>
                </a:ext>
              </a:extLst>
            </p:cNvPr>
            <p:cNvSpPr/>
            <p:nvPr/>
          </p:nvSpPr>
          <p:spPr>
            <a:xfrm>
              <a:off x="0" y="0"/>
              <a:ext cx="635000" cy="419100"/>
            </a:xfrm>
            <a:custGeom>
              <a:avLst/>
              <a:gdLst/>
              <a:ahLst/>
              <a:cxnLst/>
              <a:rect l="l" t="t" r="r" b="b"/>
              <a:pathLst>
                <a:path w="635000" h="419100">
                  <a:moveTo>
                    <a:pt x="66159" y="0"/>
                  </a:moveTo>
                  <a:lnTo>
                    <a:pt x="568841" y="0"/>
                  </a:lnTo>
                  <a:cubicBezTo>
                    <a:pt x="586388" y="0"/>
                    <a:pt x="603215" y="6970"/>
                    <a:pt x="615623" y="19377"/>
                  </a:cubicBezTo>
                  <a:cubicBezTo>
                    <a:pt x="628030" y="31785"/>
                    <a:pt x="635000" y="48612"/>
                    <a:pt x="635000" y="66159"/>
                  </a:cubicBezTo>
                  <a:lnTo>
                    <a:pt x="635000" y="352941"/>
                  </a:lnTo>
                  <a:cubicBezTo>
                    <a:pt x="635000" y="370488"/>
                    <a:pt x="628030" y="387315"/>
                    <a:pt x="615623" y="399723"/>
                  </a:cubicBezTo>
                  <a:cubicBezTo>
                    <a:pt x="603215" y="412130"/>
                    <a:pt x="586388" y="419100"/>
                    <a:pt x="568841" y="419100"/>
                  </a:cubicBezTo>
                  <a:lnTo>
                    <a:pt x="66159" y="419100"/>
                  </a:lnTo>
                  <a:cubicBezTo>
                    <a:pt x="48612" y="419100"/>
                    <a:pt x="31785" y="412130"/>
                    <a:pt x="19377" y="399723"/>
                  </a:cubicBezTo>
                  <a:cubicBezTo>
                    <a:pt x="6970" y="387315"/>
                    <a:pt x="0" y="370488"/>
                    <a:pt x="0" y="352941"/>
                  </a:cubicBezTo>
                  <a:lnTo>
                    <a:pt x="0" y="66159"/>
                  </a:lnTo>
                  <a:cubicBezTo>
                    <a:pt x="0" y="48612"/>
                    <a:pt x="6970" y="31785"/>
                    <a:pt x="19377" y="19377"/>
                  </a:cubicBezTo>
                  <a:cubicBezTo>
                    <a:pt x="31785" y="6970"/>
                    <a:pt x="48612" y="0"/>
                    <a:pt x="66159" y="0"/>
                  </a:cubicBez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id="39" name="TextBox 39">
              <a:extLst>
                <a:ext uri="{FF2B5EF4-FFF2-40B4-BE49-F238E27FC236}">
                  <a16:creationId xmlns:a16="http://schemas.microsoft.com/office/drawing/2014/main" id="{A55EFEC9-F381-6B66-5D0E-ABB03F535045}"/>
                </a:ext>
              </a:extLst>
            </p:cNvPr>
            <p:cNvSpPr txBox="1"/>
            <p:nvPr/>
          </p:nvSpPr>
          <p:spPr>
            <a:xfrm>
              <a:off x="0" y="-57150"/>
              <a:ext cx="635000" cy="476250"/>
            </a:xfrm>
            <a:prstGeom prst="rect">
              <a:avLst/>
            </a:prstGeom>
          </p:spPr>
          <p:txBody>
            <a:bodyPr lIns="37622" tIns="37622" rIns="37622" bIns="37622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sp>
        <p:nvSpPr>
          <p:cNvPr id="40" name="Freeform 40">
            <a:extLst>
              <a:ext uri="{FF2B5EF4-FFF2-40B4-BE49-F238E27FC236}">
                <a16:creationId xmlns:a16="http://schemas.microsoft.com/office/drawing/2014/main" id="{807FE857-46BB-E247-8C8C-DB63CF2CA205}"/>
              </a:ext>
            </a:extLst>
          </p:cNvPr>
          <p:cNvSpPr/>
          <p:nvPr/>
        </p:nvSpPr>
        <p:spPr>
          <a:xfrm>
            <a:off x="9667228" y="7685949"/>
            <a:ext cx="666596" cy="664930"/>
          </a:xfrm>
          <a:custGeom>
            <a:avLst/>
            <a:gdLst/>
            <a:ahLst/>
            <a:cxnLst/>
            <a:rect l="l" t="t" r="r" b="b"/>
            <a:pathLst>
              <a:path w="666596" h="664930">
                <a:moveTo>
                  <a:pt x="0" y="0"/>
                </a:moveTo>
                <a:lnTo>
                  <a:pt x="666596" y="0"/>
                </a:lnTo>
                <a:lnTo>
                  <a:pt x="666596" y="664929"/>
                </a:lnTo>
                <a:lnTo>
                  <a:pt x="0" y="66492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41" name="Freeform 41">
            <a:extLst>
              <a:ext uri="{FF2B5EF4-FFF2-40B4-BE49-F238E27FC236}">
                <a16:creationId xmlns:a16="http://schemas.microsoft.com/office/drawing/2014/main" id="{02C96FD9-BB46-8A73-D52A-ECAB041DF0CF}"/>
              </a:ext>
            </a:extLst>
          </p:cNvPr>
          <p:cNvSpPr/>
          <p:nvPr/>
        </p:nvSpPr>
        <p:spPr>
          <a:xfrm>
            <a:off x="10545139" y="7393793"/>
            <a:ext cx="988656" cy="1332147"/>
          </a:xfrm>
          <a:custGeom>
            <a:avLst/>
            <a:gdLst/>
            <a:ahLst/>
            <a:cxnLst/>
            <a:rect l="l" t="t" r="r" b="b"/>
            <a:pathLst>
              <a:path w="988656" h="1332147">
                <a:moveTo>
                  <a:pt x="0" y="0"/>
                </a:moveTo>
                <a:lnTo>
                  <a:pt x="988656" y="0"/>
                </a:lnTo>
                <a:lnTo>
                  <a:pt x="988656" y="1332147"/>
                </a:lnTo>
                <a:lnTo>
                  <a:pt x="0" y="133214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A46B7E96-5E3C-D5AC-A53B-C0344AB59AE3}"/>
              </a:ext>
            </a:extLst>
          </p:cNvPr>
          <p:cNvSpPr txBox="1"/>
          <p:nvPr/>
        </p:nvSpPr>
        <p:spPr>
          <a:xfrm>
            <a:off x="9307141" y="8453814"/>
            <a:ext cx="1273044" cy="308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12"/>
              </a:lnSpc>
            </a:pPr>
            <a:r>
              <a:rPr lang="en-US" sz="2212" b="1">
                <a:solidFill>
                  <a:srgbClr val="FF0099"/>
                </a:solidFill>
                <a:latin typeface="Big Shoulders Display Bold"/>
                <a:ea typeface="Big Shoulders Display Bold"/>
                <a:cs typeface="Big Shoulders Display Bold"/>
                <a:sym typeface="Big Shoulders Display Bold"/>
              </a:rPr>
              <a:t>HOSPITAL A</a:t>
            </a:r>
          </a:p>
        </p:txBody>
      </p:sp>
      <p:grpSp>
        <p:nvGrpSpPr>
          <p:cNvPr id="43" name="Group 43">
            <a:extLst>
              <a:ext uri="{FF2B5EF4-FFF2-40B4-BE49-F238E27FC236}">
                <a16:creationId xmlns:a16="http://schemas.microsoft.com/office/drawing/2014/main" id="{1C2574E4-579B-0FB5-DF6B-AE4744BF47CB}"/>
              </a:ext>
            </a:extLst>
          </p:cNvPr>
          <p:cNvGrpSpPr/>
          <p:nvPr/>
        </p:nvGrpSpPr>
        <p:grpSpPr>
          <a:xfrm>
            <a:off x="15364446" y="7273579"/>
            <a:ext cx="2217883" cy="1463803"/>
            <a:chOff x="0" y="0"/>
            <a:chExt cx="635000" cy="419100"/>
          </a:xfrm>
        </p:grpSpPr>
        <p:sp>
          <p:nvSpPr>
            <p:cNvPr id="44" name="Freeform 44">
              <a:extLst>
                <a:ext uri="{FF2B5EF4-FFF2-40B4-BE49-F238E27FC236}">
                  <a16:creationId xmlns:a16="http://schemas.microsoft.com/office/drawing/2014/main" id="{845500A7-C328-B4C0-C519-1B6A9B8CA256}"/>
                </a:ext>
              </a:extLst>
            </p:cNvPr>
            <p:cNvSpPr/>
            <p:nvPr/>
          </p:nvSpPr>
          <p:spPr>
            <a:xfrm>
              <a:off x="0" y="0"/>
              <a:ext cx="635000" cy="419100"/>
            </a:xfrm>
            <a:custGeom>
              <a:avLst/>
              <a:gdLst/>
              <a:ahLst/>
              <a:cxnLst/>
              <a:rect l="l" t="t" r="r" b="b"/>
              <a:pathLst>
                <a:path w="635000" h="419100">
                  <a:moveTo>
                    <a:pt x="68177" y="0"/>
                  </a:moveTo>
                  <a:lnTo>
                    <a:pt x="566823" y="0"/>
                  </a:lnTo>
                  <a:cubicBezTo>
                    <a:pt x="604476" y="0"/>
                    <a:pt x="635000" y="30524"/>
                    <a:pt x="635000" y="68177"/>
                  </a:cubicBezTo>
                  <a:lnTo>
                    <a:pt x="635000" y="350923"/>
                  </a:lnTo>
                  <a:cubicBezTo>
                    <a:pt x="635000" y="388576"/>
                    <a:pt x="604476" y="419100"/>
                    <a:pt x="566823" y="419100"/>
                  </a:cubicBezTo>
                  <a:lnTo>
                    <a:pt x="68177" y="419100"/>
                  </a:lnTo>
                  <a:cubicBezTo>
                    <a:pt x="30524" y="419100"/>
                    <a:pt x="0" y="388576"/>
                    <a:pt x="0" y="350923"/>
                  </a:cubicBezTo>
                  <a:lnTo>
                    <a:pt x="0" y="68177"/>
                  </a:lnTo>
                  <a:cubicBezTo>
                    <a:pt x="0" y="30524"/>
                    <a:pt x="30524" y="0"/>
                    <a:pt x="68177" y="0"/>
                  </a:cubicBezTo>
                  <a:close/>
                </a:path>
              </a:pathLst>
            </a:custGeom>
            <a:solidFill>
              <a:srgbClr val="8C52FF"/>
            </a:solidFill>
          </p:spPr>
        </p:sp>
        <p:sp>
          <p:nvSpPr>
            <p:cNvPr id="45" name="TextBox 45">
              <a:extLst>
                <a:ext uri="{FF2B5EF4-FFF2-40B4-BE49-F238E27FC236}">
                  <a16:creationId xmlns:a16="http://schemas.microsoft.com/office/drawing/2014/main" id="{2450D13A-CACF-DF39-3859-3AB665BBFAFD}"/>
                </a:ext>
              </a:extLst>
            </p:cNvPr>
            <p:cNvSpPr txBox="1"/>
            <p:nvPr/>
          </p:nvSpPr>
          <p:spPr>
            <a:xfrm>
              <a:off x="0" y="-57150"/>
              <a:ext cx="635000" cy="476250"/>
            </a:xfrm>
            <a:prstGeom prst="rect">
              <a:avLst/>
            </a:prstGeom>
          </p:spPr>
          <p:txBody>
            <a:bodyPr lIns="36508" tIns="36508" rIns="36508" bIns="36508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sp>
        <p:nvSpPr>
          <p:cNvPr id="46" name="Freeform 46">
            <a:extLst>
              <a:ext uri="{FF2B5EF4-FFF2-40B4-BE49-F238E27FC236}">
                <a16:creationId xmlns:a16="http://schemas.microsoft.com/office/drawing/2014/main" id="{DCFBF4B9-2BF0-7C96-BD1D-1E4E610A9B27}"/>
              </a:ext>
            </a:extLst>
          </p:cNvPr>
          <p:cNvSpPr/>
          <p:nvPr/>
        </p:nvSpPr>
        <p:spPr>
          <a:xfrm>
            <a:off x="15713873" y="7611980"/>
            <a:ext cx="646861" cy="645244"/>
          </a:xfrm>
          <a:custGeom>
            <a:avLst/>
            <a:gdLst/>
            <a:ahLst/>
            <a:cxnLst/>
            <a:rect l="l" t="t" r="r" b="b"/>
            <a:pathLst>
              <a:path w="646861" h="645244">
                <a:moveTo>
                  <a:pt x="0" y="0"/>
                </a:moveTo>
                <a:lnTo>
                  <a:pt x="646861" y="0"/>
                </a:lnTo>
                <a:lnTo>
                  <a:pt x="646861" y="645244"/>
                </a:lnTo>
                <a:lnTo>
                  <a:pt x="0" y="64524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47" name="Freeform 47">
            <a:extLst>
              <a:ext uri="{FF2B5EF4-FFF2-40B4-BE49-F238E27FC236}">
                <a16:creationId xmlns:a16="http://schemas.microsoft.com/office/drawing/2014/main" id="{11159370-EDE5-A7E1-3C9D-0E5D3E386A7C}"/>
              </a:ext>
            </a:extLst>
          </p:cNvPr>
          <p:cNvSpPr/>
          <p:nvPr/>
        </p:nvSpPr>
        <p:spPr>
          <a:xfrm>
            <a:off x="16553968" y="7359127"/>
            <a:ext cx="959386" cy="1292707"/>
          </a:xfrm>
          <a:custGeom>
            <a:avLst/>
            <a:gdLst/>
            <a:ahLst/>
            <a:cxnLst/>
            <a:rect l="l" t="t" r="r" b="b"/>
            <a:pathLst>
              <a:path w="959386" h="1292707">
                <a:moveTo>
                  <a:pt x="0" y="0"/>
                </a:moveTo>
                <a:lnTo>
                  <a:pt x="959386" y="0"/>
                </a:lnTo>
                <a:lnTo>
                  <a:pt x="959386" y="1292707"/>
                </a:lnTo>
                <a:lnTo>
                  <a:pt x="0" y="129270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67F52D23-3C8C-A47F-973C-0449BB27D39E}"/>
              </a:ext>
            </a:extLst>
          </p:cNvPr>
          <p:cNvSpPr txBox="1"/>
          <p:nvPr/>
        </p:nvSpPr>
        <p:spPr>
          <a:xfrm>
            <a:off x="15364446" y="8367483"/>
            <a:ext cx="1235354" cy="289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6"/>
              </a:lnSpc>
            </a:pPr>
            <a:r>
              <a:rPr lang="en-US" sz="2146" b="1">
                <a:solidFill>
                  <a:srgbClr val="FF0099"/>
                </a:solidFill>
                <a:latin typeface="Big Shoulders Display Bold"/>
                <a:ea typeface="Big Shoulders Display Bold"/>
                <a:cs typeface="Big Shoulders Display Bold"/>
                <a:sym typeface="Big Shoulders Display Bold"/>
              </a:rPr>
              <a:t>HOSPITAL C</a:t>
            </a:r>
          </a:p>
        </p:txBody>
      </p:sp>
      <p:grpSp>
        <p:nvGrpSpPr>
          <p:cNvPr id="49" name="Group 49">
            <a:extLst>
              <a:ext uri="{FF2B5EF4-FFF2-40B4-BE49-F238E27FC236}">
                <a16:creationId xmlns:a16="http://schemas.microsoft.com/office/drawing/2014/main" id="{EA65933D-F9A3-F1F6-D827-959B6921BF69}"/>
              </a:ext>
            </a:extLst>
          </p:cNvPr>
          <p:cNvGrpSpPr/>
          <p:nvPr/>
        </p:nvGrpSpPr>
        <p:grpSpPr>
          <a:xfrm>
            <a:off x="12324049" y="7321720"/>
            <a:ext cx="2309038" cy="1523965"/>
            <a:chOff x="0" y="0"/>
            <a:chExt cx="635000" cy="419100"/>
          </a:xfrm>
        </p:grpSpPr>
        <p:sp>
          <p:nvSpPr>
            <p:cNvPr id="50" name="Freeform 50">
              <a:extLst>
                <a:ext uri="{FF2B5EF4-FFF2-40B4-BE49-F238E27FC236}">
                  <a16:creationId xmlns:a16="http://schemas.microsoft.com/office/drawing/2014/main" id="{73536DBA-492B-C72A-B989-A4BA359130C1}"/>
                </a:ext>
              </a:extLst>
            </p:cNvPr>
            <p:cNvSpPr/>
            <p:nvPr/>
          </p:nvSpPr>
          <p:spPr>
            <a:xfrm>
              <a:off x="0" y="0"/>
              <a:ext cx="635000" cy="419100"/>
            </a:xfrm>
            <a:custGeom>
              <a:avLst/>
              <a:gdLst/>
              <a:ahLst/>
              <a:cxnLst/>
              <a:rect l="l" t="t" r="r" b="b"/>
              <a:pathLst>
                <a:path w="635000" h="419100">
                  <a:moveTo>
                    <a:pt x="65486" y="0"/>
                  </a:moveTo>
                  <a:lnTo>
                    <a:pt x="569514" y="0"/>
                  </a:lnTo>
                  <a:cubicBezTo>
                    <a:pt x="586882" y="0"/>
                    <a:pt x="603539" y="6899"/>
                    <a:pt x="615820" y="19180"/>
                  </a:cubicBezTo>
                  <a:cubicBezTo>
                    <a:pt x="628101" y="31461"/>
                    <a:pt x="635000" y="48118"/>
                    <a:pt x="635000" y="65486"/>
                  </a:cubicBezTo>
                  <a:lnTo>
                    <a:pt x="635000" y="353614"/>
                  </a:lnTo>
                  <a:cubicBezTo>
                    <a:pt x="635000" y="370982"/>
                    <a:pt x="628101" y="387639"/>
                    <a:pt x="615820" y="399920"/>
                  </a:cubicBezTo>
                  <a:cubicBezTo>
                    <a:pt x="603539" y="412201"/>
                    <a:pt x="586882" y="419100"/>
                    <a:pt x="569514" y="419100"/>
                  </a:cubicBezTo>
                  <a:lnTo>
                    <a:pt x="65486" y="419100"/>
                  </a:lnTo>
                  <a:cubicBezTo>
                    <a:pt x="48118" y="419100"/>
                    <a:pt x="31461" y="412201"/>
                    <a:pt x="19180" y="399920"/>
                  </a:cubicBezTo>
                  <a:cubicBezTo>
                    <a:pt x="6899" y="387639"/>
                    <a:pt x="0" y="370982"/>
                    <a:pt x="0" y="353614"/>
                  </a:cubicBezTo>
                  <a:lnTo>
                    <a:pt x="0" y="65486"/>
                  </a:lnTo>
                  <a:cubicBezTo>
                    <a:pt x="0" y="48118"/>
                    <a:pt x="6899" y="31461"/>
                    <a:pt x="19180" y="19180"/>
                  </a:cubicBezTo>
                  <a:cubicBezTo>
                    <a:pt x="31461" y="6899"/>
                    <a:pt x="48118" y="0"/>
                    <a:pt x="65486" y="0"/>
                  </a:cubicBezTo>
                  <a:close/>
                </a:path>
              </a:pathLst>
            </a:custGeom>
            <a:solidFill>
              <a:srgbClr val="FF802F"/>
            </a:solidFill>
          </p:spPr>
        </p:sp>
        <p:sp>
          <p:nvSpPr>
            <p:cNvPr id="51" name="TextBox 51">
              <a:extLst>
                <a:ext uri="{FF2B5EF4-FFF2-40B4-BE49-F238E27FC236}">
                  <a16:creationId xmlns:a16="http://schemas.microsoft.com/office/drawing/2014/main" id="{409C8DF0-942A-CC95-43F3-5D9C6D28DB07}"/>
                </a:ext>
              </a:extLst>
            </p:cNvPr>
            <p:cNvSpPr txBox="1"/>
            <p:nvPr/>
          </p:nvSpPr>
          <p:spPr>
            <a:xfrm>
              <a:off x="0" y="-57150"/>
              <a:ext cx="635000" cy="476250"/>
            </a:xfrm>
            <a:prstGeom prst="rect">
              <a:avLst/>
            </a:prstGeom>
          </p:spPr>
          <p:txBody>
            <a:bodyPr lIns="38009" tIns="38009" rIns="38009" bIns="38009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sp>
        <p:nvSpPr>
          <p:cNvPr id="52" name="Freeform 52">
            <a:extLst>
              <a:ext uri="{FF2B5EF4-FFF2-40B4-BE49-F238E27FC236}">
                <a16:creationId xmlns:a16="http://schemas.microsoft.com/office/drawing/2014/main" id="{1B754A30-C588-C24E-38AA-ABA1861745C1}"/>
              </a:ext>
            </a:extLst>
          </p:cNvPr>
          <p:cNvSpPr/>
          <p:nvPr/>
        </p:nvSpPr>
        <p:spPr>
          <a:xfrm>
            <a:off x="12687837" y="7674029"/>
            <a:ext cx="673447" cy="671764"/>
          </a:xfrm>
          <a:custGeom>
            <a:avLst/>
            <a:gdLst/>
            <a:ahLst/>
            <a:cxnLst/>
            <a:rect l="l" t="t" r="r" b="b"/>
            <a:pathLst>
              <a:path w="673447" h="671764">
                <a:moveTo>
                  <a:pt x="0" y="0"/>
                </a:moveTo>
                <a:lnTo>
                  <a:pt x="673447" y="0"/>
                </a:lnTo>
                <a:lnTo>
                  <a:pt x="673447" y="671764"/>
                </a:lnTo>
                <a:lnTo>
                  <a:pt x="0" y="67176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53" name="Freeform 53">
            <a:extLst>
              <a:ext uri="{FF2B5EF4-FFF2-40B4-BE49-F238E27FC236}">
                <a16:creationId xmlns:a16="http://schemas.microsoft.com/office/drawing/2014/main" id="{C67E3601-C269-6134-D622-09A2A4AD3F71}"/>
              </a:ext>
            </a:extLst>
          </p:cNvPr>
          <p:cNvSpPr/>
          <p:nvPr/>
        </p:nvSpPr>
        <p:spPr>
          <a:xfrm>
            <a:off x="13562460" y="7410784"/>
            <a:ext cx="998817" cy="1345838"/>
          </a:xfrm>
          <a:custGeom>
            <a:avLst/>
            <a:gdLst/>
            <a:ahLst/>
            <a:cxnLst/>
            <a:rect l="l" t="t" r="r" b="b"/>
            <a:pathLst>
              <a:path w="998817" h="1345838">
                <a:moveTo>
                  <a:pt x="0" y="0"/>
                </a:moveTo>
                <a:lnTo>
                  <a:pt x="998817" y="0"/>
                </a:lnTo>
                <a:lnTo>
                  <a:pt x="998817" y="1345838"/>
                </a:lnTo>
                <a:lnTo>
                  <a:pt x="0" y="1345838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981EA180-715A-9874-DA55-612ACA3D39CD}"/>
              </a:ext>
            </a:extLst>
          </p:cNvPr>
          <p:cNvSpPr txBox="1"/>
          <p:nvPr/>
        </p:nvSpPr>
        <p:spPr>
          <a:xfrm>
            <a:off x="12324049" y="8449493"/>
            <a:ext cx="1286127" cy="312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5"/>
              </a:lnSpc>
            </a:pPr>
            <a:r>
              <a:rPr lang="en-US" sz="2235" b="1">
                <a:solidFill>
                  <a:srgbClr val="FF0099"/>
                </a:solidFill>
                <a:latin typeface="Big Shoulders Display Bold"/>
                <a:ea typeface="Big Shoulders Display Bold"/>
                <a:cs typeface="Big Shoulders Display Bold"/>
                <a:sym typeface="Big Shoulders Display Bold"/>
              </a:rPr>
              <a:t>HOSPITAL B</a:t>
            </a:r>
          </a:p>
        </p:txBody>
      </p:sp>
      <p:sp>
        <p:nvSpPr>
          <p:cNvPr id="55" name="TextBox 55">
            <a:extLst>
              <a:ext uri="{FF2B5EF4-FFF2-40B4-BE49-F238E27FC236}">
                <a16:creationId xmlns:a16="http://schemas.microsoft.com/office/drawing/2014/main" id="{F948A3F1-727E-1F72-8FCF-F7D14D85B08A}"/>
              </a:ext>
            </a:extLst>
          </p:cNvPr>
          <p:cNvSpPr txBox="1"/>
          <p:nvPr/>
        </p:nvSpPr>
        <p:spPr>
          <a:xfrm>
            <a:off x="1728574" y="3514528"/>
            <a:ext cx="8482226" cy="7079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1900" dirty="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=&gt; Consists of 3 main components: Admin Control, Global Model, Hospitals</a:t>
            </a:r>
          </a:p>
          <a:p>
            <a:pPr algn="l">
              <a:lnSpc>
                <a:spcPts val="2850"/>
              </a:lnSpc>
            </a:pPr>
            <a:r>
              <a:rPr lang="en-US" sz="1900" dirty="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=&gt; Ethereum (</a:t>
            </a:r>
            <a:r>
              <a:rPr lang="en-US" sz="1900" dirty="0" err="1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Sepolia</a:t>
            </a:r>
            <a:r>
              <a:rPr lang="en-US" sz="1900" dirty="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 err="1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Testnet</a:t>
            </a:r>
            <a:r>
              <a:rPr lang="en-US" sz="1900" dirty="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manages hospital registration and model versioning.</a:t>
            </a:r>
          </a:p>
        </p:txBody>
      </p:sp>
      <p:sp>
        <p:nvSpPr>
          <p:cNvPr id="56" name="TextBox 56">
            <a:extLst>
              <a:ext uri="{FF2B5EF4-FFF2-40B4-BE49-F238E27FC236}">
                <a16:creationId xmlns:a16="http://schemas.microsoft.com/office/drawing/2014/main" id="{62FDE990-88AE-74BB-ECE6-BAA2C1571C77}"/>
              </a:ext>
            </a:extLst>
          </p:cNvPr>
          <p:cNvSpPr txBox="1"/>
          <p:nvPr/>
        </p:nvSpPr>
        <p:spPr>
          <a:xfrm>
            <a:off x="1728574" y="5606652"/>
            <a:ext cx="6670396" cy="365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19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weights are encrypted (AES-256-CBC) and stored on IPFS.</a:t>
            </a:r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343DE925-5230-F099-D3D4-801A88FE7380}"/>
              </a:ext>
            </a:extLst>
          </p:cNvPr>
          <p:cNvSpPr txBox="1"/>
          <p:nvPr/>
        </p:nvSpPr>
        <p:spPr>
          <a:xfrm>
            <a:off x="1728574" y="7603527"/>
            <a:ext cx="6670396" cy="727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19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Blockchain records 46-character CIDs; any tampering with the model file invalidates the on-chain hash.</a:t>
            </a:r>
          </a:p>
        </p:txBody>
      </p:sp>
      <p:sp>
        <p:nvSpPr>
          <p:cNvPr id="58" name="TextBox 58">
            <a:extLst>
              <a:ext uri="{FF2B5EF4-FFF2-40B4-BE49-F238E27FC236}">
                <a16:creationId xmlns:a16="http://schemas.microsoft.com/office/drawing/2014/main" id="{AC8D6AF6-32D9-8BEB-640B-53C9DCEE93EF}"/>
              </a:ext>
            </a:extLst>
          </p:cNvPr>
          <p:cNvSpPr txBox="1"/>
          <p:nvPr/>
        </p:nvSpPr>
        <p:spPr>
          <a:xfrm>
            <a:off x="2604874" y="2649638"/>
            <a:ext cx="2458898" cy="451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Orchestration</a:t>
            </a: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ABC812C2-DDF2-103C-1B96-68539ED2496E}"/>
              </a:ext>
            </a:extLst>
          </p:cNvPr>
          <p:cNvSpPr txBox="1"/>
          <p:nvPr/>
        </p:nvSpPr>
        <p:spPr>
          <a:xfrm>
            <a:off x="2604874" y="4741763"/>
            <a:ext cx="3680999" cy="451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Storage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04B52C75-FABC-F07A-92B0-6291E2604275}"/>
              </a:ext>
            </a:extLst>
          </p:cNvPr>
          <p:cNvSpPr txBox="1"/>
          <p:nvPr/>
        </p:nvSpPr>
        <p:spPr>
          <a:xfrm>
            <a:off x="2604874" y="6738638"/>
            <a:ext cx="2638532" cy="451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Verification</a:t>
            </a:r>
          </a:p>
        </p:txBody>
      </p:sp>
      <p:sp>
        <p:nvSpPr>
          <p:cNvPr id="61" name="TextBox 61">
            <a:extLst>
              <a:ext uri="{FF2B5EF4-FFF2-40B4-BE49-F238E27FC236}">
                <a16:creationId xmlns:a16="http://schemas.microsoft.com/office/drawing/2014/main" id="{1563B191-B14D-6C61-A453-3F7155830A15}"/>
              </a:ext>
            </a:extLst>
          </p:cNvPr>
          <p:cNvSpPr txBox="1"/>
          <p:nvPr/>
        </p:nvSpPr>
        <p:spPr>
          <a:xfrm>
            <a:off x="7297181" y="9620250"/>
            <a:ext cx="4295507" cy="364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Course Title:</a:t>
            </a:r>
            <a:r>
              <a:rPr lang="en-US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Project and Thesis</a:t>
            </a: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046898CF-2CD1-5C94-1869-39B61478030F}"/>
              </a:ext>
            </a:extLst>
          </p:cNvPr>
          <p:cNvSpPr txBox="1"/>
          <p:nvPr/>
        </p:nvSpPr>
        <p:spPr>
          <a:xfrm>
            <a:off x="2789406" y="1184989"/>
            <a:ext cx="13456610" cy="830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38"/>
              </a:lnSpc>
            </a:pPr>
            <a:r>
              <a:rPr lang="en-US" sz="648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BLOCKCHAIN-FL INTEGRATION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4AC9F60D-DC00-A423-16AC-4CA6B3152E69}"/>
              </a:ext>
            </a:extLst>
          </p:cNvPr>
          <p:cNvSpPr txBox="1"/>
          <p:nvPr/>
        </p:nvSpPr>
        <p:spPr>
          <a:xfrm>
            <a:off x="15582700" y="436426"/>
            <a:ext cx="1781375" cy="761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80"/>
              </a:lnSpc>
              <a:spcBef>
                <a:spcPct val="0"/>
              </a:spcBef>
            </a:pPr>
            <a:r>
              <a:rPr lang="en-US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06/10</a:t>
            </a:r>
          </a:p>
          <a:p>
            <a:pPr algn="r">
              <a:lnSpc>
                <a:spcPts val="3080"/>
              </a:lnSpc>
              <a:spcBef>
                <a:spcPct val="0"/>
              </a:spcBef>
            </a:pPr>
            <a:endParaRPr lang="en-US" sz="22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46FC7A7-427C-9C89-2712-3DA6AF75B2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 bwMode="auto">
          <a:xfrm>
            <a:off x="11297819" y="6387533"/>
            <a:ext cx="903199" cy="903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" name="Picture 2">
            <a:extLst>
              <a:ext uri="{FF2B5EF4-FFF2-40B4-BE49-F238E27FC236}">
                <a16:creationId xmlns:a16="http://schemas.microsoft.com/office/drawing/2014/main" id="{49029085-1E6D-FFA0-A487-6222DA57E3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 bwMode="auto">
          <a:xfrm>
            <a:off x="13714492" y="6447145"/>
            <a:ext cx="903199" cy="903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Picture 2">
            <a:extLst>
              <a:ext uri="{FF2B5EF4-FFF2-40B4-BE49-F238E27FC236}">
                <a16:creationId xmlns:a16="http://schemas.microsoft.com/office/drawing/2014/main" id="{C68DE795-D836-597F-21A7-AF1C33D1C2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 bwMode="auto">
          <a:xfrm>
            <a:off x="16130462" y="6420525"/>
            <a:ext cx="903199" cy="903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85370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975 -0.09984 L 0.08975 -0.09984 C 0.08663 -0.09737 0.08333 -0.09552 0.08038 -0.09243 C 0.07621 -0.08796 0.073 -0.08055 0.06849 -0.07731 C 0.06371 -0.07376 0.05877 -0.07083 0.05408 -0.06682 C 0.05295 -0.06574 0.05173 -0.06512 0.05069 -0.06373 C 0.04974 -0.0625 0.04913 -0.06049 0.04818 -0.05925 C 0.04713 -0.05787 0.04583 -0.0574 0.04479 -0.05617 C 0.04357 -0.05493 0.04262 -0.05308 0.0414 -0.05169 C 0.04002 -0.05 0.03863 -0.04861 0.03715 -0.04722 C 0.03611 -0.04614 0.03481 -0.04537 0.03377 -0.04413 C 0.03177 -0.04182 0.02969 -0.0395 0.02786 -0.03657 C 0.02569 -0.03333 0.02396 -0.02947 0.02196 -0.02608 C 0.02057 -0.02391 0.0191 -0.02191 0.01771 -0.02006 C 0.01684 -0.01898 0.0158 -0.01836 0.0151 -0.01697 C 0.01189 -0.0108 0.00955 -0.00293 0.00581 0.00263 C -0.0007 0.01204 -0.00738 0.0213 -0.01363 0.03118 C -0.01441 0.03241 -0.01467 0.03442 -0.01537 0.03565 C -0.01728 0.03936 -0.01945 0.0426 -0.02127 0.0463 C -0.02222 0.04815 -0.02283 0.05047 -0.02387 0.05232 C -0.02457 0.05355 -0.0257 0.05402 -0.02639 0.05525 C -0.02952 0.06081 -0.02969 0.0625 -0.03143 0.06883 C -0.03117 0.07392 -0.03099 0.07886 -0.03064 0.08396 C -0.03047 0.08642 -0.02995 0.08889 -0.02978 0.09152 C -0.02943 0.09692 -0.02934 0.10263 -0.02891 0.10803 C -0.02787 0.12207 -0.02804 0.10726 -0.02804 0.11868 " pathEditMode="relative" ptsTypes="AAAAAAAAAAAAAAAAAAAAAAAAAA">
                                      <p:cBhvr>
                                        <p:cTn id="6" dur="5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86 -0.09506 L 0.00086 -0.09506 C -0.002 -0.07654 -0.00269 -0.08225 4.02778E-6 -0.06496 C 0.00069 -0.06049 0.00251 -0.05138 0.00251 -0.05138 C 0.00225 -0.04598 0.00165 -0.04043 0.00165 -0.03487 C 0.00165 -0.03225 0.00234 -0.02993 0.00251 -0.02731 C 0.00295 -0.0199 0.00286 -0.01219 0.00338 -0.00478 C 0.00442 0.00911 0.00494 0.0034 0.0059 0.01328 C 0.00616 0.01636 0.00633 0.01945 0.00677 0.02238 C 0.0072 0.02593 0.0079 0.02933 0.00842 0.03288 C 0.00876 0.03488 0.00894 0.03689 0.00928 0.03889 C 0.00981 0.04244 0.0105 0.04599 0.01093 0.04954 C 0.01137 0.05247 0.01154 0.05556 0.0118 0.05849 C 0.01154 0.06358 0.01093 0.06852 0.01093 0.07362 C 0.01093 0.07608 0.01163 0.07855 0.0118 0.08118 C 0.01354 0.11173 0.01354 0.10649 0.01354 0.12038 " pathEditMode="relative" ptsTypes="AAAAAAAAAAAAAAAA">
                                      <p:cBhvr>
                                        <p:cTn id="8" dur="5000" fill="hold"/>
                                        <p:tgtEl>
                                          <p:spTgt spid="10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7"/>
                                            </p:cond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1093 -0.11204 L -0.11093 -0.11204 C -0.10677 -0.11003 -0.10217 -0.10972 -0.09826 -0.10602 C -0.09392 -0.10216 -0.08454 -0.08719 -0.08046 -0.07901 C -0.07821 -0.07438 -0.07612 -0.0696 -0.07369 -0.06543 C -0.06649 -0.05262 -0.05937 -0.0395 -0.05165 -0.02762 C -0.04965 -0.02469 -0.04757 -0.02191 -0.04574 -0.01867 C -0.03767 -0.00478 -0.03116 0.01219 -0.02196 0.02361 C -0.00616 0.04321 0.00947 0.06312 0.02544 0.08241 C 0.04289 0.1034 0.02882 0.08102 0.04497 0.10803 C 0.04636 0.11034 0.04922 0.11559 0.04922 0.11559 " pathEditMode="relative" ptsTypes="AAAAAAAAAAA">
                                      <p:cBhvr>
                                        <p:cTn id="10" dur="5000" fill="hold"/>
                                        <p:tgtEl>
                                          <p:spTgt spid="10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"/>
                                            </p:cond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732309" y="1604576"/>
            <a:ext cx="15444688" cy="8243602"/>
          </a:xfrm>
          <a:custGeom>
            <a:avLst/>
            <a:gdLst/>
            <a:ahLst/>
            <a:cxnLst/>
            <a:rect l="l" t="t" r="r" b="b"/>
            <a:pathLst>
              <a:path w="15444688" h="8243602">
                <a:moveTo>
                  <a:pt x="0" y="0"/>
                </a:moveTo>
                <a:lnTo>
                  <a:pt x="15444688" y="0"/>
                </a:lnTo>
                <a:lnTo>
                  <a:pt x="15444688" y="8243602"/>
                </a:lnTo>
                <a:lnTo>
                  <a:pt x="0" y="82436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575773" y="452824"/>
            <a:ext cx="905853" cy="1151752"/>
          </a:xfrm>
          <a:custGeom>
            <a:avLst/>
            <a:gdLst/>
            <a:ahLst/>
            <a:cxnLst/>
            <a:rect l="l" t="t" r="r" b="b"/>
            <a:pathLst>
              <a:path w="905853" h="1151752">
                <a:moveTo>
                  <a:pt x="0" y="0"/>
                </a:moveTo>
                <a:lnTo>
                  <a:pt x="905854" y="0"/>
                </a:lnTo>
                <a:lnTo>
                  <a:pt x="905854" y="1151752"/>
                </a:lnTo>
                <a:lnTo>
                  <a:pt x="0" y="11517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732309" y="605579"/>
            <a:ext cx="11821802" cy="830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38"/>
              </a:lnSpc>
            </a:pPr>
            <a:r>
              <a:rPr lang="en-US" sz="648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ARCHITECTURE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582700" y="436426"/>
            <a:ext cx="1781375" cy="364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80"/>
              </a:lnSpc>
              <a:spcBef>
                <a:spcPct val="0"/>
              </a:spcBef>
            </a:pPr>
            <a:r>
              <a:rPr lang="en-US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07/10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412290" y="2543096"/>
            <a:ext cx="6878382" cy="659964"/>
            <a:chOff x="0" y="0"/>
            <a:chExt cx="1811590" cy="17381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11590" cy="173818"/>
            </a:xfrm>
            <a:custGeom>
              <a:avLst/>
              <a:gdLst/>
              <a:ahLst/>
              <a:cxnLst/>
              <a:rect l="l" t="t" r="r" b="b"/>
              <a:pathLst>
                <a:path w="1811590" h="173818">
                  <a:moveTo>
                    <a:pt x="0" y="0"/>
                  </a:moveTo>
                  <a:lnTo>
                    <a:pt x="1811590" y="0"/>
                  </a:lnTo>
                  <a:lnTo>
                    <a:pt x="1811590" y="173818"/>
                  </a:lnTo>
                  <a:lnTo>
                    <a:pt x="0" y="173818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1811590" cy="230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2036" y="2660902"/>
            <a:ext cx="424352" cy="424352"/>
            <a:chOff x="0" y="0"/>
            <a:chExt cx="111764" cy="11176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1764" cy="111764"/>
            </a:xfrm>
            <a:custGeom>
              <a:avLst/>
              <a:gdLst/>
              <a:ahLst/>
              <a:cxnLst/>
              <a:rect l="l" t="t" r="r" b="b"/>
              <a:pathLst>
                <a:path w="111764" h="111764">
                  <a:moveTo>
                    <a:pt x="0" y="0"/>
                  </a:moveTo>
                  <a:lnTo>
                    <a:pt x="111764" y="0"/>
                  </a:lnTo>
                  <a:lnTo>
                    <a:pt x="111764" y="111764"/>
                  </a:lnTo>
                  <a:lnTo>
                    <a:pt x="0" y="11176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11764" cy="1689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610327" y="2736565"/>
            <a:ext cx="247770" cy="273025"/>
          </a:xfrm>
          <a:custGeom>
            <a:avLst/>
            <a:gdLst/>
            <a:ahLst/>
            <a:cxnLst/>
            <a:rect l="l" t="t" r="r" b="b"/>
            <a:pathLst>
              <a:path w="247770" h="273025">
                <a:moveTo>
                  <a:pt x="0" y="0"/>
                </a:moveTo>
                <a:lnTo>
                  <a:pt x="247771" y="0"/>
                </a:lnTo>
                <a:lnTo>
                  <a:pt x="247771" y="273025"/>
                </a:lnTo>
                <a:lnTo>
                  <a:pt x="0" y="2730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7291488" flipH="1">
            <a:off x="9353232" y="1557890"/>
            <a:ext cx="1353290" cy="1248410"/>
          </a:xfrm>
          <a:custGeom>
            <a:avLst/>
            <a:gdLst/>
            <a:ahLst/>
            <a:cxnLst/>
            <a:rect l="l" t="t" r="r" b="b"/>
            <a:pathLst>
              <a:path w="1353290" h="1248410">
                <a:moveTo>
                  <a:pt x="1353290" y="0"/>
                </a:moveTo>
                <a:lnTo>
                  <a:pt x="0" y="0"/>
                </a:lnTo>
                <a:lnTo>
                  <a:pt x="0" y="1248411"/>
                </a:lnTo>
                <a:lnTo>
                  <a:pt x="1353290" y="1248411"/>
                </a:lnTo>
                <a:lnTo>
                  <a:pt x="135329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11" name="Table 11"/>
          <p:cNvGraphicFramePr>
            <a:graphicFrameLocks noGrp="1"/>
          </p:cNvGraphicFramePr>
          <p:nvPr/>
        </p:nvGraphicFramePr>
        <p:xfrm>
          <a:off x="1412290" y="3536435"/>
          <a:ext cx="7731711" cy="4282913"/>
        </p:xfrm>
        <a:graphic>
          <a:graphicData uri="http://schemas.openxmlformats.org/drawingml/2006/table">
            <a:tbl>
              <a:tblPr/>
              <a:tblGrid>
                <a:gridCol w="2577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72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72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05207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Metric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Our Framework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SOTA Review Peak </a:t>
                      </a:r>
                      <a:endParaRPr lang="en-US" sz="1100"/>
                    </a:p>
                    <a:p>
                      <a:pPr algn="ctr">
                        <a:lnSpc>
                          <a:spcPts val="2520"/>
                        </a:lnSpc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806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Accuracy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98.95%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97.54%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174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Recall (Sensitivity)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99.45%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98.0%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3953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Precision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98.80%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96.5%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3953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AUC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0.9995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0.990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Freeform 12"/>
          <p:cNvSpPr/>
          <p:nvPr/>
        </p:nvSpPr>
        <p:spPr>
          <a:xfrm>
            <a:off x="10842593" y="2182095"/>
            <a:ext cx="4449284" cy="3486271"/>
          </a:xfrm>
          <a:custGeom>
            <a:avLst/>
            <a:gdLst/>
            <a:ahLst/>
            <a:cxnLst/>
            <a:rect l="l" t="t" r="r" b="b"/>
            <a:pathLst>
              <a:path w="4449284" h="3486271">
                <a:moveTo>
                  <a:pt x="0" y="0"/>
                </a:moveTo>
                <a:lnTo>
                  <a:pt x="4449284" y="0"/>
                </a:lnTo>
                <a:lnTo>
                  <a:pt x="4449284" y="3486271"/>
                </a:lnTo>
                <a:lnTo>
                  <a:pt x="0" y="34862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490" b="-490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0842593" y="5794133"/>
            <a:ext cx="4449284" cy="3464167"/>
          </a:xfrm>
          <a:custGeom>
            <a:avLst/>
            <a:gdLst/>
            <a:ahLst/>
            <a:cxnLst/>
            <a:rect l="l" t="t" r="r" b="b"/>
            <a:pathLst>
              <a:path w="4449284" h="3464167">
                <a:moveTo>
                  <a:pt x="0" y="0"/>
                </a:moveTo>
                <a:lnTo>
                  <a:pt x="4449284" y="0"/>
                </a:lnTo>
                <a:lnTo>
                  <a:pt x="4449284" y="3464167"/>
                </a:lnTo>
                <a:lnTo>
                  <a:pt x="0" y="34641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835" b="-835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288590" y="2604474"/>
            <a:ext cx="5774915" cy="451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Quantitative Performance Summary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12290" y="8085457"/>
            <a:ext cx="7731710" cy="782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Significance:</a:t>
            </a:r>
            <a:r>
              <a:rPr lang="en-US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Achieving nearly 99.5% sensitivity ensures that fewer than 1 in 200 malignant cases are missed.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97182" y="9620250"/>
            <a:ext cx="3828018" cy="364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Course Title:</a:t>
            </a:r>
            <a:r>
              <a:rPr lang="en-US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Project and Thesis</a:t>
            </a:r>
          </a:p>
        </p:txBody>
      </p:sp>
      <p:sp>
        <p:nvSpPr>
          <p:cNvPr id="17" name="Freeform 17"/>
          <p:cNvSpPr/>
          <p:nvPr/>
        </p:nvSpPr>
        <p:spPr>
          <a:xfrm>
            <a:off x="1028700" y="1028700"/>
            <a:ext cx="905853" cy="1151752"/>
          </a:xfrm>
          <a:custGeom>
            <a:avLst/>
            <a:gdLst/>
            <a:ahLst/>
            <a:cxnLst/>
            <a:rect l="l" t="t" r="r" b="b"/>
            <a:pathLst>
              <a:path w="905853" h="1151752">
                <a:moveTo>
                  <a:pt x="0" y="0"/>
                </a:moveTo>
                <a:lnTo>
                  <a:pt x="905853" y="0"/>
                </a:lnTo>
                <a:lnTo>
                  <a:pt x="905853" y="1151752"/>
                </a:lnTo>
                <a:lnTo>
                  <a:pt x="0" y="115175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2185236" y="1181455"/>
            <a:ext cx="13456610" cy="830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38"/>
              </a:lnSpc>
            </a:pPr>
            <a:r>
              <a:rPr lang="en-US" sz="648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582700" y="436426"/>
            <a:ext cx="1781375" cy="364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80"/>
              </a:lnSpc>
              <a:spcBef>
                <a:spcPct val="0"/>
              </a:spcBef>
            </a:pPr>
            <a:r>
              <a:rPr lang="en-US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08/10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432148" y="5283454"/>
            <a:ext cx="5007799" cy="3974846"/>
          </a:xfrm>
          <a:custGeom>
            <a:avLst/>
            <a:gdLst/>
            <a:ahLst/>
            <a:cxnLst/>
            <a:rect l="l" t="t" r="r" b="b"/>
            <a:pathLst>
              <a:path w="5007799" h="3974846">
                <a:moveTo>
                  <a:pt x="0" y="0"/>
                </a:moveTo>
                <a:lnTo>
                  <a:pt x="5007799" y="0"/>
                </a:lnTo>
                <a:lnTo>
                  <a:pt x="5007799" y="3974846"/>
                </a:lnTo>
                <a:lnTo>
                  <a:pt x="0" y="39748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826467" y="2465704"/>
            <a:ext cx="5000363" cy="3300966"/>
          </a:xfrm>
          <a:custGeom>
            <a:avLst/>
            <a:gdLst/>
            <a:ahLst/>
            <a:cxnLst/>
            <a:rect l="l" t="t" r="r" b="b"/>
            <a:pathLst>
              <a:path w="5000363" h="3300966">
                <a:moveTo>
                  <a:pt x="0" y="0"/>
                </a:moveTo>
                <a:lnTo>
                  <a:pt x="5000362" y="0"/>
                </a:lnTo>
                <a:lnTo>
                  <a:pt x="5000362" y="3300966"/>
                </a:lnTo>
                <a:lnTo>
                  <a:pt x="0" y="3300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826467" y="5957334"/>
            <a:ext cx="5000363" cy="3300966"/>
          </a:xfrm>
          <a:custGeom>
            <a:avLst/>
            <a:gdLst/>
            <a:ahLst/>
            <a:cxnLst/>
            <a:rect l="l" t="t" r="r" b="b"/>
            <a:pathLst>
              <a:path w="5000363" h="3300966">
                <a:moveTo>
                  <a:pt x="0" y="0"/>
                </a:moveTo>
                <a:lnTo>
                  <a:pt x="5000362" y="0"/>
                </a:lnTo>
                <a:lnTo>
                  <a:pt x="5000362" y="3300966"/>
                </a:lnTo>
                <a:lnTo>
                  <a:pt x="0" y="33009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602790" y="2890757"/>
            <a:ext cx="7658717" cy="217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26" lvl="1" indent="-205113" algn="l">
              <a:lnSpc>
                <a:spcPts val="2850"/>
              </a:lnSpc>
              <a:buFont typeface="Arial"/>
              <a:buChar char="•"/>
            </a:pPr>
            <a:r>
              <a:rPr lang="en-US" sz="1900" b="1">
                <a:solidFill>
                  <a:srgbClr val="3030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Clinical Trust</a:t>
            </a:r>
            <a:r>
              <a:rPr lang="en-US" sz="19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Integration of Grad-CAM visualizes spatial regions driving predictions.</a:t>
            </a:r>
          </a:p>
          <a:p>
            <a:pPr algn="l">
              <a:lnSpc>
                <a:spcPts val="2850"/>
              </a:lnSpc>
            </a:pPr>
            <a:endParaRPr lang="en-US" sz="1900">
              <a:solidFill>
                <a:srgbClr val="30303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10226" lvl="1" indent="-205113" algn="l">
              <a:lnSpc>
                <a:spcPts val="2850"/>
              </a:lnSpc>
              <a:buFont typeface="Arial"/>
              <a:buChar char="•"/>
            </a:pPr>
            <a:r>
              <a:rPr lang="en-US" sz="1900" b="1">
                <a:solidFill>
                  <a:srgbClr val="3030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Pathological Alignment</a:t>
            </a:r>
            <a:r>
              <a:rPr lang="en-US" sz="19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High attention is concentrated on irregular nuclei and high cellular density in malignant samples.</a:t>
            </a:r>
          </a:p>
          <a:p>
            <a:pPr algn="l">
              <a:lnSpc>
                <a:spcPts val="2850"/>
              </a:lnSpc>
            </a:pPr>
            <a:endParaRPr lang="en-US" sz="1900">
              <a:solidFill>
                <a:srgbClr val="30303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785005" y="5226304"/>
            <a:ext cx="3647142" cy="1342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26" lvl="1" indent="-205113" algn="l">
              <a:lnSpc>
                <a:spcPts val="2660"/>
              </a:lnSpc>
              <a:buFont typeface="Arial"/>
              <a:buChar char="•"/>
            </a:pPr>
            <a:r>
              <a:rPr lang="en-US" sz="1900" b="1">
                <a:solidFill>
                  <a:srgbClr val="3030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XAI Utility</a:t>
            </a:r>
            <a:r>
              <a:rPr lang="en-US" sz="19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Moves beyond "black-box" AI, allowing pathologists to use the system as a verifiable "second opinion".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297182" y="9620250"/>
            <a:ext cx="3751818" cy="364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Course Title:</a:t>
            </a:r>
            <a:r>
              <a:rPr lang="en-US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Project and Thesis</a:t>
            </a:r>
          </a:p>
        </p:txBody>
      </p:sp>
      <p:sp>
        <p:nvSpPr>
          <p:cNvPr id="9" name="Freeform 9"/>
          <p:cNvSpPr/>
          <p:nvPr/>
        </p:nvSpPr>
        <p:spPr>
          <a:xfrm>
            <a:off x="1028700" y="1071086"/>
            <a:ext cx="905853" cy="1151752"/>
          </a:xfrm>
          <a:custGeom>
            <a:avLst/>
            <a:gdLst/>
            <a:ahLst/>
            <a:cxnLst/>
            <a:rect l="l" t="t" r="r" b="b"/>
            <a:pathLst>
              <a:path w="905853" h="1151752">
                <a:moveTo>
                  <a:pt x="0" y="0"/>
                </a:moveTo>
                <a:lnTo>
                  <a:pt x="905853" y="0"/>
                </a:lnTo>
                <a:lnTo>
                  <a:pt x="905853" y="1151751"/>
                </a:lnTo>
                <a:lnTo>
                  <a:pt x="0" y="11517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185236" y="1223841"/>
            <a:ext cx="13456610" cy="830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38"/>
              </a:lnSpc>
            </a:pPr>
            <a:r>
              <a:rPr lang="en-US" sz="648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EXPLAINABLE AI (XAI)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582700" y="436426"/>
            <a:ext cx="1781375" cy="364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80"/>
              </a:lnSpc>
              <a:spcBef>
                <a:spcPct val="0"/>
              </a:spcBef>
            </a:pPr>
            <a:r>
              <a:rPr lang="en-US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09/10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602790" y="3968746"/>
            <a:ext cx="3721893" cy="659964"/>
            <a:chOff x="0" y="0"/>
            <a:chExt cx="980252" cy="17381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0252" cy="173818"/>
            </a:xfrm>
            <a:custGeom>
              <a:avLst/>
              <a:gdLst/>
              <a:ahLst/>
              <a:cxnLst/>
              <a:rect l="l" t="t" r="r" b="b"/>
              <a:pathLst>
                <a:path w="980252" h="173818">
                  <a:moveTo>
                    <a:pt x="0" y="0"/>
                  </a:moveTo>
                  <a:lnTo>
                    <a:pt x="980252" y="0"/>
                  </a:lnTo>
                  <a:lnTo>
                    <a:pt x="980252" y="173818"/>
                  </a:lnTo>
                  <a:lnTo>
                    <a:pt x="0" y="173818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980252" cy="230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02790" y="6708570"/>
            <a:ext cx="3828175" cy="659964"/>
            <a:chOff x="0" y="0"/>
            <a:chExt cx="1008243" cy="17381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08243" cy="173818"/>
            </a:xfrm>
            <a:custGeom>
              <a:avLst/>
              <a:gdLst/>
              <a:ahLst/>
              <a:cxnLst/>
              <a:rect l="l" t="t" r="r" b="b"/>
              <a:pathLst>
                <a:path w="1008243" h="173818">
                  <a:moveTo>
                    <a:pt x="0" y="0"/>
                  </a:moveTo>
                  <a:lnTo>
                    <a:pt x="1008243" y="0"/>
                  </a:lnTo>
                  <a:lnTo>
                    <a:pt x="1008243" y="173818"/>
                  </a:lnTo>
                  <a:lnTo>
                    <a:pt x="0" y="173818"/>
                  </a:ln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008243" cy="230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41845" y="4115860"/>
            <a:ext cx="365736" cy="365736"/>
            <a:chOff x="0" y="0"/>
            <a:chExt cx="96325" cy="9632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6325" cy="96325"/>
            </a:xfrm>
            <a:custGeom>
              <a:avLst/>
              <a:gdLst/>
              <a:ahLst/>
              <a:cxnLst/>
              <a:rect l="l" t="t" r="r" b="b"/>
              <a:pathLst>
                <a:path w="96325" h="96325">
                  <a:moveTo>
                    <a:pt x="0" y="0"/>
                  </a:moveTo>
                  <a:lnTo>
                    <a:pt x="96325" y="0"/>
                  </a:lnTo>
                  <a:lnTo>
                    <a:pt x="96325" y="96325"/>
                  </a:lnTo>
                  <a:lnTo>
                    <a:pt x="0" y="9632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96325" cy="153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41845" y="6855685"/>
            <a:ext cx="365736" cy="365736"/>
            <a:chOff x="0" y="0"/>
            <a:chExt cx="96325" cy="9632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6325" cy="96325"/>
            </a:xfrm>
            <a:custGeom>
              <a:avLst/>
              <a:gdLst/>
              <a:ahLst/>
              <a:cxnLst/>
              <a:rect l="l" t="t" r="r" b="b"/>
              <a:pathLst>
                <a:path w="96325" h="96325">
                  <a:moveTo>
                    <a:pt x="0" y="0"/>
                  </a:moveTo>
                  <a:lnTo>
                    <a:pt x="96325" y="0"/>
                  </a:lnTo>
                  <a:lnTo>
                    <a:pt x="96325" y="96325"/>
                  </a:lnTo>
                  <a:lnTo>
                    <a:pt x="0" y="9632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96325" cy="153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949903" y="5076036"/>
            <a:ext cx="227748" cy="197287"/>
          </a:xfrm>
          <a:custGeom>
            <a:avLst/>
            <a:gdLst/>
            <a:ahLst/>
            <a:cxnLst/>
            <a:rect l="l" t="t" r="r" b="b"/>
            <a:pathLst>
              <a:path w="227748" h="197287">
                <a:moveTo>
                  <a:pt x="0" y="0"/>
                </a:moveTo>
                <a:lnTo>
                  <a:pt x="227749" y="0"/>
                </a:lnTo>
                <a:lnTo>
                  <a:pt x="227749" y="197287"/>
                </a:lnTo>
                <a:lnTo>
                  <a:pt x="0" y="1972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602790" y="2726689"/>
            <a:ext cx="6584809" cy="727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1900" b="1">
                <a:solidFill>
                  <a:srgbClr val="30303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Novelty</a:t>
            </a:r>
            <a:r>
              <a:rPr lang="en-US" sz="19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 technical and philosophical framework that resolves the conflict between data utility and patient privacy.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02790" y="4895013"/>
            <a:ext cx="6584809" cy="1813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26" lvl="1" indent="-205113" algn="l">
              <a:lnSpc>
                <a:spcPts val="2850"/>
              </a:lnSpc>
              <a:buFont typeface="Arial"/>
              <a:buChar char="•"/>
            </a:pPr>
            <a:r>
              <a:rPr lang="en-US" sz="19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Verified 98.95% accuracy in a decentralized environment.</a:t>
            </a:r>
          </a:p>
          <a:p>
            <a:pPr marL="410226" lvl="1" indent="-205113" algn="l">
              <a:lnSpc>
                <a:spcPts val="2850"/>
              </a:lnSpc>
              <a:buFont typeface="Arial"/>
              <a:buChar char="•"/>
            </a:pPr>
            <a:r>
              <a:rPr lang="en-US" sz="19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Compliance with PDPO 2025 accountability standards.</a:t>
            </a:r>
          </a:p>
          <a:p>
            <a:pPr marL="410226" lvl="1" indent="-205113" algn="l">
              <a:lnSpc>
                <a:spcPts val="2850"/>
              </a:lnSpc>
              <a:buFont typeface="Arial"/>
              <a:buChar char="•"/>
            </a:pPr>
            <a:r>
              <a:rPr lang="en-US" sz="19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Lightweight model (5.9M parameters) optimized for resource-constrained clinics.</a:t>
            </a:r>
          </a:p>
          <a:p>
            <a:pPr algn="l">
              <a:lnSpc>
                <a:spcPts val="2850"/>
              </a:lnSpc>
            </a:pPr>
            <a:endParaRPr lang="en-US" sz="1900">
              <a:solidFill>
                <a:srgbClr val="30303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602790" y="7634838"/>
            <a:ext cx="6584809" cy="727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1900">
                <a:solidFill>
                  <a:srgbClr val="3030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Exploring Zero-Knowledge Proofs (ZKP) and multi-modal integration (MRI/Genomic data)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479090" y="4030124"/>
            <a:ext cx="2416104" cy="451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Contributions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58289" y="4070129"/>
            <a:ext cx="332846" cy="380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58289" y="6809954"/>
            <a:ext cx="332846" cy="380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479090" y="6769949"/>
            <a:ext cx="2416104" cy="451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Research</a:t>
            </a:r>
          </a:p>
        </p:txBody>
      </p:sp>
      <p:sp>
        <p:nvSpPr>
          <p:cNvPr id="23" name="Freeform 23"/>
          <p:cNvSpPr/>
          <p:nvPr/>
        </p:nvSpPr>
        <p:spPr>
          <a:xfrm>
            <a:off x="9228478" y="1436369"/>
            <a:ext cx="6332090" cy="7678105"/>
          </a:xfrm>
          <a:custGeom>
            <a:avLst/>
            <a:gdLst/>
            <a:ahLst/>
            <a:cxnLst/>
            <a:rect l="l" t="t" r="r" b="b"/>
            <a:pathLst>
              <a:path w="6332090" h="7678105">
                <a:moveTo>
                  <a:pt x="0" y="0"/>
                </a:moveTo>
                <a:lnTo>
                  <a:pt x="6332090" y="0"/>
                </a:lnTo>
                <a:lnTo>
                  <a:pt x="6332090" y="7678105"/>
                </a:lnTo>
                <a:lnTo>
                  <a:pt x="0" y="76781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72" t="-895" b="-895"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7297182" y="9620250"/>
            <a:ext cx="3904218" cy="364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Course Title:</a:t>
            </a:r>
            <a:r>
              <a:rPr lang="en-US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Project and Thesis</a:t>
            </a:r>
          </a:p>
        </p:txBody>
      </p:sp>
      <p:sp>
        <p:nvSpPr>
          <p:cNvPr id="25" name="Freeform 25"/>
          <p:cNvSpPr/>
          <p:nvPr/>
        </p:nvSpPr>
        <p:spPr>
          <a:xfrm>
            <a:off x="1093264" y="1060587"/>
            <a:ext cx="905853" cy="1151752"/>
          </a:xfrm>
          <a:custGeom>
            <a:avLst/>
            <a:gdLst/>
            <a:ahLst/>
            <a:cxnLst/>
            <a:rect l="l" t="t" r="r" b="b"/>
            <a:pathLst>
              <a:path w="905853" h="1151752">
                <a:moveTo>
                  <a:pt x="0" y="0"/>
                </a:moveTo>
                <a:lnTo>
                  <a:pt x="905853" y="0"/>
                </a:lnTo>
                <a:lnTo>
                  <a:pt x="905853" y="1151752"/>
                </a:lnTo>
                <a:lnTo>
                  <a:pt x="0" y="11517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2249800" y="1213342"/>
            <a:ext cx="6581292" cy="830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38"/>
              </a:lnSpc>
            </a:pPr>
            <a:r>
              <a:rPr lang="en-US" sz="648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582700" y="436426"/>
            <a:ext cx="1781375" cy="364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80"/>
              </a:lnSpc>
              <a:spcBef>
                <a:spcPct val="0"/>
              </a:spcBef>
            </a:pPr>
            <a:r>
              <a:rPr lang="en-US" sz="2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10/10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486400" y="4265817"/>
            <a:ext cx="7315200" cy="2752344"/>
          </a:xfrm>
          <a:custGeom>
            <a:avLst/>
            <a:gdLst/>
            <a:ahLst/>
            <a:cxnLst/>
            <a:rect l="l" t="t" r="r" b="b"/>
            <a:pathLst>
              <a:path w="7315200" h="2752344">
                <a:moveTo>
                  <a:pt x="0" y="0"/>
                </a:moveTo>
                <a:lnTo>
                  <a:pt x="7315200" y="0"/>
                </a:lnTo>
                <a:lnTo>
                  <a:pt x="7315200" y="2752344"/>
                </a:lnTo>
                <a:lnTo>
                  <a:pt x="0" y="27523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274241" y="7500649"/>
            <a:ext cx="9739517" cy="812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50"/>
              </a:lnSpc>
            </a:pPr>
            <a:r>
              <a:rPr lang="en-US" sz="5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 QUESTIONS ?</a:t>
            </a:r>
          </a:p>
        </p:txBody>
      </p:sp>
      <p:sp>
        <p:nvSpPr>
          <p:cNvPr id="5" name="Freeform 5"/>
          <p:cNvSpPr/>
          <p:nvPr/>
        </p:nvSpPr>
        <p:spPr>
          <a:xfrm>
            <a:off x="8135791" y="1235307"/>
            <a:ext cx="2016418" cy="2563785"/>
          </a:xfrm>
          <a:custGeom>
            <a:avLst/>
            <a:gdLst/>
            <a:ahLst/>
            <a:cxnLst/>
            <a:rect l="l" t="t" r="r" b="b"/>
            <a:pathLst>
              <a:path w="2016418" h="2563785">
                <a:moveTo>
                  <a:pt x="0" y="0"/>
                </a:moveTo>
                <a:lnTo>
                  <a:pt x="2016418" y="0"/>
                </a:lnTo>
                <a:lnTo>
                  <a:pt x="2016418" y="2563785"/>
                </a:lnTo>
                <a:lnTo>
                  <a:pt x="0" y="25637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1074</Words>
  <Application>Microsoft Office PowerPoint</Application>
  <PresentationFormat>Custom</PresentationFormat>
  <Paragraphs>204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Times New Roman Bold</vt:lpstr>
      <vt:lpstr>Calibri</vt:lpstr>
      <vt:lpstr>Telegraf Bold</vt:lpstr>
      <vt:lpstr>Calibri (MS)</vt:lpstr>
      <vt:lpstr>Times New Roman</vt:lpstr>
      <vt:lpstr>Arial</vt:lpstr>
      <vt:lpstr>Big Shoulders Display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and Thesis</dc:title>
  <cp:lastModifiedBy>Shahriar Hasan</cp:lastModifiedBy>
  <cp:revision>4</cp:revision>
  <dcterms:created xsi:type="dcterms:W3CDTF">2006-08-16T00:00:00Z</dcterms:created>
  <dcterms:modified xsi:type="dcterms:W3CDTF">2026-02-21T19:29:52Z</dcterms:modified>
  <dc:identifier>DAHB8UTRzk4</dc:identifier>
</cp:coreProperties>
</file>