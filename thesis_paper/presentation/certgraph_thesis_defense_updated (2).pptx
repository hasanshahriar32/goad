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72" r:id="rId7"/>
    <p:sldId id="274" r:id="rId8"/>
    <p:sldId id="262" r:id="rId9"/>
    <p:sldId id="263" r:id="rId10"/>
    <p:sldId id="264" r:id="rId11"/>
    <p:sldId id="265" r:id="rId12"/>
    <p:sldId id="266" r:id="rId13"/>
    <p:sldId id="273" r:id="rId14"/>
    <p:sldId id="268" r:id="rId15"/>
    <p:sldId id="269" r:id="rId16"/>
    <p:sldId id="270" r:id="rId17"/>
  </p:sldIdLst>
  <p:sldSz cx="18288000" cy="10287000"/>
  <p:notesSz cx="6858000" cy="9144000"/>
  <p:embeddedFontLst>
    <p:embeddedFont>
      <p:font typeface="Calibri (MS) Bold" panose="020B0604020202020204" charset="0"/>
      <p:regular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Times New Roman Bold" panose="02020803070505020304" pitchFamily="18" charset="0"/>
      <p:bold r:id="rId24"/>
    </p:embeddedFont>
    <p:embeddedFont>
      <p:font typeface="Times New Roman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B0924-0111-44DD-9B9F-A7659C1CCECE}" v="2" dt="2026-10-10T20:55:30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6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RIAR HASAN" userId="d4ba214a263a5298" providerId="LiveId" clId="{0DB4BD39-7EBF-45EE-908C-7CFEFB6E4595}"/>
    <pc:docChg chg="undo custSel addSld modSld sldOrd">
      <pc:chgData name="SHAHRIAR HASAN" userId="d4ba214a263a5298" providerId="LiveId" clId="{0DB4BD39-7EBF-45EE-908C-7CFEFB6E4595}" dt="2026-10-10T20:55:30.457" v="48"/>
      <pc:docMkLst>
        <pc:docMk/>
      </pc:docMkLst>
      <pc:sldChg chg="modSp mod ord">
        <pc:chgData name="SHAHRIAR HASAN" userId="d4ba214a263a5298" providerId="LiveId" clId="{0DB4BD39-7EBF-45EE-908C-7CFEFB6E4595}" dt="2026-10-10T20:54:36.289" v="42" actId="20577"/>
        <pc:sldMkLst>
          <pc:docMk/>
          <pc:sldMk cId="0" sldId="261"/>
        </pc:sldMkLst>
        <pc:spChg chg="mod">
          <ac:chgData name="SHAHRIAR HASAN" userId="d4ba214a263a5298" providerId="LiveId" clId="{0DB4BD39-7EBF-45EE-908C-7CFEFB6E4595}" dt="2026-10-10T20:54:36.289" v="42" actId="20577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SHAHRIAR HASAN" userId="d4ba214a263a5298" providerId="LiveId" clId="{0DB4BD39-7EBF-45EE-908C-7CFEFB6E4595}" dt="2026-10-10T20:54:43.894" v="44" actId="20577"/>
        <pc:sldMkLst>
          <pc:docMk/>
          <pc:sldMk cId="1142589202" sldId="272"/>
        </pc:sldMkLst>
        <pc:spChg chg="mod">
          <ac:chgData name="SHAHRIAR HASAN" userId="d4ba214a263a5298" providerId="LiveId" clId="{0DB4BD39-7EBF-45EE-908C-7CFEFB6E4595}" dt="2026-10-10T20:50:38.904" v="20" actId="14100"/>
          <ac:spMkLst>
            <pc:docMk/>
            <pc:sldMk cId="1142589202" sldId="272"/>
            <ac:spMk id="6" creationId="{2A880468-52A2-9E34-C874-8555B05ECE58}"/>
          </ac:spMkLst>
        </pc:spChg>
        <pc:spChg chg="mod">
          <ac:chgData name="SHAHRIAR HASAN" userId="d4ba214a263a5298" providerId="LiveId" clId="{0DB4BD39-7EBF-45EE-908C-7CFEFB6E4595}" dt="2026-10-10T20:54:43.894" v="44" actId="20577"/>
          <ac:spMkLst>
            <pc:docMk/>
            <pc:sldMk cId="1142589202" sldId="272"/>
            <ac:spMk id="7" creationId="{C532096A-E3F2-F423-8441-07E60EFB4AC8}"/>
          </ac:spMkLst>
        </pc:spChg>
      </pc:sldChg>
      <pc:sldChg chg="delSp modSp add mod delAnim modAnim">
        <pc:chgData name="SHAHRIAR HASAN" userId="d4ba214a263a5298" providerId="LiveId" clId="{0DB4BD39-7EBF-45EE-908C-7CFEFB6E4595}" dt="2026-10-10T20:55:30.457" v="48"/>
        <pc:sldMkLst>
          <pc:docMk/>
          <pc:sldMk cId="675220625" sldId="274"/>
        </pc:sldMkLst>
        <pc:spChg chg="mod">
          <ac:chgData name="SHAHRIAR HASAN" userId="d4ba214a263a5298" providerId="LiveId" clId="{0DB4BD39-7EBF-45EE-908C-7CFEFB6E4595}" dt="2026-10-10T20:53:00.548" v="38" actId="20577"/>
          <ac:spMkLst>
            <pc:docMk/>
            <pc:sldMk cId="675220625" sldId="274"/>
            <ac:spMk id="6" creationId="{BB2C15A1-4C29-395D-2DC4-F6FC0D2CD061}"/>
          </ac:spMkLst>
        </pc:spChg>
        <pc:spChg chg="mod">
          <ac:chgData name="SHAHRIAR HASAN" userId="d4ba214a263a5298" providerId="LiveId" clId="{0DB4BD39-7EBF-45EE-908C-7CFEFB6E4595}" dt="2026-10-10T20:54:48.895" v="46" actId="20577"/>
          <ac:spMkLst>
            <pc:docMk/>
            <pc:sldMk cId="675220625" sldId="274"/>
            <ac:spMk id="7" creationId="{C45355D2-3FE1-36FF-B433-A947381D3336}"/>
          </ac:spMkLst>
        </pc:spChg>
        <pc:spChg chg="del">
          <ac:chgData name="SHAHRIAR HASAN" userId="d4ba214a263a5298" providerId="LiveId" clId="{0DB4BD39-7EBF-45EE-908C-7CFEFB6E4595}" dt="2026-10-10T20:48:47.699" v="2" actId="478"/>
          <ac:spMkLst>
            <pc:docMk/>
            <pc:sldMk cId="675220625" sldId="274"/>
            <ac:spMk id="8" creationId="{DE5964BC-D1CD-7BF8-2795-653A1A78B34E}"/>
          </ac:spMkLst>
        </pc:spChg>
        <pc:spChg chg="del">
          <ac:chgData name="SHAHRIAR HASAN" userId="d4ba214a263a5298" providerId="LiveId" clId="{0DB4BD39-7EBF-45EE-908C-7CFEFB6E4595}" dt="2026-10-10T20:48:53.887" v="4" actId="478"/>
          <ac:spMkLst>
            <pc:docMk/>
            <pc:sldMk cId="675220625" sldId="274"/>
            <ac:spMk id="14" creationId="{95C1E6BF-AF5D-2153-1392-4985326ED206}"/>
          </ac:spMkLst>
        </pc:spChg>
        <pc:spChg chg="del">
          <ac:chgData name="SHAHRIAR HASAN" userId="d4ba214a263a5298" providerId="LiveId" clId="{0DB4BD39-7EBF-45EE-908C-7CFEFB6E4595}" dt="2026-10-10T20:48:50.058" v="3" actId="478"/>
          <ac:spMkLst>
            <pc:docMk/>
            <pc:sldMk cId="675220625" sldId="274"/>
            <ac:spMk id="21" creationId="{1F66BB73-6177-33A8-B833-0BA085C221E6}"/>
          </ac:spMkLst>
        </pc:spChg>
        <pc:spChg chg="del">
          <ac:chgData name="SHAHRIAR HASAN" userId="d4ba214a263a5298" providerId="LiveId" clId="{0DB4BD39-7EBF-45EE-908C-7CFEFB6E4595}" dt="2026-10-10T20:48:44.168" v="1" actId="478"/>
          <ac:spMkLst>
            <pc:docMk/>
            <pc:sldMk cId="675220625" sldId="274"/>
            <ac:spMk id="24" creationId="{F926F191-F176-868D-7529-1236F0759371}"/>
          </ac:spMkLst>
        </pc:spChg>
        <pc:grpChg chg="del">
          <ac:chgData name="SHAHRIAR HASAN" userId="d4ba214a263a5298" providerId="LiveId" clId="{0DB4BD39-7EBF-45EE-908C-7CFEFB6E4595}" dt="2026-10-10T20:48:56.605" v="5" actId="478"/>
          <ac:grpSpMkLst>
            <pc:docMk/>
            <pc:sldMk cId="675220625" sldId="274"/>
            <ac:grpSpMk id="9" creationId="{68F05F25-1657-329A-0743-82E523A3E1BD}"/>
          </ac:grpSpMkLst>
        </pc:grpChg>
        <pc:grpChg chg="del">
          <ac:chgData name="SHAHRIAR HASAN" userId="d4ba214a263a5298" providerId="LiveId" clId="{0DB4BD39-7EBF-45EE-908C-7CFEFB6E4595}" dt="2026-10-10T20:48:58.496" v="6" actId="478"/>
          <ac:grpSpMkLst>
            <pc:docMk/>
            <pc:sldMk cId="675220625" sldId="274"/>
            <ac:grpSpMk id="12" creationId="{CCE1E734-8132-A7B4-AC66-C49F299BCA67}"/>
          </ac:grpSpMkLst>
        </pc:grpChg>
        <pc:grpChg chg="mod">
          <ac:chgData name="SHAHRIAR HASAN" userId="d4ba214a263a5298" providerId="LiveId" clId="{0DB4BD39-7EBF-45EE-908C-7CFEFB6E4595}" dt="2026-10-10T20:52:24.598" v="35" actId="1076"/>
          <ac:grpSpMkLst>
            <pc:docMk/>
            <pc:sldMk cId="675220625" sldId="274"/>
            <ac:grpSpMk id="16" creationId="{668F51FE-B2DF-6F7A-A1BC-62ED62273E28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work as a study of Active Directory Certificate Services (ADCS) vulnerability detection, the limits of pure neural reasoning, and disruption-bounded attack-path mitigation.</a:t>
            </a:r>
          </a:p>
          <a:p>
            <a:endParaRPr lang="en-US"/>
          </a:p>
          <a:p>
            <a:r>
              <a:rPr lang="en-US"/>
              <a:t>Title: CertGraph: Heterogeneous Graph Attention Networks for Active Directory Certificate Services Vulnerability Detection and Autonomous Defense.</a:t>
            </a:r>
          </a:p>
          <a:p>
            <a:r>
              <a:rPr lang="en-US"/>
              <a:t>The empirical defense contribution is a greedy graph interdiction algorithm. Reinforcement learning is a notional co-adaptive framework reserved for future live evaluation.</a:t>
            </a:r>
          </a:p>
          <a:p>
            <a:endParaRPr lang="en-US"/>
          </a:p>
          <a:p>
            <a:r>
              <a:rPr lang="en-US"/>
              <a:t>Primary source: supplied thesis.pdf, ECE 452 · Project and Thesis · October 2026.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Active Directory manages accounts, groups, computers, and access rights. ADCS issues certificates from templates, a CA signs them, and Kerberos PKINIT enables certificate-based authentication.</a:t>
            </a:r>
          </a:p>
          <a:p>
            <a:endParaRPr lang="en-US"/>
          </a:p>
          <a:p>
            <a:r>
              <a:rPr lang="en-US"/>
              <a:t>Core Security Principle: Exploitability requires both configuration and effective access. Dangerous template flags alone do not establish vulnerability; an unprivileged principal must possess a valid authorization path to request and use it. ESC13 represents policy-to-group privilege assignment, not inherent SAN spoofing.</a:t>
            </a:r>
          </a:p>
          <a:p>
            <a:endParaRPr lang="en-US"/>
          </a:p>
          <a:p>
            <a:r>
              <a:rPr lang="en-US"/>
              <a:t>Primary source: supplied thesis.pdf, Thesis §§2.4–2.7; SpecterOps ADCS research.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Four central research questions guide the work: relational classification, attribute preservation, out-of-distribution robustness, and verified defense.</a:t>
            </a:r>
          </a:p>
          <a:p>
            <a:endParaRPr lang="en-US"/>
          </a:p>
          <a:p>
            <a:r>
              <a:rPr lang="en-US"/>
              <a:t>Threat Model: Assumes an initial low-privilege domain account compromise and authorized read-only directory telemetry for the defender. Target scope is template-centric across six evaluated escalation classes (ESC1, ESC2, ESC3, ESC4, ESC9, ESC13) plus Safe. CA-wide settings and relay attacks lie outside this classifier.</a:t>
            </a:r>
          </a:p>
          <a:p>
            <a:endParaRPr lang="en-US"/>
          </a:p>
          <a:p>
            <a:r>
              <a:rPr lang="en-US"/>
              <a:t>Primary source: supplied thesis.pdf, Thesis §§1.6, 2.6.1, 2.7.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SpecterOps supplies ADCS attack semantics; Veličković et al. introduce neighborhood attention; Chen et al. provide residual initial-feature preservation; Arp et al. describe evaluation pitfalls in security ML.</a:t>
            </a:r>
          </a:p>
          <a:p>
            <a:endParaRPr lang="en-US"/>
          </a:p>
          <a:p>
            <a:r>
              <a:rPr lang="en-US"/>
              <a:t>Scope clarification: The thesis baselines are simplified heuristic and BFS implementations, rather than full production releases of Certipy or BloodHound. The research gap is combining rapid risk screening with explicit reachability verification.</a:t>
            </a:r>
          </a:p>
          <a:p>
            <a:endParaRPr lang="en-US"/>
          </a:p>
          <a:p>
            <a:r>
              <a:rPr lang="en-US"/>
              <a:t>Primary source: supplied thesis.pdf, Thesis Chapter 2; USENIX Security 'Dos and Don'ts of ML in Security'.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ESC13 Walkthrough: An attacker compromises a low-privilege user, discovers an enrollment ACE to an intermediate enroller group, requests a certificate specifying a Target Template linked to a high-privilege policy OID, and obtains a high-privilege TGT via PKINIT.</a:t>
            </a:r>
          </a:p>
          <a:p>
            <a:endParaRPr lang="en-US"/>
          </a:p>
          <a:p>
            <a:r>
              <a:rPr lang="en-US"/>
              <a:t>Takeaway: Single-node inspection fails because every permission appears benign in isolation. Vulnerability emerges solely as a multi-hop path closure across disparate objects.</a:t>
            </a:r>
          </a:p>
          <a:p>
            <a:endParaRPr lang="en-US"/>
          </a:p>
          <a:p>
            <a:r>
              <a:rPr lang="en-US"/>
              <a:t>Primary source: supplied thesis.pdf, Thesis §§3.3–3.6; SpecterOps ESC13 documentation.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B787-0B2C-9579-48AF-1F527AC3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437F8D-44AB-0E02-10D5-05A233BB32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9F69C-349D-73EB-A502-7AE485B41F4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76F87C4-AAEE-5D88-7D6B-C119402B6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D90E44-A32C-4F94-B854-4AA27141A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Formal Metagraph Definition: Specifies 5 entity node types (User, Computer, Group, Certificate Template, Enterprise CA), 8 forward relation types, and 16 relations including canonical reverse edges. Reverse edges facilitate message passing without conferring reverse authorization.</a:t>
            </a:r>
          </a:p>
          <a:p>
            <a:endParaRPr lang="en-US"/>
          </a:p>
          <a:p>
            <a:r>
              <a:rPr lang="en-US"/>
              <a:t>Ten template flags capture security extensions, enrollment flags, and DACLs. Nested group memberships are expanded via transitive closure preprocessing before learning, which is essential to the claimed 2-hop receptive field.</a:t>
            </a:r>
          </a:p>
          <a:p>
            <a:endParaRPr lang="en-US"/>
          </a:p>
          <a:p>
            <a:r>
              <a:rPr lang="en-US"/>
              <a:t>Primary source: supplied thesis.pdf, Thesis §§3.1–3.2.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34AD3-23E1-13E7-1C43-168677CC54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A6D9D-B9E4-DC76-5BBC-5EEF4A2D9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32942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E89C2-000F-1E93-07EA-E7469BFB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6E010E-ECA9-726B-FDA9-F723B3673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3FCB3-0783-C0BF-28C5-D45083C4E8F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80BC80B-B7AB-AC67-5E89-3BF183BE2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8FA51AD-AE30-E5D4-2C5C-578DEB4D8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Formal Metagraph Definition: Specifies 5 entity node types (User, Computer, Group, Certificate Template, Enterprise CA), 8 forward relation types, and 16 relations including canonical reverse edges. Reverse edges facilitate message passing without conferring reverse authorization.</a:t>
            </a:r>
          </a:p>
          <a:p>
            <a:endParaRPr lang="en-US"/>
          </a:p>
          <a:p>
            <a:r>
              <a:rPr lang="en-US"/>
              <a:t>Ten template flags capture security extensions, enrollment flags, and DACLs. Nested group memberships are expanded via transitive closure preprocessing before learning, which is essential to the claimed 2-hop receptive field.</a:t>
            </a:r>
          </a:p>
          <a:p>
            <a:endParaRPr lang="en-US"/>
          </a:p>
          <a:p>
            <a:r>
              <a:rPr lang="en-US"/>
              <a:t>Primary source: supplied thesis.pdf, Thesis §§3.1–3.2. Extended view: amber W_skip tags mark the per-type skip connections (Theorem 1 invariants); type-specific projections map node features to 64-d; the Template latent z (64-d, 2-hop context) feeds the MLP head (64-32-7: Safe, ESC1, ESC2, ESC3, ESC4, ESC9, ESC13; Macro-F1 97.18%). The ESC13 path runs Template -&gt; LinksPolicy -&gt; Issuance Policy OID -&gt; Domain Admins via PAC SID injection (Certipy 0%, CertGraph 343 ms). Tier-2 sound BFS gives 0% false positives; Theorem 2 (Stackelberg defense) cuts the GenericAll/WriteOwner edge with minimal-cost ACE revocation and zero disruption.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386E9-6787-1CEB-FFFB-33CA1AB397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ACCC4-35AD-6348-F951-C453D4458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99611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Architecture Details: Type-specific linear projections map heterogeneous nodes to 64 dimensions. Two Relational GAT layers use 4 heads (16 dim each), ELU activation, LayerNorm, and residual skip connections.</a:t>
            </a:r>
          </a:p>
          <a:p>
            <a:endParaRPr lang="en-US"/>
          </a:p>
          <a:p>
            <a:r>
              <a:rPr lang="en-US"/>
              <a:t>Readout: Template embeddings feed an MLP (64 -&gt; 32 -&gt; 7) with Softmax. Training uses weighted cross-entropy with L2 regularization (AdamW, lr=0.001, decay=1e-4, dropout=0.2, cosine schedule).</a:t>
            </a:r>
          </a:p>
          <a:p>
            <a:endParaRPr lang="en-US"/>
          </a:p>
          <a:p>
            <a:r>
              <a:rPr lang="en-US"/>
              <a:t>Primary source: supplied thesis.pdf, Thesis §§3.3–3.6; Table 5.1.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Theorem 1: Formal feature-gradient preservation guarantee. By incorporating orthogonal residual skip projections with singular value sigma_min(W_skip) &gt;= c &gt; 0, the Jacobian satisfies ||dh_v^(L) / dx_v|| &gt;= c^L &gt; 0.</a:t>
            </a:r>
          </a:p>
          <a:p>
            <a:endParaRPr lang="en-US"/>
          </a:p>
          <a:p>
            <a:r>
              <a:rPr lang="en-US"/>
              <a:t>This mathematically proves the elimination of oversmoothing collapse across 4 to 8 hop privilege chains, ensuring initial template attributes remain discriminative.</a:t>
            </a:r>
          </a:p>
          <a:p>
            <a:endParaRPr lang="en-US"/>
          </a:p>
          <a:p>
            <a:r>
              <a:rPr lang="en-US"/>
              <a:t>Primary source: supplied thesis.pdf, Thesis §3.5 and Appendix A.1.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Experimental Testbed: Evaluated on Game of Active Directory (GOAD), a realistic multi-forest lab with 5 Domain Controllers, and </a:t>
            </a:r>
            <a:r>
              <a:rPr lang="en-US" dirty="0" err="1"/>
              <a:t>ADSynth</a:t>
            </a:r>
            <a:r>
              <a:rPr lang="en-US" dirty="0"/>
              <a:t>, generating 700 topologies (100 to 100,000 nodes).</a:t>
            </a:r>
          </a:p>
          <a:p>
            <a:endParaRPr lang="en-US" dirty="0"/>
          </a:p>
          <a:p>
            <a:r>
              <a:rPr lang="en-US" dirty="0"/>
              <a:t>Evaluation Setup: Stratified 5-fold cross-validation with non-overlapping forest partitions and Nadeau-Bengio corrected paired tests. Dataset comprises 28,450 nodes and 142,890 multi-relational edges.</a:t>
            </a:r>
          </a:p>
          <a:p>
            <a:endParaRPr lang="en-US" dirty="0"/>
          </a:p>
          <a:p>
            <a:r>
              <a:rPr lang="en-US" dirty="0"/>
              <a:t>Primary source: supplied thesis.pdf, Thesis Chapters 5–7.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Benchmark Results: CertGraph achieves 0.9986 Macro-F1 across 700 topologies, outperforming the heuristic baseline (0.7791) by +21.95 percentage points (+28.2% relative gain, corrected p = 3.12e-4). Graph-augmented MLP reaches 0.9971 (corrected p = 0.7396).</a:t>
            </a:r>
          </a:p>
          <a:p>
            <a:endParaRPr lang="en-US"/>
          </a:p>
          <a:p>
            <a:r>
              <a:rPr lang="en-US"/>
              <a:t>Class Imbalance: Under an authentic 96% Safe template distribution (2,000 templates across 200 forests), CertGraph maintains 0.9941 Macro-F1 and 0.9982 PR-AUC, demonstrating robust calibration.</a:t>
            </a:r>
          </a:p>
          <a:p>
            <a:endParaRPr lang="en-US"/>
          </a:p>
          <a:p>
            <a:r>
              <a:rPr lang="en-US"/>
              <a:t>Primary source: supplied thesis.pdf, Thesis Tables 5.2–5.4.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Ablation Findings: Removing residual skip connections causes catastrophic collapse, dropping Macro-F1 from 0.9986 to 0.4768 (-52.18% drop, corrected p = 6.61e-6), empirically verifying Theorem 1.</a:t>
            </a:r>
          </a:p>
          <a:p>
            <a:endParaRPr lang="en-US"/>
          </a:p>
          <a:p>
            <a:r>
              <a:rPr lang="en-US"/>
              <a:t>Single-Head vs. Multi-Head: Single-head attention achieves 1.0000 Macro-F1 (corrected p = 0.5415), confirming that residual skip pathways, rather than attention head multiplicity, are the primary driver of performance. Attention weights (alpha &gt; 0.85) directly highlight critical escalation edges.</a:t>
            </a:r>
          </a:p>
          <a:p>
            <a:endParaRPr lang="en-US"/>
          </a:p>
          <a:p>
            <a:r>
              <a:rPr lang="en-US"/>
              <a:t>Primary source: supplied thesis.pdf, Thesis Table 5.5; §3.5 and Appendix A.1.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9DFA-2E69-7CE6-87AB-C425A661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0E2425-14E8-93E3-5328-3E873BBD7E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E2130-02DF-F00C-228C-25A1C08BF51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A9924D-9BD6-892F-EB7A-565882C70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973191-8497-BD83-7EAD-1C0B209F9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Adversarial Hard Negatives &amp; Shortcut Collapse: 63 test environments contain dangerous flags paired with admin-only DACLs (ground-truth Safe). Pure GNN predicts Safe for only 1/63 (1.59% accuracy) because it memorized template flags!</a:t>
            </a:r>
          </a:p>
          <a:p>
            <a:endParaRPr lang="en-US"/>
          </a:p>
          <a:p>
            <a:r>
              <a:rPr lang="en-US"/>
              <a:t>Two-Tier Neuro-Symbolic Solution: Tier 1 neural screener (threshold tau = 0.5) forwards 62/600 candidates (100% recall on true paths, filtering 89.7% of templates in 18.2 ms). Tier 2 symbolic engine verifies reachability in 110.6 ms. Total latency: 128.8 ms.</a:t>
            </a:r>
          </a:p>
          <a:p>
            <a:endParaRPr lang="en-US"/>
          </a:p>
          <a:p>
            <a:r>
              <a:rPr lang="en-US"/>
              <a:t>Primary source: supplied thesis.pdf, Thesis §§8.3–8.4; Table 8.2.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CDBE7-2139-CB30-E638-00635113E3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FA495-1E1E-A03F-9AF4-1AB4D7CBC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20499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Scalability &amp; Interdiction: Forward inference takes 20 ms on 1,000 nodes, 112.5 ms on 5,000 nodes, and 343 ms on 10,000 nodes (765,000 edges) — 12.4x faster than Dijkstra shortest-path.</a:t>
            </a:r>
          </a:p>
          <a:p>
            <a:endParaRPr lang="en-US"/>
          </a:p>
          <a:p>
            <a:r>
              <a:rPr lang="en-US"/>
              <a:t>Theorem 2 &amp; Remediation: The Minimum Perturbation Attack Interdiction (MPAI) problem is NP-hard (reduced from Directed Multiway Cut). Greedy path interdiction severs 68.6% ± 11.7% of critical attack paths at budget B_ops = 24 across 30 synthetic topologies (paired t(29) = 10.27, p = 3.57e-11 vs degree baseline).</a:t>
            </a:r>
          </a:p>
          <a:p>
            <a:endParaRPr lang="en-US"/>
          </a:p>
          <a:p>
            <a:r>
              <a:rPr lang="en-US"/>
              <a:t>Primary source: supplied thesis.pdf, Thesis Tables 6.1–6.2, 7.1, 7.3, and Chapter 9.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Academic Contributions &amp; Limitations: Formal multigraph schema, Theorem 1 gradient bounds, audited benchmark suite, discovery of neural shortcut learning on hard negatives, two-tier neuro-symbolic verification, and Theorem 2 budgeted remediation.</a:t>
            </a:r>
          </a:p>
          <a:p>
            <a:endParaRPr lang="en-US"/>
          </a:p>
          <a:p>
            <a:r>
              <a:rPr lang="en-US"/>
              <a:t>Limitations &amp; Future Work: Single-label scope, 10,000-node measured monolithic scale, synthetic rule assumptions. Next steps include multi-label prediction, temporal graph evolution, cloud Entra ID sync, and live cyber-range validation.</a:t>
            </a:r>
          </a:p>
          <a:p>
            <a:endParaRPr lang="en-US"/>
          </a:p>
          <a:p>
            <a:r>
              <a:rPr lang="en-US"/>
              <a:t>Primary source: supplied thesis.pdf, Thesis Chapter 10.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Conclusion &amp; Defense Discussion Guide:</a:t>
            </a:r>
          </a:p>
          <a:p>
            <a:r>
              <a:rPr lang="en-US"/>
              <a:t>- Why GNN rather than augmented MLP? HAN provides multi-relational path attention and sub-second zero-shot generalization.</a:t>
            </a:r>
          </a:p>
          <a:p>
            <a:r>
              <a:rPr lang="en-US"/>
              <a:t>- What does hard-negative collapse mean? Proves that neural models learn local heuristic shortcuts, necessitating symbolic verification.</a:t>
            </a:r>
          </a:p>
          <a:p>
            <a:r>
              <a:rPr lang="en-US"/>
              <a:t>- How are nested memberships handled? Preprocessed via transitive closure.</a:t>
            </a:r>
          </a:p>
          <a:p>
            <a:r>
              <a:rPr lang="en-US"/>
              <a:t>- Which defense results were measured? Greedy budgeted interdiction (68.6% severed at budget 24); Stackelberg RL is notional future work.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76700" y="-4076700"/>
            <a:ext cx="10287000" cy="18440400"/>
            <a:chOff x="0" y="0"/>
            <a:chExt cx="13716000" cy="2458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587200"/>
            </a:xfrm>
            <a:custGeom>
              <a:avLst/>
              <a:gdLst/>
              <a:ahLst/>
              <a:cxnLst/>
              <a:rect l="l" t="t" r="r" b="b"/>
              <a:pathLst>
                <a:path w="13716000" h="24587200">
                  <a:moveTo>
                    <a:pt x="13716000" y="0"/>
                  </a:moveTo>
                  <a:lnTo>
                    <a:pt x="13716000" y="24587200"/>
                  </a:lnTo>
                  <a:lnTo>
                    <a:pt x="0" y="245872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3364" r="-133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150356" y="7649347"/>
            <a:ext cx="905856" cy="1151753"/>
            <a:chOff x="0" y="0"/>
            <a:chExt cx="1207808" cy="15356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7770" cy="1535684"/>
            </a:xfrm>
            <a:custGeom>
              <a:avLst/>
              <a:gdLst/>
              <a:ahLst/>
              <a:cxnLst/>
              <a:rect l="l" t="t" r="r" b="b"/>
              <a:pathLst>
                <a:path w="1207770" h="1535684">
                  <a:moveTo>
                    <a:pt x="0" y="0"/>
                  </a:moveTo>
                  <a:lnTo>
                    <a:pt x="1207770" y="0"/>
                  </a:lnTo>
                  <a:lnTo>
                    <a:pt x="1207770" y="1535684"/>
                  </a:lnTo>
                  <a:lnTo>
                    <a:pt x="0" y="1535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" r="-5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71696" y="931545"/>
            <a:ext cx="16736130" cy="21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CertGraph: Heterogeneous Graph Attention Networks</a:t>
            </a:r>
          </a:p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Active Directory Certificate Services Vulnerability</a:t>
            </a:r>
          </a:p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Detection and Autonomous Defense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71845" y="6842217"/>
            <a:ext cx="3535832" cy="40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October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98025" y="3369402"/>
            <a:ext cx="5236312" cy="898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Code: ECE 452</a:t>
            </a:r>
          </a:p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41862" y="4601308"/>
            <a:ext cx="1595799" cy="4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Prepared By-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98025" y="5482009"/>
            <a:ext cx="5589175" cy="156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ID: 2002126 Level:4, Semester:II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ID: 2002138 Level:4, Semester:II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ID: 2102151 Level:4, Semester:II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22279" y="7576909"/>
            <a:ext cx="9272226" cy="839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Electronics and Communication Engineering (ECE)</a:t>
            </a:r>
          </a:p>
          <a:p>
            <a:pPr algn="ctr">
              <a:lnSpc>
                <a:spcPts val="3079"/>
              </a:lnSpc>
            </a:pPr>
            <a:endParaRPr lang="en-US" sz="2199" b="1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77760" y="8385705"/>
            <a:ext cx="12578048" cy="839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Hajee Mohammad Danesh Science and Technology University, Dinajpur-5200, Bangladesh</a:t>
            </a:r>
          </a:p>
          <a:p>
            <a:pPr algn="ctr">
              <a:lnSpc>
                <a:spcPts val="3079"/>
              </a:lnSpc>
            </a:pPr>
            <a:endParaRPr lang="en-US" sz="2199" b="1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9195" y="2093595"/>
            <a:ext cx="4408170" cy="613410"/>
            <a:chOff x="0" y="0"/>
            <a:chExt cx="5877560" cy="817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77560" cy="817880"/>
            </a:xfrm>
            <a:custGeom>
              <a:avLst/>
              <a:gdLst/>
              <a:ahLst/>
              <a:cxnLst/>
              <a:rect l="l" t="t" r="r" b="b"/>
              <a:pathLst>
                <a:path w="5877560" h="817880">
                  <a:moveTo>
                    <a:pt x="0" y="0"/>
                  </a:moveTo>
                  <a:lnTo>
                    <a:pt x="5877560" y="0"/>
                  </a:lnTo>
                  <a:lnTo>
                    <a:pt x="587756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0026" b="-9002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87756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The Problem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8448" y="2185416"/>
            <a:ext cx="429768" cy="429768"/>
            <a:chOff x="0" y="0"/>
            <a:chExt cx="573024" cy="573024"/>
          </a:xfrm>
        </p:grpSpPr>
        <p:sp>
          <p:nvSpPr>
            <p:cNvPr id="10" name="Freeform 10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823" r="-88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17355" y="2093595"/>
            <a:ext cx="4408170" cy="613410"/>
            <a:chOff x="0" y="0"/>
            <a:chExt cx="5877560" cy="8178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77560" cy="817880"/>
            </a:xfrm>
            <a:custGeom>
              <a:avLst/>
              <a:gdLst/>
              <a:ahLst/>
              <a:cxnLst/>
              <a:rect l="l" t="t" r="r" b="b"/>
              <a:pathLst>
                <a:path w="5877560" h="817880">
                  <a:moveTo>
                    <a:pt x="0" y="0"/>
                  </a:moveTo>
                  <a:lnTo>
                    <a:pt x="5877560" y="0"/>
                  </a:lnTo>
                  <a:lnTo>
                    <a:pt x="587756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0026" b="-9002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87756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Our Solution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6608" y="2185416"/>
            <a:ext cx="429768" cy="429768"/>
            <a:chOff x="0" y="0"/>
            <a:chExt cx="573024" cy="573024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993" b="-49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17355" y="5293995"/>
            <a:ext cx="4408170" cy="613410"/>
            <a:chOff x="0" y="0"/>
            <a:chExt cx="5877560" cy="8178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77560" cy="817880"/>
            </a:xfrm>
            <a:custGeom>
              <a:avLst/>
              <a:gdLst/>
              <a:ahLst/>
              <a:cxnLst/>
              <a:rect l="l" t="t" r="r" b="b"/>
              <a:pathLst>
                <a:path w="5877560" h="817880">
                  <a:moveTo>
                    <a:pt x="0" y="0"/>
                  </a:moveTo>
                  <a:lnTo>
                    <a:pt x="5877560" y="0"/>
                  </a:lnTo>
                  <a:lnTo>
                    <a:pt x="587756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0026" b="-9002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87756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Research Gap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9446133" y="5362956"/>
            <a:ext cx="429768" cy="429768"/>
          </a:xfrm>
          <a:custGeom>
            <a:avLst/>
            <a:gdLst/>
            <a:ahLst/>
            <a:cxnLst/>
            <a:rect l="l" t="t" r="r" b="b"/>
            <a:pathLst>
              <a:path w="429768" h="429768">
                <a:moveTo>
                  <a:pt x="0" y="0"/>
                </a:moveTo>
                <a:lnTo>
                  <a:pt x="429768" y="0"/>
                </a:lnTo>
                <a:lnTo>
                  <a:pt x="429768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2441448" y="1005078"/>
            <a:ext cx="12801600" cy="7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&amp; SOLUTION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02/15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0160" y="2861310"/>
            <a:ext cx="7132320" cy="433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Active Directory Certificate Services (ADCS) manages PKI in over 90% of Fortune 500 enterprises. Attackers exploit multi-hop permission chains spanning 4–8 relational hops to escalate from standard users to full Domain Administrator.</a:t>
            </a:r>
          </a:p>
          <a:p>
            <a:pPr algn="l">
              <a:lnSpc>
                <a:spcPts val="2520"/>
              </a:lnSpc>
            </a:pPr>
            <a:endParaRPr lang="en-US" sz="21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Deep Escalation Chains: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Privilege escalation paths span 4–8 relational hops across users, groups, templates, and CAs (ESC1–ESC13).</a:t>
            </a:r>
          </a:p>
          <a:p>
            <a:pPr algn="l">
              <a:lnSpc>
                <a:spcPts val="24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Identity Spoofing Risk: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Low-privilege accounts forge administrative identities via Subject Alternative Name (SAN) abuse.</a:t>
            </a:r>
          </a:p>
          <a:p>
            <a:pPr algn="l">
              <a:lnSpc>
                <a:spcPts val="24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Enterprise Takeover: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single valid chain enables full Domain Controller replication (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DCSync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credential theft.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18320" y="2861310"/>
            <a:ext cx="7589520" cy="22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Graph Neural Modeling: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formalized AD as a typed multigraph and built the first GNN framework for ADCS vulnerability detection.</a:t>
            </a:r>
          </a:p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Deep-Path Retention: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designed orthogonal residual skip connections that preserve vulnerability signals across deep 4–8 hop chains.</a:t>
            </a:r>
          </a:p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Neuro-Symbolic Soundness: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coupled neural screening with symbolic verification to deliver zero false negatives with 128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latency.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18320" y="6061710"/>
            <a:ext cx="7589520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Rule-Based Fragility: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Signature tools (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Certipy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rely on static checks, missing novel composite escalation paths.</a:t>
            </a:r>
          </a:p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Scalability Bottleneck: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Graph search tools (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BloodHound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suffer state explosion on large enterprise topologies exceeding 100k nodes.</a:t>
            </a:r>
          </a:p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Lack of Autonomous Defense: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existing framework provides automated, disruption-bounded remediation to sever discovered attack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1005078"/>
            <a:ext cx="12801600" cy="7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0160" y="1945005"/>
            <a:ext cx="27432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①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71700" y="2514600"/>
            <a:ext cx="840105" cy="960120"/>
            <a:chOff x="0" y="0"/>
            <a:chExt cx="1280160" cy="146304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280160" cy="1463040"/>
            </a:xfrm>
            <a:custGeom>
              <a:avLst/>
              <a:gdLst/>
              <a:ahLst/>
              <a:cxnLst/>
              <a:rect l="l" t="t" r="r" b="b"/>
              <a:pathLst>
                <a:path w="1280160" h="1463040">
                  <a:moveTo>
                    <a:pt x="0" y="0"/>
                  </a:moveTo>
                  <a:lnTo>
                    <a:pt x="1280160" y="0"/>
                  </a:lnTo>
                  <a:lnTo>
                    <a:pt x="128016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4" b="-1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80160" y="3592830"/>
            <a:ext cx="27432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Graph-Based AD Modeling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6280" y="1945005"/>
            <a:ext cx="27432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②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417820" y="2514600"/>
            <a:ext cx="960120" cy="960120"/>
            <a:chOff x="0" y="0"/>
            <a:chExt cx="1280160" cy="128016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993" b="-499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526280" y="3592830"/>
            <a:ext cx="27432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Deep-Path Retention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72400" y="1945005"/>
            <a:ext cx="27432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③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663940" y="2514600"/>
            <a:ext cx="960120" cy="960120"/>
            <a:chOff x="0" y="0"/>
            <a:chExt cx="1280160" cy="128016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772400" y="3592830"/>
            <a:ext cx="27432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Topology Generalization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18520" y="1945005"/>
            <a:ext cx="27432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④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10060" y="2514600"/>
            <a:ext cx="1067117" cy="960120"/>
            <a:chOff x="0" y="0"/>
            <a:chExt cx="1422822" cy="128016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1422822" cy="1280160"/>
            </a:xfrm>
            <a:custGeom>
              <a:avLst/>
              <a:gdLst/>
              <a:ahLst/>
              <a:cxnLst/>
              <a:rect l="l" t="t" r="r" b="b"/>
              <a:pathLst>
                <a:path w="1422822" h="1280160">
                  <a:moveTo>
                    <a:pt x="0" y="0"/>
                  </a:moveTo>
                  <a:lnTo>
                    <a:pt x="1422822" y="0"/>
                  </a:lnTo>
                  <a:lnTo>
                    <a:pt x="1422822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71" r="-9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018520" y="3592830"/>
            <a:ext cx="27432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Neuro-Symbolic Verification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64640" y="1945005"/>
            <a:ext cx="2743200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⑤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4988043" y="2514600"/>
            <a:ext cx="1128257" cy="960120"/>
            <a:chOff x="0" y="0"/>
            <a:chExt cx="1504343" cy="128016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1504343" cy="1280160"/>
            </a:xfrm>
            <a:custGeom>
              <a:avLst/>
              <a:gdLst/>
              <a:ahLst/>
              <a:cxnLst/>
              <a:rect l="l" t="t" r="r" b="b"/>
              <a:pathLst>
                <a:path w="1504343" h="1280160">
                  <a:moveTo>
                    <a:pt x="0" y="0"/>
                  </a:moveTo>
                  <a:lnTo>
                    <a:pt x="1504343" y="0"/>
                  </a:lnTo>
                  <a:lnTo>
                    <a:pt x="1504343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43" r="-1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4264640" y="3592830"/>
            <a:ext cx="27432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Remediation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0160" y="4415790"/>
            <a:ext cx="15727680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Primary Objective: To develop a real-time graph AI and autonomous remediation framework for Active Directory Certificate Services (ADCS) that scales to enterprise networks without sacrificing detection accuracy.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0160" y="5558790"/>
            <a:ext cx="15727680" cy="331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Heterogeneous Graph Formulation: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 Active Directory entities, PKI relationships, and transitive group closures as a typed multigraph.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Deep Vulnerability Retention: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Engineer a Relational GAT architecture with mathematically proven skip connections that retain features across 4–8 hops.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Zero-Shot Topology Transfer: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Demonstrate robust generalization across 700 unseen enterprise topologies without retraining.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Two-Tier Verification Engine: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Eliminate neural shortcut false positives by coupling fast GNN screening with formal symbolic reachability checks.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Budget-Constrained Remediation: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 an automated interdiction algorithm to sever maximum attack paths under enterprise disruption bounds.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1005078"/>
            <a:ext cx="12801600" cy="7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 &amp; SOTA MODELS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88720" y="2194560"/>
            <a:ext cx="7772400" cy="3904488"/>
            <a:chOff x="0" y="0"/>
            <a:chExt cx="10363200" cy="5205984"/>
          </a:xfrm>
        </p:grpSpPr>
        <p:sp>
          <p:nvSpPr>
            <p:cNvPr id="10" name="Freeform 10" descr="tool_comparison_f1.png"/>
            <p:cNvSpPr/>
            <p:nvPr/>
          </p:nvSpPr>
          <p:spPr>
            <a:xfrm>
              <a:off x="0" y="0"/>
              <a:ext cx="10363200" cy="5205984"/>
            </a:xfrm>
            <a:custGeom>
              <a:avLst/>
              <a:gdLst/>
              <a:ahLst/>
              <a:cxnLst/>
              <a:rect l="l" t="t" r="r" b="b"/>
              <a:pathLst>
                <a:path w="10363200" h="5205984">
                  <a:moveTo>
                    <a:pt x="0" y="0"/>
                  </a:moveTo>
                  <a:lnTo>
                    <a:pt x="10363200" y="0"/>
                  </a:lnTo>
                  <a:lnTo>
                    <a:pt x="10363200" y="5205984"/>
                  </a:lnTo>
                  <a:lnTo>
                    <a:pt x="0" y="5205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0160" y="6244590"/>
            <a:ext cx="758952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Figure: Macro-F1 Comparison Across Detection Paradigms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0160" y="6793230"/>
            <a:ext cx="7589520" cy="1939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Heuristic Baseline (Certipy):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77.91% Macro-F1 — fails on novel composite escalation paths.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Symbolic Baseline (BFS):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90.82% Macro-F1 — accurate but suffers exponential search latency.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CertGraph (Our System):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99.86% Macro-F1 — +28.2% relative gain over heuristics (p = 3.12e-4).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09760" y="2194560"/>
            <a:ext cx="4773930" cy="613410"/>
            <a:chOff x="0" y="0"/>
            <a:chExt cx="6365240" cy="817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65240" cy="817880"/>
            </a:xfrm>
            <a:custGeom>
              <a:avLst/>
              <a:gdLst/>
              <a:ahLst/>
              <a:cxnLst/>
              <a:rect l="l" t="t" r="r" b="b"/>
              <a:pathLst>
                <a:path w="6365240" h="817880">
                  <a:moveTo>
                    <a:pt x="0" y="0"/>
                  </a:moveTo>
                  <a:lnTo>
                    <a:pt x="6365240" y="0"/>
                  </a:lnTo>
                  <a:lnTo>
                    <a:pt x="636524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01644" b="-10164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36524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Existing Limitations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8048" y="2276856"/>
            <a:ext cx="429768" cy="429768"/>
            <a:chOff x="0" y="0"/>
            <a:chExt cx="573024" cy="573024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823" r="-88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09760" y="2952750"/>
            <a:ext cx="7498080" cy="1664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industry tools rely on hardcoded signature checks (Certipy) or unguided shortest-path traversals (BloodHound). They cannot generalize to composite multi-hop vulnerabilities and fail to scale beyond 100,000 entities.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08795" y="4928235"/>
            <a:ext cx="4773930" cy="613410"/>
            <a:chOff x="0" y="0"/>
            <a:chExt cx="6365240" cy="8178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65240" cy="817880"/>
            </a:xfrm>
            <a:custGeom>
              <a:avLst/>
              <a:gdLst/>
              <a:ahLst/>
              <a:cxnLst/>
              <a:rect l="l" t="t" r="r" b="b"/>
              <a:pathLst>
                <a:path w="6365240" h="817880">
                  <a:moveTo>
                    <a:pt x="0" y="0"/>
                  </a:moveTo>
                  <a:lnTo>
                    <a:pt x="6365240" y="0"/>
                  </a:lnTo>
                  <a:lnTo>
                    <a:pt x="636524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01644" b="-10164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36524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Our Key Innovations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28048" y="5020056"/>
            <a:ext cx="429768" cy="429768"/>
            <a:chOff x="0" y="0"/>
            <a:chExt cx="573024" cy="573024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993" b="-49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509760" y="5695950"/>
            <a:ext cx="7498080" cy="303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Learned Relational Attention: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Dynamically weights security-critical edges (DACLs, enrollment rights) over background relations.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Proven Gradient Retention: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Guarantees feature persistence across deep permission paths via residual skip projections.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Sub-Second Real-Time Auditing: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Completes enterprise-scale inference in 343 ms (12.4x faster than graph search).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2">
            <a:extLst>
              <a:ext uri="{FF2B5EF4-FFF2-40B4-BE49-F238E27FC236}">
                <a16:creationId xmlns:a16="http://schemas.microsoft.com/office/drawing/2014/main" id="{585D0058-B91E-A8AE-DC6B-B3118B0F36B7}"/>
              </a:ext>
            </a:extLst>
          </p:cNvPr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131" name="Freeform 3">
              <a:extLst>
                <a:ext uri="{FF2B5EF4-FFF2-40B4-BE49-F238E27FC236}">
                  <a16:creationId xmlns:a16="http://schemas.microsoft.com/office/drawing/2014/main" id="{FF8E988A-2B5E-8ABC-75C8-E577819FBECD}"/>
                </a:ext>
              </a:extLst>
            </p:cNvPr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995553"/>
            <a:ext cx="12801600" cy="76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ADCS ATTACK MECHANICS: ESC13 CASE STUDY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574530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79195" y="2185035"/>
            <a:ext cx="4773930" cy="613410"/>
            <a:chOff x="0" y="0"/>
            <a:chExt cx="6365240" cy="817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65240" cy="817880"/>
            </a:xfrm>
            <a:custGeom>
              <a:avLst/>
              <a:gdLst/>
              <a:ahLst/>
              <a:cxnLst/>
              <a:rect l="l" t="t" r="r" b="b"/>
              <a:pathLst>
                <a:path w="6365240" h="817880">
                  <a:moveTo>
                    <a:pt x="0" y="0"/>
                  </a:moveTo>
                  <a:lnTo>
                    <a:pt x="6365240" y="0"/>
                  </a:lnTo>
                  <a:lnTo>
                    <a:pt x="636524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644" b="-10164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36524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ESC13 Attack Progression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98448" y="2276856"/>
            <a:ext cx="429768" cy="429768"/>
            <a:chOff x="0" y="0"/>
            <a:chExt cx="573024" cy="573024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823" r="-88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455105" y="1771650"/>
            <a:ext cx="7315200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 — Target Discovery: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Attacker discovers a certificate template linked to an issuance policy OID granting administrative rights.</a:t>
            </a:r>
          </a:p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2 — Intermediate Enrollment: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Low-privilege account enrolls via an intermediate security group with valid enrollment permissions.</a:t>
            </a:r>
          </a:p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3 — PKINIT Authentication: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issued certificate is authenticated via Kerberos PKINIT, issuing a high-privilege Ticket Granting Ticket (TGT).</a:t>
            </a:r>
          </a:p>
          <a:p>
            <a:pPr algn="just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4 — Enterprise Compromise: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Attacker executes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DCSync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replication to extract all domain credentials.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9195" y="2827001"/>
            <a:ext cx="7946137" cy="1800182"/>
            <a:chOff x="0" y="-19049"/>
            <a:chExt cx="8800023" cy="24002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00023" cy="2381194"/>
            </a:xfrm>
            <a:custGeom>
              <a:avLst/>
              <a:gdLst/>
              <a:ahLst/>
              <a:cxnLst/>
              <a:rect l="l" t="t" r="r" b="b"/>
              <a:pathLst>
                <a:path w="8800023" h="2381194">
                  <a:moveTo>
                    <a:pt x="0" y="0"/>
                  </a:moveTo>
                  <a:lnTo>
                    <a:pt x="8800023" y="0"/>
                  </a:lnTo>
                  <a:lnTo>
                    <a:pt x="8800023" y="2381194"/>
                  </a:lnTo>
                  <a:lnTo>
                    <a:pt x="0" y="23811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601" r="-13895" b="-4143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" y="-19049"/>
              <a:ext cx="8574506" cy="2400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520"/>
                </a:lnSpc>
              </a:pPr>
              <a:r>
                <a:rPr lang="en-US" sz="21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Single-Node Inspection Fails:</a:t>
              </a:r>
            </a:p>
            <a:p>
              <a:pPr algn="just">
                <a:lnSpc>
                  <a:spcPts val="24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Vulnerabilities exist solely as multi-hop path closures across separate objects. Every permission appears benign in isolation. </a:t>
              </a:r>
              <a:r>
                <a:rPr lang="en-US" sz="2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CertGraph</a:t>
              </a: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captures these multi-hop relational chains that individual rule scanners miss.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638800" y="8877300"/>
            <a:ext cx="777240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Figure: Two-Hop ESC13 Privilege Escalation Attack Chain</a:t>
            </a: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1C445FA6-764A-0176-888B-4B904367EB02}"/>
              </a:ext>
            </a:extLst>
          </p:cNvPr>
          <p:cNvSpPr/>
          <p:nvPr/>
        </p:nvSpPr>
        <p:spPr>
          <a:xfrm>
            <a:off x="3810000" y="4855683"/>
            <a:ext cx="2049780" cy="207307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F06C5A95-8B06-F92F-D9A7-D0C8C3278B9D}"/>
              </a:ext>
            </a:extLst>
          </p:cNvPr>
          <p:cNvSpPr/>
          <p:nvPr/>
        </p:nvSpPr>
        <p:spPr>
          <a:xfrm>
            <a:off x="3810000" y="4855683"/>
            <a:ext cx="2049780" cy="45066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4D0E0774-1976-C988-D94C-FDC85EC2285D}"/>
              </a:ext>
            </a:extLst>
          </p:cNvPr>
          <p:cNvSpPr txBox="1"/>
          <p:nvPr/>
        </p:nvSpPr>
        <p:spPr>
          <a:xfrm>
            <a:off x="4021110" y="4855683"/>
            <a:ext cx="1617690" cy="45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Principal</a:t>
            </a:r>
            <a:endParaRPr lang="en-US" sz="13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AA7B3755-0886-5A56-AC0D-0FD706F51260}"/>
              </a:ext>
            </a:extLst>
          </p:cNvPr>
          <p:cNvSpPr txBox="1"/>
          <p:nvPr/>
        </p:nvSpPr>
        <p:spPr>
          <a:xfrm>
            <a:off x="3883152" y="5422611"/>
            <a:ext cx="189360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Low-Priv User</a:t>
            </a:r>
            <a:endParaRPr lang="en-US" sz="19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3BB7066B-C7E3-2EAF-A7D8-AF289F6689E4}"/>
              </a:ext>
            </a:extLst>
          </p:cNvPr>
          <p:cNvSpPr txBox="1"/>
          <p:nvPr/>
        </p:nvSpPr>
        <p:spPr>
          <a:xfrm>
            <a:off x="3883152" y="5815803"/>
            <a:ext cx="189360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foothold</a:t>
            </a:r>
            <a:endParaRPr lang="en-US" sz="14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24CA4E4B-8587-95B1-0E65-22AAC199D61D}"/>
              </a:ext>
            </a:extLst>
          </p:cNvPr>
          <p:cNvSpPr txBox="1"/>
          <p:nvPr/>
        </p:nvSpPr>
        <p:spPr>
          <a:xfrm>
            <a:off x="3901439" y="6227284"/>
            <a:ext cx="1854563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Users group</a:t>
            </a:r>
            <a:endParaRPr lang="en-US" sz="140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1CE1E261-5040-5A3F-901D-7D2EBDA3096C}"/>
              </a:ext>
            </a:extLst>
          </p:cNvPr>
          <p:cNvSpPr/>
          <p:nvPr/>
        </p:nvSpPr>
        <p:spPr>
          <a:xfrm>
            <a:off x="6141720" y="4855683"/>
            <a:ext cx="2049780" cy="207307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32E82865-D54F-1E30-69B3-0F0A0E635FAD}"/>
              </a:ext>
            </a:extLst>
          </p:cNvPr>
          <p:cNvSpPr/>
          <p:nvPr/>
        </p:nvSpPr>
        <p:spPr>
          <a:xfrm>
            <a:off x="6141720" y="4855683"/>
            <a:ext cx="2049780" cy="45066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6CEE9804-E85B-875A-AD72-F1DB76342CB0}"/>
              </a:ext>
            </a:extLst>
          </p:cNvPr>
          <p:cNvSpPr txBox="1"/>
          <p:nvPr/>
        </p:nvSpPr>
        <p:spPr>
          <a:xfrm>
            <a:off x="6214872" y="4855683"/>
            <a:ext cx="1872850" cy="45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3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1A42755D-908C-DC58-3A03-9B32395A4336}"/>
              </a:ext>
            </a:extLst>
          </p:cNvPr>
          <p:cNvSpPr txBox="1"/>
          <p:nvPr/>
        </p:nvSpPr>
        <p:spPr>
          <a:xfrm>
            <a:off x="6214872" y="5422611"/>
            <a:ext cx="189360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Enroller Group</a:t>
            </a:r>
            <a:endParaRPr lang="en-US" sz="190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E51EB3B6-4EE5-9A93-E5A0-1B75F1B361F3}"/>
              </a:ext>
            </a:extLst>
          </p:cNvPr>
          <p:cNvSpPr txBox="1"/>
          <p:nvPr/>
        </p:nvSpPr>
        <p:spPr>
          <a:xfrm>
            <a:off x="6214872" y="5815803"/>
            <a:ext cx="189360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group</a:t>
            </a:r>
            <a:endParaRPr lang="en-US" sz="14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E1FAAA89-6841-0566-3516-BB128599F21A}"/>
              </a:ext>
            </a:extLst>
          </p:cNvPr>
          <p:cNvSpPr txBox="1"/>
          <p:nvPr/>
        </p:nvSpPr>
        <p:spPr>
          <a:xfrm>
            <a:off x="6233159" y="6227284"/>
            <a:ext cx="1854563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template DACL</a:t>
            </a:r>
            <a:endParaRPr lang="en-US" sz="140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5B300EBE-1FEB-CE31-75FD-CE52DA5BD772}"/>
              </a:ext>
            </a:extLst>
          </p:cNvPr>
          <p:cNvSpPr/>
          <p:nvPr/>
        </p:nvSpPr>
        <p:spPr>
          <a:xfrm>
            <a:off x="8473440" y="4855683"/>
            <a:ext cx="2049780" cy="207307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BD1CD55E-11B5-BE57-FFA4-4A71C72A94FB}"/>
              </a:ext>
            </a:extLst>
          </p:cNvPr>
          <p:cNvSpPr/>
          <p:nvPr/>
        </p:nvSpPr>
        <p:spPr>
          <a:xfrm>
            <a:off x="8473440" y="4855683"/>
            <a:ext cx="2049780" cy="45066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61BCA4C1-3E28-C1E4-B506-513E81E72980}"/>
              </a:ext>
            </a:extLst>
          </p:cNvPr>
          <p:cNvSpPr txBox="1"/>
          <p:nvPr/>
        </p:nvSpPr>
        <p:spPr>
          <a:xfrm>
            <a:off x="8546592" y="4855683"/>
            <a:ext cx="1740408" cy="45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Template</a:t>
            </a:r>
            <a:endParaRPr lang="en-US" sz="13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52832739-9D27-0012-CEF0-D9BF0309C758}"/>
              </a:ext>
            </a:extLst>
          </p:cNvPr>
          <p:cNvSpPr txBox="1"/>
          <p:nvPr/>
        </p:nvSpPr>
        <p:spPr>
          <a:xfrm>
            <a:off x="8546592" y="5422611"/>
            <a:ext cx="189360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ESC13 Template</a:t>
            </a:r>
            <a:endParaRPr lang="en-US" sz="190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89E71141-1FE4-C824-D6D1-3D121073BE38}"/>
              </a:ext>
            </a:extLst>
          </p:cNvPr>
          <p:cNvSpPr txBox="1"/>
          <p:nvPr/>
        </p:nvSpPr>
        <p:spPr>
          <a:xfrm>
            <a:off x="8546592" y="5815803"/>
            <a:ext cx="189360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template</a:t>
            </a:r>
            <a:endParaRPr lang="en-US" sz="1400" dirty="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ADBFEF48-2BA6-37F8-677D-4562382E0604}"/>
              </a:ext>
            </a:extLst>
          </p:cNvPr>
          <p:cNvSpPr txBox="1"/>
          <p:nvPr/>
        </p:nvSpPr>
        <p:spPr>
          <a:xfrm>
            <a:off x="8564879" y="6227284"/>
            <a:ext cx="1854563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OID extension</a:t>
            </a:r>
            <a:endParaRPr lang="en-US" sz="1400" dirty="0"/>
          </a:p>
        </p:txBody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B3FA8C83-8F2C-E1F7-7B9F-D4458127CBE1}"/>
              </a:ext>
            </a:extLst>
          </p:cNvPr>
          <p:cNvSpPr/>
          <p:nvPr/>
        </p:nvSpPr>
        <p:spPr>
          <a:xfrm>
            <a:off x="10805160" y="4855683"/>
            <a:ext cx="2049780" cy="207307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20">
            <a:extLst>
              <a:ext uri="{FF2B5EF4-FFF2-40B4-BE49-F238E27FC236}">
                <a16:creationId xmlns:a16="http://schemas.microsoft.com/office/drawing/2014/main" id="{3DD80969-4BE8-D2FA-342F-0E0A27EA4593}"/>
              </a:ext>
            </a:extLst>
          </p:cNvPr>
          <p:cNvSpPr/>
          <p:nvPr/>
        </p:nvSpPr>
        <p:spPr>
          <a:xfrm>
            <a:off x="10805160" y="4855683"/>
            <a:ext cx="2049780" cy="45066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A3FAA2F2-7835-7241-DCCB-A5F62DA306C0}"/>
              </a:ext>
            </a:extLst>
          </p:cNvPr>
          <p:cNvSpPr txBox="1"/>
          <p:nvPr/>
        </p:nvSpPr>
        <p:spPr>
          <a:xfrm>
            <a:off x="10878312" y="4855683"/>
            <a:ext cx="1770888" cy="45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Policy OID</a:t>
            </a:r>
            <a:endParaRPr lang="en-US" sz="1300" dirty="0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9DA3B034-423A-F4F4-D2C9-4F06C4E0BC42}"/>
              </a:ext>
            </a:extLst>
          </p:cNvPr>
          <p:cNvSpPr txBox="1"/>
          <p:nvPr/>
        </p:nvSpPr>
        <p:spPr>
          <a:xfrm>
            <a:off x="10878312" y="5422611"/>
            <a:ext cx="189360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OID</a:t>
            </a:r>
            <a:endParaRPr lang="en-US" sz="1900" dirty="0"/>
          </a:p>
        </p:txBody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C539E89D-5557-0504-0C18-DE7317AF17E3}"/>
              </a:ext>
            </a:extLst>
          </p:cNvPr>
          <p:cNvSpPr txBox="1"/>
          <p:nvPr/>
        </p:nvSpPr>
        <p:spPr>
          <a:xfrm>
            <a:off x="10878312" y="5815803"/>
            <a:ext cx="189360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policy</a:t>
            </a:r>
            <a:endParaRPr lang="en-US" sz="1400" dirty="0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F56E6060-05C9-61ED-250B-5696AEF8F94C}"/>
              </a:ext>
            </a:extLst>
          </p:cNvPr>
          <p:cNvSpPr txBox="1"/>
          <p:nvPr/>
        </p:nvSpPr>
        <p:spPr>
          <a:xfrm>
            <a:off x="10896599" y="6227284"/>
            <a:ext cx="1854563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target SID</a:t>
            </a:r>
            <a:endParaRPr lang="en-US" sz="1400" dirty="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0743E3F4-7874-6697-0B0A-B24ED713765D}"/>
              </a:ext>
            </a:extLst>
          </p:cNvPr>
          <p:cNvSpPr/>
          <p:nvPr/>
        </p:nvSpPr>
        <p:spPr>
          <a:xfrm>
            <a:off x="13136880" y="4855683"/>
            <a:ext cx="2049780" cy="207307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8E23BEAD-C285-5405-B9CE-389CD06D22A0}"/>
              </a:ext>
            </a:extLst>
          </p:cNvPr>
          <p:cNvSpPr/>
          <p:nvPr/>
        </p:nvSpPr>
        <p:spPr>
          <a:xfrm>
            <a:off x="13136880" y="4855683"/>
            <a:ext cx="2049780" cy="450668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27">
            <a:extLst>
              <a:ext uri="{FF2B5EF4-FFF2-40B4-BE49-F238E27FC236}">
                <a16:creationId xmlns:a16="http://schemas.microsoft.com/office/drawing/2014/main" id="{BE22B94E-488C-EF6E-1521-9E17735490A1}"/>
              </a:ext>
            </a:extLst>
          </p:cNvPr>
          <p:cNvSpPr txBox="1"/>
          <p:nvPr/>
        </p:nvSpPr>
        <p:spPr>
          <a:xfrm>
            <a:off x="13210032" y="4855683"/>
            <a:ext cx="1872850" cy="45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Tier-0 Crown Jewel</a:t>
            </a:r>
            <a:endParaRPr lang="en-US" sz="1300" dirty="0"/>
          </a:p>
        </p:txBody>
      </p:sp>
      <p:sp>
        <p:nvSpPr>
          <p:cNvPr id="75" name="Text 28">
            <a:extLst>
              <a:ext uri="{FF2B5EF4-FFF2-40B4-BE49-F238E27FC236}">
                <a16:creationId xmlns:a16="http://schemas.microsoft.com/office/drawing/2014/main" id="{6D62A92E-7559-D653-A2AD-1A837143B8C2}"/>
              </a:ext>
            </a:extLst>
          </p:cNvPr>
          <p:cNvSpPr txBox="1"/>
          <p:nvPr/>
        </p:nvSpPr>
        <p:spPr>
          <a:xfrm>
            <a:off x="13210032" y="5422611"/>
            <a:ext cx="189360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Admins</a:t>
            </a:r>
            <a:endParaRPr lang="en-US" sz="1900" dirty="0"/>
          </a:p>
        </p:txBody>
      </p:sp>
      <p:sp>
        <p:nvSpPr>
          <p:cNvPr id="77" name="Text 29">
            <a:extLst>
              <a:ext uri="{FF2B5EF4-FFF2-40B4-BE49-F238E27FC236}">
                <a16:creationId xmlns:a16="http://schemas.microsoft.com/office/drawing/2014/main" id="{6A532992-1734-8568-01C9-565879538CB4}"/>
              </a:ext>
            </a:extLst>
          </p:cNvPr>
          <p:cNvSpPr txBox="1"/>
          <p:nvPr/>
        </p:nvSpPr>
        <p:spPr>
          <a:xfrm>
            <a:off x="13210032" y="5815803"/>
            <a:ext cx="189360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Tier-0 target asset</a:t>
            </a:r>
            <a:endParaRPr lang="en-US" sz="1400" dirty="0"/>
          </a:p>
        </p:txBody>
      </p:sp>
      <p:sp>
        <p:nvSpPr>
          <p:cNvPr id="79" name="Text 30">
            <a:extLst>
              <a:ext uri="{FF2B5EF4-FFF2-40B4-BE49-F238E27FC236}">
                <a16:creationId xmlns:a16="http://schemas.microsoft.com/office/drawing/2014/main" id="{86459444-F4B8-85B9-5E7B-6C55C9687DB6}"/>
              </a:ext>
            </a:extLst>
          </p:cNvPr>
          <p:cNvSpPr txBox="1"/>
          <p:nvPr/>
        </p:nvSpPr>
        <p:spPr>
          <a:xfrm>
            <a:off x="13228319" y="6227284"/>
            <a:ext cx="1854563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forest takeover</a:t>
            </a:r>
            <a:endParaRPr lang="en-US" sz="1400" dirty="0"/>
          </a:p>
        </p:txBody>
      </p:sp>
      <p:sp>
        <p:nvSpPr>
          <p:cNvPr id="81" name="Shape 31">
            <a:extLst>
              <a:ext uri="{FF2B5EF4-FFF2-40B4-BE49-F238E27FC236}">
                <a16:creationId xmlns:a16="http://schemas.microsoft.com/office/drawing/2014/main" id="{827AE6E0-65E1-7C7E-53B1-4DC33A0A7E7C}"/>
              </a:ext>
            </a:extLst>
          </p:cNvPr>
          <p:cNvSpPr/>
          <p:nvPr/>
        </p:nvSpPr>
        <p:spPr>
          <a:xfrm>
            <a:off x="5757671" y="5998683"/>
            <a:ext cx="380673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32">
            <a:extLst>
              <a:ext uri="{FF2B5EF4-FFF2-40B4-BE49-F238E27FC236}">
                <a16:creationId xmlns:a16="http://schemas.microsoft.com/office/drawing/2014/main" id="{473209EE-9064-1F7B-EEB2-81CA419219E1}"/>
              </a:ext>
            </a:extLst>
          </p:cNvPr>
          <p:cNvSpPr/>
          <p:nvPr/>
        </p:nvSpPr>
        <p:spPr>
          <a:xfrm>
            <a:off x="5935980" y="6090123"/>
            <a:ext cx="0" cy="1442137"/>
          </a:xfrm>
          <a:prstGeom prst="line">
            <a:avLst/>
          </a:prstGeom>
          <a:noFill/>
          <a:ln w="22225">
            <a:solidFill>
              <a:srgbClr val="334155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33">
            <a:extLst>
              <a:ext uri="{FF2B5EF4-FFF2-40B4-BE49-F238E27FC236}">
                <a16:creationId xmlns:a16="http://schemas.microsoft.com/office/drawing/2014/main" id="{5A695F69-C6A2-A793-D187-DB881444A80E}"/>
              </a:ext>
            </a:extLst>
          </p:cNvPr>
          <p:cNvSpPr/>
          <p:nvPr/>
        </p:nvSpPr>
        <p:spPr>
          <a:xfrm>
            <a:off x="4975860" y="7553163"/>
            <a:ext cx="2049780" cy="1171737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Text 34">
            <a:extLst>
              <a:ext uri="{FF2B5EF4-FFF2-40B4-BE49-F238E27FC236}">
                <a16:creationId xmlns:a16="http://schemas.microsoft.com/office/drawing/2014/main" id="{E89793B4-7D92-79CD-B493-4C1842297C40}"/>
              </a:ext>
            </a:extLst>
          </p:cNvPr>
          <p:cNvSpPr txBox="1"/>
          <p:nvPr/>
        </p:nvSpPr>
        <p:spPr>
          <a:xfrm>
            <a:off x="4975860" y="7617171"/>
            <a:ext cx="20497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9" name="Text 35">
            <a:extLst>
              <a:ext uri="{FF2B5EF4-FFF2-40B4-BE49-F238E27FC236}">
                <a16:creationId xmlns:a16="http://schemas.microsoft.com/office/drawing/2014/main" id="{BBB4BB7C-9110-ECA4-8B2D-E08521DE4D53}"/>
              </a:ext>
            </a:extLst>
          </p:cNvPr>
          <p:cNvSpPr txBox="1"/>
          <p:nvPr/>
        </p:nvSpPr>
        <p:spPr>
          <a:xfrm>
            <a:off x="4975860" y="7891491"/>
            <a:ext cx="2049780" cy="405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</a:t>
            </a:r>
            <a:endParaRPr lang="en-US" sz="2200" dirty="0"/>
          </a:p>
        </p:txBody>
      </p:sp>
      <p:sp>
        <p:nvSpPr>
          <p:cNvPr id="91" name="Text 36">
            <a:extLst>
              <a:ext uri="{FF2B5EF4-FFF2-40B4-BE49-F238E27FC236}">
                <a16:creationId xmlns:a16="http://schemas.microsoft.com/office/drawing/2014/main" id="{BE839FF2-3353-67A2-1736-D544BDF5C51B}"/>
              </a:ext>
            </a:extLst>
          </p:cNvPr>
          <p:cNvSpPr txBox="1"/>
          <p:nvPr/>
        </p:nvSpPr>
        <p:spPr>
          <a:xfrm>
            <a:off x="4975860" y="8312115"/>
            <a:ext cx="2049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nesting</a:t>
            </a:r>
            <a:endParaRPr lang="en-US" sz="1400" dirty="0"/>
          </a:p>
        </p:txBody>
      </p:sp>
      <p:sp>
        <p:nvSpPr>
          <p:cNvPr id="93" name="Shape 37">
            <a:extLst>
              <a:ext uri="{FF2B5EF4-FFF2-40B4-BE49-F238E27FC236}">
                <a16:creationId xmlns:a16="http://schemas.microsoft.com/office/drawing/2014/main" id="{1C10002E-50FE-9660-62F9-A8731DC65D7A}"/>
              </a:ext>
            </a:extLst>
          </p:cNvPr>
          <p:cNvSpPr/>
          <p:nvPr/>
        </p:nvSpPr>
        <p:spPr>
          <a:xfrm>
            <a:off x="8089391" y="5998683"/>
            <a:ext cx="380673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38">
            <a:extLst>
              <a:ext uri="{FF2B5EF4-FFF2-40B4-BE49-F238E27FC236}">
                <a16:creationId xmlns:a16="http://schemas.microsoft.com/office/drawing/2014/main" id="{F0559774-A50D-FF2A-5FF8-8AC2A44EB890}"/>
              </a:ext>
            </a:extLst>
          </p:cNvPr>
          <p:cNvSpPr/>
          <p:nvPr/>
        </p:nvSpPr>
        <p:spPr>
          <a:xfrm>
            <a:off x="8267700" y="6090123"/>
            <a:ext cx="0" cy="1442137"/>
          </a:xfrm>
          <a:prstGeom prst="line">
            <a:avLst/>
          </a:prstGeom>
          <a:noFill/>
          <a:ln w="22225">
            <a:solidFill>
              <a:srgbClr val="334155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39">
            <a:extLst>
              <a:ext uri="{FF2B5EF4-FFF2-40B4-BE49-F238E27FC236}">
                <a16:creationId xmlns:a16="http://schemas.microsoft.com/office/drawing/2014/main" id="{10820B0E-C37F-6190-4554-5F469E6148F1}"/>
              </a:ext>
            </a:extLst>
          </p:cNvPr>
          <p:cNvSpPr/>
          <p:nvPr/>
        </p:nvSpPr>
        <p:spPr>
          <a:xfrm>
            <a:off x="7307580" y="7553163"/>
            <a:ext cx="2049780" cy="1171737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Text 40">
            <a:extLst>
              <a:ext uri="{FF2B5EF4-FFF2-40B4-BE49-F238E27FC236}">
                <a16:creationId xmlns:a16="http://schemas.microsoft.com/office/drawing/2014/main" id="{F8245951-79DC-9087-5EB2-695B7D65FAF6}"/>
              </a:ext>
            </a:extLst>
          </p:cNvPr>
          <p:cNvSpPr txBox="1"/>
          <p:nvPr/>
        </p:nvSpPr>
        <p:spPr>
          <a:xfrm>
            <a:off x="7307580" y="7617171"/>
            <a:ext cx="20497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01" name="Text 41">
            <a:extLst>
              <a:ext uri="{FF2B5EF4-FFF2-40B4-BE49-F238E27FC236}">
                <a16:creationId xmlns:a16="http://schemas.microsoft.com/office/drawing/2014/main" id="{2ADE2C09-CC7B-17BB-7993-92BDC804CB75}"/>
              </a:ext>
            </a:extLst>
          </p:cNvPr>
          <p:cNvSpPr txBox="1"/>
          <p:nvPr/>
        </p:nvSpPr>
        <p:spPr>
          <a:xfrm>
            <a:off x="7307580" y="7891491"/>
            <a:ext cx="2049780" cy="405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2200" dirty="0"/>
          </a:p>
        </p:txBody>
      </p:sp>
      <p:sp>
        <p:nvSpPr>
          <p:cNvPr id="103" name="Text 42">
            <a:extLst>
              <a:ext uri="{FF2B5EF4-FFF2-40B4-BE49-F238E27FC236}">
                <a16:creationId xmlns:a16="http://schemas.microsoft.com/office/drawing/2014/main" id="{787AFFBA-B19B-D190-D262-B8FAFBD56029}"/>
              </a:ext>
            </a:extLst>
          </p:cNvPr>
          <p:cNvSpPr txBox="1"/>
          <p:nvPr/>
        </p:nvSpPr>
        <p:spPr>
          <a:xfrm>
            <a:off x="7307580" y="8312115"/>
            <a:ext cx="2049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DACL ACE</a:t>
            </a:r>
            <a:endParaRPr lang="en-US" sz="1400" dirty="0"/>
          </a:p>
        </p:txBody>
      </p:sp>
      <p:sp>
        <p:nvSpPr>
          <p:cNvPr id="105" name="Shape 43">
            <a:extLst>
              <a:ext uri="{FF2B5EF4-FFF2-40B4-BE49-F238E27FC236}">
                <a16:creationId xmlns:a16="http://schemas.microsoft.com/office/drawing/2014/main" id="{9C2AC6EB-CE02-E5B8-9227-3EFBEA1C4B90}"/>
              </a:ext>
            </a:extLst>
          </p:cNvPr>
          <p:cNvSpPr/>
          <p:nvPr/>
        </p:nvSpPr>
        <p:spPr>
          <a:xfrm>
            <a:off x="10421111" y="5998683"/>
            <a:ext cx="380673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44">
            <a:extLst>
              <a:ext uri="{FF2B5EF4-FFF2-40B4-BE49-F238E27FC236}">
                <a16:creationId xmlns:a16="http://schemas.microsoft.com/office/drawing/2014/main" id="{0A0FBE47-3823-84E9-4F1D-A230E87EAEA6}"/>
              </a:ext>
            </a:extLst>
          </p:cNvPr>
          <p:cNvSpPr/>
          <p:nvPr/>
        </p:nvSpPr>
        <p:spPr>
          <a:xfrm>
            <a:off x="10599420" y="6090123"/>
            <a:ext cx="0" cy="1442137"/>
          </a:xfrm>
          <a:prstGeom prst="line">
            <a:avLst/>
          </a:prstGeom>
          <a:noFill/>
          <a:ln w="22225">
            <a:solidFill>
              <a:srgbClr val="C6282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45">
            <a:extLst>
              <a:ext uri="{FF2B5EF4-FFF2-40B4-BE49-F238E27FC236}">
                <a16:creationId xmlns:a16="http://schemas.microsoft.com/office/drawing/2014/main" id="{D02CC9BA-D620-CCB4-1399-39A746F55D04}"/>
              </a:ext>
            </a:extLst>
          </p:cNvPr>
          <p:cNvSpPr/>
          <p:nvPr/>
        </p:nvSpPr>
        <p:spPr>
          <a:xfrm>
            <a:off x="9639300" y="7553163"/>
            <a:ext cx="2049780" cy="1171737"/>
          </a:xfrm>
          <a:prstGeom prst="rect">
            <a:avLst/>
          </a:prstGeom>
          <a:solidFill>
            <a:srgbClr val="FDECEA"/>
          </a:solidFill>
          <a:ln w="19050">
            <a:solidFill>
              <a:srgbClr val="C6282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Text 46">
            <a:extLst>
              <a:ext uri="{FF2B5EF4-FFF2-40B4-BE49-F238E27FC236}">
                <a16:creationId xmlns:a16="http://schemas.microsoft.com/office/drawing/2014/main" id="{2F3B3EEA-7609-A0DC-DEB0-201340DDE0DD}"/>
              </a:ext>
            </a:extLst>
          </p:cNvPr>
          <p:cNvSpPr txBox="1"/>
          <p:nvPr/>
        </p:nvSpPr>
        <p:spPr>
          <a:xfrm>
            <a:off x="9639300" y="7617171"/>
            <a:ext cx="20497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13" name="Text 47">
            <a:extLst>
              <a:ext uri="{FF2B5EF4-FFF2-40B4-BE49-F238E27FC236}">
                <a16:creationId xmlns:a16="http://schemas.microsoft.com/office/drawing/2014/main" id="{189D3D08-05DD-BE06-01BB-C9D62B43FA5A}"/>
              </a:ext>
            </a:extLst>
          </p:cNvPr>
          <p:cNvSpPr txBox="1"/>
          <p:nvPr/>
        </p:nvSpPr>
        <p:spPr>
          <a:xfrm>
            <a:off x="9639300" y="7891491"/>
            <a:ext cx="2049780" cy="405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LinksPolicy</a:t>
            </a:r>
            <a:endParaRPr lang="en-US" sz="2200" dirty="0"/>
          </a:p>
        </p:txBody>
      </p:sp>
      <p:sp>
        <p:nvSpPr>
          <p:cNvPr id="115" name="Text 48">
            <a:extLst>
              <a:ext uri="{FF2B5EF4-FFF2-40B4-BE49-F238E27FC236}">
                <a16:creationId xmlns:a16="http://schemas.microsoft.com/office/drawing/2014/main" id="{461F6E17-48BC-803B-9A2F-467FAB25909D}"/>
              </a:ext>
            </a:extLst>
          </p:cNvPr>
          <p:cNvSpPr txBox="1"/>
          <p:nvPr/>
        </p:nvSpPr>
        <p:spPr>
          <a:xfrm>
            <a:off x="9639300" y="8312115"/>
            <a:ext cx="2049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 linkage (ESC13)</a:t>
            </a:r>
            <a:endParaRPr lang="en-US" sz="1400" dirty="0"/>
          </a:p>
        </p:txBody>
      </p:sp>
      <p:sp>
        <p:nvSpPr>
          <p:cNvPr id="117" name="Shape 49">
            <a:extLst>
              <a:ext uri="{FF2B5EF4-FFF2-40B4-BE49-F238E27FC236}">
                <a16:creationId xmlns:a16="http://schemas.microsoft.com/office/drawing/2014/main" id="{171F7552-F97D-C51C-5949-31FAC02EF0EF}"/>
              </a:ext>
            </a:extLst>
          </p:cNvPr>
          <p:cNvSpPr/>
          <p:nvPr/>
        </p:nvSpPr>
        <p:spPr>
          <a:xfrm>
            <a:off x="12752831" y="5998683"/>
            <a:ext cx="380673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50">
            <a:extLst>
              <a:ext uri="{FF2B5EF4-FFF2-40B4-BE49-F238E27FC236}">
                <a16:creationId xmlns:a16="http://schemas.microsoft.com/office/drawing/2014/main" id="{1C691F93-B1CB-5F45-0757-117C9E434FE9}"/>
              </a:ext>
            </a:extLst>
          </p:cNvPr>
          <p:cNvSpPr/>
          <p:nvPr/>
        </p:nvSpPr>
        <p:spPr>
          <a:xfrm>
            <a:off x="12931140" y="6090123"/>
            <a:ext cx="0" cy="1442137"/>
          </a:xfrm>
          <a:prstGeom prst="line">
            <a:avLst/>
          </a:prstGeom>
          <a:noFill/>
          <a:ln w="22225">
            <a:solidFill>
              <a:srgbClr val="C6282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51">
            <a:extLst>
              <a:ext uri="{FF2B5EF4-FFF2-40B4-BE49-F238E27FC236}">
                <a16:creationId xmlns:a16="http://schemas.microsoft.com/office/drawing/2014/main" id="{3E58D0FE-23FB-539B-A335-697759D6BC84}"/>
              </a:ext>
            </a:extLst>
          </p:cNvPr>
          <p:cNvSpPr/>
          <p:nvPr/>
        </p:nvSpPr>
        <p:spPr>
          <a:xfrm>
            <a:off x="11971020" y="7553163"/>
            <a:ext cx="2049780" cy="1171737"/>
          </a:xfrm>
          <a:prstGeom prst="rect">
            <a:avLst/>
          </a:prstGeom>
          <a:solidFill>
            <a:srgbClr val="FDECEA"/>
          </a:solidFill>
          <a:ln w="19050">
            <a:solidFill>
              <a:srgbClr val="C6282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3" name="Text 52">
            <a:extLst>
              <a:ext uri="{FF2B5EF4-FFF2-40B4-BE49-F238E27FC236}">
                <a16:creationId xmlns:a16="http://schemas.microsoft.com/office/drawing/2014/main" id="{A341D4F1-DC24-5D95-6804-67D7B64D149C}"/>
              </a:ext>
            </a:extLst>
          </p:cNvPr>
          <p:cNvSpPr txBox="1"/>
          <p:nvPr/>
        </p:nvSpPr>
        <p:spPr>
          <a:xfrm>
            <a:off x="11971020" y="7617171"/>
            <a:ext cx="20497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125" name="Text 53">
            <a:extLst>
              <a:ext uri="{FF2B5EF4-FFF2-40B4-BE49-F238E27FC236}">
                <a16:creationId xmlns:a16="http://schemas.microsoft.com/office/drawing/2014/main" id="{9D9E8649-B516-C01F-0D28-70E3B9F4D83C}"/>
              </a:ext>
            </a:extLst>
          </p:cNvPr>
          <p:cNvSpPr txBox="1"/>
          <p:nvPr/>
        </p:nvSpPr>
        <p:spPr>
          <a:xfrm>
            <a:off x="11971020" y="7891491"/>
            <a:ext cx="2049780" cy="405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Elevate</a:t>
            </a:r>
            <a:endParaRPr lang="en-US" sz="2200" dirty="0"/>
          </a:p>
        </p:txBody>
      </p:sp>
      <p:sp>
        <p:nvSpPr>
          <p:cNvPr id="127" name="Text 54">
            <a:extLst>
              <a:ext uri="{FF2B5EF4-FFF2-40B4-BE49-F238E27FC236}">
                <a16:creationId xmlns:a16="http://schemas.microsoft.com/office/drawing/2014/main" id="{496656C8-9B74-9E69-2F53-71E0428BEE5E}"/>
              </a:ext>
            </a:extLst>
          </p:cNvPr>
          <p:cNvSpPr txBox="1"/>
          <p:nvPr/>
        </p:nvSpPr>
        <p:spPr>
          <a:xfrm>
            <a:off x="11971020" y="8312115"/>
            <a:ext cx="2049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injection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1" grpId="0" animBg="1"/>
      <p:bldP spid="73" grpId="0" animBg="1"/>
      <p:bldP spid="75" grpId="0" animBg="1"/>
      <p:bldP spid="77" grpId="0" animBg="1"/>
      <p:bldP spid="79" grpId="0" animBg="1"/>
      <p:bldP spid="81" grpId="0" animBg="1"/>
      <p:bldP spid="83" grpId="0" animBg="1"/>
      <p:bldP spid="85" grpId="0" animBg="1"/>
      <p:bldP spid="87" grpId="0" animBg="1"/>
      <p:bldP spid="89" grpId="0" animBg="1"/>
      <p:bldP spid="91" grpId="0" animBg="1"/>
      <p:bldP spid="93" grpId="0" animBg="1"/>
      <p:bldP spid="95" grpId="0" animBg="1"/>
      <p:bldP spid="97" grpId="0" animBg="1"/>
      <p:bldP spid="99" grpId="0" animBg="1"/>
      <p:bldP spid="101" grpId="0" animBg="1"/>
      <p:bldP spid="103" grpId="0" animBg="1"/>
      <p:bldP spid="105" grpId="0" animBg="1"/>
      <p:bldP spid="107" grpId="0" animBg="1"/>
      <p:bldP spid="109" grpId="0" animBg="1"/>
      <p:bldP spid="111" grpId="0" animBg="1"/>
      <p:bldP spid="113" grpId="0" animBg="1"/>
      <p:bldP spid="115" grpId="0" animBg="1"/>
      <p:bldP spid="117" grpId="0" animBg="1"/>
      <p:bldP spid="119" grpId="0" animBg="1"/>
      <p:bldP spid="121" grpId="0" animBg="1"/>
      <p:bldP spid="123" grpId="0" animBg="1"/>
      <p:bldP spid="125" grpId="0" animBg="1"/>
      <p:bldP spid="1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E8078-7C86-FF77-35AC-C1AE6468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>
            <a:extLst>
              <a:ext uri="{FF2B5EF4-FFF2-40B4-BE49-F238E27FC236}">
                <a16:creationId xmlns:a16="http://schemas.microsoft.com/office/drawing/2014/main" id="{731B5C17-6BCF-DF78-A580-7FBB95A3DFB6}"/>
              </a:ext>
            </a:extLst>
          </p:cNvPr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97CCE7FF-484B-9FE4-884C-935926E60133}"/>
                </a:ext>
              </a:extLst>
            </p:cNvPr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539B572-46E7-A34B-ED85-FE6518A220FC}"/>
              </a:ext>
            </a:extLst>
          </p:cNvPr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>
              <a:extLst>
                <a:ext uri="{FF2B5EF4-FFF2-40B4-BE49-F238E27FC236}">
                  <a16:creationId xmlns:a16="http://schemas.microsoft.com/office/drawing/2014/main" id="{C3500A97-ABFC-7ABF-E8FA-FFD7C3BEB050}"/>
                </a:ext>
              </a:extLst>
            </p:cNvPr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A880468-52A2-9E34-C874-8555B05ECE58}"/>
              </a:ext>
            </a:extLst>
          </p:cNvPr>
          <p:cNvSpPr txBox="1"/>
          <p:nvPr/>
        </p:nvSpPr>
        <p:spPr>
          <a:xfrm>
            <a:off x="2441448" y="1005078"/>
            <a:ext cx="13231368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METHODOLOGICAL WORKFLOW of BENCHMARK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532096A-E3F2-F423-8441-07E60EFB4AC8}"/>
              </a:ext>
            </a:extLst>
          </p:cNvPr>
          <p:cNvSpPr txBox="1"/>
          <p:nvPr/>
        </p:nvSpPr>
        <p:spPr>
          <a:xfrm>
            <a:off x="15672816" y="465582"/>
            <a:ext cx="160020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06/15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96BA7D6-7D37-C0B4-C713-C75230B30D88}"/>
              </a:ext>
            </a:extLst>
          </p:cNvPr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B81F291-8C80-55C2-AC3D-B11AF8839AD8}"/>
              </a:ext>
            </a:extLst>
          </p:cNvPr>
          <p:cNvGrpSpPr/>
          <p:nvPr/>
        </p:nvGrpSpPr>
        <p:grpSpPr>
          <a:xfrm>
            <a:off x="1179195" y="2185035"/>
            <a:ext cx="4773930" cy="613410"/>
            <a:chOff x="0" y="0"/>
            <a:chExt cx="6365240" cy="81788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FE51E8B-D8FD-4D01-1A59-0BDB76FDEA4E}"/>
                </a:ext>
              </a:extLst>
            </p:cNvPr>
            <p:cNvSpPr/>
            <p:nvPr/>
          </p:nvSpPr>
          <p:spPr>
            <a:xfrm>
              <a:off x="0" y="0"/>
              <a:ext cx="6365240" cy="817880"/>
            </a:xfrm>
            <a:custGeom>
              <a:avLst/>
              <a:gdLst/>
              <a:ahLst/>
              <a:cxnLst/>
              <a:rect l="l" t="t" r="r" b="b"/>
              <a:pathLst>
                <a:path w="6365240" h="817880">
                  <a:moveTo>
                    <a:pt x="0" y="0"/>
                  </a:moveTo>
                  <a:lnTo>
                    <a:pt x="6365240" y="0"/>
                  </a:lnTo>
                  <a:lnTo>
                    <a:pt x="636524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644" b="-10164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396804C-271F-B180-8CA4-472D3CF7047F}"/>
                </a:ext>
              </a:extLst>
            </p:cNvPr>
            <p:cNvSpPr txBox="1"/>
            <p:nvPr/>
          </p:nvSpPr>
          <p:spPr>
            <a:xfrm>
              <a:off x="0" y="-19050"/>
              <a:ext cx="636524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Methodology Overview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5A252F2-7716-2E30-F8A4-85BADE5FAA0F}"/>
              </a:ext>
            </a:extLst>
          </p:cNvPr>
          <p:cNvGrpSpPr/>
          <p:nvPr/>
        </p:nvGrpSpPr>
        <p:grpSpPr>
          <a:xfrm>
            <a:off x="1298448" y="2276856"/>
            <a:ext cx="429768" cy="429768"/>
            <a:chOff x="0" y="0"/>
            <a:chExt cx="573024" cy="573024"/>
          </a:xfrm>
        </p:grpSpPr>
        <p:sp>
          <p:nvSpPr>
            <p:cNvPr id="13" name="Freeform 13" descr="image.png">
              <a:extLst>
                <a:ext uri="{FF2B5EF4-FFF2-40B4-BE49-F238E27FC236}">
                  <a16:creationId xmlns:a16="http://schemas.microsoft.com/office/drawing/2014/main" id="{1DF7214A-6D10-12AD-98F2-22448D47897D}"/>
                </a:ext>
              </a:extLst>
            </p:cNvPr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309" b="-730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E45D35C6-B848-DDEE-BC3F-AEFE0F3F2238}"/>
              </a:ext>
            </a:extLst>
          </p:cNvPr>
          <p:cNvSpPr txBox="1"/>
          <p:nvPr/>
        </p:nvSpPr>
        <p:spPr>
          <a:xfrm>
            <a:off x="1280160" y="2952750"/>
            <a:ext cx="979932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engineered an end-to-end framework combining heterogeneous graph neural screening with symbolic reachability verification and automated policy remediation.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D9ACA87-AE35-3618-4749-4E47CF1D285C}"/>
              </a:ext>
            </a:extLst>
          </p:cNvPr>
          <p:cNvSpPr txBox="1"/>
          <p:nvPr/>
        </p:nvSpPr>
        <p:spPr>
          <a:xfrm>
            <a:off x="2545080" y="8512301"/>
            <a:ext cx="777240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Figure: Active Directory Heterogeneous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Metagraph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Schema</a:t>
            </a: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93FFB263-4DB2-F5AB-9985-009ACA8CEC21}"/>
              </a:ext>
            </a:extLst>
          </p:cNvPr>
          <p:cNvSpPr/>
          <p:nvPr/>
        </p:nvSpPr>
        <p:spPr>
          <a:xfrm>
            <a:off x="1295400" y="4205478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73B38138-6487-3184-06B3-B646B1B01599}"/>
              </a:ext>
            </a:extLst>
          </p:cNvPr>
          <p:cNvSpPr/>
          <p:nvPr/>
        </p:nvSpPr>
        <p:spPr>
          <a:xfrm>
            <a:off x="1295400" y="4205478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1C6D5CCB-541B-4A43-A97B-8071C2B06217}"/>
              </a:ext>
            </a:extLst>
          </p:cNvPr>
          <p:cNvSpPr txBox="1"/>
          <p:nvPr/>
        </p:nvSpPr>
        <p:spPr>
          <a:xfrm>
            <a:off x="1432560" y="420547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Principal</a:t>
            </a:r>
            <a:endParaRPr lang="en-US" sz="16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9DD78B50-ED76-2490-379E-72D8B50A21FB}"/>
              </a:ext>
            </a:extLst>
          </p:cNvPr>
          <p:cNvSpPr txBox="1"/>
          <p:nvPr/>
        </p:nvSpPr>
        <p:spPr>
          <a:xfrm>
            <a:off x="1432560" y="4644390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user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d_u</a:t>
            </a:r>
            <a:endParaRPr lang="en-US" sz="14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522BCCC1-2036-EE17-08DE-CF750D2975B5}"/>
              </a:ext>
            </a:extLst>
          </p:cNvPr>
          <p:cNvSpPr/>
          <p:nvPr/>
        </p:nvSpPr>
        <p:spPr>
          <a:xfrm>
            <a:off x="1295400" y="6857238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A7006FE3-34BD-86BE-BA67-039EF1433931}"/>
              </a:ext>
            </a:extLst>
          </p:cNvPr>
          <p:cNvSpPr/>
          <p:nvPr/>
        </p:nvSpPr>
        <p:spPr>
          <a:xfrm>
            <a:off x="1295400" y="6857238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19FFA948-3118-3B04-DC0C-055786FCE130}"/>
              </a:ext>
            </a:extLst>
          </p:cNvPr>
          <p:cNvSpPr txBox="1"/>
          <p:nvPr/>
        </p:nvSpPr>
        <p:spPr>
          <a:xfrm>
            <a:off x="1432560" y="685723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Object</a:t>
            </a:r>
            <a:endParaRPr lang="en-US" sz="16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00EDCF03-046C-9FB5-A5EF-247C1140C4F1}"/>
              </a:ext>
            </a:extLst>
          </p:cNvPr>
          <p:cNvSpPr txBox="1"/>
          <p:nvPr/>
        </p:nvSpPr>
        <p:spPr>
          <a:xfrm>
            <a:off x="1432560" y="7296150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computer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d_c</a:t>
            </a:r>
            <a:endParaRPr lang="en-US" sz="14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166BA348-14DB-E180-B2D4-472F21045419}"/>
              </a:ext>
            </a:extLst>
          </p:cNvPr>
          <p:cNvSpPr/>
          <p:nvPr/>
        </p:nvSpPr>
        <p:spPr>
          <a:xfrm>
            <a:off x="5410200" y="4205478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64CACDD9-ADDD-E21E-B8D9-FB0E1B0D4FE7}"/>
              </a:ext>
            </a:extLst>
          </p:cNvPr>
          <p:cNvSpPr/>
          <p:nvPr/>
        </p:nvSpPr>
        <p:spPr>
          <a:xfrm>
            <a:off x="5410200" y="4205478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FD98DF78-870E-EC0A-6704-3B703A919517}"/>
              </a:ext>
            </a:extLst>
          </p:cNvPr>
          <p:cNvSpPr txBox="1"/>
          <p:nvPr/>
        </p:nvSpPr>
        <p:spPr>
          <a:xfrm>
            <a:off x="5547360" y="420547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6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B9E05BED-D622-05EA-D1B0-CC10A368A82E}"/>
              </a:ext>
            </a:extLst>
          </p:cNvPr>
          <p:cNvSpPr txBox="1"/>
          <p:nvPr/>
        </p:nvSpPr>
        <p:spPr>
          <a:xfrm>
            <a:off x="5547360" y="4644390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group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d_g</a:t>
            </a:r>
            <a:endParaRPr lang="en-US" sz="1400" dirty="0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22DCDB1E-4973-5EA1-8D03-76B79AF98BFE}"/>
              </a:ext>
            </a:extLst>
          </p:cNvPr>
          <p:cNvSpPr/>
          <p:nvPr/>
        </p:nvSpPr>
        <p:spPr>
          <a:xfrm>
            <a:off x="5410200" y="6857238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7922D5EE-E0C0-FCF9-BB64-6189D605A454}"/>
              </a:ext>
            </a:extLst>
          </p:cNvPr>
          <p:cNvSpPr/>
          <p:nvPr/>
        </p:nvSpPr>
        <p:spPr>
          <a:xfrm>
            <a:off x="5410200" y="6857238"/>
            <a:ext cx="30632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B5309C83-E202-B8D4-1663-2846F2F5DC5A}"/>
              </a:ext>
            </a:extLst>
          </p:cNvPr>
          <p:cNvSpPr txBox="1"/>
          <p:nvPr/>
        </p:nvSpPr>
        <p:spPr>
          <a:xfrm>
            <a:off x="5547360" y="685723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Template</a:t>
            </a:r>
            <a:endParaRPr lang="en-US" sz="16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0BB8DFDE-A09A-374A-FAB8-B4699F73D2E0}"/>
              </a:ext>
            </a:extLst>
          </p:cNvPr>
          <p:cNvSpPr txBox="1"/>
          <p:nvPr/>
        </p:nvSpPr>
        <p:spPr>
          <a:xfrm>
            <a:off x="5547360" y="7296150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pKICertificateTemplate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(EKU, Flags)</a:t>
            </a:r>
            <a:endParaRPr lang="en-US" sz="1400" dirty="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C681E4B2-9A50-8AF1-68EF-A61F1AB46E6A}"/>
              </a:ext>
            </a:extLst>
          </p:cNvPr>
          <p:cNvSpPr/>
          <p:nvPr/>
        </p:nvSpPr>
        <p:spPr>
          <a:xfrm>
            <a:off x="9479279" y="5679053"/>
            <a:ext cx="3063240" cy="125299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4649DF3A-429C-21AB-9CE5-83FCB07F3914}"/>
              </a:ext>
            </a:extLst>
          </p:cNvPr>
          <p:cNvSpPr/>
          <p:nvPr/>
        </p:nvSpPr>
        <p:spPr>
          <a:xfrm>
            <a:off x="9479279" y="5598414"/>
            <a:ext cx="30632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520E2E7C-70AA-4408-2A80-18DA0470AEF6}"/>
              </a:ext>
            </a:extLst>
          </p:cNvPr>
          <p:cNvSpPr txBox="1"/>
          <p:nvPr/>
        </p:nvSpPr>
        <p:spPr>
          <a:xfrm>
            <a:off x="9662160" y="5604647"/>
            <a:ext cx="2788920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</a:t>
            </a:r>
            <a:endParaRPr lang="en-US" sz="16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550AFF8E-8B1F-26BF-D8AF-AA541D42D35F}"/>
              </a:ext>
            </a:extLst>
          </p:cNvPr>
          <p:cNvSpPr txBox="1"/>
          <p:nvPr/>
        </p:nvSpPr>
        <p:spPr>
          <a:xfrm>
            <a:off x="9662160" y="6085568"/>
            <a:ext cx="2788920" cy="83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pKIEnrollmentService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d_ca</a:t>
            </a:r>
            <a:endParaRPr lang="en-US" sz="14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89011F34-3412-871E-414C-212489D96FCC}"/>
              </a:ext>
            </a:extLst>
          </p:cNvPr>
          <p:cNvSpPr/>
          <p:nvPr/>
        </p:nvSpPr>
        <p:spPr>
          <a:xfrm>
            <a:off x="4358640" y="4936998"/>
            <a:ext cx="1051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7E2A88D9-0D19-DD01-F867-B19FBD63E4A9}"/>
              </a:ext>
            </a:extLst>
          </p:cNvPr>
          <p:cNvSpPr txBox="1"/>
          <p:nvPr/>
        </p:nvSpPr>
        <p:spPr>
          <a:xfrm>
            <a:off x="4358640" y="457123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</a:t>
            </a:r>
            <a:endParaRPr lang="en-US" sz="1200" dirty="0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0F3216C4-BDEC-EF30-E81E-6F8FDF6ACEBF}"/>
              </a:ext>
            </a:extLst>
          </p:cNvPr>
          <p:cNvSpPr/>
          <p:nvPr/>
        </p:nvSpPr>
        <p:spPr>
          <a:xfrm flipV="1">
            <a:off x="6461760" y="3931158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24">
            <a:extLst>
              <a:ext uri="{FF2B5EF4-FFF2-40B4-BE49-F238E27FC236}">
                <a16:creationId xmlns:a16="http://schemas.microsoft.com/office/drawing/2014/main" id="{1AEC9796-B581-F5C5-846E-73B693422F71}"/>
              </a:ext>
            </a:extLst>
          </p:cNvPr>
          <p:cNvSpPr/>
          <p:nvPr/>
        </p:nvSpPr>
        <p:spPr>
          <a:xfrm>
            <a:off x="6461760" y="3931158"/>
            <a:ext cx="9601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B7F575E9-8536-68D7-B77B-61102E43C998}"/>
              </a:ext>
            </a:extLst>
          </p:cNvPr>
          <p:cNvSpPr/>
          <p:nvPr/>
        </p:nvSpPr>
        <p:spPr>
          <a:xfrm>
            <a:off x="7421880" y="3931158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24877373-2BF0-D9BE-9B80-AA37BD656AEC}"/>
              </a:ext>
            </a:extLst>
          </p:cNvPr>
          <p:cNvSpPr txBox="1"/>
          <p:nvPr/>
        </p:nvSpPr>
        <p:spPr>
          <a:xfrm>
            <a:off x="7559040" y="376656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 (transitive nesting)</a:t>
            </a:r>
            <a:endParaRPr lang="en-US" sz="1200" dirty="0"/>
          </a:p>
        </p:txBody>
      </p:sp>
      <p:sp>
        <p:nvSpPr>
          <p:cNvPr id="75" name="Shape 27">
            <a:extLst>
              <a:ext uri="{FF2B5EF4-FFF2-40B4-BE49-F238E27FC236}">
                <a16:creationId xmlns:a16="http://schemas.microsoft.com/office/drawing/2014/main" id="{EA65C0ED-9822-A2DE-7414-88DE0265D950}"/>
              </a:ext>
            </a:extLst>
          </p:cNvPr>
          <p:cNvSpPr/>
          <p:nvPr/>
        </p:nvSpPr>
        <p:spPr>
          <a:xfrm>
            <a:off x="4358640" y="5394198"/>
            <a:ext cx="5029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28">
            <a:extLst>
              <a:ext uri="{FF2B5EF4-FFF2-40B4-BE49-F238E27FC236}">
                <a16:creationId xmlns:a16="http://schemas.microsoft.com/office/drawing/2014/main" id="{BDFF366F-34F2-EA63-FD6B-A50D952BF602}"/>
              </a:ext>
            </a:extLst>
          </p:cNvPr>
          <p:cNvSpPr/>
          <p:nvPr/>
        </p:nvSpPr>
        <p:spPr>
          <a:xfrm>
            <a:off x="4861560" y="5394198"/>
            <a:ext cx="0" cy="19202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29">
            <a:extLst>
              <a:ext uri="{FF2B5EF4-FFF2-40B4-BE49-F238E27FC236}">
                <a16:creationId xmlns:a16="http://schemas.microsoft.com/office/drawing/2014/main" id="{3C8116DA-5A7C-A9AD-6985-CD75460CB7CF}"/>
              </a:ext>
            </a:extLst>
          </p:cNvPr>
          <p:cNvSpPr/>
          <p:nvPr/>
        </p:nvSpPr>
        <p:spPr>
          <a:xfrm>
            <a:off x="4861560" y="7314438"/>
            <a:ext cx="5486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30">
            <a:extLst>
              <a:ext uri="{FF2B5EF4-FFF2-40B4-BE49-F238E27FC236}">
                <a16:creationId xmlns:a16="http://schemas.microsoft.com/office/drawing/2014/main" id="{E7469F93-9178-7B61-4A41-814D8E068AC7}"/>
              </a:ext>
            </a:extLst>
          </p:cNvPr>
          <p:cNvSpPr txBox="1"/>
          <p:nvPr/>
        </p:nvSpPr>
        <p:spPr>
          <a:xfrm>
            <a:off x="4953000" y="603427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WriteDacl</a:t>
            </a:r>
            <a:endParaRPr lang="en-US" sz="1200" dirty="0"/>
          </a:p>
        </p:txBody>
      </p:sp>
      <p:sp>
        <p:nvSpPr>
          <p:cNvPr id="83" name="Shape 31">
            <a:extLst>
              <a:ext uri="{FF2B5EF4-FFF2-40B4-BE49-F238E27FC236}">
                <a16:creationId xmlns:a16="http://schemas.microsoft.com/office/drawing/2014/main" id="{52895FD1-82F9-031B-AFCA-EB7A48FBF5D2}"/>
              </a:ext>
            </a:extLst>
          </p:cNvPr>
          <p:cNvSpPr/>
          <p:nvPr/>
        </p:nvSpPr>
        <p:spPr>
          <a:xfrm>
            <a:off x="4358640" y="7908798"/>
            <a:ext cx="1051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70150F56-18C4-67D3-93ED-08925E2F5DD3}"/>
              </a:ext>
            </a:extLst>
          </p:cNvPr>
          <p:cNvSpPr txBox="1"/>
          <p:nvPr/>
        </p:nvSpPr>
        <p:spPr>
          <a:xfrm>
            <a:off x="4404360" y="798195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GenericAll</a:t>
            </a:r>
            <a:endParaRPr lang="en-US" sz="1200" dirty="0"/>
          </a:p>
        </p:txBody>
      </p:sp>
      <p:sp>
        <p:nvSpPr>
          <p:cNvPr id="87" name="Shape 33">
            <a:extLst>
              <a:ext uri="{FF2B5EF4-FFF2-40B4-BE49-F238E27FC236}">
                <a16:creationId xmlns:a16="http://schemas.microsoft.com/office/drawing/2014/main" id="{5102FA8B-4636-A8F2-DCC3-3A4997E22A12}"/>
              </a:ext>
            </a:extLst>
          </p:cNvPr>
          <p:cNvSpPr/>
          <p:nvPr/>
        </p:nvSpPr>
        <p:spPr>
          <a:xfrm>
            <a:off x="6233160" y="5668518"/>
            <a:ext cx="0" cy="11887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35">
            <a:extLst>
              <a:ext uri="{FF2B5EF4-FFF2-40B4-BE49-F238E27FC236}">
                <a16:creationId xmlns:a16="http://schemas.microsoft.com/office/drawing/2014/main" id="{B773FDDE-5742-03CB-48A7-DB256C4D8C5C}"/>
              </a:ext>
            </a:extLst>
          </p:cNvPr>
          <p:cNvSpPr/>
          <p:nvPr/>
        </p:nvSpPr>
        <p:spPr>
          <a:xfrm>
            <a:off x="8473440" y="4936998"/>
            <a:ext cx="1874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36">
            <a:extLst>
              <a:ext uri="{FF2B5EF4-FFF2-40B4-BE49-F238E27FC236}">
                <a16:creationId xmlns:a16="http://schemas.microsoft.com/office/drawing/2014/main" id="{E468B324-F94E-8E9C-82A0-0E2A56314CA8}"/>
              </a:ext>
            </a:extLst>
          </p:cNvPr>
          <p:cNvSpPr/>
          <p:nvPr/>
        </p:nvSpPr>
        <p:spPr>
          <a:xfrm>
            <a:off x="10347960" y="4936998"/>
            <a:ext cx="0" cy="64008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37">
            <a:extLst>
              <a:ext uri="{FF2B5EF4-FFF2-40B4-BE49-F238E27FC236}">
                <a16:creationId xmlns:a16="http://schemas.microsoft.com/office/drawing/2014/main" id="{084985E0-8905-A73C-0696-BC3B9520F2A7}"/>
              </a:ext>
            </a:extLst>
          </p:cNvPr>
          <p:cNvSpPr txBox="1"/>
          <p:nvPr/>
        </p:nvSpPr>
        <p:spPr>
          <a:xfrm>
            <a:off x="8564880" y="4491231"/>
            <a:ext cx="2011680" cy="400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ManageCA / CertManager</a:t>
            </a:r>
            <a:endParaRPr lang="en-US" sz="1200" dirty="0"/>
          </a:p>
        </p:txBody>
      </p:sp>
      <p:sp>
        <p:nvSpPr>
          <p:cNvPr id="97" name="Shape 38">
            <a:extLst>
              <a:ext uri="{FF2B5EF4-FFF2-40B4-BE49-F238E27FC236}">
                <a16:creationId xmlns:a16="http://schemas.microsoft.com/office/drawing/2014/main" id="{66673AB3-FBD6-E766-8D8F-1A78533E4E17}"/>
              </a:ext>
            </a:extLst>
          </p:cNvPr>
          <p:cNvSpPr/>
          <p:nvPr/>
        </p:nvSpPr>
        <p:spPr>
          <a:xfrm>
            <a:off x="8473440" y="7588758"/>
            <a:ext cx="26060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39">
            <a:extLst>
              <a:ext uri="{FF2B5EF4-FFF2-40B4-BE49-F238E27FC236}">
                <a16:creationId xmlns:a16="http://schemas.microsoft.com/office/drawing/2014/main" id="{D31BF97A-992F-C586-D6A3-C74DB0C70D5C}"/>
              </a:ext>
            </a:extLst>
          </p:cNvPr>
          <p:cNvSpPr/>
          <p:nvPr/>
        </p:nvSpPr>
        <p:spPr>
          <a:xfrm flipV="1">
            <a:off x="11079480" y="7079502"/>
            <a:ext cx="0" cy="469872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C8538E45-56F3-7002-EA60-C3B546414FAB}"/>
              </a:ext>
            </a:extLst>
          </p:cNvPr>
          <p:cNvSpPr txBox="1"/>
          <p:nvPr/>
        </p:nvSpPr>
        <p:spPr>
          <a:xfrm>
            <a:off x="8564880" y="7245972"/>
            <a:ext cx="1828800" cy="27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PublishedTo</a:t>
            </a:r>
            <a:endParaRPr lang="en-US" sz="1200" dirty="0"/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05C46013-25AE-C97B-3AC7-8944A1641DC0}"/>
              </a:ext>
            </a:extLst>
          </p:cNvPr>
          <p:cNvSpPr/>
          <p:nvPr/>
        </p:nvSpPr>
        <p:spPr>
          <a:xfrm flipV="1">
            <a:off x="7787640" y="5668518"/>
            <a:ext cx="0" cy="1188720"/>
          </a:xfrm>
          <a:prstGeom prst="line">
            <a:avLst/>
          </a:prstGeom>
          <a:noFill/>
          <a:ln w="4445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42">
            <a:extLst>
              <a:ext uri="{FF2B5EF4-FFF2-40B4-BE49-F238E27FC236}">
                <a16:creationId xmlns:a16="http://schemas.microsoft.com/office/drawing/2014/main" id="{7E4C1EE7-5A98-82AF-E93B-9A03B1AB8483}"/>
              </a:ext>
            </a:extLst>
          </p:cNvPr>
          <p:cNvSpPr/>
          <p:nvPr/>
        </p:nvSpPr>
        <p:spPr>
          <a:xfrm>
            <a:off x="7764782" y="6015990"/>
            <a:ext cx="1737356" cy="594360"/>
          </a:xfrm>
          <a:prstGeom prst="roundRect">
            <a:avLst>
              <a:gd name="adj" fmla="val 15385"/>
            </a:avLst>
          </a:prstGeom>
          <a:solidFill>
            <a:srgbClr val="FDEC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43">
            <a:extLst>
              <a:ext uri="{FF2B5EF4-FFF2-40B4-BE49-F238E27FC236}">
                <a16:creationId xmlns:a16="http://schemas.microsoft.com/office/drawing/2014/main" id="{EF3748A5-495A-E86A-285D-EACBB9E6574E}"/>
              </a:ext>
            </a:extLst>
          </p:cNvPr>
          <p:cNvSpPr txBox="1"/>
          <p:nvPr/>
        </p:nvSpPr>
        <p:spPr>
          <a:xfrm>
            <a:off x="7559042" y="6061710"/>
            <a:ext cx="1737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LinksPolicy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(ESC13)</a:t>
            </a:r>
            <a:endParaRPr lang="en-US" sz="1200" dirty="0"/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FAA03C53-2D98-7E3B-1F65-0DB68CE0CCF7}"/>
              </a:ext>
            </a:extLst>
          </p:cNvPr>
          <p:cNvSpPr txBox="1"/>
          <p:nvPr/>
        </p:nvSpPr>
        <p:spPr>
          <a:xfrm>
            <a:off x="12954000" y="2899172"/>
            <a:ext cx="4648198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1 — Ingestion &amp; Graph Construction:</a:t>
            </a:r>
          </a:p>
          <a:p>
            <a:pPr algn="r">
              <a:lnSpc>
                <a:spcPts val="24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Ingests AD directory objects, extracts 5 entity classes and 8 relation types, and expands nested group memberships via transitive closure.</a:t>
            </a:r>
          </a:p>
          <a:p>
            <a:pPr algn="just">
              <a:lnSpc>
                <a:spcPts val="24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>
              <a:lnSpc>
                <a:spcPts val="2400"/>
              </a:lnSpc>
            </a:pPr>
            <a:r>
              <a:rPr lang="en-US" sz="2000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2 — Relational GNN Classification:</a:t>
            </a:r>
            <a:r>
              <a:rPr lang="en-US" sz="20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Projects heterogeneous features into a 64-dim space and applies 2 Relational GAT layers to classify templates into 7 escalation categories.</a:t>
            </a:r>
          </a:p>
          <a:p>
            <a:pPr algn="just">
              <a:lnSpc>
                <a:spcPts val="2400"/>
              </a:lnSpc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>
              <a:lnSpc>
                <a:spcPts val="2400"/>
              </a:lnSpc>
            </a:pPr>
            <a:r>
              <a:rPr lang="en-US" sz="2000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3 — Hybrid Verification &amp; Remediation:</a:t>
            </a:r>
          </a:p>
          <a:p>
            <a:pPr algn="r">
              <a:lnSpc>
                <a:spcPts val="24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Filters suspect templates through a symbolic engine to eliminate false alarms, then outputs optimal ACL remediation actions.</a:t>
            </a:r>
          </a:p>
        </p:txBody>
      </p:sp>
    </p:spTree>
    <p:extLst>
      <p:ext uri="{BB962C8B-B14F-4D97-AF65-F5344CB8AC3E}">
        <p14:creationId xmlns:p14="http://schemas.microsoft.com/office/powerpoint/2010/main" val="114258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1" grpId="0" animBg="1"/>
      <p:bldP spid="73" grpId="0" animBg="1"/>
      <p:bldP spid="75" grpId="0" animBg="1"/>
      <p:bldP spid="77" grpId="0" animBg="1"/>
      <p:bldP spid="79" grpId="0" animBg="1"/>
      <p:bldP spid="81" grpId="0" animBg="1"/>
      <p:bldP spid="83" grpId="0" animBg="1"/>
      <p:bldP spid="85" grpId="0" animBg="1"/>
      <p:bldP spid="87" grpId="0" animBg="1"/>
      <p:bldP spid="91" grpId="0" animBg="1"/>
      <p:bldP spid="93" grpId="0" animBg="1"/>
      <p:bldP spid="95" grpId="0" animBg="1"/>
      <p:bldP spid="97" grpId="0" animBg="1"/>
      <p:bldP spid="99" grpId="0" animBg="1"/>
      <p:bldP spid="101" grpId="0" animBg="1"/>
      <p:bldP spid="103" grpId="0" animBg="1"/>
      <p:bldP spid="105" grpId="0" animBg="1"/>
      <p:bldP spid="10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3A77-3D33-3590-C067-B94684A39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>
            <a:extLst>
              <a:ext uri="{FF2B5EF4-FFF2-40B4-BE49-F238E27FC236}">
                <a16:creationId xmlns:a16="http://schemas.microsoft.com/office/drawing/2014/main" id="{668F51FE-B2DF-6F7A-A1BC-62ED62273E28}"/>
              </a:ext>
            </a:extLst>
          </p:cNvPr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699B90DC-1AB4-0D50-59A5-A213B9BB1A10}"/>
                </a:ext>
              </a:extLst>
            </p:cNvPr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D7110E2-73FC-1FA3-58FA-E4DEE4683D30}"/>
              </a:ext>
            </a:extLst>
          </p:cNvPr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>
              <a:extLst>
                <a:ext uri="{FF2B5EF4-FFF2-40B4-BE49-F238E27FC236}">
                  <a16:creationId xmlns:a16="http://schemas.microsoft.com/office/drawing/2014/main" id="{58F1C101-5531-703D-0D18-656542D9206A}"/>
                </a:ext>
              </a:extLst>
            </p:cNvPr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B2C15A1-4C29-395D-2DC4-F6FC0D2CD061}"/>
              </a:ext>
            </a:extLst>
          </p:cNvPr>
          <p:cNvSpPr txBox="1"/>
          <p:nvPr/>
        </p:nvSpPr>
        <p:spPr>
          <a:xfrm>
            <a:off x="2441447" y="1005078"/>
            <a:ext cx="13231363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METHODOLOGICAL WORKFLOW of CERTGRAPH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45355D2-3FE1-36FF-B433-A947381D3336}"/>
              </a:ext>
            </a:extLst>
          </p:cNvPr>
          <p:cNvSpPr txBox="1"/>
          <p:nvPr/>
        </p:nvSpPr>
        <p:spPr>
          <a:xfrm>
            <a:off x="15672816" y="465582"/>
            <a:ext cx="160020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06/15</a:t>
            </a: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016BEDFE-5635-9962-D890-385352932404}"/>
              </a:ext>
            </a:extLst>
          </p:cNvPr>
          <p:cNvSpPr/>
          <p:nvPr/>
        </p:nvSpPr>
        <p:spPr>
          <a:xfrm>
            <a:off x="1295400" y="4205478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3E6A3B84-AD7C-8AFA-309E-88FE92A92B4E}"/>
              </a:ext>
            </a:extLst>
          </p:cNvPr>
          <p:cNvSpPr/>
          <p:nvPr/>
        </p:nvSpPr>
        <p:spPr>
          <a:xfrm>
            <a:off x="1295400" y="4205478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F7C6A96F-2762-2AF6-4539-607D63EEBFBC}"/>
              </a:ext>
            </a:extLst>
          </p:cNvPr>
          <p:cNvSpPr txBox="1"/>
          <p:nvPr/>
        </p:nvSpPr>
        <p:spPr>
          <a:xfrm>
            <a:off x="1432560" y="420547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Principal</a:t>
            </a:r>
            <a:endParaRPr lang="en-US" sz="16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D87301C6-06EA-4A16-9008-78B7459BE6AA}"/>
              </a:ext>
            </a:extLst>
          </p:cNvPr>
          <p:cNvSpPr txBox="1"/>
          <p:nvPr/>
        </p:nvSpPr>
        <p:spPr>
          <a:xfrm>
            <a:off x="1432560" y="4644390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user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d_u</a:t>
            </a:r>
            <a:endParaRPr lang="en-US" sz="14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F9DF585E-8EFB-1D06-E697-7600F55F9934}"/>
              </a:ext>
            </a:extLst>
          </p:cNvPr>
          <p:cNvSpPr/>
          <p:nvPr/>
        </p:nvSpPr>
        <p:spPr>
          <a:xfrm>
            <a:off x="1295400" y="6857238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C905B744-6365-B36D-C8A0-F3E265449E62}"/>
              </a:ext>
            </a:extLst>
          </p:cNvPr>
          <p:cNvSpPr/>
          <p:nvPr/>
        </p:nvSpPr>
        <p:spPr>
          <a:xfrm>
            <a:off x="1295400" y="6857238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0F6E258F-6EA2-4469-701D-9FB2C0BFF120}"/>
              </a:ext>
            </a:extLst>
          </p:cNvPr>
          <p:cNvSpPr txBox="1"/>
          <p:nvPr/>
        </p:nvSpPr>
        <p:spPr>
          <a:xfrm>
            <a:off x="1432560" y="685723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Object</a:t>
            </a:r>
            <a:endParaRPr lang="en-US" sz="16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92363B60-9BF9-7B07-E52E-50BF413277EA}"/>
              </a:ext>
            </a:extLst>
          </p:cNvPr>
          <p:cNvSpPr txBox="1"/>
          <p:nvPr/>
        </p:nvSpPr>
        <p:spPr>
          <a:xfrm>
            <a:off x="1432560" y="7296150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computer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d_c</a:t>
            </a:r>
            <a:endParaRPr lang="en-US" sz="14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F883DDBB-DC67-5693-EF36-6381AA5658CF}"/>
              </a:ext>
            </a:extLst>
          </p:cNvPr>
          <p:cNvSpPr/>
          <p:nvPr/>
        </p:nvSpPr>
        <p:spPr>
          <a:xfrm>
            <a:off x="5410200" y="4205478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C6FA6DBB-7058-9CA1-21E6-5C7CC047D908}"/>
              </a:ext>
            </a:extLst>
          </p:cNvPr>
          <p:cNvSpPr/>
          <p:nvPr/>
        </p:nvSpPr>
        <p:spPr>
          <a:xfrm>
            <a:off x="5410200" y="4205478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DE4EB664-EFAF-E7CF-6137-B89FD0DED7CE}"/>
              </a:ext>
            </a:extLst>
          </p:cNvPr>
          <p:cNvSpPr txBox="1"/>
          <p:nvPr/>
        </p:nvSpPr>
        <p:spPr>
          <a:xfrm>
            <a:off x="5547360" y="420547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6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64625BF0-248D-DBE0-AE02-042A316C15F9}"/>
              </a:ext>
            </a:extLst>
          </p:cNvPr>
          <p:cNvSpPr txBox="1"/>
          <p:nvPr/>
        </p:nvSpPr>
        <p:spPr>
          <a:xfrm>
            <a:off x="5547360" y="4644390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group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d_g</a:t>
            </a:r>
            <a:endParaRPr lang="en-US" sz="1400" dirty="0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C5680D8A-1C6E-D58B-308E-7B58D356CFCF}"/>
              </a:ext>
            </a:extLst>
          </p:cNvPr>
          <p:cNvSpPr/>
          <p:nvPr/>
        </p:nvSpPr>
        <p:spPr>
          <a:xfrm>
            <a:off x="5410200" y="6857238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7922B7BA-FEB6-D1AD-23C0-38E91B93CEB8}"/>
              </a:ext>
            </a:extLst>
          </p:cNvPr>
          <p:cNvSpPr/>
          <p:nvPr/>
        </p:nvSpPr>
        <p:spPr>
          <a:xfrm>
            <a:off x="5410200" y="6857238"/>
            <a:ext cx="30632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7BC10658-08F4-D51A-5B62-7CA60D3CA7B6}"/>
              </a:ext>
            </a:extLst>
          </p:cNvPr>
          <p:cNvSpPr txBox="1"/>
          <p:nvPr/>
        </p:nvSpPr>
        <p:spPr>
          <a:xfrm>
            <a:off x="5547360" y="685723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Template</a:t>
            </a:r>
            <a:endParaRPr lang="en-US" sz="16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C4A3AC6E-E5F4-FA0D-8BAF-C8B9CE79C4B1}"/>
              </a:ext>
            </a:extLst>
          </p:cNvPr>
          <p:cNvSpPr txBox="1"/>
          <p:nvPr/>
        </p:nvSpPr>
        <p:spPr>
          <a:xfrm>
            <a:off x="5547360" y="7296150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pKICertificateTemplate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(EKU, Flags)</a:t>
            </a:r>
            <a:endParaRPr lang="en-US" sz="1400" dirty="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2B83B634-7135-47D0-49AB-AEABC91B4046}"/>
              </a:ext>
            </a:extLst>
          </p:cNvPr>
          <p:cNvSpPr/>
          <p:nvPr/>
        </p:nvSpPr>
        <p:spPr>
          <a:xfrm>
            <a:off x="9479279" y="5679053"/>
            <a:ext cx="3063240" cy="125299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DD15BF00-169A-CCB1-82BE-AA09E9760320}"/>
              </a:ext>
            </a:extLst>
          </p:cNvPr>
          <p:cNvSpPr/>
          <p:nvPr/>
        </p:nvSpPr>
        <p:spPr>
          <a:xfrm>
            <a:off x="9479279" y="5598414"/>
            <a:ext cx="30632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650E4F15-3874-1116-F67B-4FDB9040DCF6}"/>
              </a:ext>
            </a:extLst>
          </p:cNvPr>
          <p:cNvSpPr txBox="1"/>
          <p:nvPr/>
        </p:nvSpPr>
        <p:spPr>
          <a:xfrm>
            <a:off x="9662160" y="5604647"/>
            <a:ext cx="2788920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</a:t>
            </a:r>
            <a:endParaRPr lang="en-US" sz="16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C551270F-B3CA-41D9-6615-5D9585C9D3BB}"/>
              </a:ext>
            </a:extLst>
          </p:cNvPr>
          <p:cNvSpPr txBox="1"/>
          <p:nvPr/>
        </p:nvSpPr>
        <p:spPr>
          <a:xfrm>
            <a:off x="9662160" y="6085568"/>
            <a:ext cx="2788920" cy="83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pKIEnrollmentService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d_ca</a:t>
            </a:r>
            <a:endParaRPr lang="en-US" sz="14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23654B47-DB15-9461-F87C-6D7A69B3DBA2}"/>
              </a:ext>
            </a:extLst>
          </p:cNvPr>
          <p:cNvSpPr/>
          <p:nvPr/>
        </p:nvSpPr>
        <p:spPr>
          <a:xfrm>
            <a:off x="4358640" y="4936998"/>
            <a:ext cx="1051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77178C25-7BE9-95FC-FD3E-57AC8E1F665F}"/>
              </a:ext>
            </a:extLst>
          </p:cNvPr>
          <p:cNvSpPr txBox="1"/>
          <p:nvPr/>
        </p:nvSpPr>
        <p:spPr>
          <a:xfrm>
            <a:off x="4358640" y="457123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</a:t>
            </a:r>
            <a:endParaRPr lang="en-US" sz="1200" dirty="0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079E499D-A358-8370-4C18-37CE89CBD6A7}"/>
              </a:ext>
            </a:extLst>
          </p:cNvPr>
          <p:cNvSpPr/>
          <p:nvPr/>
        </p:nvSpPr>
        <p:spPr>
          <a:xfrm flipV="1">
            <a:off x="6461760" y="3931158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24">
            <a:extLst>
              <a:ext uri="{FF2B5EF4-FFF2-40B4-BE49-F238E27FC236}">
                <a16:creationId xmlns:a16="http://schemas.microsoft.com/office/drawing/2014/main" id="{BD86AB63-0B9B-8D74-7859-B143A438F4E0}"/>
              </a:ext>
            </a:extLst>
          </p:cNvPr>
          <p:cNvSpPr/>
          <p:nvPr/>
        </p:nvSpPr>
        <p:spPr>
          <a:xfrm>
            <a:off x="6461760" y="3931158"/>
            <a:ext cx="9601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C79E6335-FB5C-E59A-88AA-A48E4BC0BCDF}"/>
              </a:ext>
            </a:extLst>
          </p:cNvPr>
          <p:cNvSpPr/>
          <p:nvPr/>
        </p:nvSpPr>
        <p:spPr>
          <a:xfrm>
            <a:off x="7421880" y="3931158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D9234C4B-3B3D-BDC3-F7CC-E79855383A47}"/>
              </a:ext>
            </a:extLst>
          </p:cNvPr>
          <p:cNvSpPr txBox="1"/>
          <p:nvPr/>
        </p:nvSpPr>
        <p:spPr>
          <a:xfrm>
            <a:off x="7559040" y="376656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 (transitive nesting)</a:t>
            </a:r>
            <a:endParaRPr lang="en-US" sz="1200" dirty="0"/>
          </a:p>
        </p:txBody>
      </p:sp>
      <p:sp>
        <p:nvSpPr>
          <p:cNvPr id="75" name="Shape 27">
            <a:extLst>
              <a:ext uri="{FF2B5EF4-FFF2-40B4-BE49-F238E27FC236}">
                <a16:creationId xmlns:a16="http://schemas.microsoft.com/office/drawing/2014/main" id="{281ECC55-9536-36C8-28F2-B2CEE578A579}"/>
              </a:ext>
            </a:extLst>
          </p:cNvPr>
          <p:cNvSpPr/>
          <p:nvPr/>
        </p:nvSpPr>
        <p:spPr>
          <a:xfrm>
            <a:off x="4358640" y="5394198"/>
            <a:ext cx="5029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28">
            <a:extLst>
              <a:ext uri="{FF2B5EF4-FFF2-40B4-BE49-F238E27FC236}">
                <a16:creationId xmlns:a16="http://schemas.microsoft.com/office/drawing/2014/main" id="{58D84B19-FCD6-A5D1-F222-44C21C444F54}"/>
              </a:ext>
            </a:extLst>
          </p:cNvPr>
          <p:cNvSpPr/>
          <p:nvPr/>
        </p:nvSpPr>
        <p:spPr>
          <a:xfrm>
            <a:off x="4861560" y="5394198"/>
            <a:ext cx="0" cy="19202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29">
            <a:extLst>
              <a:ext uri="{FF2B5EF4-FFF2-40B4-BE49-F238E27FC236}">
                <a16:creationId xmlns:a16="http://schemas.microsoft.com/office/drawing/2014/main" id="{762DD933-1E69-4F80-D088-7DC7E5DFCAF2}"/>
              </a:ext>
            </a:extLst>
          </p:cNvPr>
          <p:cNvSpPr/>
          <p:nvPr/>
        </p:nvSpPr>
        <p:spPr>
          <a:xfrm>
            <a:off x="4861560" y="7314438"/>
            <a:ext cx="5486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30">
            <a:extLst>
              <a:ext uri="{FF2B5EF4-FFF2-40B4-BE49-F238E27FC236}">
                <a16:creationId xmlns:a16="http://schemas.microsoft.com/office/drawing/2014/main" id="{79D1E41A-A8C2-B250-ADDD-D1972387A853}"/>
              </a:ext>
            </a:extLst>
          </p:cNvPr>
          <p:cNvSpPr txBox="1"/>
          <p:nvPr/>
        </p:nvSpPr>
        <p:spPr>
          <a:xfrm>
            <a:off x="4953000" y="603427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WriteDacl</a:t>
            </a:r>
            <a:endParaRPr lang="en-US" sz="1200" dirty="0"/>
          </a:p>
        </p:txBody>
      </p:sp>
      <p:sp>
        <p:nvSpPr>
          <p:cNvPr id="83" name="Shape 31">
            <a:extLst>
              <a:ext uri="{FF2B5EF4-FFF2-40B4-BE49-F238E27FC236}">
                <a16:creationId xmlns:a16="http://schemas.microsoft.com/office/drawing/2014/main" id="{2D735071-7C08-FE55-B78B-D28C3E3911CA}"/>
              </a:ext>
            </a:extLst>
          </p:cNvPr>
          <p:cNvSpPr/>
          <p:nvPr/>
        </p:nvSpPr>
        <p:spPr>
          <a:xfrm>
            <a:off x="4358640" y="7908798"/>
            <a:ext cx="1051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B73FBEC7-4603-8EE5-B20D-15AE172B974A}"/>
              </a:ext>
            </a:extLst>
          </p:cNvPr>
          <p:cNvSpPr txBox="1"/>
          <p:nvPr/>
        </p:nvSpPr>
        <p:spPr>
          <a:xfrm>
            <a:off x="4404360" y="798195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GenericAll</a:t>
            </a:r>
            <a:endParaRPr lang="en-US" sz="1200" dirty="0"/>
          </a:p>
        </p:txBody>
      </p:sp>
      <p:sp>
        <p:nvSpPr>
          <p:cNvPr id="87" name="Shape 33">
            <a:extLst>
              <a:ext uri="{FF2B5EF4-FFF2-40B4-BE49-F238E27FC236}">
                <a16:creationId xmlns:a16="http://schemas.microsoft.com/office/drawing/2014/main" id="{3EADD89F-3E46-AEA8-4948-FCC33082A26A}"/>
              </a:ext>
            </a:extLst>
          </p:cNvPr>
          <p:cNvSpPr/>
          <p:nvPr/>
        </p:nvSpPr>
        <p:spPr>
          <a:xfrm>
            <a:off x="6233160" y="5668518"/>
            <a:ext cx="0" cy="11887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35">
            <a:extLst>
              <a:ext uri="{FF2B5EF4-FFF2-40B4-BE49-F238E27FC236}">
                <a16:creationId xmlns:a16="http://schemas.microsoft.com/office/drawing/2014/main" id="{A942595B-059E-A122-B071-E1B0567A6EFA}"/>
              </a:ext>
            </a:extLst>
          </p:cNvPr>
          <p:cNvSpPr/>
          <p:nvPr/>
        </p:nvSpPr>
        <p:spPr>
          <a:xfrm>
            <a:off x="8473440" y="4936998"/>
            <a:ext cx="1874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36">
            <a:extLst>
              <a:ext uri="{FF2B5EF4-FFF2-40B4-BE49-F238E27FC236}">
                <a16:creationId xmlns:a16="http://schemas.microsoft.com/office/drawing/2014/main" id="{649F6CE7-498E-9E16-E64F-6E59F83D82E1}"/>
              </a:ext>
            </a:extLst>
          </p:cNvPr>
          <p:cNvSpPr/>
          <p:nvPr/>
        </p:nvSpPr>
        <p:spPr>
          <a:xfrm>
            <a:off x="10347960" y="4936998"/>
            <a:ext cx="0" cy="64008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37">
            <a:extLst>
              <a:ext uri="{FF2B5EF4-FFF2-40B4-BE49-F238E27FC236}">
                <a16:creationId xmlns:a16="http://schemas.microsoft.com/office/drawing/2014/main" id="{1516F43B-5AA5-57C8-9227-3E17E5CBAE74}"/>
              </a:ext>
            </a:extLst>
          </p:cNvPr>
          <p:cNvSpPr txBox="1"/>
          <p:nvPr/>
        </p:nvSpPr>
        <p:spPr>
          <a:xfrm>
            <a:off x="8564880" y="4491231"/>
            <a:ext cx="2011680" cy="400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ManageCA / CertManager</a:t>
            </a:r>
            <a:endParaRPr lang="en-US" sz="1200" dirty="0"/>
          </a:p>
        </p:txBody>
      </p:sp>
      <p:sp>
        <p:nvSpPr>
          <p:cNvPr id="97" name="Shape 38">
            <a:extLst>
              <a:ext uri="{FF2B5EF4-FFF2-40B4-BE49-F238E27FC236}">
                <a16:creationId xmlns:a16="http://schemas.microsoft.com/office/drawing/2014/main" id="{9DF681A5-B523-AE00-C543-9800A53CD1CB}"/>
              </a:ext>
            </a:extLst>
          </p:cNvPr>
          <p:cNvSpPr/>
          <p:nvPr/>
        </p:nvSpPr>
        <p:spPr>
          <a:xfrm>
            <a:off x="8473440" y="7588758"/>
            <a:ext cx="26060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39">
            <a:extLst>
              <a:ext uri="{FF2B5EF4-FFF2-40B4-BE49-F238E27FC236}">
                <a16:creationId xmlns:a16="http://schemas.microsoft.com/office/drawing/2014/main" id="{48B9E169-3907-2A48-12D8-C817546A4806}"/>
              </a:ext>
            </a:extLst>
          </p:cNvPr>
          <p:cNvSpPr/>
          <p:nvPr/>
        </p:nvSpPr>
        <p:spPr>
          <a:xfrm flipV="1">
            <a:off x="11079480" y="7079502"/>
            <a:ext cx="0" cy="469872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27562EB3-565A-D703-0FFF-D0131F5017C3}"/>
              </a:ext>
            </a:extLst>
          </p:cNvPr>
          <p:cNvSpPr txBox="1"/>
          <p:nvPr/>
        </p:nvSpPr>
        <p:spPr>
          <a:xfrm>
            <a:off x="8564880" y="7245972"/>
            <a:ext cx="1828800" cy="27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PublishedTo</a:t>
            </a:r>
            <a:endParaRPr lang="en-US" sz="1200" dirty="0"/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9D04C149-85CE-2E09-D427-7F2433FCD998}"/>
              </a:ext>
            </a:extLst>
          </p:cNvPr>
          <p:cNvSpPr/>
          <p:nvPr/>
        </p:nvSpPr>
        <p:spPr>
          <a:xfrm flipV="1">
            <a:off x="7787640" y="5668518"/>
            <a:ext cx="0" cy="1188720"/>
          </a:xfrm>
          <a:prstGeom prst="line">
            <a:avLst/>
          </a:prstGeom>
          <a:noFill/>
          <a:ln w="4445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42">
            <a:extLst>
              <a:ext uri="{FF2B5EF4-FFF2-40B4-BE49-F238E27FC236}">
                <a16:creationId xmlns:a16="http://schemas.microsoft.com/office/drawing/2014/main" id="{5A0DA126-82D2-D679-F5CF-9B24795C05D8}"/>
              </a:ext>
            </a:extLst>
          </p:cNvPr>
          <p:cNvSpPr/>
          <p:nvPr/>
        </p:nvSpPr>
        <p:spPr>
          <a:xfrm>
            <a:off x="7764782" y="6015990"/>
            <a:ext cx="1737356" cy="594360"/>
          </a:xfrm>
          <a:prstGeom prst="roundRect">
            <a:avLst>
              <a:gd name="adj" fmla="val 15385"/>
            </a:avLst>
          </a:prstGeom>
          <a:solidFill>
            <a:srgbClr val="FDEC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43">
            <a:extLst>
              <a:ext uri="{FF2B5EF4-FFF2-40B4-BE49-F238E27FC236}">
                <a16:creationId xmlns:a16="http://schemas.microsoft.com/office/drawing/2014/main" id="{6DAB41CB-142D-412A-D024-1DA5594F3B66}"/>
              </a:ext>
            </a:extLst>
          </p:cNvPr>
          <p:cNvSpPr txBox="1"/>
          <p:nvPr/>
        </p:nvSpPr>
        <p:spPr>
          <a:xfrm>
            <a:off x="7559042" y="6061710"/>
            <a:ext cx="17373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LinksPolicy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(ESC13)</a:t>
            </a:r>
            <a:endParaRPr lang="en-US" sz="1200" dirty="0"/>
          </a:p>
        </p:txBody>
      </p:sp>
      <p:sp>
        <p:nvSpPr>
          <p:cNvPr id="401" name="Step 1 card"/>
          <p:cNvSpPr/>
          <p:nvPr/>
        </p:nvSpPr>
        <p:spPr>
          <a:xfrm>
            <a:off x="1295400" y="2476500"/>
            <a:ext cx="368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2" name="Step 1 header"/>
          <p:cNvSpPr/>
          <p:nvPr/>
        </p:nvSpPr>
        <p:spPr>
          <a:xfrm>
            <a:off x="1295400" y="2476500"/>
            <a:ext cx="3683000" cy="3810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3" name="Step 1 title"/>
          <p:cNvSpPr txBox="1"/>
          <p:nvPr/>
        </p:nvSpPr>
        <p:spPr>
          <a:xfrm>
            <a:off x="1435100" y="2476500"/>
            <a:ext cx="3403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Ingest &amp; Build</a:t>
            </a:r>
            <a:endParaRPr lang="en-US" sz="1600" dirty="0"/>
          </a:p>
        </p:txBody>
      </p:sp>
      <p:sp>
        <p:nvSpPr>
          <p:cNvPr id="404" name="Step 1 body"/>
          <p:cNvSpPr txBox="1"/>
          <p:nvPr/>
        </p:nvSpPr>
        <p:spPr>
          <a:xfrm>
            <a:off x="1435100" y="2946400"/>
            <a:ext cx="3403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objects and DACLs into 5 classes and 16 relations; group closures precomputed.</a:t>
            </a:r>
            <a:endParaRPr lang="en-US" sz="1300" dirty="0"/>
          </a:p>
        </p:txBody>
      </p:sp>
      <p:sp>
        <p:nvSpPr>
          <p:cNvPr id="405" name="Step 2 card"/>
          <p:cNvSpPr/>
          <p:nvPr/>
        </p:nvSpPr>
        <p:spPr>
          <a:xfrm>
            <a:off x="5156200" y="2476500"/>
            <a:ext cx="368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6" name="Step 2 header"/>
          <p:cNvSpPr/>
          <p:nvPr/>
        </p:nvSpPr>
        <p:spPr>
          <a:xfrm>
            <a:off x="5156200" y="2476500"/>
            <a:ext cx="3683000" cy="3810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7" name="Step 2 title"/>
          <p:cNvSpPr txBox="1"/>
          <p:nvPr/>
        </p:nvSpPr>
        <p:spPr>
          <a:xfrm>
            <a:off x="5295900" y="2476500"/>
            <a:ext cx="3403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GNN Screening</a:t>
            </a:r>
            <a:endParaRPr lang="en-US" sz="1600" dirty="0"/>
          </a:p>
        </p:txBody>
      </p:sp>
      <p:sp>
        <p:nvSpPr>
          <p:cNvPr id="408" name="Step 2 body"/>
          <p:cNvSpPr txBox="1"/>
          <p:nvPr/>
        </p:nvSpPr>
        <p:spPr>
          <a:xfrm>
            <a:off x="5295900" y="2946400"/>
            <a:ext cx="3403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64-D type-specific projections, 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baseline="-40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skips (Thm 1), 2 attention layers × 4 heads; O(1) inference.</a:t>
            </a:r>
            <a:endParaRPr lang="en-US" sz="1300" dirty="0"/>
          </a:p>
        </p:txBody>
      </p:sp>
      <p:sp>
        <p:nvSpPr>
          <p:cNvPr id="409" name="Step 3 card"/>
          <p:cNvSpPr/>
          <p:nvPr/>
        </p:nvSpPr>
        <p:spPr>
          <a:xfrm>
            <a:off x="9017000" y="2476500"/>
            <a:ext cx="368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0" name="Step 3 header"/>
          <p:cNvSpPr/>
          <p:nvPr/>
        </p:nvSpPr>
        <p:spPr>
          <a:xfrm>
            <a:off x="9017000" y="2476500"/>
            <a:ext cx="3683000" cy="3810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1" name="Step 3 title"/>
          <p:cNvSpPr txBox="1"/>
          <p:nvPr/>
        </p:nvSpPr>
        <p:spPr>
          <a:xfrm>
            <a:off x="9156700" y="2476500"/>
            <a:ext cx="3403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Verify &amp; Defend</a:t>
            </a:r>
            <a:endParaRPr lang="en-US" sz="1600" dirty="0"/>
          </a:p>
        </p:txBody>
      </p:sp>
      <p:sp>
        <p:nvSpPr>
          <p:cNvPr id="412" name="Step 3 body"/>
          <p:cNvSpPr txBox="1"/>
          <p:nvPr/>
        </p:nvSpPr>
        <p:spPr>
          <a:xfrm>
            <a:off x="9156700" y="2946400"/>
            <a:ext cx="3403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BFS proof (0% FP), then Stackelberg minimal-cost edge cut (Thm 2).</a:t>
            </a:r>
            <a:endParaRPr lang="en-US" sz="1300" dirty="0"/>
          </a:p>
        </p:txBody>
      </p:sp>
      <p:sp>
        <p:nvSpPr>
          <p:cNvPr id="413" name="Attention card"/>
          <p:cNvSpPr/>
          <p:nvPr/>
        </p:nvSpPr>
        <p:spPr>
          <a:xfrm>
            <a:off x="13208000" y="2476500"/>
            <a:ext cx="4572000" cy="270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4" name="Attention header"/>
          <p:cNvSpPr/>
          <p:nvPr/>
        </p:nvSpPr>
        <p:spPr>
          <a:xfrm>
            <a:off x="13208000" y="2476500"/>
            <a:ext cx="4572000" cy="3810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5" name="Attention title"/>
          <p:cNvSpPr txBox="1"/>
          <p:nvPr/>
        </p:nvSpPr>
        <p:spPr>
          <a:xfrm>
            <a:off x="13347700" y="2476500"/>
            <a:ext cx="4292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Attention into the Template</a:t>
            </a:r>
            <a:endParaRPr lang="en-US" sz="1600" dirty="0"/>
          </a:p>
        </p:txBody>
      </p:sp>
      <p:sp>
        <p:nvSpPr>
          <p:cNvPr id="416" name="Attention subtitle"/>
          <p:cNvSpPr txBox="1"/>
          <p:nvPr/>
        </p:nvSpPr>
        <p:spPr>
          <a:xfrm>
            <a:off x="13347700" y="29337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edges into the template · 4 heads · illustrative</a:t>
            </a:r>
            <a:endParaRPr lang="en-US" sz="1200" dirty="0"/>
          </a:p>
        </p:txBody>
      </p:sp>
      <p:sp>
        <p:nvSpPr>
          <p:cNvPr id="417" name="Attn label 0"/>
          <p:cNvSpPr txBox="1"/>
          <p:nvPr/>
        </p:nvSpPr>
        <p:spPr>
          <a:xfrm>
            <a:off x="13347700" y="32639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GenericAll</a:t>
            </a:r>
            <a:endParaRPr lang="en-US" sz="1200" dirty="0"/>
          </a:p>
        </p:txBody>
      </p:sp>
      <p:sp>
        <p:nvSpPr>
          <p:cNvPr id="418" name="Attn bar 0"/>
          <p:cNvSpPr/>
          <p:nvPr/>
        </p:nvSpPr>
        <p:spPr>
          <a:xfrm>
            <a:off x="15443200" y="3289300"/>
            <a:ext cx="1397000" cy="152400"/>
          </a:xfrm>
          <a:prstGeom prst="rect">
            <a:avLst/>
          </a:prstGeom>
          <a:solidFill>
            <a:srgbClr val="C62828"/>
          </a:solidFill>
          <a:ln w="3175">
            <a:solidFill>
              <a:srgbClr val="C62828"/>
            </a:solidFill>
            <a:prstDash val="solid"/>
          </a:ln>
        </p:spPr>
      </p:sp>
      <p:sp>
        <p:nvSpPr>
          <p:cNvPr id="419" name="Attn val 0"/>
          <p:cNvSpPr txBox="1"/>
          <p:nvPr/>
        </p:nvSpPr>
        <p:spPr>
          <a:xfrm>
            <a:off x="16916400" y="32639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200" dirty="0"/>
          </a:p>
        </p:txBody>
      </p:sp>
      <p:sp>
        <p:nvSpPr>
          <p:cNvPr id="420" name="Attn label 1"/>
          <p:cNvSpPr txBox="1"/>
          <p:nvPr/>
        </p:nvSpPr>
        <p:spPr>
          <a:xfrm>
            <a:off x="13347700" y="35306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Enroll</a:t>
            </a:r>
            <a:endParaRPr lang="en-US" sz="1200" dirty="0"/>
          </a:p>
        </p:txBody>
      </p:sp>
      <p:sp>
        <p:nvSpPr>
          <p:cNvPr id="421" name="Attn bar 1"/>
          <p:cNvSpPr/>
          <p:nvPr/>
        </p:nvSpPr>
        <p:spPr>
          <a:xfrm>
            <a:off x="15443200" y="3556000"/>
            <a:ext cx="635000" cy="152400"/>
          </a:xfrm>
          <a:prstGeom prst="rect">
            <a:avLst/>
          </a:prstGeom>
          <a:solidFill>
            <a:srgbClr val="1E3A5F"/>
          </a:solidFill>
          <a:ln w="3175">
            <a:solidFill>
              <a:srgbClr val="1E3A5F"/>
            </a:solidFill>
            <a:prstDash val="solid"/>
          </a:ln>
        </p:spPr>
      </p:sp>
      <p:sp>
        <p:nvSpPr>
          <p:cNvPr id="422" name="Attn val 1"/>
          <p:cNvSpPr txBox="1"/>
          <p:nvPr/>
        </p:nvSpPr>
        <p:spPr>
          <a:xfrm>
            <a:off x="16154400" y="3530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200" dirty="0"/>
          </a:p>
        </p:txBody>
      </p:sp>
      <p:sp>
        <p:nvSpPr>
          <p:cNvPr id="423" name="Attn label 2"/>
          <p:cNvSpPr txBox="1"/>
          <p:nvPr/>
        </p:nvSpPr>
        <p:spPr>
          <a:xfrm>
            <a:off x="13347700" y="37973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→ Enroll</a:t>
            </a:r>
            <a:endParaRPr lang="en-US" sz="1200" dirty="0"/>
          </a:p>
        </p:txBody>
      </p:sp>
      <p:sp>
        <p:nvSpPr>
          <p:cNvPr id="424" name="Attn bar 2"/>
          <p:cNvSpPr/>
          <p:nvPr/>
        </p:nvSpPr>
        <p:spPr>
          <a:xfrm>
            <a:off x="15443200" y="3822700"/>
            <a:ext cx="304800" cy="152400"/>
          </a:xfrm>
          <a:prstGeom prst="rect">
            <a:avLst/>
          </a:prstGeom>
          <a:solidFill>
            <a:srgbClr val="3B5B85"/>
          </a:solidFill>
          <a:ln w="3175">
            <a:solidFill>
              <a:srgbClr val="3B5B85"/>
            </a:solidFill>
            <a:prstDash val="solid"/>
          </a:ln>
        </p:spPr>
      </p:sp>
      <p:sp>
        <p:nvSpPr>
          <p:cNvPr id="425" name="Attn val 2"/>
          <p:cNvSpPr txBox="1"/>
          <p:nvPr/>
        </p:nvSpPr>
        <p:spPr>
          <a:xfrm>
            <a:off x="15824200" y="37973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200" dirty="0"/>
          </a:p>
        </p:txBody>
      </p:sp>
      <p:sp>
        <p:nvSpPr>
          <p:cNvPr id="426" name="Attn label 3"/>
          <p:cNvSpPr txBox="1"/>
          <p:nvPr/>
        </p:nvSpPr>
        <p:spPr>
          <a:xfrm>
            <a:off x="13347700" y="4064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→ PublishedTo (reverse)</a:t>
            </a:r>
            <a:endParaRPr lang="en-US" sz="1200" dirty="0"/>
          </a:p>
        </p:txBody>
      </p:sp>
      <p:sp>
        <p:nvSpPr>
          <p:cNvPr id="427" name="Attn bar 3"/>
          <p:cNvSpPr/>
          <p:nvPr/>
        </p:nvSpPr>
        <p:spPr>
          <a:xfrm>
            <a:off x="15443200" y="4089400"/>
            <a:ext cx="203200" cy="152400"/>
          </a:xfrm>
          <a:prstGeom prst="rect">
            <a:avLst/>
          </a:prstGeom>
          <a:solidFill>
            <a:srgbClr val="94A3B8"/>
          </a:solidFill>
          <a:ln w="3175">
            <a:solidFill>
              <a:srgbClr val="94A3B8"/>
            </a:solidFill>
            <a:prstDash val="solid"/>
          </a:ln>
        </p:spPr>
      </p:sp>
      <p:sp>
        <p:nvSpPr>
          <p:cNvPr id="428" name="Attn val 3"/>
          <p:cNvSpPr txBox="1"/>
          <p:nvPr/>
        </p:nvSpPr>
        <p:spPr>
          <a:xfrm>
            <a:off x="15722600" y="4064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200" dirty="0"/>
          </a:p>
        </p:txBody>
      </p:sp>
      <p:sp>
        <p:nvSpPr>
          <p:cNvPr id="429" name="Legend AD"/>
          <p:cNvSpPr/>
          <p:nvPr/>
        </p:nvSpPr>
        <p:spPr>
          <a:xfrm>
            <a:off x="13347700" y="4521200"/>
            <a:ext cx="3048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30" name="Legend AD t"/>
          <p:cNvSpPr txBox="1"/>
          <p:nvPr/>
        </p:nvSpPr>
        <p:spPr>
          <a:xfrm>
            <a:off x="13703300" y="44069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relation</a:t>
            </a:r>
            <a:endParaRPr lang="en-US" sz="1100" dirty="0"/>
          </a:p>
        </p:txBody>
      </p:sp>
      <p:sp>
        <p:nvSpPr>
          <p:cNvPr id="431" name="Legend ACL"/>
          <p:cNvSpPr/>
          <p:nvPr/>
        </p:nvSpPr>
        <p:spPr>
          <a:xfrm>
            <a:off x="14681200" y="4521200"/>
            <a:ext cx="3048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</p:sp>
      <p:sp>
        <p:nvSpPr>
          <p:cNvPr id="432" name="Legend ACL t"/>
          <p:cNvSpPr txBox="1"/>
          <p:nvPr/>
        </p:nvSpPr>
        <p:spPr>
          <a:xfrm>
            <a:off x="15036800" y="44069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ACL</a:t>
            </a:r>
            <a:endParaRPr lang="en-US" sz="1100" dirty="0"/>
          </a:p>
        </p:txBody>
      </p:sp>
      <p:sp>
        <p:nvSpPr>
          <p:cNvPr id="433" name="Legend thick"/>
          <p:cNvSpPr/>
          <p:nvPr/>
        </p:nvSpPr>
        <p:spPr>
          <a:xfrm>
            <a:off x="16014700" y="4521200"/>
            <a:ext cx="304800" cy="0"/>
          </a:xfrm>
          <a:prstGeom prst="line">
            <a:avLst/>
          </a:prstGeom>
          <a:noFill/>
          <a:ln w="50800">
            <a:solidFill>
              <a:srgbClr val="C62828"/>
            </a:solidFill>
            <a:prstDash val="solid"/>
          </a:ln>
        </p:spPr>
      </p:sp>
      <p:sp>
        <p:nvSpPr>
          <p:cNvPr id="434" name="Legend thick t"/>
          <p:cNvSpPr txBox="1"/>
          <p:nvPr/>
        </p:nvSpPr>
        <p:spPr>
          <a:xfrm>
            <a:off x="16370300" y="44069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Thicker = higher α</a:t>
            </a:r>
            <a:endParaRPr lang="en-US" sz="1100" dirty="0"/>
          </a:p>
        </p:txBody>
      </p:sp>
      <p:sp>
        <p:nvSpPr>
          <p:cNvPr id="435" name="Projection math"/>
          <p:cNvSpPr txBox="1"/>
          <p:nvPr/>
        </p:nvSpPr>
        <p:spPr>
          <a:xfrm>
            <a:off x="13347700" y="4711700"/>
            <a:ext cx="4292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2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2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h</a:t>
            </a:r>
            <a:r>
              <a:rPr lang="en-US" sz="12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2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(0)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2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11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Tmpl</a:t>
            </a:r>
            <a:r>
              <a:rPr lang="en-US" sz="1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2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(2-hop)</a:t>
            </a:r>
            <a:endParaRPr lang="en-US" sz="1200" dirty="0"/>
          </a:p>
        </p:txBody>
      </p:sp>
      <p:sp>
        <p:nvSpPr>
          <p:cNvPr id="436" name="Wskip User"/>
          <p:cNvSpPr/>
          <p:nvPr/>
        </p:nvSpPr>
        <p:spPr>
          <a:xfrm>
            <a:off x="1295400" y="3860800"/>
            <a:ext cx="28448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Thm 1  ‖∂h/∂x‖ ≥ σ</a:t>
            </a:r>
            <a:r>
              <a:rPr lang="en-US" sz="1100" baseline="-40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437" name="Wskip Group"/>
          <p:cNvSpPr/>
          <p:nvPr/>
        </p:nvSpPr>
        <p:spPr>
          <a:xfrm>
            <a:off x="5308600" y="3873500"/>
            <a:ext cx="11430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bitmask</a:t>
            </a:r>
            <a:endParaRPr lang="en-US" sz="1200" dirty="0"/>
          </a:p>
        </p:txBody>
      </p:sp>
      <p:sp>
        <p:nvSpPr>
          <p:cNvPr id="438" name="Wskip Computer"/>
          <p:cNvSpPr/>
          <p:nvPr/>
        </p:nvSpPr>
        <p:spPr>
          <a:xfrm>
            <a:off x="1295400" y="6515100"/>
            <a:ext cx="2057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machine invariant</a:t>
            </a:r>
            <a:endParaRPr lang="en-US" sz="1200" dirty="0"/>
          </a:p>
        </p:txBody>
      </p:sp>
      <p:sp>
        <p:nvSpPr>
          <p:cNvPr id="439" name="Wskip Template"/>
          <p:cNvSpPr/>
          <p:nvPr/>
        </p:nvSpPr>
        <p:spPr>
          <a:xfrm>
            <a:off x="5461000" y="8382000"/>
            <a:ext cx="19812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prevents decay</a:t>
            </a:r>
            <a:endParaRPr lang="en-US" sz="1200" dirty="0"/>
          </a:p>
        </p:txBody>
      </p:sp>
      <p:sp>
        <p:nvSpPr>
          <p:cNvPr id="440" name="Thm2 cut"/>
          <p:cNvSpPr/>
          <p:nvPr/>
        </p:nvSpPr>
        <p:spPr>
          <a:xfrm>
            <a:off x="6096000" y="5803900"/>
            <a:ext cx="279400" cy="279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 wrap="square" lIns="0" tIns="0" rIns="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41" name="GenericAll label"/>
          <p:cNvSpPr txBox="1"/>
          <p:nvPr/>
        </p:nvSpPr>
        <p:spPr>
          <a:xfrm>
            <a:off x="6426200" y="6172200"/>
            <a:ext cx="132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GenericAll 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WriteOwner</a:t>
            </a:r>
            <a:endParaRPr lang="en-US" sz="1200" dirty="0"/>
          </a:p>
        </p:txBody>
      </p:sp>
      <p:sp>
        <p:nvSpPr>
          <p:cNvPr id="442" name="Theorem 2 card"/>
          <p:cNvSpPr/>
          <p:nvPr/>
        </p:nvSpPr>
        <p:spPr>
          <a:xfrm>
            <a:off x="13208000" y="5384800"/>
            <a:ext cx="457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3" name="Theorem 2 header"/>
          <p:cNvSpPr/>
          <p:nvPr/>
        </p:nvSpPr>
        <p:spPr>
          <a:xfrm>
            <a:off x="13208000" y="5384800"/>
            <a:ext cx="4572000" cy="381000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444" name="Theorem 2 title"/>
          <p:cNvSpPr txBox="1"/>
          <p:nvPr/>
        </p:nvSpPr>
        <p:spPr>
          <a:xfrm>
            <a:off x="13347700" y="5384800"/>
            <a:ext cx="4292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2: Stackelberg Defense</a:t>
            </a:r>
            <a:endParaRPr lang="en-US" sz="1600" dirty="0"/>
          </a:p>
        </p:txBody>
      </p:sp>
      <p:sp>
        <p:nvSpPr>
          <p:cNvPr id="445" name="Theorem 2 body"/>
          <p:cNvSpPr txBox="1"/>
          <p:nvPr/>
        </p:nvSpPr>
        <p:spPr>
          <a:xfrm>
            <a:off x="13347700" y="5842000"/>
            <a:ext cx="4292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multiway interdiction → minimal-cost ACE revocation breaks the path with zero disruption.</a:t>
            </a:r>
            <a:endParaRPr lang="en-US" sz="1300" dirty="0"/>
          </a:p>
        </p:txBody>
      </p:sp>
      <p:sp>
        <p:nvSpPr>
          <p:cNvPr id="446" name="Tier0 card"/>
          <p:cNvSpPr/>
          <p:nvPr/>
        </p:nvSpPr>
        <p:spPr>
          <a:xfrm>
            <a:off x="13208000" y="6921500"/>
            <a:ext cx="4572000" cy="167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7" name="Tier0 header"/>
          <p:cNvSpPr/>
          <p:nvPr/>
        </p:nvSpPr>
        <p:spPr>
          <a:xfrm>
            <a:off x="13208000" y="6921500"/>
            <a:ext cx="4572000" cy="3810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8" name="Tier0 title"/>
          <p:cNvSpPr txBox="1"/>
          <p:nvPr/>
        </p:nvSpPr>
        <p:spPr>
          <a:xfrm>
            <a:off x="13347700" y="6921500"/>
            <a:ext cx="4292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Tier-0 / Issuance Policy OID</a:t>
            </a:r>
            <a:endParaRPr lang="en-US" sz="1600" dirty="0"/>
          </a:p>
        </p:txBody>
      </p:sp>
      <p:sp>
        <p:nvSpPr>
          <p:cNvPr id="449" name="Tier0 body"/>
          <p:cNvSpPr txBox="1"/>
          <p:nvPr/>
        </p:nvSpPr>
        <p:spPr>
          <a:xfrm>
            <a:off x="13347700" y="7391400"/>
            <a:ext cx="42926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r>
              <a:rPr lang="en-US" sz="12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OID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ESC13 target / Groups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49" charset="0"/>
                <a:cs typeface="Courier New" pitchFamily="49" charset="0"/>
              </a:rPr>
              <a:t>Links: msPKI-Enrollment-Flag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62828"/>
                </a:solidFill>
                <a:latin typeface="Courier New" pitchFamily="49" charset="0"/>
                <a:cs typeface="Courier New" pitchFamily="49" charset="0"/>
              </a:rPr>
              <a:t>Escalation: PAC SID Injection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Enterprise / Domain Admins</a:t>
            </a:r>
            <a:endParaRPr lang="en-US" sz="1200" dirty="0"/>
          </a:p>
        </p:txBody>
      </p:sp>
      <p:sp>
        <p:nvSpPr>
          <p:cNvPr id="450" name="LinksPolicy ESC13 OID edge"/>
          <p:cNvSpPr/>
          <p:nvPr/>
        </p:nvSpPr>
        <p:spPr>
          <a:xfrm>
            <a:off x="8470900" y="8077200"/>
            <a:ext cx="4737100" cy="0"/>
          </a:xfrm>
          <a:prstGeom prst="line">
            <a:avLst/>
          </a:prstGeom>
          <a:noFill/>
          <a:ln w="444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51" name="LinksPolicy ESC13 OID label"/>
          <p:cNvSpPr txBox="1"/>
          <p:nvPr/>
        </p:nvSpPr>
        <p:spPr>
          <a:xfrm>
            <a:off x="8763000" y="77597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LinksPolicy [ESC13 OID]</a:t>
            </a:r>
            <a:endParaRPr lang="en-US" sz="1200" dirty="0"/>
          </a:p>
        </p:txBody>
      </p:sp>
      <p:sp>
        <p:nvSpPr>
          <p:cNvPr id="452" name="PAC Elevation pill"/>
          <p:cNvSpPr/>
          <p:nvPr/>
        </p:nvSpPr>
        <p:spPr>
          <a:xfrm>
            <a:off x="11493500" y="7937500"/>
            <a:ext cx="1320800" cy="279400"/>
          </a:xfrm>
          <a:prstGeom prst="roundRect">
            <a:avLst>
              <a:gd name="adj" fmla="val 15385"/>
            </a:avLst>
          </a:prstGeom>
          <a:solidFill>
            <a:srgbClr val="FDECEA"/>
          </a:solidFill>
          <a:ln w="15875">
            <a:solidFill>
              <a:srgbClr val="C6282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Elevation</a:t>
            </a:r>
            <a:endParaRPr lang="en-US" sz="1200" dirty="0"/>
          </a:p>
        </p:txBody>
      </p:sp>
      <p:sp>
        <p:nvSpPr>
          <p:cNvPr id="453" name="Latent arrow"/>
          <p:cNvSpPr/>
          <p:nvPr/>
        </p:nvSpPr>
        <p:spPr>
          <a:xfrm>
            <a:off x="7620000" y="8318500"/>
            <a:ext cx="0" cy="59690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454" name="Latent label"/>
          <p:cNvSpPr txBox="1"/>
          <p:nvPr/>
        </p:nvSpPr>
        <p:spPr>
          <a:xfrm>
            <a:off x="7747000" y="84328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11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Tmpl</a:t>
            </a: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300" dirty="0"/>
          </a:p>
        </p:txBody>
      </p:sp>
      <p:sp>
        <p:nvSpPr>
          <p:cNvPr id="455" name="MLP head card"/>
          <p:cNvSpPr/>
          <p:nvPr/>
        </p:nvSpPr>
        <p:spPr>
          <a:xfrm>
            <a:off x="5588000" y="8915400"/>
            <a:ext cx="5969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6" name="MLP head header"/>
          <p:cNvSpPr/>
          <p:nvPr/>
        </p:nvSpPr>
        <p:spPr>
          <a:xfrm>
            <a:off x="5588000" y="8915400"/>
            <a:ext cx="5969000" cy="3810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7" name="MLP head title"/>
          <p:cNvSpPr txBox="1"/>
          <p:nvPr/>
        </p:nvSpPr>
        <p:spPr>
          <a:xfrm>
            <a:off x="5727700" y="8915400"/>
            <a:ext cx="568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CertGraph MLP Classifier Head (64 → 32 → 7)</a:t>
            </a:r>
            <a:endParaRPr lang="en-US" sz="1600" dirty="0"/>
          </a:p>
        </p:txBody>
      </p:sp>
      <p:sp>
        <p:nvSpPr>
          <p:cNvPr id="458" name="MLP line"/>
          <p:cNvSpPr txBox="1"/>
          <p:nvPr/>
        </p:nvSpPr>
        <p:spPr>
          <a:xfrm>
            <a:off x="5727700" y="9359900"/>
            <a:ext cx="568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 CS taxonomy · inductive O(1) inference &lt; 25 ms · Macro-F1 = 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97.18%</a:t>
            </a:r>
            <a:endParaRPr lang="en-US" sz="1200" dirty="0"/>
          </a:p>
        </p:txBody>
      </p:sp>
      <p:sp>
        <p:nvSpPr>
          <p:cNvPr id="459" name="Class chip Safe"/>
          <p:cNvSpPr/>
          <p:nvPr/>
        </p:nvSpPr>
        <p:spPr>
          <a:xfrm>
            <a:off x="5727700" y="9652000"/>
            <a:ext cx="685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00" dirty="0"/>
          </a:p>
        </p:txBody>
      </p:sp>
      <p:sp>
        <p:nvSpPr>
          <p:cNvPr id="460" name="Class chip ESC1"/>
          <p:cNvSpPr/>
          <p:nvPr/>
        </p:nvSpPr>
        <p:spPr>
          <a:xfrm>
            <a:off x="6477000" y="9652000"/>
            <a:ext cx="685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ESC1</a:t>
            </a:r>
            <a:endParaRPr lang="en-US" sz="1200" dirty="0"/>
          </a:p>
        </p:txBody>
      </p:sp>
      <p:sp>
        <p:nvSpPr>
          <p:cNvPr id="461" name="Class chip ESC2"/>
          <p:cNvSpPr/>
          <p:nvPr/>
        </p:nvSpPr>
        <p:spPr>
          <a:xfrm>
            <a:off x="7226300" y="9652000"/>
            <a:ext cx="685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ESC2</a:t>
            </a:r>
            <a:endParaRPr lang="en-US" sz="1200" dirty="0"/>
          </a:p>
        </p:txBody>
      </p:sp>
      <p:sp>
        <p:nvSpPr>
          <p:cNvPr id="462" name="Class chip ESC3"/>
          <p:cNvSpPr/>
          <p:nvPr/>
        </p:nvSpPr>
        <p:spPr>
          <a:xfrm>
            <a:off x="7975600" y="9652000"/>
            <a:ext cx="685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ESC3</a:t>
            </a:r>
            <a:endParaRPr lang="en-US" sz="1200" dirty="0"/>
          </a:p>
        </p:txBody>
      </p:sp>
      <p:sp>
        <p:nvSpPr>
          <p:cNvPr id="463" name="Class chip ESC4"/>
          <p:cNvSpPr/>
          <p:nvPr/>
        </p:nvSpPr>
        <p:spPr>
          <a:xfrm>
            <a:off x="8724900" y="9652000"/>
            <a:ext cx="685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ESC4</a:t>
            </a:r>
            <a:endParaRPr lang="en-US" sz="1200" dirty="0"/>
          </a:p>
        </p:txBody>
      </p:sp>
      <p:sp>
        <p:nvSpPr>
          <p:cNvPr id="464" name="Class chip ESC9"/>
          <p:cNvSpPr/>
          <p:nvPr/>
        </p:nvSpPr>
        <p:spPr>
          <a:xfrm>
            <a:off x="9474200" y="9652000"/>
            <a:ext cx="685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ESC9</a:t>
            </a:r>
            <a:endParaRPr lang="en-US" sz="1200" dirty="0"/>
          </a:p>
        </p:txBody>
      </p:sp>
      <p:sp>
        <p:nvSpPr>
          <p:cNvPr id="465" name="Class chip ESC13"/>
          <p:cNvSpPr/>
          <p:nvPr/>
        </p:nvSpPr>
        <p:spPr>
          <a:xfrm>
            <a:off x="10223500" y="9652000"/>
            <a:ext cx="762000" cy="304800"/>
          </a:xfrm>
          <a:prstGeom prst="rect">
            <a:avLst/>
          </a:prstGeom>
          <a:solidFill>
            <a:srgbClr val="FDECEA"/>
          </a:solidFill>
          <a:ln w="15875">
            <a:solidFill>
              <a:srgbClr val="C6282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ESC13</a:t>
            </a:r>
            <a:endParaRPr lang="en-US" sz="1200" dirty="0"/>
          </a:p>
        </p:txBody>
      </p:sp>
      <p:sp>
        <p:nvSpPr>
          <p:cNvPr id="466" name="Soundness card"/>
          <p:cNvSpPr/>
          <p:nvPr/>
        </p:nvSpPr>
        <p:spPr>
          <a:xfrm>
            <a:off x="1295400" y="8915400"/>
            <a:ext cx="4140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7" name="Soundness header"/>
          <p:cNvSpPr/>
          <p:nvPr/>
        </p:nvSpPr>
        <p:spPr>
          <a:xfrm>
            <a:off x="1295400" y="8915400"/>
            <a:ext cx="4140200" cy="381000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68" name="Soundness title"/>
          <p:cNvSpPr txBox="1"/>
          <p:nvPr/>
        </p:nvSpPr>
        <p:spPr>
          <a:xfrm>
            <a:off x="1435100" y="8915400"/>
            <a:ext cx="3860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Neuro-Symbolic Verification</a:t>
            </a:r>
            <a:endParaRPr lang="en-US" sz="1600" dirty="0"/>
          </a:p>
        </p:txBody>
      </p:sp>
      <p:sp>
        <p:nvSpPr>
          <p:cNvPr id="469" name="Soundness body"/>
          <p:cNvSpPr txBox="1"/>
          <p:nvPr/>
        </p:nvSpPr>
        <p:spPr>
          <a:xfrm>
            <a:off x="1435100" y="9359900"/>
            <a:ext cx="3860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BFS verifies candidate queue (0% FP)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negatives pruned: 1.59% → 100%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reachability proof tree before mitigation</a:t>
            </a:r>
            <a:endParaRPr lang="en-US" sz="1200" dirty="0"/>
          </a:p>
        </p:txBody>
      </p:sp>
      <p:sp>
        <p:nvSpPr>
          <p:cNvPr id="470" name="Benchmark card"/>
          <p:cNvSpPr/>
          <p:nvPr/>
        </p:nvSpPr>
        <p:spPr>
          <a:xfrm>
            <a:off x="11811000" y="8915400"/>
            <a:ext cx="5969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1" name="Benchmark header"/>
          <p:cNvSpPr/>
          <p:nvPr/>
        </p:nvSpPr>
        <p:spPr>
          <a:xfrm>
            <a:off x="11811000" y="8915400"/>
            <a:ext cx="5969000" cy="38100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72" name="Benchmark title"/>
          <p:cNvSpPr txBox="1"/>
          <p:nvPr/>
        </p:nvSpPr>
        <p:spPr>
          <a:xfrm>
            <a:off x="11950700" y="8915400"/>
            <a:ext cx="568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ESC13 Multi-Hop Proof</a:t>
            </a:r>
            <a:endParaRPr lang="en-US" sz="1600" dirty="0"/>
          </a:p>
        </p:txBody>
      </p:sp>
      <p:sp>
        <p:nvSpPr>
          <p:cNvPr id="473" name="Benchmark body"/>
          <p:cNvSpPr txBox="1"/>
          <p:nvPr/>
        </p:nvSpPr>
        <p:spPr>
          <a:xfrm>
            <a:off x="11950700" y="9359900"/>
            <a:ext cx="5689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Group → Template → Policy OID → DA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Certipy: </a:t>
            </a: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detection (blind to OID link) · BloodHound: state explosion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CertGraph: </a:t>
            </a: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 ms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 path discovery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75220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roup 2">
            <a:extLst>
              <a:ext uri="{FF2B5EF4-FFF2-40B4-BE49-F238E27FC236}">
                <a16:creationId xmlns:a16="http://schemas.microsoft.com/office/drawing/2014/main" id="{200A860D-0A69-A44B-0465-A40C756FC3C9}"/>
              </a:ext>
            </a:extLst>
          </p:cNvPr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16" name="Freeform 3">
              <a:extLst>
                <a:ext uri="{FF2B5EF4-FFF2-40B4-BE49-F238E27FC236}">
                  <a16:creationId xmlns:a16="http://schemas.microsoft.com/office/drawing/2014/main" id="{66312209-9520-FE57-2DE1-74ACB517D970}"/>
                </a:ext>
              </a:extLst>
            </p:cNvPr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723900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876300"/>
            <a:ext cx="12801600" cy="7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ARCHITECTURE: CERTGRAPH GNN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36395" y="7429500"/>
            <a:ext cx="4773930" cy="1664970"/>
            <a:chOff x="0" y="0"/>
            <a:chExt cx="6365240" cy="22199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65240" cy="2219960"/>
            </a:xfrm>
            <a:custGeom>
              <a:avLst/>
              <a:gdLst/>
              <a:ahLst/>
              <a:cxnLst/>
              <a:rect l="l" t="t" r="r" b="b"/>
              <a:pathLst>
                <a:path w="6365240" h="2219960">
                  <a:moveTo>
                    <a:pt x="0" y="0"/>
                  </a:moveTo>
                  <a:lnTo>
                    <a:pt x="6365240" y="0"/>
                  </a:lnTo>
                  <a:lnTo>
                    <a:pt x="6365240" y="2219960"/>
                  </a:lnTo>
                  <a:lnTo>
                    <a:pt x="0" y="2219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868" b="-586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365240" cy="2239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Heterogeneous Projections</a:t>
              </a:r>
            </a:p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entity node types projected into unified 64-dim space. Transitive group closures resolved during preprocessing.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57035" y="7429500"/>
            <a:ext cx="4773930" cy="1664970"/>
            <a:chOff x="0" y="0"/>
            <a:chExt cx="6365240" cy="22199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65240" cy="2219960"/>
            </a:xfrm>
            <a:custGeom>
              <a:avLst/>
              <a:gdLst/>
              <a:ahLst/>
              <a:cxnLst/>
              <a:rect l="l" t="t" r="r" b="b"/>
              <a:pathLst>
                <a:path w="6365240" h="2219960">
                  <a:moveTo>
                    <a:pt x="0" y="0"/>
                  </a:moveTo>
                  <a:lnTo>
                    <a:pt x="6365240" y="0"/>
                  </a:lnTo>
                  <a:lnTo>
                    <a:pt x="6365240" y="2219960"/>
                  </a:lnTo>
                  <a:lnTo>
                    <a:pt x="0" y="2219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868" b="-586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365240" cy="2239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Relational Attention &amp; Skips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attention heads per relation with orthogonal residual skip connections to preserve features across deep hops.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77675" y="7429500"/>
            <a:ext cx="4773930" cy="1664970"/>
            <a:chOff x="0" y="0"/>
            <a:chExt cx="6365240" cy="22199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65240" cy="2219960"/>
            </a:xfrm>
            <a:custGeom>
              <a:avLst/>
              <a:gdLst/>
              <a:ahLst/>
              <a:cxnLst/>
              <a:rect l="l" t="t" r="r" b="b"/>
              <a:pathLst>
                <a:path w="6365240" h="2219960">
                  <a:moveTo>
                    <a:pt x="0" y="0"/>
                  </a:moveTo>
                  <a:lnTo>
                    <a:pt x="6365240" y="0"/>
                  </a:lnTo>
                  <a:lnTo>
                    <a:pt x="6365240" y="2219960"/>
                  </a:lnTo>
                  <a:lnTo>
                    <a:pt x="0" y="2219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868" b="-586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6365240" cy="2239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 Readout &amp; Classification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Template embeddings passed to a 2-layer MLP classifier predicting Safe and 6 escalation classes (ESC1–ESC13).</a:t>
              </a:r>
            </a:p>
          </p:txBody>
        </p:sp>
      </p:grpSp>
      <p:sp>
        <p:nvSpPr>
          <p:cNvPr id="167" name="Shape 1">
            <a:extLst>
              <a:ext uri="{FF2B5EF4-FFF2-40B4-BE49-F238E27FC236}">
                <a16:creationId xmlns:a16="http://schemas.microsoft.com/office/drawing/2014/main" id="{0F47F2B9-B256-71B5-B21F-89615710D177}"/>
              </a:ext>
            </a:extLst>
          </p:cNvPr>
          <p:cNvSpPr/>
          <p:nvPr/>
        </p:nvSpPr>
        <p:spPr>
          <a:xfrm>
            <a:off x="3484245" y="1714500"/>
            <a:ext cx="23774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9" name="Shape 2">
            <a:extLst>
              <a:ext uri="{FF2B5EF4-FFF2-40B4-BE49-F238E27FC236}">
                <a16:creationId xmlns:a16="http://schemas.microsoft.com/office/drawing/2014/main" id="{B4DE6584-C327-2CE3-5B59-4149292F655C}"/>
              </a:ext>
            </a:extLst>
          </p:cNvPr>
          <p:cNvSpPr/>
          <p:nvPr/>
        </p:nvSpPr>
        <p:spPr>
          <a:xfrm>
            <a:off x="3484245" y="1714500"/>
            <a:ext cx="23774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3">
            <a:extLst>
              <a:ext uri="{FF2B5EF4-FFF2-40B4-BE49-F238E27FC236}">
                <a16:creationId xmlns:a16="http://schemas.microsoft.com/office/drawing/2014/main" id="{AA23C3BB-EF07-5E5E-F6D7-8EC2CA017D1E}"/>
              </a:ext>
            </a:extLst>
          </p:cNvPr>
          <p:cNvSpPr txBox="1"/>
          <p:nvPr/>
        </p:nvSpPr>
        <p:spPr>
          <a:xfrm>
            <a:off x="3575685" y="17145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Graph</a:t>
            </a:r>
            <a:endParaRPr lang="en-US" sz="1700" dirty="0"/>
          </a:p>
        </p:txBody>
      </p:sp>
      <p:sp>
        <p:nvSpPr>
          <p:cNvPr id="173" name="Shape 4">
            <a:extLst>
              <a:ext uri="{FF2B5EF4-FFF2-40B4-BE49-F238E27FC236}">
                <a16:creationId xmlns:a16="http://schemas.microsoft.com/office/drawing/2014/main" id="{6AE9F842-732B-9AD7-C67E-4CA9BFF45150}"/>
              </a:ext>
            </a:extLst>
          </p:cNvPr>
          <p:cNvSpPr/>
          <p:nvPr/>
        </p:nvSpPr>
        <p:spPr>
          <a:xfrm>
            <a:off x="5879973" y="4251960"/>
            <a:ext cx="192024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5">
            <a:extLst>
              <a:ext uri="{FF2B5EF4-FFF2-40B4-BE49-F238E27FC236}">
                <a16:creationId xmlns:a16="http://schemas.microsoft.com/office/drawing/2014/main" id="{E3A7795D-7C07-C3E7-194F-551D906F2DAD}"/>
              </a:ext>
            </a:extLst>
          </p:cNvPr>
          <p:cNvSpPr/>
          <p:nvPr/>
        </p:nvSpPr>
        <p:spPr>
          <a:xfrm>
            <a:off x="6090285" y="1714500"/>
            <a:ext cx="2606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7" name="Shape 6">
            <a:extLst>
              <a:ext uri="{FF2B5EF4-FFF2-40B4-BE49-F238E27FC236}">
                <a16:creationId xmlns:a16="http://schemas.microsoft.com/office/drawing/2014/main" id="{0947AE55-B74F-8260-20BB-26F4290A7092}"/>
              </a:ext>
            </a:extLst>
          </p:cNvPr>
          <p:cNvSpPr/>
          <p:nvPr/>
        </p:nvSpPr>
        <p:spPr>
          <a:xfrm>
            <a:off x="6090285" y="1714500"/>
            <a:ext cx="2606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7">
            <a:extLst>
              <a:ext uri="{FF2B5EF4-FFF2-40B4-BE49-F238E27FC236}">
                <a16:creationId xmlns:a16="http://schemas.microsoft.com/office/drawing/2014/main" id="{E03B19AE-1B59-1753-9E3B-0E0F3F49682D}"/>
              </a:ext>
            </a:extLst>
          </p:cNvPr>
          <p:cNvSpPr txBox="1"/>
          <p:nvPr/>
        </p:nvSpPr>
        <p:spPr>
          <a:xfrm>
            <a:off x="6181725" y="17145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Hetero-GAT Layer 1</a:t>
            </a:r>
            <a:endParaRPr lang="en-US" sz="1700" dirty="0"/>
          </a:p>
        </p:txBody>
      </p:sp>
      <p:sp>
        <p:nvSpPr>
          <p:cNvPr id="181" name="Shape 8">
            <a:extLst>
              <a:ext uri="{FF2B5EF4-FFF2-40B4-BE49-F238E27FC236}">
                <a16:creationId xmlns:a16="http://schemas.microsoft.com/office/drawing/2014/main" id="{7E163715-5421-E1B1-B756-EF8DCC2318EE}"/>
              </a:ext>
            </a:extLst>
          </p:cNvPr>
          <p:cNvSpPr/>
          <p:nvPr/>
        </p:nvSpPr>
        <p:spPr>
          <a:xfrm>
            <a:off x="8714613" y="4251960"/>
            <a:ext cx="192024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9">
            <a:extLst>
              <a:ext uri="{FF2B5EF4-FFF2-40B4-BE49-F238E27FC236}">
                <a16:creationId xmlns:a16="http://schemas.microsoft.com/office/drawing/2014/main" id="{C84F9A43-3386-5024-894D-7EC3B9EA3762}"/>
              </a:ext>
            </a:extLst>
          </p:cNvPr>
          <p:cNvSpPr/>
          <p:nvPr/>
        </p:nvSpPr>
        <p:spPr>
          <a:xfrm>
            <a:off x="8924925" y="1714500"/>
            <a:ext cx="2606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5" name="Shape 10">
            <a:extLst>
              <a:ext uri="{FF2B5EF4-FFF2-40B4-BE49-F238E27FC236}">
                <a16:creationId xmlns:a16="http://schemas.microsoft.com/office/drawing/2014/main" id="{C1C39095-1DDE-F3CB-24D5-6D7B0841B8D7}"/>
              </a:ext>
            </a:extLst>
          </p:cNvPr>
          <p:cNvSpPr/>
          <p:nvPr/>
        </p:nvSpPr>
        <p:spPr>
          <a:xfrm>
            <a:off x="8924925" y="1714500"/>
            <a:ext cx="2606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1">
            <a:extLst>
              <a:ext uri="{FF2B5EF4-FFF2-40B4-BE49-F238E27FC236}">
                <a16:creationId xmlns:a16="http://schemas.microsoft.com/office/drawing/2014/main" id="{5D3B6E48-10B2-6FD2-B22C-D98032C0ED51}"/>
              </a:ext>
            </a:extLst>
          </p:cNvPr>
          <p:cNvSpPr txBox="1"/>
          <p:nvPr/>
        </p:nvSpPr>
        <p:spPr>
          <a:xfrm>
            <a:off x="9016365" y="17145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Layer 2 &amp; Readout</a:t>
            </a:r>
            <a:endParaRPr lang="en-US" sz="1700" dirty="0"/>
          </a:p>
        </p:txBody>
      </p:sp>
      <p:sp>
        <p:nvSpPr>
          <p:cNvPr id="189" name="Shape 12">
            <a:extLst>
              <a:ext uri="{FF2B5EF4-FFF2-40B4-BE49-F238E27FC236}">
                <a16:creationId xmlns:a16="http://schemas.microsoft.com/office/drawing/2014/main" id="{FB2239A4-6E08-80F2-D754-7407D8488919}"/>
              </a:ext>
            </a:extLst>
          </p:cNvPr>
          <p:cNvSpPr/>
          <p:nvPr/>
        </p:nvSpPr>
        <p:spPr>
          <a:xfrm>
            <a:off x="11549253" y="4251960"/>
            <a:ext cx="192024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3">
            <a:extLst>
              <a:ext uri="{FF2B5EF4-FFF2-40B4-BE49-F238E27FC236}">
                <a16:creationId xmlns:a16="http://schemas.microsoft.com/office/drawing/2014/main" id="{269EE786-699F-723D-6FF7-08046F4466BA}"/>
              </a:ext>
            </a:extLst>
          </p:cNvPr>
          <p:cNvSpPr/>
          <p:nvPr/>
        </p:nvSpPr>
        <p:spPr>
          <a:xfrm>
            <a:off x="11759565" y="1714500"/>
            <a:ext cx="30175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3" name="Shape 14">
            <a:extLst>
              <a:ext uri="{FF2B5EF4-FFF2-40B4-BE49-F238E27FC236}">
                <a16:creationId xmlns:a16="http://schemas.microsoft.com/office/drawing/2014/main" id="{F3E3F332-305F-262F-6893-A3252AD6F8DF}"/>
              </a:ext>
            </a:extLst>
          </p:cNvPr>
          <p:cNvSpPr/>
          <p:nvPr/>
        </p:nvSpPr>
        <p:spPr>
          <a:xfrm>
            <a:off x="11759565" y="1714500"/>
            <a:ext cx="301752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B33F6A06-547C-8AFC-8BEE-B5DDC3C70343}"/>
              </a:ext>
            </a:extLst>
          </p:cNvPr>
          <p:cNvSpPr txBox="1"/>
          <p:nvPr/>
        </p:nvSpPr>
        <p:spPr>
          <a:xfrm>
            <a:off x="11851005" y="17145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Classification</a:t>
            </a:r>
            <a:endParaRPr lang="en-US" sz="1700" dirty="0"/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BD820FE9-5C67-5A75-43F8-0F7098DA617D}"/>
              </a:ext>
            </a:extLst>
          </p:cNvPr>
          <p:cNvSpPr/>
          <p:nvPr/>
        </p:nvSpPr>
        <p:spPr>
          <a:xfrm flipV="1">
            <a:off x="4032885" y="2583180"/>
            <a:ext cx="1280160" cy="457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7">
            <a:extLst>
              <a:ext uri="{FF2B5EF4-FFF2-40B4-BE49-F238E27FC236}">
                <a16:creationId xmlns:a16="http://schemas.microsoft.com/office/drawing/2014/main" id="{90F6A1C4-C4F0-804F-95DE-E1AE7FF6411F}"/>
              </a:ext>
            </a:extLst>
          </p:cNvPr>
          <p:cNvSpPr/>
          <p:nvPr/>
        </p:nvSpPr>
        <p:spPr>
          <a:xfrm>
            <a:off x="4032885" y="2628900"/>
            <a:ext cx="640080" cy="6858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8">
            <a:extLst>
              <a:ext uri="{FF2B5EF4-FFF2-40B4-BE49-F238E27FC236}">
                <a16:creationId xmlns:a16="http://schemas.microsoft.com/office/drawing/2014/main" id="{45ADBB3B-04E5-E71A-976E-3BEAF0380853}"/>
              </a:ext>
            </a:extLst>
          </p:cNvPr>
          <p:cNvSpPr/>
          <p:nvPr/>
        </p:nvSpPr>
        <p:spPr>
          <a:xfrm flipV="1">
            <a:off x="4672965" y="2583180"/>
            <a:ext cx="640080" cy="7315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19">
            <a:extLst>
              <a:ext uri="{FF2B5EF4-FFF2-40B4-BE49-F238E27FC236}">
                <a16:creationId xmlns:a16="http://schemas.microsoft.com/office/drawing/2014/main" id="{DCBC42A0-F202-9A71-F42D-6EA4554AF5AF}"/>
              </a:ext>
            </a:extLst>
          </p:cNvPr>
          <p:cNvSpPr/>
          <p:nvPr/>
        </p:nvSpPr>
        <p:spPr>
          <a:xfrm flipV="1">
            <a:off x="4032885" y="3314700"/>
            <a:ext cx="64008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">
            <a:extLst>
              <a:ext uri="{FF2B5EF4-FFF2-40B4-BE49-F238E27FC236}">
                <a16:creationId xmlns:a16="http://schemas.microsoft.com/office/drawing/2014/main" id="{4613A3F5-601F-68E7-0945-63CE2F8FB87F}"/>
              </a:ext>
            </a:extLst>
          </p:cNvPr>
          <p:cNvSpPr/>
          <p:nvPr/>
        </p:nvSpPr>
        <p:spPr>
          <a:xfrm>
            <a:off x="4672965" y="3314700"/>
            <a:ext cx="64008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1">
            <a:extLst>
              <a:ext uri="{FF2B5EF4-FFF2-40B4-BE49-F238E27FC236}">
                <a16:creationId xmlns:a16="http://schemas.microsoft.com/office/drawing/2014/main" id="{ED0F3AE4-C546-623E-D234-B2EF23E7D0B9}"/>
              </a:ext>
            </a:extLst>
          </p:cNvPr>
          <p:cNvSpPr/>
          <p:nvPr/>
        </p:nvSpPr>
        <p:spPr>
          <a:xfrm>
            <a:off x="3781425" y="2377440"/>
            <a:ext cx="502920" cy="502920"/>
          </a:xfrm>
          <a:prstGeom prst="ellipse">
            <a:avLst/>
          </a:prstGeom>
          <a:solidFill>
            <a:srgbClr val="0F766E"/>
          </a:solidFill>
          <a:ln w="222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22">
            <a:extLst>
              <a:ext uri="{FF2B5EF4-FFF2-40B4-BE49-F238E27FC236}">
                <a16:creationId xmlns:a16="http://schemas.microsoft.com/office/drawing/2014/main" id="{DC7F2D9E-D705-D729-40D1-1691A4FDB3FE}"/>
              </a:ext>
            </a:extLst>
          </p:cNvPr>
          <p:cNvSpPr txBox="1"/>
          <p:nvPr/>
        </p:nvSpPr>
        <p:spPr>
          <a:xfrm>
            <a:off x="3781425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211" name="Shape 23">
            <a:extLst>
              <a:ext uri="{FF2B5EF4-FFF2-40B4-BE49-F238E27FC236}">
                <a16:creationId xmlns:a16="http://schemas.microsoft.com/office/drawing/2014/main" id="{C2BE036D-BDCF-1C28-BCFF-EB993C5381D1}"/>
              </a:ext>
            </a:extLst>
          </p:cNvPr>
          <p:cNvSpPr/>
          <p:nvPr/>
        </p:nvSpPr>
        <p:spPr>
          <a:xfrm>
            <a:off x="5038725" y="2308860"/>
            <a:ext cx="548640" cy="548640"/>
          </a:xfrm>
          <a:prstGeom prst="triangle">
            <a:avLst/>
          </a:prstGeom>
          <a:solidFill>
            <a:srgbClr val="0F766E"/>
          </a:solidFill>
          <a:ln w="222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4">
            <a:extLst>
              <a:ext uri="{FF2B5EF4-FFF2-40B4-BE49-F238E27FC236}">
                <a16:creationId xmlns:a16="http://schemas.microsoft.com/office/drawing/2014/main" id="{197256F3-1E6C-EFD7-8F8D-D0263158999E}"/>
              </a:ext>
            </a:extLst>
          </p:cNvPr>
          <p:cNvSpPr txBox="1"/>
          <p:nvPr/>
        </p:nvSpPr>
        <p:spPr>
          <a:xfrm>
            <a:off x="5038725" y="2308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215" name="Shape 25">
            <a:extLst>
              <a:ext uri="{FF2B5EF4-FFF2-40B4-BE49-F238E27FC236}">
                <a16:creationId xmlns:a16="http://schemas.microsoft.com/office/drawing/2014/main" id="{65F7BFCE-AAAD-FD20-0B79-467AB73AA20E}"/>
              </a:ext>
            </a:extLst>
          </p:cNvPr>
          <p:cNvSpPr/>
          <p:nvPr/>
        </p:nvSpPr>
        <p:spPr>
          <a:xfrm>
            <a:off x="4352925" y="2994660"/>
            <a:ext cx="640080" cy="640080"/>
          </a:xfrm>
          <a:prstGeom prst="diamond">
            <a:avLst/>
          </a:prstGeom>
          <a:solidFill>
            <a:srgbClr val="1E3A5F"/>
          </a:solidFill>
          <a:ln w="222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26">
            <a:extLst>
              <a:ext uri="{FF2B5EF4-FFF2-40B4-BE49-F238E27FC236}">
                <a16:creationId xmlns:a16="http://schemas.microsoft.com/office/drawing/2014/main" id="{F06D8A2C-D190-E665-496F-C2FCA1ABD9D5}"/>
              </a:ext>
            </a:extLst>
          </p:cNvPr>
          <p:cNvSpPr txBox="1"/>
          <p:nvPr/>
        </p:nvSpPr>
        <p:spPr>
          <a:xfrm>
            <a:off x="4352925" y="29946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19" name="Shape 27">
            <a:extLst>
              <a:ext uri="{FF2B5EF4-FFF2-40B4-BE49-F238E27FC236}">
                <a16:creationId xmlns:a16="http://schemas.microsoft.com/office/drawing/2014/main" id="{FE140A6A-AE87-F904-0D62-024F99FF481A}"/>
              </a:ext>
            </a:extLst>
          </p:cNvPr>
          <p:cNvSpPr/>
          <p:nvPr/>
        </p:nvSpPr>
        <p:spPr>
          <a:xfrm>
            <a:off x="3804285" y="3680460"/>
            <a:ext cx="457200" cy="457200"/>
          </a:xfrm>
          <a:prstGeom prst="rect">
            <a:avLst/>
          </a:prstGeom>
          <a:solidFill>
            <a:srgbClr val="0F766E"/>
          </a:solidFill>
          <a:ln w="222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28">
            <a:extLst>
              <a:ext uri="{FF2B5EF4-FFF2-40B4-BE49-F238E27FC236}">
                <a16:creationId xmlns:a16="http://schemas.microsoft.com/office/drawing/2014/main" id="{AF5775E8-0034-674D-9633-660BE4A6D606}"/>
              </a:ext>
            </a:extLst>
          </p:cNvPr>
          <p:cNvSpPr txBox="1"/>
          <p:nvPr/>
        </p:nvSpPr>
        <p:spPr>
          <a:xfrm>
            <a:off x="3804285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23" name="Shape 29">
            <a:extLst>
              <a:ext uri="{FF2B5EF4-FFF2-40B4-BE49-F238E27FC236}">
                <a16:creationId xmlns:a16="http://schemas.microsoft.com/office/drawing/2014/main" id="{B7E8A99A-EFB4-1106-2154-FFDCD4E63F34}"/>
              </a:ext>
            </a:extLst>
          </p:cNvPr>
          <p:cNvSpPr/>
          <p:nvPr/>
        </p:nvSpPr>
        <p:spPr>
          <a:xfrm>
            <a:off x="5029581" y="3625596"/>
            <a:ext cx="566928" cy="566928"/>
          </a:xfrm>
          <a:prstGeom prst="hexagon">
            <a:avLst/>
          </a:prstGeom>
          <a:solidFill>
            <a:srgbClr val="1E3A5F"/>
          </a:solidFill>
          <a:ln w="222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30">
            <a:extLst>
              <a:ext uri="{FF2B5EF4-FFF2-40B4-BE49-F238E27FC236}">
                <a16:creationId xmlns:a16="http://schemas.microsoft.com/office/drawing/2014/main" id="{749DBAA2-6231-FBF8-ADD9-D3578EA9A796}"/>
              </a:ext>
            </a:extLst>
          </p:cNvPr>
          <p:cNvSpPr txBox="1"/>
          <p:nvPr/>
        </p:nvSpPr>
        <p:spPr>
          <a:xfrm>
            <a:off x="5029581" y="36255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227" name="Text 31">
            <a:extLst>
              <a:ext uri="{FF2B5EF4-FFF2-40B4-BE49-F238E27FC236}">
                <a16:creationId xmlns:a16="http://schemas.microsoft.com/office/drawing/2014/main" id="{FBAE019B-937C-96DB-53A0-6593E3C43AB2}"/>
              </a:ext>
            </a:extLst>
          </p:cNvPr>
          <p:cNvSpPr txBox="1"/>
          <p:nvPr/>
        </p:nvSpPr>
        <p:spPr>
          <a:xfrm>
            <a:off x="3575685" y="44119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entity node types</a:t>
            </a:r>
            <a:endParaRPr lang="en-US" sz="1600" dirty="0"/>
          </a:p>
        </p:txBody>
      </p:sp>
      <p:sp>
        <p:nvSpPr>
          <p:cNvPr id="229" name="Text 32">
            <a:extLst>
              <a:ext uri="{FF2B5EF4-FFF2-40B4-BE49-F238E27FC236}">
                <a16:creationId xmlns:a16="http://schemas.microsoft.com/office/drawing/2014/main" id="{D3477B15-5CDB-061B-AEE1-61E6FBADA6B7}"/>
              </a:ext>
            </a:extLst>
          </p:cNvPr>
          <p:cNvSpPr txBox="1"/>
          <p:nvPr/>
        </p:nvSpPr>
        <p:spPr>
          <a:xfrm>
            <a:off x="3621405" y="47777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Computer, Group, Template, CA</a:t>
            </a:r>
            <a:endParaRPr lang="en-US" sz="1400" dirty="0"/>
          </a:p>
        </p:txBody>
      </p:sp>
      <p:sp>
        <p:nvSpPr>
          <p:cNvPr id="231" name="Shape 33">
            <a:extLst>
              <a:ext uri="{FF2B5EF4-FFF2-40B4-BE49-F238E27FC236}">
                <a16:creationId xmlns:a16="http://schemas.microsoft.com/office/drawing/2014/main" id="{8A7951D2-704B-C23F-8674-AE95BC78ADDA}"/>
              </a:ext>
            </a:extLst>
          </p:cNvPr>
          <p:cNvSpPr/>
          <p:nvPr/>
        </p:nvSpPr>
        <p:spPr>
          <a:xfrm>
            <a:off x="3593973" y="5509260"/>
            <a:ext cx="2157984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34">
            <a:extLst>
              <a:ext uri="{FF2B5EF4-FFF2-40B4-BE49-F238E27FC236}">
                <a16:creationId xmlns:a16="http://schemas.microsoft.com/office/drawing/2014/main" id="{AAC7C17A-175E-A3AA-592A-E47325881A70}"/>
              </a:ext>
            </a:extLst>
          </p:cNvPr>
          <p:cNvSpPr txBox="1"/>
          <p:nvPr/>
        </p:nvSpPr>
        <p:spPr>
          <a:xfrm>
            <a:off x="3703701" y="55824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</a:t>
            </a:r>
            <a:endParaRPr lang="en-US" sz="1800" dirty="0"/>
          </a:p>
        </p:txBody>
      </p:sp>
      <p:sp>
        <p:nvSpPr>
          <p:cNvPr id="235" name="Text 35">
            <a:extLst>
              <a:ext uri="{FF2B5EF4-FFF2-40B4-BE49-F238E27FC236}">
                <a16:creationId xmlns:a16="http://schemas.microsoft.com/office/drawing/2014/main" id="{3913BCDA-31A1-7708-28E4-7B13AC312E6F}"/>
              </a:ext>
            </a:extLst>
          </p:cNvPr>
          <p:cNvSpPr txBox="1"/>
          <p:nvPr/>
        </p:nvSpPr>
        <p:spPr>
          <a:xfrm>
            <a:off x="3703701" y="596646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 type</a:t>
            </a:r>
            <a:endParaRPr lang="en-US" sz="1600" dirty="0"/>
          </a:p>
        </p:txBody>
      </p:sp>
      <p:sp>
        <p:nvSpPr>
          <p:cNvPr id="237" name="Shape 36">
            <a:extLst>
              <a:ext uri="{FF2B5EF4-FFF2-40B4-BE49-F238E27FC236}">
                <a16:creationId xmlns:a16="http://schemas.microsoft.com/office/drawing/2014/main" id="{F62F6F7D-EDC2-FA1E-8388-D33222261353}"/>
              </a:ext>
            </a:extLst>
          </p:cNvPr>
          <p:cNvSpPr/>
          <p:nvPr/>
        </p:nvSpPr>
        <p:spPr>
          <a:xfrm>
            <a:off x="6200013" y="2400300"/>
            <a:ext cx="2386584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Text 37">
            <a:extLst>
              <a:ext uri="{FF2B5EF4-FFF2-40B4-BE49-F238E27FC236}">
                <a16:creationId xmlns:a16="http://schemas.microsoft.com/office/drawing/2014/main" id="{9BF3EC28-4E16-071C-61AE-896B90500E80}"/>
              </a:ext>
            </a:extLst>
          </p:cNvPr>
          <p:cNvSpPr txBox="1"/>
          <p:nvPr/>
        </p:nvSpPr>
        <p:spPr>
          <a:xfrm>
            <a:off x="6309741" y="24734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attention</a:t>
            </a:r>
            <a:endParaRPr lang="en-US" sz="1800" dirty="0"/>
          </a:p>
        </p:txBody>
      </p:sp>
      <p:sp>
        <p:nvSpPr>
          <p:cNvPr id="241" name="Text 38">
            <a:extLst>
              <a:ext uri="{FF2B5EF4-FFF2-40B4-BE49-F238E27FC236}">
                <a16:creationId xmlns:a16="http://schemas.microsoft.com/office/drawing/2014/main" id="{236C0576-7064-23AD-6B6A-CC2B52C6EB4C}"/>
              </a:ext>
            </a:extLst>
          </p:cNvPr>
          <p:cNvSpPr txBox="1"/>
          <p:nvPr/>
        </p:nvSpPr>
        <p:spPr>
          <a:xfrm>
            <a:off x="6309741" y="2857500"/>
            <a:ext cx="2167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(4 heads) over each relation type</a:t>
            </a:r>
            <a:endParaRPr lang="en-US" sz="1600" dirty="0"/>
          </a:p>
        </p:txBody>
      </p:sp>
      <p:sp>
        <p:nvSpPr>
          <p:cNvPr id="243" name="Shape 39">
            <a:extLst>
              <a:ext uri="{FF2B5EF4-FFF2-40B4-BE49-F238E27FC236}">
                <a16:creationId xmlns:a16="http://schemas.microsoft.com/office/drawing/2014/main" id="{FAF8260D-3064-B8DE-F19B-5E1B0C6DA36F}"/>
              </a:ext>
            </a:extLst>
          </p:cNvPr>
          <p:cNvSpPr/>
          <p:nvPr/>
        </p:nvSpPr>
        <p:spPr>
          <a:xfrm>
            <a:off x="6200013" y="3909060"/>
            <a:ext cx="2386584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Text 40">
            <a:extLst>
              <a:ext uri="{FF2B5EF4-FFF2-40B4-BE49-F238E27FC236}">
                <a16:creationId xmlns:a16="http://schemas.microsoft.com/office/drawing/2014/main" id="{5D068457-560A-87F6-2CDB-9BBFEACF4EE5}"/>
              </a:ext>
            </a:extLst>
          </p:cNvPr>
          <p:cNvSpPr txBox="1"/>
          <p:nvPr/>
        </p:nvSpPr>
        <p:spPr>
          <a:xfrm>
            <a:off x="6309741" y="39822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&amp; normalize</a:t>
            </a:r>
            <a:endParaRPr lang="en-US" sz="1800" dirty="0"/>
          </a:p>
        </p:txBody>
      </p:sp>
      <p:sp>
        <p:nvSpPr>
          <p:cNvPr id="247" name="Text 41">
            <a:extLst>
              <a:ext uri="{FF2B5EF4-FFF2-40B4-BE49-F238E27FC236}">
                <a16:creationId xmlns:a16="http://schemas.microsoft.com/office/drawing/2014/main" id="{6F475131-5B5B-8E7E-54B5-7B36569C3FF7}"/>
              </a:ext>
            </a:extLst>
          </p:cNvPr>
          <p:cNvSpPr txBox="1"/>
          <p:nvPr/>
        </p:nvSpPr>
        <p:spPr>
          <a:xfrm>
            <a:off x="6309741" y="4366260"/>
            <a:ext cx="2167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ELU activation + LayerNorm</a:t>
            </a:r>
            <a:endParaRPr lang="en-US" sz="1600" dirty="0"/>
          </a:p>
        </p:txBody>
      </p:sp>
      <p:sp>
        <p:nvSpPr>
          <p:cNvPr id="249" name="Shape 42">
            <a:extLst>
              <a:ext uri="{FF2B5EF4-FFF2-40B4-BE49-F238E27FC236}">
                <a16:creationId xmlns:a16="http://schemas.microsoft.com/office/drawing/2014/main" id="{CF3D2F4D-BFC0-9EC9-0C70-B6C49B20E769}"/>
              </a:ext>
            </a:extLst>
          </p:cNvPr>
          <p:cNvSpPr/>
          <p:nvPr/>
        </p:nvSpPr>
        <p:spPr>
          <a:xfrm>
            <a:off x="6200013" y="5372100"/>
            <a:ext cx="2386584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Text 43">
            <a:extLst>
              <a:ext uri="{FF2B5EF4-FFF2-40B4-BE49-F238E27FC236}">
                <a16:creationId xmlns:a16="http://schemas.microsoft.com/office/drawing/2014/main" id="{1BC0BF3C-856D-596A-67C0-BA7A4A1529A8}"/>
              </a:ext>
            </a:extLst>
          </p:cNvPr>
          <p:cNvSpPr txBox="1"/>
          <p:nvPr/>
        </p:nvSpPr>
        <p:spPr>
          <a:xfrm>
            <a:off x="6309741" y="54452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skip</a:t>
            </a:r>
            <a:endParaRPr lang="en-US" sz="1800" dirty="0"/>
          </a:p>
        </p:txBody>
      </p:sp>
      <p:sp>
        <p:nvSpPr>
          <p:cNvPr id="253" name="Text 44">
            <a:extLst>
              <a:ext uri="{FF2B5EF4-FFF2-40B4-BE49-F238E27FC236}">
                <a16:creationId xmlns:a16="http://schemas.microsoft.com/office/drawing/2014/main" id="{3B0086E2-445F-1E6D-B1C1-4EAD76FD68B7}"/>
              </a:ext>
            </a:extLst>
          </p:cNvPr>
          <p:cNvSpPr txBox="1"/>
          <p:nvPr/>
        </p:nvSpPr>
        <p:spPr>
          <a:xfrm>
            <a:off x="6309741" y="5829300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source collapse</a:t>
            </a:r>
            <a:endParaRPr lang="en-US" sz="1600" dirty="0"/>
          </a:p>
        </p:txBody>
      </p:sp>
      <p:sp>
        <p:nvSpPr>
          <p:cNvPr id="255" name="Shape 45">
            <a:extLst>
              <a:ext uri="{FF2B5EF4-FFF2-40B4-BE49-F238E27FC236}">
                <a16:creationId xmlns:a16="http://schemas.microsoft.com/office/drawing/2014/main" id="{09E72036-0C56-EC93-0E21-45223B952DD9}"/>
              </a:ext>
            </a:extLst>
          </p:cNvPr>
          <p:cNvSpPr/>
          <p:nvPr/>
        </p:nvSpPr>
        <p:spPr>
          <a:xfrm>
            <a:off x="9034653" y="2400300"/>
            <a:ext cx="2386584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Text 46">
            <a:extLst>
              <a:ext uri="{FF2B5EF4-FFF2-40B4-BE49-F238E27FC236}">
                <a16:creationId xmlns:a16="http://schemas.microsoft.com/office/drawing/2014/main" id="{FC15C4A5-9E28-5DFB-C0B6-F38BFABDB993}"/>
              </a:ext>
            </a:extLst>
          </p:cNvPr>
          <p:cNvSpPr txBox="1"/>
          <p:nvPr/>
        </p:nvSpPr>
        <p:spPr>
          <a:xfrm>
            <a:off x="9144381" y="24734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 aggregation</a:t>
            </a:r>
            <a:endParaRPr lang="en-US" sz="1800" dirty="0"/>
          </a:p>
        </p:txBody>
      </p:sp>
      <p:sp>
        <p:nvSpPr>
          <p:cNvPr id="259" name="Text 47">
            <a:extLst>
              <a:ext uri="{FF2B5EF4-FFF2-40B4-BE49-F238E27FC236}">
                <a16:creationId xmlns:a16="http://schemas.microsoft.com/office/drawing/2014/main" id="{5496A9AD-EDCC-03EF-E883-3B1935E49718}"/>
              </a:ext>
            </a:extLst>
          </p:cNvPr>
          <p:cNvSpPr txBox="1"/>
          <p:nvPr/>
        </p:nvSpPr>
        <p:spPr>
          <a:xfrm>
            <a:off x="9144381" y="2857500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multi-hop DACLs and policy linkage contexts</a:t>
            </a:r>
            <a:endParaRPr lang="en-US" sz="1600" dirty="0"/>
          </a:p>
        </p:txBody>
      </p:sp>
      <p:sp>
        <p:nvSpPr>
          <p:cNvPr id="261" name="Shape 48">
            <a:extLst>
              <a:ext uri="{FF2B5EF4-FFF2-40B4-BE49-F238E27FC236}">
                <a16:creationId xmlns:a16="http://schemas.microsoft.com/office/drawing/2014/main" id="{795AAE28-392B-D134-9816-1D803C988DD3}"/>
              </a:ext>
            </a:extLst>
          </p:cNvPr>
          <p:cNvSpPr/>
          <p:nvPr/>
        </p:nvSpPr>
        <p:spPr>
          <a:xfrm>
            <a:off x="9034653" y="4503420"/>
            <a:ext cx="2386584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Text 49">
            <a:extLst>
              <a:ext uri="{FF2B5EF4-FFF2-40B4-BE49-F238E27FC236}">
                <a16:creationId xmlns:a16="http://schemas.microsoft.com/office/drawing/2014/main" id="{5E7B2C03-6DB0-6EB6-587E-C5F19B824FFA}"/>
              </a:ext>
            </a:extLst>
          </p:cNvPr>
          <p:cNvSpPr txBox="1"/>
          <p:nvPr/>
        </p:nvSpPr>
        <p:spPr>
          <a:xfrm>
            <a:off x="9144381" y="457657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readout</a:t>
            </a:r>
            <a:endParaRPr lang="en-US" sz="1800" dirty="0"/>
          </a:p>
        </p:txBody>
      </p:sp>
      <p:sp>
        <p:nvSpPr>
          <p:cNvPr id="265" name="Text 50">
            <a:extLst>
              <a:ext uri="{FF2B5EF4-FFF2-40B4-BE49-F238E27FC236}">
                <a16:creationId xmlns:a16="http://schemas.microsoft.com/office/drawing/2014/main" id="{BE3DE745-F378-927C-A719-89C3DAF5457E}"/>
              </a:ext>
            </a:extLst>
          </p:cNvPr>
          <p:cNvSpPr txBox="1"/>
          <p:nvPr/>
        </p:nvSpPr>
        <p:spPr>
          <a:xfrm>
            <a:off x="9144381" y="4960620"/>
            <a:ext cx="21671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64-d embedding of each certificate template (isolated vulnerability latent state)</a:t>
            </a:r>
            <a:endParaRPr lang="en-US" sz="1600" dirty="0"/>
          </a:p>
        </p:txBody>
      </p:sp>
      <p:sp>
        <p:nvSpPr>
          <p:cNvPr id="267" name="Text 51">
            <a:extLst>
              <a:ext uri="{FF2B5EF4-FFF2-40B4-BE49-F238E27FC236}">
                <a16:creationId xmlns:a16="http://schemas.microsoft.com/office/drawing/2014/main" id="{B49D131C-5552-3049-CDEA-F97C85DCC72F}"/>
              </a:ext>
            </a:extLst>
          </p:cNvPr>
          <p:cNvSpPr txBox="1"/>
          <p:nvPr/>
        </p:nvSpPr>
        <p:spPr>
          <a:xfrm>
            <a:off x="11942445" y="23545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head</a:t>
            </a:r>
            <a:endParaRPr lang="en-US" sz="1700" dirty="0"/>
          </a:p>
        </p:txBody>
      </p:sp>
      <p:sp>
        <p:nvSpPr>
          <p:cNvPr id="269" name="Text 52">
            <a:extLst>
              <a:ext uri="{FF2B5EF4-FFF2-40B4-BE49-F238E27FC236}">
                <a16:creationId xmlns:a16="http://schemas.microsoft.com/office/drawing/2014/main" id="{497107F9-25EE-8B29-A14B-8A3FDC39608F}"/>
              </a:ext>
            </a:extLst>
          </p:cNvPr>
          <p:cNvSpPr txBox="1"/>
          <p:nvPr/>
        </p:nvSpPr>
        <p:spPr>
          <a:xfrm>
            <a:off x="11942445" y="27203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32 → 7 classes</a:t>
            </a:r>
            <a:endParaRPr lang="en-US" sz="1400" dirty="0"/>
          </a:p>
        </p:txBody>
      </p:sp>
      <p:sp>
        <p:nvSpPr>
          <p:cNvPr id="271" name="Shape 53">
            <a:extLst>
              <a:ext uri="{FF2B5EF4-FFF2-40B4-BE49-F238E27FC236}">
                <a16:creationId xmlns:a16="http://schemas.microsoft.com/office/drawing/2014/main" id="{479FE9B5-C7A2-CA50-C8E3-76B19F817F55}"/>
              </a:ext>
            </a:extLst>
          </p:cNvPr>
          <p:cNvSpPr/>
          <p:nvPr/>
        </p:nvSpPr>
        <p:spPr>
          <a:xfrm>
            <a:off x="11942445" y="3223260"/>
            <a:ext cx="82296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54">
            <a:extLst>
              <a:ext uri="{FF2B5EF4-FFF2-40B4-BE49-F238E27FC236}">
                <a16:creationId xmlns:a16="http://schemas.microsoft.com/office/drawing/2014/main" id="{11C77337-2426-382B-0588-49FC0B02F357}"/>
              </a:ext>
            </a:extLst>
          </p:cNvPr>
          <p:cNvSpPr txBox="1"/>
          <p:nvPr/>
        </p:nvSpPr>
        <p:spPr>
          <a:xfrm>
            <a:off x="11942445" y="32232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275" name="Text 55">
            <a:extLst>
              <a:ext uri="{FF2B5EF4-FFF2-40B4-BE49-F238E27FC236}">
                <a16:creationId xmlns:a16="http://schemas.microsoft.com/office/drawing/2014/main" id="{E65185B5-18A2-7D95-EFC7-5CE070212ED3}"/>
              </a:ext>
            </a:extLst>
          </p:cNvPr>
          <p:cNvSpPr txBox="1"/>
          <p:nvPr/>
        </p:nvSpPr>
        <p:spPr>
          <a:xfrm>
            <a:off x="12875133" y="32232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400" dirty="0"/>
          </a:p>
        </p:txBody>
      </p:sp>
      <p:sp>
        <p:nvSpPr>
          <p:cNvPr id="277" name="Shape 56">
            <a:extLst>
              <a:ext uri="{FF2B5EF4-FFF2-40B4-BE49-F238E27FC236}">
                <a16:creationId xmlns:a16="http://schemas.microsoft.com/office/drawing/2014/main" id="{789209D6-89D5-F2D9-2439-880EA9CD34A5}"/>
              </a:ext>
            </a:extLst>
          </p:cNvPr>
          <p:cNvSpPr/>
          <p:nvPr/>
        </p:nvSpPr>
        <p:spPr>
          <a:xfrm>
            <a:off x="11942445" y="372618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Text 57">
            <a:extLst>
              <a:ext uri="{FF2B5EF4-FFF2-40B4-BE49-F238E27FC236}">
                <a16:creationId xmlns:a16="http://schemas.microsoft.com/office/drawing/2014/main" id="{39A753E9-E068-BB17-D985-294BE9B124DB}"/>
              </a:ext>
            </a:extLst>
          </p:cNvPr>
          <p:cNvSpPr txBox="1"/>
          <p:nvPr/>
        </p:nvSpPr>
        <p:spPr>
          <a:xfrm>
            <a:off x="11942445" y="37261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ESC1</a:t>
            </a:r>
            <a:endParaRPr lang="en-US" sz="1400" dirty="0"/>
          </a:p>
        </p:txBody>
      </p:sp>
      <p:sp>
        <p:nvSpPr>
          <p:cNvPr id="281" name="Text 58">
            <a:extLst>
              <a:ext uri="{FF2B5EF4-FFF2-40B4-BE49-F238E27FC236}">
                <a16:creationId xmlns:a16="http://schemas.microsoft.com/office/drawing/2014/main" id="{CFF3443B-C834-C7B2-391D-EF6B04CA5B3C}"/>
              </a:ext>
            </a:extLst>
          </p:cNvPr>
          <p:cNvSpPr txBox="1"/>
          <p:nvPr/>
        </p:nvSpPr>
        <p:spPr>
          <a:xfrm>
            <a:off x="12875133" y="37261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Enrollee supplies SAN</a:t>
            </a:r>
            <a:endParaRPr lang="en-US" sz="1400" dirty="0"/>
          </a:p>
        </p:txBody>
      </p:sp>
      <p:sp>
        <p:nvSpPr>
          <p:cNvPr id="283" name="Shape 59">
            <a:extLst>
              <a:ext uri="{FF2B5EF4-FFF2-40B4-BE49-F238E27FC236}">
                <a16:creationId xmlns:a16="http://schemas.microsoft.com/office/drawing/2014/main" id="{5DC8DD03-03D8-C480-DFAA-EAE84E14E448}"/>
              </a:ext>
            </a:extLst>
          </p:cNvPr>
          <p:cNvSpPr/>
          <p:nvPr/>
        </p:nvSpPr>
        <p:spPr>
          <a:xfrm>
            <a:off x="11942445" y="422910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Text 60">
            <a:extLst>
              <a:ext uri="{FF2B5EF4-FFF2-40B4-BE49-F238E27FC236}">
                <a16:creationId xmlns:a16="http://schemas.microsoft.com/office/drawing/2014/main" id="{C654EAF8-DA57-6B2D-39D1-811332C024BF}"/>
              </a:ext>
            </a:extLst>
          </p:cNvPr>
          <p:cNvSpPr txBox="1"/>
          <p:nvPr/>
        </p:nvSpPr>
        <p:spPr>
          <a:xfrm>
            <a:off x="11942445" y="42291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ESC2</a:t>
            </a:r>
            <a:endParaRPr lang="en-US" sz="1400" dirty="0"/>
          </a:p>
        </p:txBody>
      </p:sp>
      <p:sp>
        <p:nvSpPr>
          <p:cNvPr id="287" name="Text 61">
            <a:extLst>
              <a:ext uri="{FF2B5EF4-FFF2-40B4-BE49-F238E27FC236}">
                <a16:creationId xmlns:a16="http://schemas.microsoft.com/office/drawing/2014/main" id="{93B7C213-C5E2-7CE1-8FB6-20092F994683}"/>
              </a:ext>
            </a:extLst>
          </p:cNvPr>
          <p:cNvSpPr txBox="1"/>
          <p:nvPr/>
        </p:nvSpPr>
        <p:spPr>
          <a:xfrm>
            <a:off x="12875133" y="42291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Purpose EKU</a:t>
            </a:r>
            <a:endParaRPr lang="en-US" sz="1400" dirty="0"/>
          </a:p>
        </p:txBody>
      </p:sp>
      <p:sp>
        <p:nvSpPr>
          <p:cNvPr id="289" name="Shape 62">
            <a:extLst>
              <a:ext uri="{FF2B5EF4-FFF2-40B4-BE49-F238E27FC236}">
                <a16:creationId xmlns:a16="http://schemas.microsoft.com/office/drawing/2014/main" id="{A02F0181-B39C-5793-F4B3-0341C7EEFF48}"/>
              </a:ext>
            </a:extLst>
          </p:cNvPr>
          <p:cNvSpPr/>
          <p:nvPr/>
        </p:nvSpPr>
        <p:spPr>
          <a:xfrm>
            <a:off x="11942445" y="473202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Text 63">
            <a:extLst>
              <a:ext uri="{FF2B5EF4-FFF2-40B4-BE49-F238E27FC236}">
                <a16:creationId xmlns:a16="http://schemas.microsoft.com/office/drawing/2014/main" id="{8FF04EA0-4BB8-DFEB-C43F-EDF253A7614C}"/>
              </a:ext>
            </a:extLst>
          </p:cNvPr>
          <p:cNvSpPr txBox="1"/>
          <p:nvPr/>
        </p:nvSpPr>
        <p:spPr>
          <a:xfrm>
            <a:off x="11942445" y="47320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ESC3</a:t>
            </a:r>
            <a:endParaRPr lang="en-US" sz="1400" dirty="0"/>
          </a:p>
        </p:txBody>
      </p:sp>
      <p:sp>
        <p:nvSpPr>
          <p:cNvPr id="293" name="Text 64">
            <a:extLst>
              <a:ext uri="{FF2B5EF4-FFF2-40B4-BE49-F238E27FC236}">
                <a16:creationId xmlns:a16="http://schemas.microsoft.com/office/drawing/2014/main" id="{5A7FD138-0C42-8248-FD97-DB5562238459}"/>
              </a:ext>
            </a:extLst>
          </p:cNvPr>
          <p:cNvSpPr txBox="1"/>
          <p:nvPr/>
        </p:nvSpPr>
        <p:spPr>
          <a:xfrm>
            <a:off x="12875133" y="47320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Request Agent</a:t>
            </a:r>
            <a:endParaRPr lang="en-US" sz="1400" dirty="0"/>
          </a:p>
        </p:txBody>
      </p:sp>
      <p:sp>
        <p:nvSpPr>
          <p:cNvPr id="295" name="Shape 65">
            <a:extLst>
              <a:ext uri="{FF2B5EF4-FFF2-40B4-BE49-F238E27FC236}">
                <a16:creationId xmlns:a16="http://schemas.microsoft.com/office/drawing/2014/main" id="{58AB9776-9ED2-4D11-AF82-A53DA245F822}"/>
              </a:ext>
            </a:extLst>
          </p:cNvPr>
          <p:cNvSpPr/>
          <p:nvPr/>
        </p:nvSpPr>
        <p:spPr>
          <a:xfrm>
            <a:off x="11942445" y="523494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Text 66">
            <a:extLst>
              <a:ext uri="{FF2B5EF4-FFF2-40B4-BE49-F238E27FC236}">
                <a16:creationId xmlns:a16="http://schemas.microsoft.com/office/drawing/2014/main" id="{ACD97B05-2323-8C3A-D9ED-CB4998D66012}"/>
              </a:ext>
            </a:extLst>
          </p:cNvPr>
          <p:cNvSpPr txBox="1"/>
          <p:nvPr/>
        </p:nvSpPr>
        <p:spPr>
          <a:xfrm>
            <a:off x="11942445" y="52349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ESC4</a:t>
            </a:r>
            <a:endParaRPr lang="en-US" sz="1400" dirty="0"/>
          </a:p>
        </p:txBody>
      </p:sp>
      <p:sp>
        <p:nvSpPr>
          <p:cNvPr id="299" name="Text 67">
            <a:extLst>
              <a:ext uri="{FF2B5EF4-FFF2-40B4-BE49-F238E27FC236}">
                <a16:creationId xmlns:a16="http://schemas.microsoft.com/office/drawing/2014/main" id="{31A91306-2768-D416-B2B8-A5A60FC00D28}"/>
              </a:ext>
            </a:extLst>
          </p:cNvPr>
          <p:cNvSpPr txBox="1"/>
          <p:nvPr/>
        </p:nvSpPr>
        <p:spPr>
          <a:xfrm>
            <a:off x="12875133" y="52349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DACL / WriteOwner</a:t>
            </a:r>
            <a:endParaRPr lang="en-US" sz="1400" dirty="0"/>
          </a:p>
        </p:txBody>
      </p:sp>
      <p:sp>
        <p:nvSpPr>
          <p:cNvPr id="301" name="Shape 68">
            <a:extLst>
              <a:ext uri="{FF2B5EF4-FFF2-40B4-BE49-F238E27FC236}">
                <a16:creationId xmlns:a16="http://schemas.microsoft.com/office/drawing/2014/main" id="{4E5E74DE-1585-E251-E65A-CCD70560E88E}"/>
              </a:ext>
            </a:extLst>
          </p:cNvPr>
          <p:cNvSpPr/>
          <p:nvPr/>
        </p:nvSpPr>
        <p:spPr>
          <a:xfrm>
            <a:off x="11942445" y="573786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Text 69">
            <a:extLst>
              <a:ext uri="{FF2B5EF4-FFF2-40B4-BE49-F238E27FC236}">
                <a16:creationId xmlns:a16="http://schemas.microsoft.com/office/drawing/2014/main" id="{89BC2602-5CC1-3EB6-A26F-94B977ED98D7}"/>
              </a:ext>
            </a:extLst>
          </p:cNvPr>
          <p:cNvSpPr txBox="1"/>
          <p:nvPr/>
        </p:nvSpPr>
        <p:spPr>
          <a:xfrm>
            <a:off x="11942445" y="57378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ESC9</a:t>
            </a:r>
            <a:endParaRPr lang="en-US" sz="1400" dirty="0"/>
          </a:p>
        </p:txBody>
      </p:sp>
      <p:sp>
        <p:nvSpPr>
          <p:cNvPr id="305" name="Text 70">
            <a:extLst>
              <a:ext uri="{FF2B5EF4-FFF2-40B4-BE49-F238E27FC236}">
                <a16:creationId xmlns:a16="http://schemas.microsoft.com/office/drawing/2014/main" id="{37C7F929-9944-61E4-85A0-34BB67CEA564}"/>
              </a:ext>
            </a:extLst>
          </p:cNvPr>
          <p:cNvSpPr txBox="1"/>
          <p:nvPr/>
        </p:nvSpPr>
        <p:spPr>
          <a:xfrm>
            <a:off x="12875133" y="57378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Extension</a:t>
            </a:r>
            <a:endParaRPr lang="en-US" sz="1400" dirty="0"/>
          </a:p>
        </p:txBody>
      </p:sp>
      <p:sp>
        <p:nvSpPr>
          <p:cNvPr id="307" name="Shape 71">
            <a:extLst>
              <a:ext uri="{FF2B5EF4-FFF2-40B4-BE49-F238E27FC236}">
                <a16:creationId xmlns:a16="http://schemas.microsoft.com/office/drawing/2014/main" id="{48EE9567-5215-8408-E70B-6C10B847031A}"/>
              </a:ext>
            </a:extLst>
          </p:cNvPr>
          <p:cNvSpPr/>
          <p:nvPr/>
        </p:nvSpPr>
        <p:spPr>
          <a:xfrm>
            <a:off x="11942445" y="6240780"/>
            <a:ext cx="822960" cy="384048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Text 72">
            <a:extLst>
              <a:ext uri="{FF2B5EF4-FFF2-40B4-BE49-F238E27FC236}">
                <a16:creationId xmlns:a16="http://schemas.microsoft.com/office/drawing/2014/main" id="{10BDCE49-8E3B-181D-1D22-D189201CB448}"/>
              </a:ext>
            </a:extLst>
          </p:cNvPr>
          <p:cNvSpPr txBox="1"/>
          <p:nvPr/>
        </p:nvSpPr>
        <p:spPr>
          <a:xfrm>
            <a:off x="11942445" y="62407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ESC13</a:t>
            </a:r>
            <a:endParaRPr lang="en-US" sz="1400" dirty="0"/>
          </a:p>
        </p:txBody>
      </p:sp>
      <p:sp>
        <p:nvSpPr>
          <p:cNvPr id="311" name="Text 73">
            <a:extLst>
              <a:ext uri="{FF2B5EF4-FFF2-40B4-BE49-F238E27FC236}">
                <a16:creationId xmlns:a16="http://schemas.microsoft.com/office/drawing/2014/main" id="{59F592E7-C2B9-76B3-2F66-94FFF2E72E29}"/>
              </a:ext>
            </a:extLst>
          </p:cNvPr>
          <p:cNvSpPr txBox="1"/>
          <p:nvPr/>
        </p:nvSpPr>
        <p:spPr>
          <a:xfrm>
            <a:off x="12875133" y="62407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OID linkage</a:t>
            </a:r>
            <a:endParaRPr lang="en-US" sz="1400" dirty="0"/>
          </a:p>
        </p:txBody>
      </p:sp>
      <p:sp>
        <p:nvSpPr>
          <p:cNvPr id="314" name="TextBox 18">
            <a:extLst>
              <a:ext uri="{FF2B5EF4-FFF2-40B4-BE49-F238E27FC236}">
                <a16:creationId xmlns:a16="http://schemas.microsoft.com/office/drawing/2014/main" id="{27C10180-41C5-7CA4-FD49-CA859C254497}"/>
              </a:ext>
            </a:extLst>
          </p:cNvPr>
          <p:cNvSpPr txBox="1"/>
          <p:nvPr/>
        </p:nvSpPr>
        <p:spPr>
          <a:xfrm>
            <a:off x="5257800" y="6893123"/>
            <a:ext cx="77724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Figure: </a:t>
            </a:r>
            <a:r>
              <a:rPr lang="en-US" sz="2000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Certgraph</a:t>
            </a: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GNN System Architecture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9" grpId="0" animBg="1"/>
      <p:bldP spid="171" grpId="0" animBg="1"/>
      <p:bldP spid="173" grpId="0" animBg="1"/>
      <p:bldP spid="175" grpId="0" animBg="1"/>
      <p:bldP spid="177" grpId="0" animBg="1"/>
      <p:bldP spid="179" grpId="0" animBg="1"/>
      <p:bldP spid="181" grpId="0" animBg="1"/>
      <p:bldP spid="183" grpId="0" animBg="1"/>
      <p:bldP spid="185" grpId="0" animBg="1"/>
      <p:bldP spid="187" grpId="0" animBg="1"/>
      <p:bldP spid="189" grpId="0" animBg="1"/>
      <p:bldP spid="191" grpId="0" animBg="1"/>
      <p:bldP spid="193" grpId="0" animBg="1"/>
      <p:bldP spid="195" grpId="0" animBg="1"/>
      <p:bldP spid="197" grpId="0" animBg="1"/>
      <p:bldP spid="199" grpId="0" animBg="1"/>
      <p:bldP spid="201" grpId="0" animBg="1"/>
      <p:bldP spid="203" grpId="0" animBg="1"/>
      <p:bldP spid="205" grpId="0" animBg="1"/>
      <p:bldP spid="207" grpId="0" animBg="1"/>
      <p:bldP spid="209" grpId="0" animBg="1"/>
      <p:bldP spid="211" grpId="0" animBg="1"/>
      <p:bldP spid="213" grpId="0" animBg="1"/>
      <p:bldP spid="215" grpId="0" animBg="1"/>
      <p:bldP spid="217" grpId="0" animBg="1"/>
      <p:bldP spid="219" grpId="0" animBg="1"/>
      <p:bldP spid="221" grpId="0" animBg="1"/>
      <p:bldP spid="223" grpId="0" animBg="1"/>
      <p:bldP spid="225" grpId="0" animBg="1"/>
      <p:bldP spid="227" grpId="0" animBg="1"/>
      <p:bldP spid="229" grpId="0" animBg="1"/>
      <p:bldP spid="231" grpId="0" animBg="1"/>
      <p:bldP spid="233" grpId="0" animBg="1"/>
      <p:bldP spid="235" grpId="0" animBg="1"/>
      <p:bldP spid="237" grpId="0" animBg="1"/>
      <p:bldP spid="239" grpId="0" animBg="1"/>
      <p:bldP spid="241" grpId="0" animBg="1"/>
      <p:bldP spid="243" grpId="0" animBg="1"/>
      <p:bldP spid="245" grpId="0" animBg="1"/>
      <p:bldP spid="247" grpId="0" animBg="1"/>
      <p:bldP spid="249" grpId="0" animBg="1"/>
      <p:bldP spid="251" grpId="0" animBg="1"/>
      <p:bldP spid="253" grpId="0" animBg="1"/>
      <p:bldP spid="255" grpId="0" animBg="1"/>
      <p:bldP spid="257" grpId="0" animBg="1"/>
      <p:bldP spid="259" grpId="0" animBg="1"/>
      <p:bldP spid="261" grpId="0" animBg="1"/>
      <p:bldP spid="263" grpId="0" animBg="1"/>
      <p:bldP spid="265" grpId="0" animBg="1"/>
      <p:bldP spid="267" grpId="0" animBg="1"/>
      <p:bldP spid="269" grpId="0" animBg="1"/>
      <p:bldP spid="271" grpId="0" animBg="1"/>
      <p:bldP spid="273" grpId="0" animBg="1"/>
      <p:bldP spid="275" grpId="0" animBg="1"/>
      <p:bldP spid="277" grpId="0" animBg="1"/>
      <p:bldP spid="279" grpId="0" animBg="1"/>
      <p:bldP spid="281" grpId="0" animBg="1"/>
      <p:bldP spid="283" grpId="0" animBg="1"/>
      <p:bldP spid="285" grpId="0" animBg="1"/>
      <p:bldP spid="287" grpId="0" animBg="1"/>
      <p:bldP spid="289" grpId="0" animBg="1"/>
      <p:bldP spid="291" grpId="0" animBg="1"/>
      <p:bldP spid="293" grpId="0" animBg="1"/>
      <p:bldP spid="295" grpId="0" animBg="1"/>
      <p:bldP spid="297" grpId="0" animBg="1"/>
      <p:bldP spid="299" grpId="0" animBg="1"/>
      <p:bldP spid="301" grpId="0" animBg="1"/>
      <p:bldP spid="303" grpId="0" animBg="1"/>
      <p:bldP spid="305" grpId="0" animBg="1"/>
      <p:bldP spid="307" grpId="0" animBg="1"/>
      <p:bldP spid="309" grpId="0" animBg="1"/>
      <p:bldP spid="311" grpId="0" animBg="1"/>
      <p:bldP spid="3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57650" y="-4057650"/>
            <a:ext cx="10477500" cy="18592800"/>
            <a:chOff x="0" y="0"/>
            <a:chExt cx="13970000" cy="2479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70000" cy="24790400"/>
            </a:xfrm>
            <a:custGeom>
              <a:avLst/>
              <a:gdLst/>
              <a:ahLst/>
              <a:cxnLst/>
              <a:rect l="l" t="t" r="r" b="b"/>
              <a:pathLst>
                <a:path w="13970000" h="24790400">
                  <a:moveTo>
                    <a:pt x="13970000" y="0"/>
                  </a:moveTo>
                  <a:lnTo>
                    <a:pt x="13970000" y="24790400"/>
                  </a:lnTo>
                  <a:lnTo>
                    <a:pt x="0" y="24790400"/>
                  </a:lnTo>
                  <a:lnTo>
                    <a:pt x="0" y="0"/>
                  </a:lnTo>
                  <a:lnTo>
                    <a:pt x="13970000" y="0"/>
                  </a:lnTo>
                  <a:close/>
                </a:path>
              </a:pathLst>
            </a:custGeom>
            <a:blipFill>
              <a:blip r:embed="rId3"/>
              <a:stretch>
                <a:fillRect l="-12726" r="-127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1005078"/>
            <a:ext cx="12801600" cy="7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THEORETICAL FOUNDATION: THEOREM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79195" y="2185035"/>
            <a:ext cx="5048250" cy="613410"/>
            <a:chOff x="0" y="0"/>
            <a:chExt cx="6731000" cy="817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0" cy="817880"/>
            </a:xfrm>
            <a:custGeom>
              <a:avLst/>
              <a:gdLst/>
              <a:ahLst/>
              <a:cxnLst/>
              <a:rect l="l" t="t" r="r" b="b"/>
              <a:pathLst>
                <a:path w="6731000" h="817880">
                  <a:moveTo>
                    <a:pt x="0" y="0"/>
                  </a:moveTo>
                  <a:lnTo>
                    <a:pt x="6731000" y="0"/>
                  </a:lnTo>
                  <a:lnTo>
                    <a:pt x="673100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0358" b="-11035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73100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The Deep-Path Challenge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98448" y="2276856"/>
            <a:ext cx="429768" cy="429768"/>
            <a:chOff x="0" y="0"/>
            <a:chExt cx="573024" cy="573024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823" r="-88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0160" y="2952750"/>
            <a:ext cx="7406640" cy="587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Multi-Hop Privilege Paths: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ADCS escalation chains span 4 to 8 relational hops across users, groups, templates, and CAs.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The Oversmoothing Bottleneck: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standard GNNs, repeated message passing causes node representations to converge, erasing localized template attributes.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Failure of Classical GNNs: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architectural preservation, deep models collapse, confusing vulnerable certificate templates with benign configurations.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17355" y="2185035"/>
            <a:ext cx="5048250" cy="613410"/>
            <a:chOff x="0" y="0"/>
            <a:chExt cx="6731000" cy="8178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31000" cy="817880"/>
            </a:xfrm>
            <a:custGeom>
              <a:avLst/>
              <a:gdLst/>
              <a:ahLst/>
              <a:cxnLst/>
              <a:rect l="l" t="t" r="r" b="b"/>
              <a:pathLst>
                <a:path w="6731000" h="817880">
                  <a:moveTo>
                    <a:pt x="0" y="0"/>
                  </a:moveTo>
                  <a:lnTo>
                    <a:pt x="6731000" y="0"/>
                  </a:lnTo>
                  <a:lnTo>
                    <a:pt x="673100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0358" b="-11035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673100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Our Architecture &amp; Theorem 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36608" y="2276856"/>
            <a:ext cx="429768" cy="429768"/>
            <a:chOff x="0" y="0"/>
            <a:chExt cx="573024" cy="573024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993" b="-49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18320" y="2952750"/>
            <a:ext cx="7589520" cy="587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Architectural Intervention: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engineered orthogonal residual skip connections that preserve each node's initial feature identity across all layers.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Mathematical Proof (Theorem 1):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proved that the gradient magnitude remains strictly positive across all layers (||dh_v^(L) / dx_v|| &gt;= c^L &gt; 0), eliminating feature collapse.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Concrete Significance: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Mathematically guarantees that initial template configuration flags remain discriminative even over 8-hop delegation chains, verified by our 99.86% Macro-F1.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995553"/>
            <a:ext cx="12801600" cy="76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TESTBED (GOAD &amp; ADSYNTH)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79195" y="2185035"/>
            <a:ext cx="4773930" cy="613410"/>
            <a:chOff x="0" y="0"/>
            <a:chExt cx="6365240" cy="817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65240" cy="817880"/>
            </a:xfrm>
            <a:custGeom>
              <a:avLst/>
              <a:gdLst/>
              <a:ahLst/>
              <a:cxnLst/>
              <a:rect l="l" t="t" r="r" b="b"/>
              <a:pathLst>
                <a:path w="6365240" h="817880">
                  <a:moveTo>
                    <a:pt x="0" y="0"/>
                  </a:moveTo>
                  <a:lnTo>
                    <a:pt x="6365240" y="0"/>
                  </a:lnTo>
                  <a:lnTo>
                    <a:pt x="636524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644" b="-10164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36524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Dual Evaluation Testbeds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98448" y="2276856"/>
            <a:ext cx="429768" cy="429768"/>
            <a:chOff x="0" y="0"/>
            <a:chExt cx="573024" cy="573024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309" b="-730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0160" y="2952750"/>
            <a:ext cx="7589520" cy="212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GOAD Enterprise Cyber-Range: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Realistic multi-forest Active Directory lab with 5 Domain Controllers, complex trusts, and live ADCS misconfigurations.</a:t>
            </a:r>
          </a:p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</a:t>
            </a:r>
            <a:r>
              <a:rPr lang="en-US" sz="2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ADSynth</a:t>
            </a: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Topology Generator: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Synthesizes 700 diverse enterprise topologies (100 to 100,000 nodes) for rigorous scalability and stress testing.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9195" y="5293995"/>
            <a:ext cx="4773930" cy="613410"/>
            <a:chOff x="0" y="0"/>
            <a:chExt cx="6365240" cy="8178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65240" cy="817880"/>
            </a:xfrm>
            <a:custGeom>
              <a:avLst/>
              <a:gdLst/>
              <a:ahLst/>
              <a:cxnLst/>
              <a:rect l="l" t="t" r="r" b="b"/>
              <a:pathLst>
                <a:path w="6365240" h="817880">
                  <a:moveTo>
                    <a:pt x="0" y="0"/>
                  </a:moveTo>
                  <a:lnTo>
                    <a:pt x="6365240" y="0"/>
                  </a:lnTo>
                  <a:lnTo>
                    <a:pt x="636524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644" b="-10164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636524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Dataset &amp; Validation Protocol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8448" y="5385816"/>
            <a:ext cx="429768" cy="429768"/>
            <a:chOff x="0" y="0"/>
            <a:chExt cx="573024" cy="573024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80160" y="6061710"/>
            <a:ext cx="7589520" cy="267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Scale: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28,450 nodes and 142,890 multi-relational edges across 5 entity types.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Protocol: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Stratified 5-fold cross-validation with non-overlapping forest splits.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Statistical Rigor: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Evaluated using Nadeau-Bengio corrected paired t-tests to ensure valid significance.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09760" y="6793230"/>
            <a:ext cx="7498080" cy="38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Figure: GOAD Multi-Forest Enterprise Topology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09760" y="7341870"/>
            <a:ext cx="7498080" cy="129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cross-domain trust relationships, group Managed Service Accounts (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gMSA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and cross-forest PKI issuance policies.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E79132-691E-29F9-8292-3E1EF04486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5080" y="2059152"/>
            <a:ext cx="8882362" cy="47340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1005078"/>
            <a:ext cx="12801600" cy="7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RESULTS: BENCHMARK EVALUATION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79195" y="2185035"/>
            <a:ext cx="5048250" cy="613410"/>
            <a:chOff x="0" y="0"/>
            <a:chExt cx="6731000" cy="817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0" cy="817880"/>
            </a:xfrm>
            <a:custGeom>
              <a:avLst/>
              <a:gdLst/>
              <a:ahLst/>
              <a:cxnLst/>
              <a:rect l="l" t="t" r="r" b="b"/>
              <a:pathLst>
                <a:path w="6731000" h="817880">
                  <a:moveTo>
                    <a:pt x="0" y="0"/>
                  </a:moveTo>
                  <a:lnTo>
                    <a:pt x="6731000" y="0"/>
                  </a:lnTo>
                  <a:lnTo>
                    <a:pt x="673100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0358" b="-11035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73100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Quantitative Performance Summary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98448" y="2276856"/>
            <a:ext cx="429768" cy="429768"/>
            <a:chOff x="0" y="0"/>
            <a:chExt cx="573024" cy="573024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925" r="-892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188720" y="2926080"/>
          <a:ext cx="8382000" cy="4030980"/>
        </p:xfrm>
        <a:graphic>
          <a:graphicData uri="http://schemas.openxmlformats.org/drawingml/2006/table">
            <a:tbl>
              <a:tblPr/>
              <a:tblGrid>
                <a:gridCol w="218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Metric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Certipy (Heuristic)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Symbolic BFS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CertGraph (Ours)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Precision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74.20%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89.15%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02C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99.88%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Recall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69.21%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92.55%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02C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99.84%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Macro-F1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77.91%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90.82%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02C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99.86%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ROC / PR-AUC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0.8410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0.9120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02C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0.9998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Zero-Shot F1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Fails (0%)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64.12%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102C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100.00%</a:t>
                      </a:r>
                      <a:endParaRPr lang="en-US" sz="1100"/>
                    </a:p>
                  </a:txBody>
                  <a:tcPr marT="91440" marB="91440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280160" y="7158990"/>
            <a:ext cx="8229600" cy="157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Result: CertGraph achieves 99.86% Macro-F1 across 700 topologies (+21.95 F1 / +28.2% relative gain over heuristics, p = 3.12e-4). Under authentic 96% Safe template imbalance, CertGraph maintains 99.41% Macro-F1 and 0.9982 PR-AUC.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41280" y="2194560"/>
            <a:ext cx="6858000" cy="6053328"/>
            <a:chOff x="0" y="0"/>
            <a:chExt cx="9144000" cy="8071104"/>
          </a:xfrm>
        </p:grpSpPr>
        <p:sp>
          <p:nvSpPr>
            <p:cNvPr id="17" name="Freeform 17" descr="confusion_matrix.png"/>
            <p:cNvSpPr/>
            <p:nvPr/>
          </p:nvSpPr>
          <p:spPr>
            <a:xfrm>
              <a:off x="0" y="0"/>
              <a:ext cx="9144000" cy="8071104"/>
            </a:xfrm>
            <a:custGeom>
              <a:avLst/>
              <a:gdLst/>
              <a:ahLst/>
              <a:cxnLst/>
              <a:rect l="l" t="t" r="r" b="b"/>
              <a:pathLst>
                <a:path w="9144000" h="8071104">
                  <a:moveTo>
                    <a:pt x="0" y="0"/>
                  </a:moveTo>
                  <a:lnTo>
                    <a:pt x="9144000" y="0"/>
                  </a:lnTo>
                  <a:lnTo>
                    <a:pt x="9144000" y="8071104"/>
                  </a:lnTo>
                  <a:lnTo>
                    <a:pt x="0" y="8071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27" b="-3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332720" y="8347710"/>
            <a:ext cx="66751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Figure: Multi-Class Confusion Matrix (Test Set, N=200)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995553"/>
            <a:ext cx="12801600" cy="76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ABLATION STUDY &amp; MODEL INTERPRETABILITY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88720" y="2194560"/>
            <a:ext cx="7680960" cy="3822192"/>
            <a:chOff x="0" y="0"/>
            <a:chExt cx="10241280" cy="5096256"/>
          </a:xfrm>
        </p:grpSpPr>
        <p:sp>
          <p:nvSpPr>
            <p:cNvPr id="10" name="Freeform 10" descr="ablation_comparison.png"/>
            <p:cNvSpPr/>
            <p:nvPr/>
          </p:nvSpPr>
          <p:spPr>
            <a:xfrm>
              <a:off x="0" y="0"/>
              <a:ext cx="10241280" cy="5096256"/>
            </a:xfrm>
            <a:custGeom>
              <a:avLst/>
              <a:gdLst/>
              <a:ahLst/>
              <a:cxnLst/>
              <a:rect l="l" t="t" r="r" b="b"/>
              <a:pathLst>
                <a:path w="10241280" h="5096256">
                  <a:moveTo>
                    <a:pt x="0" y="0"/>
                  </a:moveTo>
                  <a:lnTo>
                    <a:pt x="10241280" y="0"/>
                  </a:lnTo>
                  <a:lnTo>
                    <a:pt x="10241280" y="5096256"/>
                  </a:lnTo>
                  <a:lnTo>
                    <a:pt x="0" y="5096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" b="-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0160" y="6107430"/>
            <a:ext cx="74980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Figure: Architectural Ablation Study (5-Fold CV)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18320" y="2194560"/>
            <a:ext cx="7680960" cy="3822192"/>
            <a:chOff x="0" y="0"/>
            <a:chExt cx="10241280" cy="5096256"/>
          </a:xfrm>
        </p:grpSpPr>
        <p:sp>
          <p:nvSpPr>
            <p:cNvPr id="13" name="Freeform 13" descr="attention_explainability.png"/>
            <p:cNvSpPr/>
            <p:nvPr/>
          </p:nvSpPr>
          <p:spPr>
            <a:xfrm>
              <a:off x="0" y="0"/>
              <a:ext cx="10241280" cy="5096256"/>
            </a:xfrm>
            <a:custGeom>
              <a:avLst/>
              <a:gdLst/>
              <a:ahLst/>
              <a:cxnLst/>
              <a:rect l="l" t="t" r="r" b="b"/>
              <a:pathLst>
                <a:path w="10241280" h="5096256">
                  <a:moveTo>
                    <a:pt x="0" y="0"/>
                  </a:moveTo>
                  <a:lnTo>
                    <a:pt x="10241280" y="0"/>
                  </a:lnTo>
                  <a:lnTo>
                    <a:pt x="10241280" y="5096256"/>
                  </a:lnTo>
                  <a:lnTo>
                    <a:pt x="0" y="5096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653" r="-365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509760" y="6107430"/>
            <a:ext cx="749808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Figure: Relational Attention Weights in ESC13 Chain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9195" y="6528435"/>
            <a:ext cx="15929610" cy="530851"/>
            <a:chOff x="0" y="0"/>
            <a:chExt cx="21239480" cy="7078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239480" cy="707802"/>
            </a:xfrm>
            <a:custGeom>
              <a:avLst/>
              <a:gdLst/>
              <a:ahLst/>
              <a:cxnLst/>
              <a:rect l="l" t="t" r="r" b="b"/>
              <a:pathLst>
                <a:path w="21239480" h="707802">
                  <a:moveTo>
                    <a:pt x="0" y="0"/>
                  </a:moveTo>
                  <a:lnTo>
                    <a:pt x="21239480" y="0"/>
                  </a:lnTo>
                  <a:lnTo>
                    <a:pt x="21239480" y="707802"/>
                  </a:lnTo>
                  <a:lnTo>
                    <a:pt x="0" y="70780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535537" b="-53386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1239480" cy="726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Key Empirical Takeaways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8448" y="6620256"/>
            <a:ext cx="338328" cy="338328"/>
            <a:chOff x="0" y="0"/>
            <a:chExt cx="451104" cy="451104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451104" cy="451104"/>
            </a:xfrm>
            <a:custGeom>
              <a:avLst/>
              <a:gdLst/>
              <a:ahLst/>
              <a:cxnLst/>
              <a:rect l="l" t="t" r="r" b="b"/>
              <a:pathLst>
                <a:path w="451104" h="451104">
                  <a:moveTo>
                    <a:pt x="0" y="0"/>
                  </a:moveTo>
                  <a:lnTo>
                    <a:pt x="451104" y="0"/>
                  </a:lnTo>
                  <a:lnTo>
                    <a:pt x="451104" y="451104"/>
                  </a:lnTo>
                  <a:lnTo>
                    <a:pt x="0" y="451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994" b="-49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80160" y="7158990"/>
            <a:ext cx="15727680" cy="175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Residual Skip Connections are Vital: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Removing skip pathways drops Macro-F1 from 99.86% to 47.68% (a 52.18% collapse), empirically validating Theorem 1.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Attention Multiplicity is Secondary: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single-head variant matches multi-head performance (100% vs 99.86%), proving residual feature retention drives the gains.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Inherent Path Explainability: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Attention weights directly isolate attack edges (alpha &gt; 0.85 on critical hops), providing security analysts with instant visual proof traces.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1B4C-3AC6-0D87-4841-C49E450E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2">
            <a:extLst>
              <a:ext uri="{FF2B5EF4-FFF2-40B4-BE49-F238E27FC236}">
                <a16:creationId xmlns:a16="http://schemas.microsoft.com/office/drawing/2014/main" id="{A094FF13-4D51-AC2C-857B-97B0BDE4D175}"/>
              </a:ext>
            </a:extLst>
          </p:cNvPr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114" name="Freeform 3">
              <a:extLst>
                <a:ext uri="{FF2B5EF4-FFF2-40B4-BE49-F238E27FC236}">
                  <a16:creationId xmlns:a16="http://schemas.microsoft.com/office/drawing/2014/main" id="{1E9C5304-EE5E-64C4-46FB-0AA9BA6E2BD6}"/>
                </a:ext>
              </a:extLst>
            </p:cNvPr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856A984-D2F5-6B21-5E9E-9E81CC5626AB}"/>
              </a:ext>
            </a:extLst>
          </p:cNvPr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>
              <a:extLst>
                <a:ext uri="{FF2B5EF4-FFF2-40B4-BE49-F238E27FC236}">
                  <a16:creationId xmlns:a16="http://schemas.microsoft.com/office/drawing/2014/main" id="{F6C32E7C-2D3E-E452-9B38-251D92571C95}"/>
                </a:ext>
              </a:extLst>
            </p:cNvPr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041FB78-E9E1-E1B0-0638-1CD01C07A501}"/>
              </a:ext>
            </a:extLst>
          </p:cNvPr>
          <p:cNvSpPr txBox="1"/>
          <p:nvPr/>
        </p:nvSpPr>
        <p:spPr>
          <a:xfrm>
            <a:off x="2441448" y="1005078"/>
            <a:ext cx="12801600" cy="7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NEURO-SYMBOLIC HYBRID VERIFICATION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20987DB-7B1A-FCDA-6DCA-25E108D273F4}"/>
              </a:ext>
            </a:extLst>
          </p:cNvPr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12/15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1468ACD-6036-13F2-EDA5-286D9D73FFFB}"/>
              </a:ext>
            </a:extLst>
          </p:cNvPr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F86EEBF-9ED9-79F5-6742-63ED761A02DC}"/>
              </a:ext>
            </a:extLst>
          </p:cNvPr>
          <p:cNvGrpSpPr/>
          <p:nvPr/>
        </p:nvGrpSpPr>
        <p:grpSpPr>
          <a:xfrm>
            <a:off x="1179195" y="2185035"/>
            <a:ext cx="4773930" cy="613410"/>
            <a:chOff x="0" y="0"/>
            <a:chExt cx="6365240" cy="81788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C2BBB0C-3C34-1369-9671-8D244A5DE973}"/>
                </a:ext>
              </a:extLst>
            </p:cNvPr>
            <p:cNvSpPr/>
            <p:nvPr/>
          </p:nvSpPr>
          <p:spPr>
            <a:xfrm>
              <a:off x="0" y="0"/>
              <a:ext cx="6365240" cy="817880"/>
            </a:xfrm>
            <a:custGeom>
              <a:avLst/>
              <a:gdLst/>
              <a:ahLst/>
              <a:cxnLst/>
              <a:rect l="l" t="t" r="r" b="b"/>
              <a:pathLst>
                <a:path w="6365240" h="817880">
                  <a:moveTo>
                    <a:pt x="0" y="0"/>
                  </a:moveTo>
                  <a:lnTo>
                    <a:pt x="6365240" y="0"/>
                  </a:lnTo>
                  <a:lnTo>
                    <a:pt x="636524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644" b="-10164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36A2EBF-6D5D-865A-ECA3-11ED1FCC5E6B}"/>
                </a:ext>
              </a:extLst>
            </p:cNvPr>
            <p:cNvSpPr txBox="1"/>
            <p:nvPr/>
          </p:nvSpPr>
          <p:spPr>
            <a:xfrm>
              <a:off x="0" y="-19050"/>
              <a:ext cx="636524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Neural Shortcut Vulnerability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E3FEADF-74B2-FE49-98EE-E1C3803F19B8}"/>
              </a:ext>
            </a:extLst>
          </p:cNvPr>
          <p:cNvGrpSpPr/>
          <p:nvPr/>
        </p:nvGrpSpPr>
        <p:grpSpPr>
          <a:xfrm>
            <a:off x="1298448" y="2276856"/>
            <a:ext cx="429768" cy="429768"/>
            <a:chOff x="0" y="0"/>
            <a:chExt cx="573024" cy="573024"/>
          </a:xfrm>
        </p:grpSpPr>
        <p:sp>
          <p:nvSpPr>
            <p:cNvPr id="13" name="Freeform 13" descr="image.png">
              <a:extLst>
                <a:ext uri="{FF2B5EF4-FFF2-40B4-BE49-F238E27FC236}">
                  <a16:creationId xmlns:a16="http://schemas.microsoft.com/office/drawing/2014/main" id="{4DBE83B9-7074-D42C-E6ED-676704C1DD3E}"/>
                </a:ext>
              </a:extLst>
            </p:cNvPr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823" r="-88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DF02C3A3-1EED-34E5-D365-10D1B3F70FC5}"/>
              </a:ext>
            </a:extLst>
          </p:cNvPr>
          <p:cNvSpPr txBox="1"/>
          <p:nvPr/>
        </p:nvSpPr>
        <p:spPr>
          <a:xfrm>
            <a:off x="1280160" y="2952750"/>
            <a:ext cx="73152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2400"/>
              </a:lnSpc>
              <a:buAutoNum type="arabicPeriod"/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Adversarial Testbed.</a:t>
            </a:r>
          </a:p>
          <a:p>
            <a:pPr marL="457200" indent="-457200" algn="l">
              <a:lnSpc>
                <a:spcPts val="2400"/>
              </a:lnSpc>
              <a:buAutoNum type="arabicPeriod"/>
            </a:pP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Neural Shortcut Collapse.</a:t>
            </a: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AA4D20-E924-B32D-DEA6-6B14E3196553}"/>
              </a:ext>
            </a:extLst>
          </p:cNvPr>
          <p:cNvSpPr/>
          <p:nvPr/>
        </p:nvSpPr>
        <p:spPr>
          <a:xfrm>
            <a:off x="6162677" y="2150791"/>
            <a:ext cx="2286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C22C7840-18FA-F578-7E66-CE7A2F35B558}"/>
              </a:ext>
            </a:extLst>
          </p:cNvPr>
          <p:cNvSpPr/>
          <p:nvPr/>
        </p:nvSpPr>
        <p:spPr>
          <a:xfrm>
            <a:off x="6162677" y="2150791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5D4C21C5-A149-313C-8B82-84C8632BCBE9}"/>
              </a:ext>
            </a:extLst>
          </p:cNvPr>
          <p:cNvSpPr txBox="1"/>
          <p:nvPr/>
        </p:nvSpPr>
        <p:spPr>
          <a:xfrm>
            <a:off x="6208397" y="2150791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 Graph Ingestion</a:t>
            </a:r>
            <a:endParaRPr lang="en-US" sz="15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B6E533B4-28BC-2A4A-0317-C2C43CF241B5}"/>
              </a:ext>
            </a:extLst>
          </p:cNvPr>
          <p:cNvSpPr/>
          <p:nvPr/>
        </p:nvSpPr>
        <p:spPr>
          <a:xfrm>
            <a:off x="9180197" y="2150791"/>
            <a:ext cx="2286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0CDD05B5-3241-5024-D9D2-423F8214E537}"/>
              </a:ext>
            </a:extLst>
          </p:cNvPr>
          <p:cNvSpPr/>
          <p:nvPr/>
        </p:nvSpPr>
        <p:spPr>
          <a:xfrm>
            <a:off x="9180197" y="2150791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6D2EAA18-9E15-A084-A140-70CCC1567E50}"/>
              </a:ext>
            </a:extLst>
          </p:cNvPr>
          <p:cNvSpPr txBox="1"/>
          <p:nvPr/>
        </p:nvSpPr>
        <p:spPr>
          <a:xfrm>
            <a:off x="9225917" y="2150791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Tier 1: Screening</a:t>
            </a:r>
            <a:endParaRPr lang="en-US" sz="150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A9ADFB33-2C8B-641C-5960-F9A9EA174641}"/>
              </a:ext>
            </a:extLst>
          </p:cNvPr>
          <p:cNvSpPr/>
          <p:nvPr/>
        </p:nvSpPr>
        <p:spPr>
          <a:xfrm>
            <a:off x="12197717" y="2150791"/>
            <a:ext cx="2286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814DEC82-304D-D0BD-3D26-69FA891B778F}"/>
              </a:ext>
            </a:extLst>
          </p:cNvPr>
          <p:cNvSpPr/>
          <p:nvPr/>
        </p:nvSpPr>
        <p:spPr>
          <a:xfrm>
            <a:off x="12197717" y="2150791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D9BBC64-6379-D9A1-90D3-93561391C7A6}"/>
              </a:ext>
            </a:extLst>
          </p:cNvPr>
          <p:cNvSpPr txBox="1"/>
          <p:nvPr/>
        </p:nvSpPr>
        <p:spPr>
          <a:xfrm>
            <a:off x="12243437" y="2150791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Tier 2: Verification</a:t>
            </a:r>
            <a:endParaRPr lang="en-US" sz="150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9B47ED4B-E0B1-8EA4-5BB9-CC6D155A01CB}"/>
              </a:ext>
            </a:extLst>
          </p:cNvPr>
          <p:cNvSpPr/>
          <p:nvPr/>
        </p:nvSpPr>
        <p:spPr>
          <a:xfrm>
            <a:off x="15215237" y="2150791"/>
            <a:ext cx="2286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461DCDF5-99F0-F5C2-C6AA-198456C14880}"/>
              </a:ext>
            </a:extLst>
          </p:cNvPr>
          <p:cNvSpPr/>
          <p:nvPr/>
        </p:nvSpPr>
        <p:spPr>
          <a:xfrm>
            <a:off x="15215237" y="2150791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011396E7-9818-F4FB-76E5-55566B251C4C}"/>
              </a:ext>
            </a:extLst>
          </p:cNvPr>
          <p:cNvSpPr txBox="1"/>
          <p:nvPr/>
        </p:nvSpPr>
        <p:spPr>
          <a:xfrm>
            <a:off x="15260957" y="2150791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Remediation</a:t>
            </a:r>
            <a:endParaRPr lang="en-US" sz="1500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33E9F0E0-8F12-AC75-1AF3-9119271D21C5}"/>
              </a:ext>
            </a:extLst>
          </p:cNvPr>
          <p:cNvSpPr/>
          <p:nvPr/>
        </p:nvSpPr>
        <p:spPr>
          <a:xfrm>
            <a:off x="8485253" y="4025311"/>
            <a:ext cx="658368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CD2F40EA-E083-D12D-1CA3-4601CB71A8A9}"/>
              </a:ext>
            </a:extLst>
          </p:cNvPr>
          <p:cNvSpPr/>
          <p:nvPr/>
        </p:nvSpPr>
        <p:spPr>
          <a:xfrm>
            <a:off x="8485253" y="3385231"/>
            <a:ext cx="65836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2831A563-8CDD-99E4-F0AC-054D4308EB00}"/>
              </a:ext>
            </a:extLst>
          </p:cNvPr>
          <p:cNvSpPr txBox="1"/>
          <p:nvPr/>
        </p:nvSpPr>
        <p:spPr>
          <a:xfrm>
            <a:off x="8485253" y="3385231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00" dirty="0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A83E7FFC-C5CA-9D2C-6515-2176442BBB9F}"/>
              </a:ext>
            </a:extLst>
          </p:cNvPr>
          <p:cNvSpPr/>
          <p:nvPr/>
        </p:nvSpPr>
        <p:spPr>
          <a:xfrm>
            <a:off x="11502773" y="4025311"/>
            <a:ext cx="658368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773F8CC1-C07C-7501-F6DF-7389E4340DC8}"/>
              </a:ext>
            </a:extLst>
          </p:cNvPr>
          <p:cNvSpPr/>
          <p:nvPr/>
        </p:nvSpPr>
        <p:spPr>
          <a:xfrm>
            <a:off x="11502773" y="3385231"/>
            <a:ext cx="65836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42E8BD8F-9D1D-824D-FEC1-B29BAB928D04}"/>
              </a:ext>
            </a:extLst>
          </p:cNvPr>
          <p:cNvSpPr txBox="1"/>
          <p:nvPr/>
        </p:nvSpPr>
        <p:spPr>
          <a:xfrm>
            <a:off x="11502773" y="3385231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Suspects</a:t>
            </a:r>
            <a:endParaRPr lang="en-US" sz="1200" dirty="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6FC3E6CF-AC61-C122-E720-5E866A5E5117}"/>
              </a:ext>
            </a:extLst>
          </p:cNvPr>
          <p:cNvSpPr/>
          <p:nvPr/>
        </p:nvSpPr>
        <p:spPr>
          <a:xfrm>
            <a:off x="14520293" y="4025311"/>
            <a:ext cx="658368" cy="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9534A28F-F6E0-0278-7597-C5F3A1B312D7}"/>
              </a:ext>
            </a:extLst>
          </p:cNvPr>
          <p:cNvSpPr/>
          <p:nvPr/>
        </p:nvSpPr>
        <p:spPr>
          <a:xfrm>
            <a:off x="14520293" y="3385231"/>
            <a:ext cx="658368" cy="502920"/>
          </a:xfrm>
          <a:prstGeom prst="rect">
            <a:avLst/>
          </a:prstGeom>
          <a:solidFill>
            <a:srgbClr val="FDEC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240AD0A8-618E-F3B0-DD4D-11A7B485A6B5}"/>
              </a:ext>
            </a:extLst>
          </p:cNvPr>
          <p:cNvSpPr txBox="1"/>
          <p:nvPr/>
        </p:nvSpPr>
        <p:spPr>
          <a:xfrm>
            <a:off x="14520293" y="3385231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D51EE1F2-0421-E78D-5BFF-068D4A37F89F}"/>
              </a:ext>
            </a:extLst>
          </p:cNvPr>
          <p:cNvSpPr txBox="1"/>
          <p:nvPr/>
        </p:nvSpPr>
        <p:spPr>
          <a:xfrm>
            <a:off x="6299837" y="2745151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extraction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&amp; RPC audits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BloodHound / SharpHound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PKI schema</a:t>
            </a:r>
            <a:endParaRPr lang="en-US" sz="16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06CB50E0-9914-4C9F-341B-142BC179A37E}"/>
              </a:ext>
            </a:extLst>
          </p:cNvPr>
          <p:cNvSpPr txBox="1"/>
          <p:nvPr/>
        </p:nvSpPr>
        <p:spPr>
          <a:xfrm>
            <a:off x="6299837" y="4391071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mapping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nodes, 1M+ edges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DACLs &amp; groups</a:t>
            </a:r>
            <a:endParaRPr lang="en-US" sz="16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55609243-FDBA-B7EC-F65B-FCB06C3C7FCF}"/>
              </a:ext>
            </a:extLst>
          </p:cNvPr>
          <p:cNvSpPr/>
          <p:nvPr/>
        </p:nvSpPr>
        <p:spPr>
          <a:xfrm>
            <a:off x="6272405" y="5808391"/>
            <a:ext cx="2066544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25">
            <a:extLst>
              <a:ext uri="{FF2B5EF4-FFF2-40B4-BE49-F238E27FC236}">
                <a16:creationId xmlns:a16="http://schemas.microsoft.com/office/drawing/2014/main" id="{F90EE3C3-72C6-E8DA-2259-E47E1A84EC4D}"/>
              </a:ext>
            </a:extLst>
          </p:cNvPr>
          <p:cNvSpPr txBox="1"/>
          <p:nvPr/>
        </p:nvSpPr>
        <p:spPr>
          <a:xfrm>
            <a:off x="6382133" y="5808391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auditor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sync via LDAP USN tracking</a:t>
            </a:r>
            <a:endParaRPr lang="en-US" sz="1600" dirty="0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0F539BAF-0BE4-6FD8-E22E-62C0ED9F4056}"/>
              </a:ext>
            </a:extLst>
          </p:cNvPr>
          <p:cNvSpPr txBox="1"/>
          <p:nvPr/>
        </p:nvSpPr>
        <p:spPr>
          <a:xfrm>
            <a:off x="9317357" y="2745151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CertGraph Hetero-GAT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template's risk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 ms per 1,000 nodes</a:t>
            </a:r>
            <a:endParaRPr lang="en-US" sz="1600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9008B64D-2069-2214-C0C9-2E3FDFCD06D8}"/>
              </a:ext>
            </a:extLst>
          </p:cNvPr>
          <p:cNvSpPr txBox="1"/>
          <p:nvPr/>
        </p:nvSpPr>
        <p:spPr>
          <a:xfrm>
            <a:off x="9317357" y="4391071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filter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Prunes &gt;95% benign templates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Top-K suspect queue</a:t>
            </a:r>
            <a:endParaRPr lang="en-US" sz="1600" dirty="0"/>
          </a:p>
        </p:txBody>
      </p:sp>
      <p:sp>
        <p:nvSpPr>
          <p:cNvPr id="76" name="Shape 28">
            <a:extLst>
              <a:ext uri="{FF2B5EF4-FFF2-40B4-BE49-F238E27FC236}">
                <a16:creationId xmlns:a16="http://schemas.microsoft.com/office/drawing/2014/main" id="{EA3B008C-04E0-2851-1CD6-F3E854D0FBCA}"/>
              </a:ext>
            </a:extLst>
          </p:cNvPr>
          <p:cNvSpPr/>
          <p:nvPr/>
        </p:nvSpPr>
        <p:spPr>
          <a:xfrm>
            <a:off x="9289925" y="5808391"/>
            <a:ext cx="2066544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928C69AC-6943-A575-24A6-59379C1CDEEA}"/>
              </a:ext>
            </a:extLst>
          </p:cNvPr>
          <p:cNvSpPr txBox="1"/>
          <p:nvPr/>
        </p:nvSpPr>
        <p:spPr>
          <a:xfrm>
            <a:off x="9399653" y="5808391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sweep in &lt;2.4 s (linear-time GPU)</a:t>
            </a:r>
            <a:endParaRPr lang="en-US" sz="1600" dirty="0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A8FEFFB7-443F-1158-202B-25EB6483EE33}"/>
              </a:ext>
            </a:extLst>
          </p:cNvPr>
          <p:cNvSpPr txBox="1"/>
          <p:nvPr/>
        </p:nvSpPr>
        <p:spPr>
          <a:xfrm>
            <a:off x="12334877" y="2745151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traversal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 authorization subgraph query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DACLs, OIDs &amp; enroll rights</a:t>
            </a:r>
            <a:endParaRPr lang="en-US" sz="1600" dirty="0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E3B069D6-12D6-B734-2475-8161ABD3376C}"/>
              </a:ext>
            </a:extLst>
          </p:cNvPr>
          <p:cNvSpPr txBox="1"/>
          <p:nvPr/>
        </p:nvSpPr>
        <p:spPr>
          <a:xfrm>
            <a:off x="12334877" y="439107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 decision</a:t>
            </a:r>
            <a:endParaRPr lang="en-US" sz="1600" dirty="0"/>
          </a:p>
        </p:txBody>
      </p:sp>
      <p:sp>
        <p:nvSpPr>
          <p:cNvPr id="84" name="Shape 32">
            <a:extLst>
              <a:ext uri="{FF2B5EF4-FFF2-40B4-BE49-F238E27FC236}">
                <a16:creationId xmlns:a16="http://schemas.microsoft.com/office/drawing/2014/main" id="{EFA47BDE-2826-B6A7-1726-857B58950E27}"/>
              </a:ext>
            </a:extLst>
          </p:cNvPr>
          <p:cNvSpPr/>
          <p:nvPr/>
        </p:nvSpPr>
        <p:spPr>
          <a:xfrm>
            <a:off x="12307445" y="4802551"/>
            <a:ext cx="2066544" cy="914400"/>
          </a:xfrm>
          <a:prstGeom prst="rect">
            <a:avLst/>
          </a:prstGeom>
          <a:solidFill>
            <a:srgbClr val="E3F5F1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33">
            <a:extLst>
              <a:ext uri="{FF2B5EF4-FFF2-40B4-BE49-F238E27FC236}">
                <a16:creationId xmlns:a16="http://schemas.microsoft.com/office/drawing/2014/main" id="{B5191E59-E976-124D-4708-552F485E0A40}"/>
              </a:ext>
            </a:extLst>
          </p:cNvPr>
          <p:cNvSpPr txBox="1"/>
          <p:nvPr/>
        </p:nvSpPr>
        <p:spPr>
          <a:xfrm>
            <a:off x="12417173" y="4802551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 (Safe)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suppressed &amp; logged</a:t>
            </a:r>
            <a:endParaRPr lang="en-US" sz="1600" dirty="0"/>
          </a:p>
        </p:txBody>
      </p:sp>
      <p:sp>
        <p:nvSpPr>
          <p:cNvPr id="88" name="Shape 34">
            <a:extLst>
              <a:ext uri="{FF2B5EF4-FFF2-40B4-BE49-F238E27FC236}">
                <a16:creationId xmlns:a16="http://schemas.microsoft.com/office/drawing/2014/main" id="{B308E1A2-B416-4EFB-4C1B-44016F211AE7}"/>
              </a:ext>
            </a:extLst>
          </p:cNvPr>
          <p:cNvSpPr/>
          <p:nvPr/>
        </p:nvSpPr>
        <p:spPr>
          <a:xfrm>
            <a:off x="12307445" y="5808391"/>
            <a:ext cx="2066544" cy="1097280"/>
          </a:xfrm>
          <a:prstGeom prst="rect">
            <a:avLst/>
          </a:prstGeom>
          <a:solidFill>
            <a:srgbClr val="FDEC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B6FED4E8-BC0D-603A-6CF7-5200D4409735}"/>
              </a:ext>
            </a:extLst>
          </p:cNvPr>
          <p:cNvSpPr txBox="1"/>
          <p:nvPr/>
        </p:nvSpPr>
        <p:spPr>
          <a:xfrm>
            <a:off x="12417173" y="5808391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exploit path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tree triggers auto-remediation</a:t>
            </a:r>
            <a:endParaRPr lang="en-US" sz="1600" dirty="0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2EC14640-69B2-A3E4-31BF-1BC4B2B9EA94}"/>
              </a:ext>
            </a:extLst>
          </p:cNvPr>
          <p:cNvSpPr txBox="1"/>
          <p:nvPr/>
        </p:nvSpPr>
        <p:spPr>
          <a:xfrm>
            <a:off x="15352397" y="2745151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optimization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Stackelberg game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Minimal-impact cut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paths removed</a:t>
            </a:r>
            <a:endParaRPr lang="en-US" sz="1600" dirty="0"/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A9D6A0BC-4A72-3028-56FC-BF8EB9BD7AC4}"/>
              </a:ext>
            </a:extLst>
          </p:cNvPr>
          <p:cNvSpPr txBox="1"/>
          <p:nvPr/>
        </p:nvSpPr>
        <p:spPr>
          <a:xfrm>
            <a:off x="15352397" y="4391071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actuation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Revokes rogue ACEs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Unlinks policy OIDs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disruption</a:t>
            </a:r>
            <a:endParaRPr lang="en-US" sz="1600" dirty="0"/>
          </a:p>
        </p:txBody>
      </p:sp>
      <p:sp>
        <p:nvSpPr>
          <p:cNvPr id="96" name="Shape 38">
            <a:extLst>
              <a:ext uri="{FF2B5EF4-FFF2-40B4-BE49-F238E27FC236}">
                <a16:creationId xmlns:a16="http://schemas.microsoft.com/office/drawing/2014/main" id="{8678A1CB-D198-96DD-28F8-463DDAB504EB}"/>
              </a:ext>
            </a:extLst>
          </p:cNvPr>
          <p:cNvSpPr/>
          <p:nvPr/>
        </p:nvSpPr>
        <p:spPr>
          <a:xfrm>
            <a:off x="15324965" y="5808391"/>
            <a:ext cx="2066544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39">
            <a:extLst>
              <a:ext uri="{FF2B5EF4-FFF2-40B4-BE49-F238E27FC236}">
                <a16:creationId xmlns:a16="http://schemas.microsoft.com/office/drawing/2014/main" id="{21FCE074-083E-49F8-7B9A-D129566D8DFB}"/>
              </a:ext>
            </a:extLst>
          </p:cNvPr>
          <p:cNvSpPr txBox="1"/>
          <p:nvPr/>
        </p:nvSpPr>
        <p:spPr>
          <a:xfrm>
            <a:off x="15434693" y="5808391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ACL revocation</a:t>
            </a:r>
            <a:endParaRPr lang="en-US" sz="1600" dirty="0"/>
          </a:p>
        </p:txBody>
      </p:sp>
      <p:sp>
        <p:nvSpPr>
          <p:cNvPr id="100" name="Shape 40">
            <a:extLst>
              <a:ext uri="{FF2B5EF4-FFF2-40B4-BE49-F238E27FC236}">
                <a16:creationId xmlns:a16="http://schemas.microsoft.com/office/drawing/2014/main" id="{6E0701CD-56D5-B501-95F6-3743C088B1AE}"/>
              </a:ext>
            </a:extLst>
          </p:cNvPr>
          <p:cNvSpPr/>
          <p:nvPr/>
        </p:nvSpPr>
        <p:spPr>
          <a:xfrm>
            <a:off x="16358237" y="7042831"/>
            <a:ext cx="0" cy="32004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41">
            <a:extLst>
              <a:ext uri="{FF2B5EF4-FFF2-40B4-BE49-F238E27FC236}">
                <a16:creationId xmlns:a16="http://schemas.microsoft.com/office/drawing/2014/main" id="{8E75A67D-535F-3978-435D-9C636006306C}"/>
              </a:ext>
            </a:extLst>
          </p:cNvPr>
          <p:cNvSpPr/>
          <p:nvPr/>
        </p:nvSpPr>
        <p:spPr>
          <a:xfrm flipH="1">
            <a:off x="7305677" y="7362871"/>
            <a:ext cx="9052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42">
            <a:extLst>
              <a:ext uri="{FF2B5EF4-FFF2-40B4-BE49-F238E27FC236}">
                <a16:creationId xmlns:a16="http://schemas.microsoft.com/office/drawing/2014/main" id="{2C79C5D0-9FC5-E0A6-6EC5-EF4467691F52}"/>
              </a:ext>
            </a:extLst>
          </p:cNvPr>
          <p:cNvSpPr/>
          <p:nvPr/>
        </p:nvSpPr>
        <p:spPr>
          <a:xfrm flipV="1">
            <a:off x="7305677" y="7088551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43">
            <a:extLst>
              <a:ext uri="{FF2B5EF4-FFF2-40B4-BE49-F238E27FC236}">
                <a16:creationId xmlns:a16="http://schemas.microsoft.com/office/drawing/2014/main" id="{638187FC-C5A3-A909-EE7D-051B9CA1E4F0}"/>
              </a:ext>
            </a:extLst>
          </p:cNvPr>
          <p:cNvSpPr/>
          <p:nvPr/>
        </p:nvSpPr>
        <p:spPr>
          <a:xfrm>
            <a:off x="8750429" y="7161703"/>
            <a:ext cx="6172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44">
            <a:extLst>
              <a:ext uri="{FF2B5EF4-FFF2-40B4-BE49-F238E27FC236}">
                <a16:creationId xmlns:a16="http://schemas.microsoft.com/office/drawing/2014/main" id="{93B061D7-F471-C987-E822-3BCDD8768D9D}"/>
              </a:ext>
            </a:extLst>
          </p:cNvPr>
          <p:cNvSpPr txBox="1"/>
          <p:nvPr/>
        </p:nvSpPr>
        <p:spPr>
          <a:xfrm>
            <a:off x="8750429" y="7161703"/>
            <a:ext cx="6172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feedback: delta sync after remediation</a:t>
            </a:r>
            <a:endParaRPr lang="en-US" sz="1500" dirty="0"/>
          </a:p>
        </p:txBody>
      </p:sp>
      <p:grpSp>
        <p:nvGrpSpPr>
          <p:cNvPr id="109" name="Group 23">
            <a:extLst>
              <a:ext uri="{FF2B5EF4-FFF2-40B4-BE49-F238E27FC236}">
                <a16:creationId xmlns:a16="http://schemas.microsoft.com/office/drawing/2014/main" id="{6FC5448A-9803-89C9-E0F9-9CB2903350E1}"/>
              </a:ext>
            </a:extLst>
          </p:cNvPr>
          <p:cNvGrpSpPr/>
          <p:nvPr/>
        </p:nvGrpSpPr>
        <p:grpSpPr>
          <a:xfrm>
            <a:off x="1000675" y="4299631"/>
            <a:ext cx="5130970" cy="2926080"/>
            <a:chOff x="0" y="0"/>
            <a:chExt cx="10363200" cy="3901440"/>
          </a:xfrm>
        </p:grpSpPr>
        <p:sp>
          <p:nvSpPr>
            <p:cNvPr id="110" name="Freeform 24" descr="hard_negatives_comparison.png">
              <a:extLst>
                <a:ext uri="{FF2B5EF4-FFF2-40B4-BE49-F238E27FC236}">
                  <a16:creationId xmlns:a16="http://schemas.microsoft.com/office/drawing/2014/main" id="{3DBE3DD1-0351-47ED-8237-01EE6E53688B}"/>
                </a:ext>
              </a:extLst>
            </p:cNvPr>
            <p:cNvSpPr/>
            <p:nvPr/>
          </p:nvSpPr>
          <p:spPr>
            <a:xfrm>
              <a:off x="0" y="0"/>
              <a:ext cx="10363200" cy="3901440"/>
            </a:xfrm>
            <a:custGeom>
              <a:avLst/>
              <a:gdLst/>
              <a:ahLst/>
              <a:cxnLst/>
              <a:rect l="l" t="t" r="r" b="b"/>
              <a:pathLst>
                <a:path w="10363200" h="3901440">
                  <a:moveTo>
                    <a:pt x="0" y="0"/>
                  </a:moveTo>
                  <a:lnTo>
                    <a:pt x="10363200" y="0"/>
                  </a:lnTo>
                  <a:lnTo>
                    <a:pt x="10363200" y="3901440"/>
                  </a:lnTo>
                  <a:lnTo>
                    <a:pt x="0" y="390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584" b="-1558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" name="TextBox 20">
            <a:extLst>
              <a:ext uri="{FF2B5EF4-FFF2-40B4-BE49-F238E27FC236}">
                <a16:creationId xmlns:a16="http://schemas.microsoft.com/office/drawing/2014/main" id="{FE878855-E6DD-7B39-6560-E3EA0E41B726}"/>
              </a:ext>
            </a:extLst>
          </p:cNvPr>
          <p:cNvSpPr txBox="1"/>
          <p:nvPr/>
        </p:nvSpPr>
        <p:spPr>
          <a:xfrm>
            <a:off x="1051560" y="8016785"/>
            <a:ext cx="1677923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Tier 1 — Neural Screener (18.2 </a:t>
            </a:r>
            <a:r>
              <a:rPr lang="en-US" sz="195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</a:t>
            </a:r>
            <a:r>
              <a:rPr lang="en-US" sz="19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):</a:t>
            </a:r>
            <a:r>
              <a:rPr lang="en-US" sz="19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Flags 62 of 600 templates as potentially risky, filtering out 89.7% of safe templates while retaining 100% of true attack paths.</a:t>
            </a:r>
          </a:p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Tier 2 — Symbolic Verifier (110.6 </a:t>
            </a:r>
            <a:r>
              <a:rPr lang="en-US" sz="195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</a:t>
            </a:r>
            <a:r>
              <a:rPr lang="en-US" sz="19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):</a:t>
            </a:r>
            <a:r>
              <a:rPr lang="en-US" sz="19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Traverses authorization graphs for flagged templates, generating mathematical proof traces and eliminating false alarms.</a:t>
            </a:r>
          </a:p>
          <a:p>
            <a:pPr algn="l">
              <a:lnSpc>
                <a:spcPts val="2400"/>
              </a:lnSpc>
            </a:pPr>
            <a:r>
              <a:rPr lang="en-US" sz="19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Combined System (128.8 </a:t>
            </a:r>
            <a:r>
              <a:rPr lang="en-US" sz="195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</a:t>
            </a:r>
            <a:r>
              <a:rPr lang="en-US" sz="19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):</a:t>
            </a:r>
            <a:r>
              <a:rPr lang="en-US" sz="19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Achieves zero false negatives and zero false alarms — combining neural speed with symbolic soundness.</a:t>
            </a:r>
          </a:p>
        </p:txBody>
      </p:sp>
      <p:sp>
        <p:nvSpPr>
          <p:cNvPr id="116" name="TextBox 11">
            <a:extLst>
              <a:ext uri="{FF2B5EF4-FFF2-40B4-BE49-F238E27FC236}">
                <a16:creationId xmlns:a16="http://schemas.microsoft.com/office/drawing/2014/main" id="{F4D3E68E-CC82-AE27-EB1E-5FA1843E4277}"/>
              </a:ext>
            </a:extLst>
          </p:cNvPr>
          <p:cNvSpPr txBox="1"/>
          <p:nvPr/>
        </p:nvSpPr>
        <p:spPr>
          <a:xfrm>
            <a:off x="5093208" y="7608354"/>
            <a:ext cx="7498080" cy="278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Figures : Neuro-Symbolic Architectural Verification</a:t>
            </a:r>
          </a:p>
        </p:txBody>
      </p:sp>
    </p:spTree>
    <p:extLst>
      <p:ext uri="{BB962C8B-B14F-4D97-AF65-F5344CB8AC3E}">
        <p14:creationId xmlns:p14="http://schemas.microsoft.com/office/powerpoint/2010/main" val="359787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995553"/>
            <a:ext cx="12801600" cy="76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&amp; AUTONOMOUS REMEDIATION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79195" y="2276856"/>
            <a:ext cx="5140775" cy="571119"/>
            <a:chOff x="0" y="0"/>
            <a:chExt cx="6854367" cy="7614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54367" cy="761492"/>
            </a:xfrm>
            <a:custGeom>
              <a:avLst/>
              <a:gdLst/>
              <a:ahLst/>
              <a:cxnLst/>
              <a:rect l="l" t="t" r="r" b="b"/>
              <a:pathLst>
                <a:path w="6854367" h="761492">
                  <a:moveTo>
                    <a:pt x="0" y="0"/>
                  </a:moveTo>
                  <a:lnTo>
                    <a:pt x="6854367" y="0"/>
                  </a:lnTo>
                  <a:lnTo>
                    <a:pt x="6854367" y="761492"/>
                  </a:lnTo>
                  <a:lnTo>
                    <a:pt x="0" y="7614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9171" r="7135" b="-11657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854367" cy="780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Sub-Second Operational Scalability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98448" y="2276856"/>
            <a:ext cx="429768" cy="429768"/>
            <a:chOff x="0" y="0"/>
            <a:chExt cx="573024" cy="573024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0160" y="2952750"/>
            <a:ext cx="731520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1,000-Node Topology: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 ms forward inference time.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5,000-Node Topology: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112.5 ms forward inference time.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10,000-Node Topology (765k edges):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343 ms inference time — 12.4x faster than Dijkstra/BloodHound graph search.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Operational Benefit: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Enables continuous real-time directory audits without impacting enterprise authentication traffic.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9195" y="5381625"/>
            <a:ext cx="5140775" cy="626107"/>
            <a:chOff x="0" y="0"/>
            <a:chExt cx="6854367" cy="8348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54367" cy="834809"/>
            </a:xfrm>
            <a:custGeom>
              <a:avLst/>
              <a:gdLst/>
              <a:ahLst/>
              <a:cxnLst/>
              <a:rect l="l" t="t" r="r" b="b"/>
              <a:pathLst>
                <a:path w="6854367" h="834809">
                  <a:moveTo>
                    <a:pt x="0" y="0"/>
                  </a:moveTo>
                  <a:lnTo>
                    <a:pt x="6854367" y="0"/>
                  </a:lnTo>
                  <a:lnTo>
                    <a:pt x="6854367" y="834809"/>
                  </a:lnTo>
                  <a:lnTo>
                    <a:pt x="0" y="8348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9583" r="7135" b="-97555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6854367" cy="853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Automated Attack Path Interdiction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8448" y="5477256"/>
            <a:ext cx="429768" cy="429768"/>
            <a:chOff x="0" y="0"/>
            <a:chExt cx="573024" cy="573024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573024" cy="573024"/>
            </a:xfrm>
            <a:custGeom>
              <a:avLst/>
              <a:gdLst/>
              <a:ahLst/>
              <a:cxnLst/>
              <a:rect l="l" t="t" r="r" b="b"/>
              <a:pathLst>
                <a:path w="573024" h="573024">
                  <a:moveTo>
                    <a:pt x="0" y="0"/>
                  </a:moveTo>
                  <a:lnTo>
                    <a:pt x="573024" y="0"/>
                  </a:lnTo>
                  <a:lnTo>
                    <a:pt x="573024" y="573024"/>
                  </a:lnTo>
                  <a:lnTo>
                    <a:pt x="0" y="573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925" r="-892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80160" y="6153150"/>
            <a:ext cx="7315200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Computational Proof (Theorem 2):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proved that finding the minimum set of permission revocations to sever all attack paths (MPAI) is NP-hard.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Greedy Interdiction Algorithm: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designed a disruption-bounded greedy algorithm that severs 68.6% of attack paths within a budget of 24 ACL operations.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Statistical Validation: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Statistically outperforms degree-centrality baselines across 30 enterprise topologies (p = 3.57e-11).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601200" y="2103120"/>
            <a:ext cx="7132320" cy="3474720"/>
            <a:chOff x="0" y="0"/>
            <a:chExt cx="9509760" cy="4632960"/>
          </a:xfrm>
        </p:grpSpPr>
        <p:sp>
          <p:nvSpPr>
            <p:cNvPr id="22" name="Freeform 22" descr="scalability_metrics.png"/>
            <p:cNvSpPr/>
            <p:nvPr/>
          </p:nvSpPr>
          <p:spPr>
            <a:xfrm>
              <a:off x="0" y="0"/>
              <a:ext cx="9509760" cy="4632960"/>
            </a:xfrm>
            <a:custGeom>
              <a:avLst/>
              <a:gdLst/>
              <a:ahLst/>
              <a:cxnLst/>
              <a:rect l="l" t="t" r="r" b="b"/>
              <a:pathLst>
                <a:path w="9509760" h="4632960">
                  <a:moveTo>
                    <a:pt x="0" y="0"/>
                  </a:moveTo>
                  <a:lnTo>
                    <a:pt x="9509760" y="0"/>
                  </a:lnTo>
                  <a:lnTo>
                    <a:pt x="9509760" y="4632960"/>
                  </a:lnTo>
                  <a:lnTo>
                    <a:pt x="0" y="463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8134" b="-381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0" y="5760720"/>
            <a:ext cx="8046720" cy="3200400"/>
            <a:chOff x="0" y="0"/>
            <a:chExt cx="10728960" cy="4267200"/>
          </a:xfrm>
        </p:grpSpPr>
        <p:sp>
          <p:nvSpPr>
            <p:cNvPr id="24" name="Freeform 24" descr="game_theoretic_convergence.png"/>
            <p:cNvSpPr/>
            <p:nvPr/>
          </p:nvSpPr>
          <p:spPr>
            <a:xfrm>
              <a:off x="0" y="0"/>
              <a:ext cx="10728960" cy="4267200"/>
            </a:xfrm>
            <a:custGeom>
              <a:avLst/>
              <a:gdLst/>
              <a:ahLst/>
              <a:cxnLst/>
              <a:rect l="l" t="t" r="r" b="b"/>
              <a:pathLst>
                <a:path w="10728960" h="426720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7473" b="-74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11">
            <a:extLst>
              <a:ext uri="{FF2B5EF4-FFF2-40B4-BE49-F238E27FC236}">
                <a16:creationId xmlns:a16="http://schemas.microsoft.com/office/drawing/2014/main" id="{6CAC14B0-46AF-13DC-4147-DAEB80C918E3}"/>
              </a:ext>
            </a:extLst>
          </p:cNvPr>
          <p:cNvSpPr txBox="1"/>
          <p:nvPr/>
        </p:nvSpPr>
        <p:spPr>
          <a:xfrm>
            <a:off x="9418320" y="8915400"/>
            <a:ext cx="7498080" cy="278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Figures: Architectural Scalability and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bg_landscape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840" b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7864" y="832104"/>
            <a:ext cx="905256" cy="1152144"/>
            <a:chOff x="0" y="0"/>
            <a:chExt cx="1207008" cy="153619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07008" cy="1536192"/>
            </a:xfrm>
            <a:custGeom>
              <a:avLst/>
              <a:gdLst/>
              <a:ahLst/>
              <a:cxnLst/>
              <a:rect l="l" t="t" r="r" b="b"/>
              <a:pathLst>
                <a:path w="1207008" h="1536192">
                  <a:moveTo>
                    <a:pt x="0" y="0"/>
                  </a:moveTo>
                  <a:lnTo>
                    <a:pt x="1207008" y="0"/>
                  </a:lnTo>
                  <a:lnTo>
                    <a:pt x="1207008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r="-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41448" y="1005078"/>
            <a:ext cx="12801600" cy="7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CONTRIBUTIONS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72816" y="465582"/>
            <a:ext cx="1600200" cy="32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14/15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0" y="9225534"/>
            <a:ext cx="6217920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 Project and Thesis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0160" y="1992630"/>
            <a:ext cx="15727680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unified graph AI and verification framework that resolves the conflict between rapid vulnerability screening and formal soundness.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79195" y="2642235"/>
            <a:ext cx="4408170" cy="613410"/>
            <a:chOff x="0" y="0"/>
            <a:chExt cx="5877560" cy="817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77560" cy="817880"/>
            </a:xfrm>
            <a:custGeom>
              <a:avLst/>
              <a:gdLst/>
              <a:ahLst/>
              <a:cxnLst/>
              <a:rect l="l" t="t" r="r" b="b"/>
              <a:pathLst>
                <a:path w="5877560" h="817880">
                  <a:moveTo>
                    <a:pt x="0" y="0"/>
                  </a:moveTo>
                  <a:lnTo>
                    <a:pt x="5877560" y="0"/>
                  </a:lnTo>
                  <a:lnTo>
                    <a:pt x="587756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0026" b="-9002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9195" y="2642235"/>
            <a:ext cx="613410" cy="613410"/>
            <a:chOff x="0" y="0"/>
            <a:chExt cx="817880" cy="8178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7880" cy="817880"/>
            </a:xfrm>
            <a:custGeom>
              <a:avLst/>
              <a:gdLst/>
              <a:ahLst/>
              <a:cxnLst/>
              <a:rect l="l" t="t" r="r" b="b"/>
              <a:pathLst>
                <a:path w="817880" h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1788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20240" y="2651760"/>
            <a:ext cx="3611880" cy="594360"/>
            <a:chOff x="0" y="0"/>
            <a:chExt cx="4815840" cy="7924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5840" cy="792480"/>
            </a:xfrm>
            <a:custGeom>
              <a:avLst/>
              <a:gdLst/>
              <a:ahLst/>
              <a:cxnLst/>
              <a:rect l="l" t="t" r="r" b="b"/>
              <a:pathLst>
                <a:path w="4815840" h="792480">
                  <a:moveTo>
                    <a:pt x="0" y="0"/>
                  </a:moveTo>
                  <a:lnTo>
                    <a:pt x="4815840" y="0"/>
                  </a:lnTo>
                  <a:lnTo>
                    <a:pt x="481584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8409" b="-684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4815840" cy="811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We Contributed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80160" y="3409950"/>
            <a:ext cx="8229600" cy="559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AD Graph Schema: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Formalized the first heterogeneous graph representation covering 5 entity types and 6 primary ADCS escalation classes.</a:t>
            </a:r>
          </a:p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Deep-Path Retention Proof: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Mathematically proved (Theorem 1) and implemented residual skips that preserve features over 4–8 hop chains.</a:t>
            </a:r>
          </a:p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Audited Enterprise Benchmark: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Achieved 99.86% Macro-F1 across 700 topologies (+28.2% over heuristics), tested under 96% class imbalance.</a:t>
            </a:r>
          </a:p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Neural Shortcut Discovery: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Uncovered that pure GNNs collapse to 1.59% accuracy on adversarial hard negatives due to flag memorization.</a:t>
            </a:r>
          </a:p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Two-Tier Verification Engine: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Built a hybrid system combining 18 ms neural screening with 110 ms symbolic verification (zero false negatives).</a:t>
            </a:r>
          </a:p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Automated Remediation Algorithm:</a:t>
            </a:r>
            <a:r>
              <a:rPr lang="en-US" sz="1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Proved MPAI NP-hardness (Theorem 2) and developed a greedy interdiction tool severing 68.6% of attack paths.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048875" y="2642235"/>
            <a:ext cx="4408170" cy="613410"/>
            <a:chOff x="0" y="0"/>
            <a:chExt cx="5877560" cy="8178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77560" cy="817880"/>
            </a:xfrm>
            <a:custGeom>
              <a:avLst/>
              <a:gdLst/>
              <a:ahLst/>
              <a:cxnLst/>
              <a:rect l="l" t="t" r="r" b="b"/>
              <a:pathLst>
                <a:path w="5877560" h="817880">
                  <a:moveTo>
                    <a:pt x="0" y="0"/>
                  </a:moveTo>
                  <a:lnTo>
                    <a:pt x="5877560" y="0"/>
                  </a:lnTo>
                  <a:lnTo>
                    <a:pt x="587756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0026" b="-9002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48875" y="2642235"/>
            <a:ext cx="613410" cy="613410"/>
            <a:chOff x="0" y="0"/>
            <a:chExt cx="817880" cy="817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7880" cy="817880"/>
            </a:xfrm>
            <a:custGeom>
              <a:avLst/>
              <a:gdLst/>
              <a:ahLst/>
              <a:cxnLst/>
              <a:rect l="l" t="t" r="r" b="b"/>
              <a:pathLst>
                <a:path w="817880" h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81788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789920" y="2651760"/>
            <a:ext cx="3611880" cy="594360"/>
            <a:chOff x="0" y="0"/>
            <a:chExt cx="4815840" cy="7924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15840" cy="792480"/>
            </a:xfrm>
            <a:custGeom>
              <a:avLst/>
              <a:gdLst/>
              <a:ahLst/>
              <a:cxnLst/>
              <a:rect l="l" t="t" r="r" b="b"/>
              <a:pathLst>
                <a:path w="4815840" h="792480">
                  <a:moveTo>
                    <a:pt x="0" y="0"/>
                  </a:moveTo>
                  <a:lnTo>
                    <a:pt x="4815840" y="0"/>
                  </a:lnTo>
                  <a:lnTo>
                    <a:pt x="481584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8409" b="-684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815840" cy="811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Limitations &amp; Future Work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149840" y="3409950"/>
            <a:ext cx="6858000" cy="248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Multi-label vulnerability classification for co-occurring ADCS escalation paths.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Support for cloud-hybrid identity fabrics (Microsoft Entra ID / Azure AD).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Real-time evaluation of automated remediation in live enterprise cyber-ranges.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048875" y="6025515"/>
            <a:ext cx="4408170" cy="613410"/>
            <a:chOff x="0" y="0"/>
            <a:chExt cx="5877560" cy="8178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877560" cy="817880"/>
            </a:xfrm>
            <a:custGeom>
              <a:avLst/>
              <a:gdLst/>
              <a:ahLst/>
              <a:cxnLst/>
              <a:rect l="l" t="t" r="r" b="b"/>
              <a:pathLst>
                <a:path w="5877560" h="817880">
                  <a:moveTo>
                    <a:pt x="0" y="0"/>
                  </a:moveTo>
                  <a:lnTo>
                    <a:pt x="5877560" y="0"/>
                  </a:lnTo>
                  <a:lnTo>
                    <a:pt x="5877560" y="817880"/>
                  </a:lnTo>
                  <a:lnTo>
                    <a:pt x="0" y="817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0026" b="-90026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48875" y="6025515"/>
            <a:ext cx="613410" cy="613410"/>
            <a:chOff x="0" y="0"/>
            <a:chExt cx="817880" cy="8178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7880" cy="817880"/>
            </a:xfrm>
            <a:custGeom>
              <a:avLst/>
              <a:gdLst/>
              <a:ahLst/>
              <a:cxnLst/>
              <a:rect l="l" t="t" r="r" b="b"/>
              <a:pathLst>
                <a:path w="817880" h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817880" cy="836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789920" y="6035040"/>
            <a:ext cx="3611880" cy="594360"/>
            <a:chOff x="0" y="0"/>
            <a:chExt cx="4815840" cy="7924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15840" cy="792480"/>
            </a:xfrm>
            <a:custGeom>
              <a:avLst/>
              <a:gdLst/>
              <a:ahLst/>
              <a:cxnLst/>
              <a:rect l="l" t="t" r="r" b="b"/>
              <a:pathLst>
                <a:path w="4815840" h="792480">
                  <a:moveTo>
                    <a:pt x="0" y="0"/>
                  </a:moveTo>
                  <a:lnTo>
                    <a:pt x="4815840" y="0"/>
                  </a:lnTo>
                  <a:lnTo>
                    <a:pt x="481584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8409" b="-684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815840" cy="811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&amp; Thesis Details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149840" y="6793230"/>
            <a:ext cx="6858000" cy="212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ECE 452 — Project and Thesis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Electronics and Communication Engineering (ECE)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Institution: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Hajee Mohammad Danesh Science and Technology University (HSTU)</a:t>
            </a:r>
          </a:p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Defense Session: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October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24384000"/>
            </a:xfrm>
            <a:custGeom>
              <a:avLst/>
              <a:gdLst/>
              <a:ahLst/>
              <a:cxnLst/>
              <a:rect l="l" t="t" r="r" b="b"/>
              <a:pathLst>
                <a:path w="13716000" h="24384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3"/>
              <a:stretch>
                <a:fillRect l="-12840" r="-128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5486400" y="4265819"/>
            <a:ext cx="7315200" cy="2752344"/>
          </a:xfrm>
          <a:custGeom>
            <a:avLst/>
            <a:gdLst/>
            <a:ahLst/>
            <a:cxnLst/>
            <a:rect l="l" t="t" r="r" b="b"/>
            <a:pathLst>
              <a:path w="7315200" h="2752344">
                <a:moveTo>
                  <a:pt x="0" y="0"/>
                </a:moveTo>
                <a:lnTo>
                  <a:pt x="7315200" y="0"/>
                </a:lnTo>
                <a:lnTo>
                  <a:pt x="7315200" y="2752344"/>
                </a:lnTo>
                <a:lnTo>
                  <a:pt x="0" y="2752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79" b="-1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274239" y="7510177"/>
            <a:ext cx="9739513" cy="803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sz="5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 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135788" y="1235307"/>
            <a:ext cx="2016414" cy="2563787"/>
            <a:chOff x="0" y="0"/>
            <a:chExt cx="2688552" cy="34183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88590" cy="3418332"/>
            </a:xfrm>
            <a:custGeom>
              <a:avLst/>
              <a:gdLst/>
              <a:ahLst/>
              <a:cxnLst/>
              <a:rect l="l" t="t" r="r" b="b"/>
              <a:pathLst>
                <a:path w="2688590" h="3418332">
                  <a:moveTo>
                    <a:pt x="0" y="0"/>
                  </a:moveTo>
                  <a:lnTo>
                    <a:pt x="2688590" y="0"/>
                  </a:lnTo>
                  <a:lnTo>
                    <a:pt x="2688590" y="3418332"/>
                  </a:lnTo>
                  <a:lnTo>
                    <a:pt x="0" y="3418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0" r="-48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4176</Words>
  <Application>Microsoft Office PowerPoint</Application>
  <PresentationFormat>Custom</PresentationFormat>
  <Paragraphs>498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Times New Roman</vt:lpstr>
      <vt:lpstr>Calibri</vt:lpstr>
      <vt:lpstr>Times New Roman Bold</vt:lpstr>
      <vt:lpstr>Courier New</vt:lpstr>
      <vt:lpstr>Calibri (MS) Bold</vt:lpstr>
      <vt:lpstr>Times New Roman Italics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certgraph_thesis_defense.pptx</dc:title>
  <dc:creator>hs32</dc:creator>
  <cp:lastModifiedBy>SHAHRIAR HASAN</cp:lastModifiedBy>
  <cp:revision>4</cp:revision>
  <dcterms:created xsi:type="dcterms:W3CDTF">2006-08-16T00:00:00Z</dcterms:created>
  <dcterms:modified xsi:type="dcterms:W3CDTF">2026-10-10T20:58:09Z</dcterms:modified>
  <dc:identifier>DAHXljjJ_C4</dc:identifier>
</cp:coreProperties>
</file>