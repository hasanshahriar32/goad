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1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5.svg" ContentType="image/svg+xml"/>
  <Override PartName="/ppt/media/image68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3" r:id="rId3"/>
    <p:sldId id="274" r:id="rId4"/>
    <p:sldId id="275" r:id="rId5"/>
    <p:sldId id="260" r:id="rId6"/>
    <p:sldId id="262" r:id="rId7"/>
    <p:sldId id="270" r:id="rId8"/>
    <p:sldId id="271" r:id="rId9"/>
    <p:sldId id="272" r:id="rId10"/>
    <p:sldId id="263" r:id="rId11"/>
    <p:sldId id="264" r:id="rId12"/>
    <p:sldId id="265" r:id="rId13"/>
    <p:sldId id="266" r:id="rId14"/>
    <p:sldId id="276" r:id="rId25"/>
    <p:sldId id="267" r:id="rId15"/>
  </p:sldIdLst>
  <p:sldSz cx="18288000" cy="10287000"/>
  <p:notesSz cx="6858000" cy="9144000"/>
  <p:embeddedFontLst>
    <p:embeddedFont>
      <p:font typeface="Big Shoulders Display Bold" panose="020B0604020202020204" charset="0"/>
      <p:regular r:id="rId16"/>
    </p:embeddedFont>
    <p:embeddedFont>
      <p:font typeface="Calibri (MS)" panose="020B0604020202020204" charset="0"/>
      <p:regular r:id="rId17"/>
    </p:embeddedFont>
    <p:embeddedFont>
      <p:font typeface="Telegraf Bold" panose="020B0604020202020204" charset="0"/>
      <p:regular r:id="rId18"/>
    </p:embeddedFont>
    <p:embeddedFont>
      <p:font typeface="Times New Roman Bold" panose="02020803070505020304" pitchFamily="18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114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5.xml"/><Relationship Id="rId2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work as a study of Active Directory Certificate Services (ADCS) vulnerability detection, the limits of pure neural reasoning, and disruption-bounded attack-path mitigation.</a:t>
            </a:r>
          </a:p>
          <a:p/>
          <a:p>
            <a:r>
              <a:t>Title: CertGraph: Heterogeneous Graph Attention Networks for Active Directory Certificate Services Vulnerability Detection and Autonomous Defense.</a:t>
            </a:r>
          </a:p>
          <a:p>
            <a:r>
              <a:t>The empirical defense contribution is a greedy graph interdiction algorithm. Reinforcement learning is a notional co-adaptive framework reserved for future live evaluation.</a:t>
            </a:r>
          </a:p>
          <a:p/>
          <a:p>
            <a:r>
              <a:t>Primary source: supplied thesis.pdf, ECE 452 · Project and Thesis · October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Active Directory manages accounts, groups, computers, and access rights. ADCS issues certificates from templates, a CA signs them, and Kerberos PKINIT enables certificate-based authentication.</a:t>
            </a:r>
          </a:p>
          <a:p/>
          <a:p>
            <a:r>
              <a:t>Core Security Principle: Exploitability requires both configuration and effective access. Dangerous template flags alone do not establish vulnerability; an unprivileged principal must possess a valid authorization path to request and use it. ESC13 represents policy-to-group privilege assignment, not inherent SAN spoofing.</a:t>
            </a:r>
          </a:p>
          <a:p/>
          <a:p>
            <a:r>
              <a:t>Primary source: supplied thesis.pdf, Thesis §§2.4–2.7; SpecterOps ADCS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central research questions guide the work: relational classification, attribute preservation, out-of-distribution robustness, and verified defense.</a:t>
            </a:r>
          </a:p>
          <a:p/>
          <a:p>
            <a:r>
              <a:t>Threat Model: Assumes an initial low-privilege domain account compromise and authorized read-only directory telemetry for the defender. Target scope is template-centric across six evaluated escalation classes (ESC1, ESC2, ESC3, ESC4, ESC9, ESC13) plus Safe. CA-wide settings and relay attacks lie outside this classifier.</a:t>
            </a:r>
          </a:p>
          <a:p/>
          <a:p>
            <a:r>
              <a:t>Primary source: supplied thesis.pdf, Thesis §§1.6, 2.6.1, 2.7.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SpecterOps supplies ADCS attack semantics; Veličković et al. introduce neighborhood attention; Chen et al. provide residual initial-feature preservation; Arp et al. describe evaluation pitfalls in security ML.</a:t>
            </a:r>
          </a:p>
          <a:p/>
          <a:p>
            <a:r>
              <a:t>Scope clarification: The thesis baselines are simplified heuristic and BFS implementations, rather than full production releases of Certipy or BloodHound. The research gap is combining rapid risk screening with explicit reachability verification.</a:t>
            </a:r>
          </a:p>
          <a:p/>
          <a:p>
            <a:r>
              <a:t>Primary source: supplied thesis.pdf, Thesis Chapter 2; USENIX Security 'Dos and Don'ts of ML in Security'.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Formal Metagraph Definition: Specifies 5 entity node types (User, Computer, Group, Certificate Template, Enterprise CA), 8 forward relation types, and 16 relations including canonical reverse edges. Reverse edges facilitate message passing without conferring reverse authorization.</a:t>
            </a:r>
          </a:p>
          <a:p/>
          <a:p>
            <a:r>
              <a:t>Ten template flags capture security extensions, enrollment flags, and DACLs. Nested group memberships are expanded via transitive closure preprocessing before learning, which is essential to the claimed 2-hop receptive field.</a:t>
            </a:r>
          </a:p>
          <a:p/>
          <a:p>
            <a:r>
              <a:t>Primary source: supplied thesis.pdf, Thesis §§3.1–3.2.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ESC13 Walkthrough: An attacker compromises a low-privilege user, discovers an enrollment ACE to an intermediate enroller group, requests a certificate specifying a Target Template linked to a high-privilege policy OID, and obtains a high-privilege TGT via PKINIT.</a:t>
            </a:r>
          </a:p>
          <a:p/>
          <a:p>
            <a:r>
              <a:t>Takeaway: Single-node inspection fails because every permission appears benign in isolation. Vulnerability emerges solely as a multi-hop path closure across disparate objects.</a:t>
            </a:r>
          </a:p>
          <a:p/>
          <a:p>
            <a:r>
              <a:t>Primary source: supplied thesis.pdf, Thesis §§3.3–3.6; SpecterOps ESC13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Details: Type-specific linear projections map heterogeneous nodes to 64 dimensions. Two Relational GAT layers use 4 heads (16 dim each), ELU activation, LayerNorm, and residual skip connections.</a:t>
            </a:r>
          </a:p>
          <a:p/>
          <a:p>
            <a:r>
              <a:t>Readout: Template embeddings feed an MLP (64 -&gt; 32 -&gt; 7) with Softmax. Training uses weighted cross-entropy with L2 regularization (AdamW, lr=0.001, decay=1e-4, dropout=0.2, cosine schedule).</a:t>
            </a:r>
          </a:p>
          <a:p/>
          <a:p>
            <a:r>
              <a:t>Primary source: supplied thesis.pdf, Thesis §§3.3–3.6; Table 5.1.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Theorem 1: Formal feature-gradient preservation guarantee. By incorporating orthogonal residual skip projections with singular value sigma_min(W_skip) &gt;= c &gt; 0, the Jacobian satisfies ||dh_v^(L) / dx_v|| &gt;= c^L &gt; 0.</a:t>
            </a:r>
          </a:p>
          <a:p/>
          <a:p>
            <a:r>
              <a:t>This mathematically proves the elimination of oversmoothing collapse across 4 to 8 hop privilege chains, ensuring initial template attributes remain discriminative.</a:t>
            </a:r>
          </a:p>
          <a:p/>
          <a:p>
            <a:r>
              <a:t>Primary source: supplied thesis.pdf, Thesis §3.5 and Appendix A.1.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Experimental Testbed: Evaluated on Game of Active Directory (GOAD), a realistic multi-forest lab with 5 Domain Controllers, and ADSynth, generating 700 topologies (100 to 100,000 nodes).</a:t>
            </a:r>
          </a:p>
          <a:p/>
          <a:p>
            <a:r>
              <a:t>Evaluation Setup: Stratified 5-fold cross-validation with non-overlapping forest partitions and Nadeau-Bengio corrected paired tests. Dataset comprises 28,450 nodes and 142,890 multi-relational edges.</a:t>
            </a:r>
          </a:p>
          <a:p/>
          <a:p>
            <a:r>
              <a:t>Primary source: supplied thesis.pdf, Thesis Chapters 5–7.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Benchmark Results: CertGraph achieves 0.9986 Macro-F1 across 700 topologies, outperforming the heuristic baseline (0.7791) by +21.95 percentage points (+28.2% relative gain, corrected p = 3.12e-4). Graph-augmented MLP reaches 0.9971 (corrected p = 0.7396).</a:t>
            </a:r>
          </a:p>
          <a:p/>
          <a:p>
            <a:r>
              <a:t>Class Imbalance: Under an authentic 96% Safe template distribution (2,000 templates across 200 forests), CertGraph maintains 0.9941 Macro-F1 and 0.9982 PR-AUC, demonstrating robust calibration.</a:t>
            </a:r>
          </a:p>
          <a:p/>
          <a:p>
            <a:r>
              <a:t>Primary source: supplied thesis.pdf, Thesis Tables 5.2–5.4.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Ablation Findings: Removing residual skip connections causes catastrophic collapse, dropping Macro-F1 from 0.9986 to 0.4768 (-52.18% drop, corrected p = 6.61e-6), empirically verifying Theorem 1.</a:t>
            </a:r>
          </a:p>
          <a:p/>
          <a:p>
            <a:r>
              <a:t>Single-Head vs. Multi-Head: Single-head attention achieves 1.0000 Macro-F1 (corrected p = 0.5415), confirming that residual skip pathways, rather than attention head multiplicity, are the primary driver of performance. Attention weights (alpha &gt; 0.85) directly highlight critical escalation edges.</a:t>
            </a:r>
          </a:p>
          <a:p/>
          <a:p>
            <a:r>
              <a:t>Primary source: supplied thesis.pdf, Thesis Table 5.5; §3.5 and Appendix A.1.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Adversarial Hard Negatives &amp; Shortcut Collapse: 63 test environments contain dangerous flags paired with admin-only DACLs (ground-truth Safe). Pure GNN predicts Safe for only 1/63 (1.59% accuracy) because it memorized template flags!</a:t>
            </a:r>
          </a:p>
          <a:p/>
          <a:p>
            <a:r>
              <a:t>Two-Tier Neuro-Symbolic Solution: Tier 1 neural screener (threshold tau = 0.5) forwards 62/600 candidates (100% recall on true paths, filtering 89.7% of templates in 18.2 ms). Tier 2 symbolic engine verifies reachability in 110.6 ms. Total latency: 128.8 ms.</a:t>
            </a:r>
          </a:p>
          <a:p/>
          <a:p>
            <a:r>
              <a:t>Primary source: supplied thesis.pdf, Thesis §§8.3–8.4; Table 8.2.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Scalability &amp; Interdiction: Forward inference takes 20 ms on 1,000 nodes, 112.5 ms on 5,000 nodes, and 343 ms on 10,000 nodes (765,000 edges) — 12.4x faster than Dijkstra shortest-path.</a:t>
            </a:r>
          </a:p>
          <a:p/>
          <a:p>
            <a:r>
              <a:t>Theorem 2 &amp; Remediation: The Minimum Perturbation Attack Interdiction (MPAI) problem is NP-hard (reduced from Directed Multiway Cut). Greedy path interdiction severs 68.6% ± 11.7% of critical attack paths at budget B_ops = 24 across 30 synthetic topologies (paired t(29) = 10.27, p = 3.57e-11 vs degree baseline).</a:t>
            </a:r>
          </a:p>
          <a:p/>
          <a:p>
            <a:r>
              <a:t>Primary source: supplied thesis.pdf, Thesis Tables 6.1–6.2, 7.1, 7.3, and Chapter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Academic Contributions &amp; Limitations: Formal multigraph schema, Theorem 1 gradient bounds, audited benchmark suite, discovery of neural shortcut learning on hard negatives, two-tier neuro-symbolic verification, and Theorem 2 budgeted remediation.</a:t>
            </a:r>
          </a:p>
          <a:p/>
          <a:p>
            <a:r>
              <a:t>Limitations &amp; Future Work: Single-label scope, 10,000-node measured monolithic scale, synthetic rule assumptions. Next steps include multi-label prediction, temporal graph evolution, cloud Entra ID sync, and live cyber-range validation.</a:t>
            </a:r>
          </a:p>
          <a:p/>
          <a:p>
            <a:r>
              <a:t>Primary source: supplied thesis.pdf, Thesis Chapter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 &amp; Defense Discussion Guide:</a:t>
            </a:r>
          </a:p>
          <a:p>
            <a:r>
              <a:t>- Why GNN rather than augmented MLP? HAN provides multi-relational path attention and sub-second zero-shot generalization.</a:t>
            </a:r>
          </a:p>
          <a:p>
            <a:r>
              <a:t>- What does hard-negative collapse mean? Proves that neural models learn local heuristic shortcuts, necessitating symbolic verification.</a:t>
            </a:r>
          </a:p>
          <a:p>
            <a:r>
              <a:t>- How are nested memberships handled? Preprocessed via transitive closure.</a:t>
            </a:r>
          </a:p>
          <a:p>
            <a:r>
              <a:t>- Which defense results were measured? Greedy budgeted interdiction (68.6% severed at budget 24); Stackelberg RL is notional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9.png"/><Relationship Id="rId10" Type="http://schemas.openxmlformats.org/officeDocument/2006/relationships/image" Target="../media/image10.svg"/><Relationship Id="rId11" Type="http://schemas.openxmlformats.org/officeDocument/2006/relationships/image" Target="../media/image2.png"/><Relationship Id="rId1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Relationship Id="rId8" Type="http://schemas.openxmlformats.org/officeDocument/2006/relationships/image" Target="../media/image15.png"/><Relationship Id="rId9" Type="http://schemas.openxmlformats.org/officeDocument/2006/relationships/image" Target="../media/image16.svg"/><Relationship Id="rId10" Type="http://schemas.openxmlformats.org/officeDocument/2006/relationships/image" Target="../media/image17.png"/><Relationship Id="rId11" Type="http://schemas.openxmlformats.org/officeDocument/2006/relationships/image" Target="../media/image18.sv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svg"/><Relationship Id="rId15" Type="http://schemas.openxmlformats.org/officeDocument/2006/relationships/image" Target="../media/image22.png"/><Relationship Id="rId16" Type="http://schemas.openxmlformats.org/officeDocument/2006/relationships/image" Target="../media/image23.svg"/><Relationship Id="rId17" Type="http://schemas.openxmlformats.org/officeDocument/2006/relationships/image" Target="../media/image24.png"/><Relationship Id="rId18" Type="http://schemas.openxmlformats.org/officeDocument/2006/relationships/image" Target="../media/image25.svg"/><Relationship Id="rId19" Type="http://schemas.openxmlformats.org/officeDocument/2006/relationships/image" Target="../media/image26.png"/><Relationship Id="rId20" Type="http://schemas.openxmlformats.org/officeDocument/2006/relationships/image" Target="../media/image27.svg"/><Relationship Id="rId21" Type="http://schemas.openxmlformats.org/officeDocument/2006/relationships/image" Target="../media/image28.png"/><Relationship Id="rId22" Type="http://schemas.openxmlformats.org/officeDocument/2006/relationships/image" Target="../media/image29.svg"/><Relationship Id="rId23" Type="http://schemas.openxmlformats.org/officeDocument/2006/relationships/image" Target="../media/image9.png"/><Relationship Id="rId2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0.png"/><Relationship Id="rId4" Type="http://schemas.openxmlformats.org/officeDocument/2006/relationships/image" Target="../media/image31.svg"/><Relationship Id="rId5" Type="http://schemas.openxmlformats.org/officeDocument/2006/relationships/image" Target="../media/image32.png"/><Relationship Id="rId6" Type="http://schemas.openxmlformats.org/officeDocument/2006/relationships/image" Target="../media/image33.svg"/><Relationship Id="rId7" Type="http://schemas.openxmlformats.org/officeDocument/2006/relationships/image" Target="../media/image34.png"/><Relationship Id="rId8" Type="http://schemas.openxmlformats.org/officeDocument/2006/relationships/image" Target="../media/image2.png"/><Relationship Id="rId9" Type="http://schemas.openxmlformats.org/officeDocument/2006/relationships/image" Target="../media/image69.png"/><Relationship Id="rId10" Type="http://schemas.openxmlformats.org/officeDocument/2006/relationships/image" Target="../media/image7.png"/><Relationship Id="rId11" Type="http://schemas.openxmlformats.org/officeDocument/2006/relationships/image" Target="../media/image9.png"/><Relationship Id="rId1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5.png"/><Relationship Id="rId4" Type="http://schemas.openxmlformats.org/officeDocument/2006/relationships/image" Target="../media/image36.sv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image" Target="../media/image37.png"/><Relationship Id="rId9" Type="http://schemas.openxmlformats.org/officeDocument/2006/relationships/image" Target="../media/image38.svg"/><Relationship Id="rId10" Type="http://schemas.openxmlformats.org/officeDocument/2006/relationships/image" Target="../media/image11.png"/><Relationship Id="rId11" Type="http://schemas.openxmlformats.org/officeDocument/2006/relationships/image" Target="../media/image15.png"/><Relationship Id="rId12" Type="http://schemas.openxmlformats.org/officeDocument/2006/relationships/image" Target="../media/image70.png"/><Relationship Id="rId1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39.png"/><Relationship Id="rId6" Type="http://schemas.openxmlformats.org/officeDocument/2006/relationships/image" Target="../media/image40.svg"/><Relationship Id="rId7" Type="http://schemas.openxmlformats.org/officeDocument/2006/relationships/image" Target="../media/image41.png"/><Relationship Id="rId8" Type="http://schemas.openxmlformats.org/officeDocument/2006/relationships/image" Target="../media/image42.svg"/><Relationship Id="rId9" Type="http://schemas.openxmlformats.org/officeDocument/2006/relationships/image" Target="../media/image2.png"/><Relationship Id="rId10" Type="http://schemas.openxmlformats.org/officeDocument/2006/relationships/image" Target="../media/image43.png"/><Relationship Id="rId11" Type="http://schemas.openxmlformats.org/officeDocument/2006/relationships/image" Target="../media/image44.svg"/><Relationship Id="rId12" Type="http://schemas.openxmlformats.org/officeDocument/2006/relationships/image" Target="../media/image45.png"/><Relationship Id="rId13" Type="http://schemas.openxmlformats.org/officeDocument/2006/relationships/image" Target="../media/image46.svg"/><Relationship Id="rId14" Type="http://schemas.openxmlformats.org/officeDocument/2006/relationships/image" Target="../media/image47.png"/><Relationship Id="rId15" Type="http://schemas.openxmlformats.org/officeDocument/2006/relationships/image" Target="../media/image48.svg"/><Relationship Id="rId16" Type="http://schemas.openxmlformats.org/officeDocument/2006/relationships/image" Target="../media/image7.png"/><Relationship Id="rId17" Type="http://schemas.openxmlformats.org/officeDocument/2006/relationships/image" Target="../media/image71.png"/><Relationship Id="rId1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39.png"/><Relationship Id="rId6" Type="http://schemas.openxmlformats.org/officeDocument/2006/relationships/image" Target="../media/image40.svg"/><Relationship Id="rId7" Type="http://schemas.openxmlformats.org/officeDocument/2006/relationships/image" Target="../media/image41.png"/><Relationship Id="rId8" Type="http://schemas.openxmlformats.org/officeDocument/2006/relationships/image" Target="../media/image42.svg"/><Relationship Id="rId9" Type="http://schemas.openxmlformats.org/officeDocument/2006/relationships/image" Target="../media/image2.png"/><Relationship Id="rId10" Type="http://schemas.openxmlformats.org/officeDocument/2006/relationships/image" Target="../media/image43.png"/><Relationship Id="rId11" Type="http://schemas.openxmlformats.org/officeDocument/2006/relationships/image" Target="../media/image44.svg"/><Relationship Id="rId12" Type="http://schemas.openxmlformats.org/officeDocument/2006/relationships/image" Target="../media/image45.png"/><Relationship Id="rId13" Type="http://schemas.openxmlformats.org/officeDocument/2006/relationships/image" Target="../media/image46.svg"/><Relationship Id="rId14" Type="http://schemas.openxmlformats.org/officeDocument/2006/relationships/image" Target="../media/image47.png"/><Relationship Id="rId15" Type="http://schemas.openxmlformats.org/officeDocument/2006/relationships/image" Target="../media/image48.svg"/><Relationship Id="rId16" Type="http://schemas.openxmlformats.org/officeDocument/2006/relationships/image" Target="../media/image49.png"/><Relationship Id="rId17" Type="http://schemas.openxmlformats.org/officeDocument/2006/relationships/image" Target="../media/image50.png"/><Relationship Id="rId18" Type="http://schemas.openxmlformats.org/officeDocument/2006/relationships/image" Target="../media/image51.svg"/><Relationship Id="rId19" Type="http://schemas.openxmlformats.org/officeDocument/2006/relationships/image" Target="../media/image72.png"/><Relationship Id="rId20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39.png"/><Relationship Id="rId6" Type="http://schemas.openxmlformats.org/officeDocument/2006/relationships/image" Target="../media/image40.svg"/><Relationship Id="rId7" Type="http://schemas.openxmlformats.org/officeDocument/2006/relationships/image" Target="../media/image41.png"/><Relationship Id="rId8" Type="http://schemas.openxmlformats.org/officeDocument/2006/relationships/image" Target="../media/image42.svg"/><Relationship Id="rId9" Type="http://schemas.openxmlformats.org/officeDocument/2006/relationships/image" Target="../media/image2.png"/><Relationship Id="rId10" Type="http://schemas.openxmlformats.org/officeDocument/2006/relationships/image" Target="../media/image43.png"/><Relationship Id="rId11" Type="http://schemas.openxmlformats.org/officeDocument/2006/relationships/image" Target="../media/image44.svg"/><Relationship Id="rId12" Type="http://schemas.openxmlformats.org/officeDocument/2006/relationships/image" Target="../media/image45.png"/><Relationship Id="rId13" Type="http://schemas.openxmlformats.org/officeDocument/2006/relationships/image" Target="../media/image46.svg"/><Relationship Id="rId14" Type="http://schemas.openxmlformats.org/officeDocument/2006/relationships/image" Target="../media/image47.png"/><Relationship Id="rId15" Type="http://schemas.openxmlformats.org/officeDocument/2006/relationships/image" Target="../media/image48.svg"/><Relationship Id="rId16" Type="http://schemas.openxmlformats.org/officeDocument/2006/relationships/image" Target="../media/image49.png"/><Relationship Id="rId17" Type="http://schemas.openxmlformats.org/officeDocument/2006/relationships/image" Target="../media/image52.jpeg"/><Relationship Id="rId18" Type="http://schemas.openxmlformats.org/officeDocument/2006/relationships/image" Target="../media/image53.gif"/><Relationship Id="rId19" Type="http://schemas.openxmlformats.org/officeDocument/2006/relationships/image" Target="../media/image7.png"/><Relationship Id="rId20" Type="http://schemas.openxmlformats.org/officeDocument/2006/relationships/image" Target="../media/image9.png"/><Relationship Id="rId21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39.png"/><Relationship Id="rId6" Type="http://schemas.openxmlformats.org/officeDocument/2006/relationships/image" Target="../media/image40.svg"/><Relationship Id="rId7" Type="http://schemas.openxmlformats.org/officeDocument/2006/relationships/image" Target="../media/image41.png"/><Relationship Id="rId8" Type="http://schemas.openxmlformats.org/officeDocument/2006/relationships/image" Target="../media/image42.svg"/><Relationship Id="rId9" Type="http://schemas.openxmlformats.org/officeDocument/2006/relationships/image" Target="../media/image2.png"/><Relationship Id="rId10" Type="http://schemas.openxmlformats.org/officeDocument/2006/relationships/image" Target="../media/image43.png"/><Relationship Id="rId11" Type="http://schemas.openxmlformats.org/officeDocument/2006/relationships/image" Target="../media/image44.svg"/><Relationship Id="rId12" Type="http://schemas.openxmlformats.org/officeDocument/2006/relationships/image" Target="../media/image45.png"/><Relationship Id="rId13" Type="http://schemas.openxmlformats.org/officeDocument/2006/relationships/image" Target="../media/image46.svg"/><Relationship Id="rId14" Type="http://schemas.openxmlformats.org/officeDocument/2006/relationships/image" Target="../media/image47.png"/><Relationship Id="rId15" Type="http://schemas.openxmlformats.org/officeDocument/2006/relationships/image" Target="../media/image48.svg"/><Relationship Id="rId16" Type="http://schemas.openxmlformats.org/officeDocument/2006/relationships/image" Target="../media/image49.png"/><Relationship Id="rId17" Type="http://schemas.openxmlformats.org/officeDocument/2006/relationships/image" Target="../media/image50.png"/><Relationship Id="rId18" Type="http://schemas.openxmlformats.org/officeDocument/2006/relationships/image" Target="../media/image51.svg"/><Relationship Id="rId19" Type="http://schemas.openxmlformats.org/officeDocument/2006/relationships/image" Target="../media/image11.png"/><Relationship Id="rId20" Type="http://schemas.openxmlformats.org/officeDocument/2006/relationships/image" Target="../media/image15.png"/><Relationship Id="rId21" Type="http://schemas.openxmlformats.org/officeDocument/2006/relationships/image" Target="../media/image73.png"/><Relationship Id="rId2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54.png"/><Relationship Id="rId4" Type="http://schemas.openxmlformats.org/officeDocument/2006/relationships/image" Target="../media/image2.png"/><Relationship Id="rId5" Type="http://schemas.openxmlformats.org/officeDocument/2006/relationships/image" Target="../media/image26.png"/><Relationship Id="rId6" Type="http://schemas.openxmlformats.org/officeDocument/2006/relationships/image" Target="../media/image74.png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55.png"/><Relationship Id="rId4" Type="http://schemas.openxmlformats.org/officeDocument/2006/relationships/image" Target="../media/image56.svg"/><Relationship Id="rId5" Type="http://schemas.openxmlformats.org/officeDocument/2006/relationships/image" Target="../media/image57.png"/><Relationship Id="rId6" Type="http://schemas.openxmlformats.org/officeDocument/2006/relationships/image" Target="../media/image58.sv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2.png"/><Relationship Id="rId10" Type="http://schemas.openxmlformats.org/officeDocument/2006/relationships/image" Target="../media/image75.png"/><Relationship Id="rId11" Type="http://schemas.openxmlformats.org/officeDocument/2006/relationships/image" Target="../media/image76.png"/><Relationship Id="rId12" Type="http://schemas.openxmlformats.org/officeDocument/2006/relationships/image" Target="../media/image9.png"/><Relationship Id="rId1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9.png"/><Relationship Id="rId9" Type="http://schemas.openxmlformats.org/officeDocument/2006/relationships/image" Target="../media/image77.png"/><Relationship Id="rId10" Type="http://schemas.openxmlformats.org/officeDocument/2006/relationships/image" Target="../media/image78.png"/><Relationship Id="rId11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64.png"/><Relationship Id="rId4" Type="http://schemas.openxmlformats.org/officeDocument/2006/relationships/image" Target="../media/image65.svg"/><Relationship Id="rId5" Type="http://schemas.openxmlformats.org/officeDocument/2006/relationships/image" Target="../media/image66.png"/><Relationship Id="rId6" Type="http://schemas.openxmlformats.org/officeDocument/2006/relationships/image" Target="../media/image2.png"/><Relationship Id="rId7" Type="http://schemas.openxmlformats.org/officeDocument/2006/relationships/image" Target="../media/image15.png"/><Relationship Id="rId8" Type="http://schemas.openxmlformats.org/officeDocument/2006/relationships/image" Target="../media/image26.png"/><Relationship Id="rId9" Type="http://schemas.openxmlformats.org/officeDocument/2006/relationships/image" Target="../media/image79.png"/><Relationship Id="rId10" Type="http://schemas.openxmlformats.org/officeDocument/2006/relationships/image" Target="../media/image80.png"/><Relationship Id="rId11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67.png"/><Relationship Id="rId4" Type="http://schemas.openxmlformats.org/officeDocument/2006/relationships/image" Target="../media/image68.svg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76700" y="-4076700"/>
            <a:ext cx="10287000" cy="184404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3150355" y="8073419"/>
            <a:ext cx="905853" cy="1151752"/>
          </a:xfrm>
          <a:custGeom>
            <a:avLst/>
            <a:gdLst/>
            <a:ahLst/>
            <a:cxnLst/>
            <a:rect l="l" t="t" r="r" b="b"/>
            <a:pathLst>
              <a:path w="905853" h="1151752">
                <a:moveTo>
                  <a:pt x="0" y="0"/>
                </a:moveTo>
                <a:lnTo>
                  <a:pt x="905853" y="0"/>
                </a:lnTo>
                <a:lnTo>
                  <a:pt x="905853" y="1151751"/>
                </a:lnTo>
                <a:lnTo>
                  <a:pt x="0" y="11517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71698" y="960120"/>
            <a:ext cx="16736126" cy="21031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Times New Roman"/>
              </a:defRPr>
            </a:pPr>
            <a:r>
              <a:t>CertGraph: Heterogeneous Graph Attention Networks</a:t>
            </a:r>
          </a:p>
          <a:p>
            <a:pPr algn="ctr">
              <a:defRPr sz="3600" b="1">
                <a:solidFill>
                  <a:srgbClr val="000000"/>
                </a:solidFill>
                <a:latin typeface="Times New Roman"/>
              </a:defRPr>
            </a:pPr>
            <a:r>
              <a:t>for Active Directory Certificate Services Vulnerability</a:t>
            </a:r>
          </a:p>
          <a:p>
            <a:pPr algn="ctr">
              <a:defRPr sz="3600" b="1">
                <a:solidFill>
                  <a:srgbClr val="000000"/>
                </a:solidFill>
                <a:latin typeface="Times New Roman"/>
              </a:defRPr>
            </a:pPr>
            <a:r>
              <a:t>Detection and Autonomous Defense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71846" y="6851741"/>
            <a:ext cx="3535831" cy="391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Date: October 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98029" y="3388456"/>
            <a:ext cx="5236315" cy="879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Course Code: ECE 452</a:t>
            </a:r>
          </a:p>
          <a:p>
            <a:pPr algn="ctr"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41864" y="4658454"/>
            <a:ext cx="1595795" cy="391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Prepared By-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98029" y="5491535"/>
            <a:ext cx="5589171" cy="1556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Student ID: 2002126 Level:4, Semester:II</a:t>
            </a:r>
          </a:p>
          <a:p>
            <a:pPr algn="ctr"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Student ID: 2002138 Level:4, Semester:II</a:t>
            </a:r>
          </a:p>
          <a:p>
            <a:pPr algn="ctr"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Student ID: 2102151 Level:4, Semester:II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22275" y="7634059"/>
            <a:ext cx="9272228" cy="782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  <a:defRPr sz="2400">
                <a:solidFill>
                  <a:srgbClr val="000000"/>
                </a:solidFill>
                <a:latin typeface="Times New Roman"/>
              </a:defRPr>
            </a:pPr>
            <a:r>
              <a:rPr lang="en-US" sz="2200" b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Electronics and Communication Engineering (ECE)</a:t>
            </a:r>
          </a:p>
          <a:p>
            <a:pPr algn="ctr">
              <a:lnSpc>
                <a:spcPts val="3080"/>
              </a:lnSpc>
              <a:spcBef>
                <a:spcPct val="0"/>
              </a:spcBef>
              <a:defRPr sz="2400">
                <a:solidFill>
                  <a:srgbClr val="000000"/>
                </a:solidFill>
                <a:latin typeface="Times New Roman"/>
              </a:defRPr>
            </a:pPr>
            <a:endParaRPr lang="en-US" sz="2200" b="1">
              <a:solidFill>
                <a:srgbClr val="30303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177763" y="8442852"/>
            <a:ext cx="12578044" cy="782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  <a:defRPr sz="2200">
                <a:solidFill>
                  <a:srgbClr val="000000"/>
                </a:solidFill>
                <a:latin typeface="Times New Roman"/>
              </a:defRPr>
            </a:pPr>
            <a:r>
              <a:rPr lang="en-US" sz="2200" b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Hajee Mohammad Danesh Science and Technology University, Dinajpur-5200, Bangladesh</a:t>
            </a:r>
          </a:p>
          <a:p>
            <a:pPr algn="ctr">
              <a:lnSpc>
                <a:spcPts val="3080"/>
              </a:lnSpc>
              <a:spcBef>
                <a:spcPct val="0"/>
              </a:spcBef>
              <a:defRPr sz="2200">
                <a:solidFill>
                  <a:srgbClr val="000000"/>
                </a:solidFill>
                <a:latin typeface="Times New Roman"/>
              </a:defRPr>
            </a:pPr>
            <a:endParaRPr lang="en-US" sz="2200" b="1">
              <a:solidFill>
                <a:srgbClr val="30303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7864" y="832104"/>
            <a:ext cx="905256" cy="1152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50008" y="978408"/>
            <a:ext cx="12984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00000"/>
                </a:solidFill>
                <a:latin typeface="Times New Roman"/>
              </a:defRPr>
            </a:pPr>
            <a:r>
              <a:t>PROBLEM STATEMENT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81376" y="438912"/>
            <a:ext cx="17830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02/15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919886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103120"/>
            <a:ext cx="438912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0936"/>
          <a:lstStyle/>
          <a:p>
            <a:pPr algn="l"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The Problem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8448" y="2185416"/>
            <a:ext cx="429768" cy="429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8720" y="283464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Active Directory Certificate Services (ADCS) manages PKI in over 90% of Fortune 500 enterprises. Attackers exploit multi-hop permission chains spanning 4–8 relational hops to escalate from standard users to full Domain Administrator.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1. Deep Escalation Chains: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Privilege escalation paths span 4–8 relational hops across users, groups, templates, and CAs (ESC1–ESC13).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2. Identity Spoofing Risk: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Low-privilege accounts forge administrative identities via Subject Alternative Name (SAN) abuse.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3. Enterprise Takeover: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A single valid chain enables full Domain Controller replication (DCSync) and credential theft.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0" y="2103120"/>
            <a:ext cx="438912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0936"/>
          <a:lstStyle/>
          <a:p>
            <a:pPr algn="l"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Our Solution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36608" y="2185416"/>
            <a:ext cx="429768" cy="4297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26880" y="283464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1. Graph Neural Modeling: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We formalized AD as a typed multigraph and built the first GNN framework for ADCS vulnerability detection.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2. Deep-Path Retention: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We designed orthogonal residual skip connections that preserve vulnerability signals across deep 4–8 hop chains.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3. Neuro-Symbolic Soundness: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We coupled neural screening with symbolic verification to deliver zero false negatives with 128 ms latency.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5303520"/>
            <a:ext cx="438912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0936"/>
          <a:lstStyle/>
          <a:p>
            <a:pPr algn="l"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Research Gap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608" y="5385816"/>
            <a:ext cx="429768" cy="4297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26880" y="6035040"/>
            <a:ext cx="7772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1. Rule-Based Fragility: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Signature tools (Certipy) rely on static checks, missing novel composite escalation paths.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2. Scalability Bottleneck: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Graph search tools (BloodHound) suffer state explosion on large enterprise topologies exceeding 100k nodes.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3. Lack of Autonomous Defense: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No existing framework provides automated, disruption-bounded remediation to sever discovered attack paths.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832104"/>
            <a:ext cx="905256" cy="1152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50008" y="978408"/>
            <a:ext cx="12984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00000"/>
                </a:solidFill>
                <a:latin typeface="Times New Roman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81376" y="438912"/>
            <a:ext cx="17830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03/15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919886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6596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①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700" y="2514600"/>
            <a:ext cx="960120" cy="960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8720" y="35661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Graph-Based AD Modeling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②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17820" y="2514600"/>
            <a:ext cx="960120" cy="960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34840" y="35661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Deep-Path Retention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96596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③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3940" y="2514600"/>
            <a:ext cx="960120" cy="960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80960" y="35661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Topology Generalization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196596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④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910060" y="2514600"/>
            <a:ext cx="960120" cy="9601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927080" y="35661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Neuro-Symbolic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0" y="196596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⑤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156180" y="2514600"/>
            <a:ext cx="960120" cy="960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173200" y="35661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Automated Remediation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389120"/>
            <a:ext cx="159105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Times New Roman"/>
              </a:defRPr>
            </a:pPr>
            <a:r>
              <a:t>Primary Objective: To develop a real-time graph AI and autonomous remediation framework for Active Directory Certificate Services (ADCS) that scales to enterprise networks without sacrificing detection accuracy.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532120"/>
            <a:ext cx="15910559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1. Heterogeneous Graph Formulation: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Represent Active Directory entities, PKI relationships, and transitive group closures as a typed multigraph.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2. Deep Vulnerability Retention: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Engineer a Relational GAT architecture with mathematically proven skip connections that retain features across 4–8 hops.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3. Zero-Shot Topology Transfer: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Demonstrate robust generalization across 700 unseen enterprise topologies without retraining.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4. Two-Tier Verification Engine: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Eliminate neural shortcut false positives by coupling fast GNN screening with formal symbolic reachability checks.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5. Budget-Constrained Remediation: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Develop an automated interdiction algorithm to sever maximum attack paths under enterprise disruption bounds.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7864" y="832104"/>
            <a:ext cx="905256" cy="1152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50008" y="978408"/>
            <a:ext cx="12984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00000"/>
                </a:solidFill>
                <a:latin typeface="Times New Roman"/>
              </a:defRPr>
            </a:pPr>
            <a:r>
              <a:t>LITERATURE SURVEY &amp; SOTA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81376" y="438912"/>
            <a:ext cx="17830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04/15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919886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pic>
        <p:nvPicPr>
          <p:cNvPr id="7" name="Picture 6" descr="tool_comparison_f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8720" y="2194560"/>
            <a:ext cx="7772400" cy="39044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88720" y="6217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000000"/>
                </a:solidFill>
                <a:latin typeface="Times New Roman"/>
              </a:defRPr>
            </a:pPr>
            <a:r>
              <a:t>Figure: Macro-F1 Comparison Across Detection Paradigms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676656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1. Heuristic Baseline (Certipy):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77.91% Macro-F1 — fails on novel composite escalation paths.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2. Symbolic Baseline (BFS):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90.82% Macro-F1 — accurate but suffers exponential search latency.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3. CertGraph (Our System):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99.86% Macro-F1 — +28.2% relative gain over heuristics (p = 3.12e-4).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0" y="2194560"/>
            <a:ext cx="475488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0936"/>
          <a:lstStyle/>
          <a:p>
            <a:pPr algn="l"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Existing Limitations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8048" y="2276856"/>
            <a:ext cx="429768" cy="4297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18320" y="2926080"/>
            <a:ext cx="76809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000000"/>
                </a:solidFill>
                <a:latin typeface="Times New Roman"/>
              </a:defRPr>
            </a:pPr>
            <a:r>
              <a:t>Current industry tools rely on hardcoded signature checks (Certipy) or unguided shortest-path traversals (BloodHound). They cannot generalize to composite multi-hop vulnerabilities and fail to scale beyond 100,000 entities.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0" y="4937760"/>
            <a:ext cx="475488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0936"/>
          <a:lstStyle/>
          <a:p>
            <a:pPr algn="l"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Our Key Innovations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8048" y="5020056"/>
            <a:ext cx="429768" cy="4297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418320" y="5669280"/>
            <a:ext cx="7680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1. Learned Relational Attention: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Dynamically weights security-critical edges (DACLs, enrollment rights) over background relations.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2. Proven Gradient Retention: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Guarantees feature persistence across deep permission paths via residual skip projections.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3. Sub-Second Real-Time Auditing: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Completes enterprise-scale inference in 343 ms (12.4x faster than graph search).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864" y="832104"/>
            <a:ext cx="905256" cy="1152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50008" y="978408"/>
            <a:ext cx="12984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00000"/>
                </a:solidFill>
                <a:latin typeface="Times New Roman"/>
              </a:defRPr>
            </a:pPr>
            <a:r>
              <a:t>METHODOLOGICAL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81376" y="438912"/>
            <a:ext cx="17830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05/15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919886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194560"/>
            <a:ext cx="475488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0936"/>
          <a:lstStyle/>
          <a:p>
            <a:pPr algn="l"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Methodology Overview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8448" y="2276856"/>
            <a:ext cx="429768" cy="429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8720" y="2926080"/>
            <a:ext cx="749807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We engineered an end-to-end framework combining heterogeneous graph neural screening with symbolic reachability verification and automated policy remediation.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4389120"/>
            <a:ext cx="475488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0936"/>
          <a:lstStyle/>
          <a:p>
            <a:pPr algn="l"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3-Phase Execution Pipeline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8448" y="4471416"/>
            <a:ext cx="429768" cy="4297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88720" y="512064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Phase 1 — Ingestion &amp; Graph Construction: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Ingests AD directory objects, extracts 5 entity classes and 8 relation types, and expands nested group memberships via transitive closure.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Phase 2 — Relational GNN Classification: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Projects heterogeneous features into a 64-dim space and applies 2 Relational GAT layers to classify templates into 7 escalation categories.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Phase 3 — Hybrid Verification &amp; Remediation: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Filters suspect templates through a symbolic engine to eliminate false alarms, then outputs optimal ACL remediation actions.</a:t>
            </a:r>
          </a:p>
        </p:txBody>
      </p:sp>
      <p:pic>
        <p:nvPicPr>
          <p:cNvPr id="13" name="Picture 12" descr="adcs_attack_graph_schem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0" y="2377440"/>
            <a:ext cx="7955279" cy="45445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44000" y="7132320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000000"/>
                </a:solidFill>
                <a:latin typeface="Times New Roman"/>
              </a:defRPr>
            </a:pPr>
            <a:r>
              <a:t>Figure: Active Directory Heterogeneous Metagraph Schema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57649" y="-4057652"/>
            <a:ext cx="10553703" cy="18668999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7864" y="832104"/>
            <a:ext cx="905256" cy="115214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350008" y="978408"/>
            <a:ext cx="12984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00000"/>
                </a:solidFill>
                <a:latin typeface="Times New Roman"/>
              </a:defRPr>
            </a:pPr>
            <a:r>
              <a:t>ADCS ATTACK MECHANICS: ESC13 CASE STUDY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81376" y="438912"/>
            <a:ext cx="17830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06/15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919886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88720" y="2194560"/>
            <a:ext cx="475488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0936"/>
          <a:lstStyle/>
          <a:p>
            <a:pPr algn="l"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ESC13 Attack Progression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98448" y="2276856"/>
            <a:ext cx="429768" cy="42976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188720" y="2926080"/>
            <a:ext cx="749807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Step 1 — Target Discovery: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Attacker discovers a certificate template linked to an issuance policy OID granting administrative rights.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Step 2 — Intermediate Enrollment: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Low-privilege account enrolls via an intermediate security group with valid enrollment permissions.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Step 3 — PKINIT Authentication: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The issued certificate is authenticated via Kerberos PKINIT, issuing a high-privilege Ticket Granting Ticket (TGT).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Step 4 — Enterprise Compromise: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Attacker executes DCSync replication to extract all domain credentials.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88720" y="6675120"/>
            <a:ext cx="7498079" cy="210312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Why Single-Node Inspection Fails:</a:t>
            </a:r>
          </a:p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Vulnerabilities exist solely as multi-hop path closures across separate objects. Every permission appears benign in isolation. CertGraph captures these multi-hop relational chains that individual rule scanners miss.</a:t>
            </a:r>
          </a:p>
        </p:txBody>
      </p:sp>
      <p:pic>
        <p:nvPicPr>
          <p:cNvPr id="44" name="Picture 43" descr="esc13_attack_path_diagram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44000" y="2286000"/>
            <a:ext cx="7955279" cy="459943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144000" y="7132320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000000"/>
                </a:solidFill>
                <a:latin typeface="Times New Roman"/>
              </a:defRPr>
            </a:pPr>
            <a:r>
              <a:t>Figure: Two-Hop ESC13 Privilege Escalation Attack Chain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8" grpId="0"/>
      <p:bldP spid="5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FA8E7-E19A-1196-54D2-B9501D262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C1EF7B5-D100-0186-CC6F-CCAA4591449E}"/>
              </a:ext>
            </a:extLst>
          </p:cNvPr>
          <p:cNvSpPr/>
          <p:nvPr/>
        </p:nvSpPr>
        <p:spPr>
          <a:xfrm rot="-5400000">
            <a:off x="4000500" y="-4000501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7864" y="832104"/>
            <a:ext cx="905256" cy="11521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50008" y="978408"/>
            <a:ext cx="12984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00000"/>
                </a:solidFill>
                <a:latin typeface="Times New Roman"/>
              </a:defRPr>
            </a:pPr>
            <a:r>
              <a:t>SYSTEM ARCHITECTURE: CERTGRAPH GNN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81376" y="438912"/>
            <a:ext cx="17830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07/15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919886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pic>
        <p:nvPicPr>
          <p:cNvPr id="21" name="Picture 20" descr="certgraph_architecture_diagram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45920" y="2103120"/>
            <a:ext cx="14996159" cy="484632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645920" y="7223760"/>
            <a:ext cx="4754880" cy="164592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t>1. Heterogeneous Projections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5 entity node types projected into unified 64-dim space. Transitive group closures resolved during preprocessing.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7223760"/>
            <a:ext cx="4754880" cy="164592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t>2. Relational Attention &amp; Skips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4 attention heads per relation with orthogonal residual skip connections to preserve features across deep hops.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200" y="7223760"/>
            <a:ext cx="4754880" cy="164592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t>3. Readout &amp; Classification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Template embeddings passed to a 2-layer MLP classifier predicting Safe and 6 escalation classes (ESC1–ESC13).</a:t>
            </a:r>
          </a:p>
        </p:txBody>
      </p:sp>
    </p:spTree>
    <p:extLst>
      <p:ext uri="{BB962C8B-B14F-4D97-AF65-F5344CB8AC3E}">
        <p14:creationId xmlns:p14="http://schemas.microsoft.com/office/powerpoint/2010/main" val="703646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975 -0.09984 L 0.08975 -0.09984 C 0.08663 -0.09737 0.08333 -0.09552 0.08038 -0.09243 C 0.07621 -0.08796 0.073 -0.08055 0.06849 -0.07731 C 0.06371 -0.07376 0.05877 -0.07083 0.05408 -0.06682 C 0.05295 -0.06574 0.05173 -0.06512 0.05069 -0.06373 C 0.04974 -0.0625 0.04913 -0.06049 0.04818 -0.05925 C 0.04713 -0.05787 0.04583 -0.0574 0.04479 -0.05617 C 0.04357 -0.05493 0.04262 -0.05308 0.0414 -0.05169 C 0.04002 -0.05 0.03863 -0.04861 0.03715 -0.04722 C 0.03611 -0.04614 0.03481 -0.04537 0.03377 -0.04413 C 0.03177 -0.04182 0.02969 -0.0395 0.02786 -0.03657 C 0.02569 -0.03333 0.02396 -0.02947 0.02196 -0.02608 C 0.02057 -0.02391 0.0191 -0.02191 0.01771 -0.02006 C 0.01684 -0.01898 0.0158 -0.01836 0.0151 -0.01697 C 0.01189 -0.0108 0.00955 -0.00293 0.00581 0.00263 C -0.0007 0.01204 -0.00738 0.0213 -0.01363 0.03118 C -0.01441 0.03241 -0.01467 0.03442 -0.01537 0.03565 C -0.01728 0.03936 -0.01945 0.0426 -0.02127 0.0463 C -0.02222 0.04815 -0.02283 0.05047 -0.02387 0.05232 C -0.02457 0.05355 -0.0257 0.05402 -0.02639 0.05525 C -0.02952 0.06081 -0.02969 0.0625 -0.03143 0.06883 C -0.03117 0.07392 -0.03099 0.07886 -0.03064 0.08396 C -0.03047 0.08642 -0.02995 0.08889 -0.02978 0.09152 C -0.02943 0.09692 -0.02934 0.10263 -0.02891 0.10803 C -0.02787 0.12207 -0.02804 0.10726 -0.02804 0.11868 " pathEditMode="relative" ptsTypes="AAAAAAAAAAAAAAAAAAAAAAAAAA">
                                      <p:cBhvr>
                                        <p:cTn id="6" dur="5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6 -0.09506 L 0.00086 -0.09506 C -0.002 -0.07654 -0.00269 -0.08225 4.02778E-6 -0.06496 C 0.00069 -0.06049 0.00251 -0.05138 0.00251 -0.05138 C 0.00225 -0.04598 0.00165 -0.04043 0.00165 -0.03487 C 0.00165 -0.03225 0.00234 -0.02993 0.00251 -0.02731 C 0.00295 -0.0199 0.00286 -0.01219 0.00338 -0.00478 C 0.00442 0.00911 0.00494 0.0034 0.0059 0.01328 C 0.00616 0.01636 0.00633 0.01945 0.00677 0.02238 C 0.0072 0.02593 0.0079 0.02933 0.00842 0.03288 C 0.00876 0.03488 0.00894 0.03689 0.00928 0.03889 C 0.00981 0.04244 0.0105 0.04599 0.01093 0.04954 C 0.01137 0.05247 0.01154 0.05556 0.0118 0.05849 C 0.01154 0.06358 0.01093 0.06852 0.01093 0.07362 C 0.01093 0.07608 0.01163 0.07855 0.0118 0.08118 C 0.01354 0.11173 0.01354 0.10649 0.01354 0.12038 " pathEditMode="relative" ptsTypes="AAAAAAAAAAAAAAAA">
                                      <p:cBhvr>
                                        <p:cTn id="8" dur="5000" fill="hold"/>
                                        <p:tgtEl>
                                          <p:spTgt spid="10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"/>
                                            </p:cond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093 -0.11204 L -0.11093 -0.11204 C -0.10677 -0.11003 -0.10217 -0.10972 -0.09826 -0.10602 C -0.09392 -0.10216 -0.08454 -0.08719 -0.08046 -0.07901 C -0.07821 -0.07438 -0.07612 -0.0696 -0.07369 -0.06543 C -0.06649 -0.05262 -0.05937 -0.0395 -0.05165 -0.02762 C -0.04965 -0.02469 -0.04757 -0.02191 -0.04574 -0.01867 C -0.03767 -0.00478 -0.03116 0.01219 -0.02196 0.02361 C -0.00616 0.04321 0.00947 0.06312 0.02544 0.08241 C 0.04289 0.1034 0.02882 0.08102 0.04497 0.10803 C 0.04636 0.11034 0.04922 0.11559 0.04922 0.11559 " pathEditMode="relative" ptsTypes="AAAAAAAAAAA">
                                      <p:cBhvr>
                                        <p:cTn id="10" dur="50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F8DDB-91EF-C650-6BDA-A3BACFDE3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6BEF28D-1CBF-E372-4933-AE602DB85551}"/>
              </a:ext>
            </a:extLst>
          </p:cNvPr>
          <p:cNvSpPr/>
          <p:nvPr/>
        </p:nvSpPr>
        <p:spPr>
          <a:xfrm rot="-5400000">
            <a:off x="4057651" y="-4057652"/>
            <a:ext cx="10477500" cy="18592802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7864" y="832104"/>
            <a:ext cx="905256" cy="11521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350008" y="978408"/>
            <a:ext cx="12984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00000"/>
                </a:solidFill>
                <a:latin typeface="Times New Roman"/>
              </a:defRPr>
            </a:pPr>
            <a:r>
              <a:t>THEORETICAL FOUNDATION: THEOREM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81376" y="438912"/>
            <a:ext cx="17830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08/15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919886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2194560"/>
            <a:ext cx="502920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0936"/>
          <a:lstStyle/>
          <a:p>
            <a:pPr algn="l"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The Deep-Path Challenge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98448" y="2276856"/>
            <a:ext cx="429768" cy="4297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88720" y="2926080"/>
            <a:ext cx="75895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1. Multi-Hop Privilege Paths: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ADCS escalation chains span 4 to 8 relational hops across users, groups, templates, and CAs.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2. The Oversmoothing Bottleneck: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In standard GNNs, repeated message passing causes node representations to converge, erasing localized template attributes.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3. Failure of Classical GNNs: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Without architectural preservation, deep models collapse, confusing vulnerable certificate templates with benign configurations.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2194560"/>
            <a:ext cx="502920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0936"/>
          <a:lstStyle/>
          <a:p>
            <a:pPr algn="l"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Our Architecture &amp; Theorem 1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36608" y="2276856"/>
            <a:ext cx="429768" cy="42976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326880" y="2926080"/>
            <a:ext cx="77724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1. Architectural Intervention: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We engineered orthogonal residual skip connections that preserve each node's initial feature identity across all layers.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2. Mathematical Proof (Theorem 1):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We proved that the gradient magnitude remains strictly positive across all layers (||dh_v^(L) / dx_v|| &gt;= c^L &gt; 0), eliminating feature collapse.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3. Concrete Significance: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Mathematically guarantees that initial template configuration flags remain discriminative even over 8-hop delegation chains, verified by our 99.86% Macro-F1.</a:t>
            </a:r>
          </a:p>
        </p:txBody>
      </p:sp>
    </p:spTree>
    <p:extLst>
      <p:ext uri="{BB962C8B-B14F-4D97-AF65-F5344CB8AC3E}">
        <p14:creationId xmlns:p14="http://schemas.microsoft.com/office/powerpoint/2010/main" val="3569928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404 0.10417 L 0.02404 0.10417 C 0.02378 0.09954 0.02318 0.09506 0.02318 0.09059 C 0.02318 0.08843 0.02404 0.08657 0.02404 0.08457 C 0.02404 0.07639 0.02344 0.06836 0.02318 0.06034 C 0.02378 0.02176 0.0243 -0.01698 0.02491 -0.05556 C 0.02578 -0.12238 0.02187 -0.09985 0.02656 -0.12485 C 0.02491 -0.12994 0.02153 -0.13411 0.02153 -0.13997 C 0.02153 -0.15154 0.02804 -0.17963 0.03082 -0.19275 C 0.03108 -0.20016 0.03064 -0.20803 0.03168 -0.21528 C 0.03594 -0.24722 0.03698 -0.21512 0.03507 -0.24244 C 0.03672 -0.25046 0.03811 -0.25864 0.0401 -0.26651 C 0.04097 -0.26975 0.04262 -0.27238 0.04349 -0.27562 C 0.04401 -0.27747 0.04375 -0.27978 0.04436 -0.28164 C 0.04496 -0.28303 0.04618 -0.28333 0.04687 -0.28457 C 0.05295 -0.29445 0.05981 -0.30309 0.06467 -0.31466 C 0.073 -0.33441 0.06233 -0.31049 0.06979 -0.32377 C 0.08654 -0.35355 0.05799 -0.3088 0.08507 -0.34938 C 0.08707 -0.35232 0.0888 -0.35586 0.09097 -0.35849 C 0.0941 -0.36188 0.09774 -0.36435 0.10035 -0.36898 C 0.10113 -0.37053 0.10174 -0.37269 0.10286 -0.37346 C 0.10859 -0.37778 0.11675 -0.38117 0.12318 -0.38395 C 0.12917 -0.38349 0.13507 -0.38349 0.14097 -0.38256 C 0.14279 -0.38225 0.1513 -0.37917 0.1546 -0.37793 " pathEditMode="relative" ptsTypes="AAAAAAAAAAAAAAAAAAAAAAAA">
                                      <p:cBhvr>
                                        <p:cTn id="6" dur="2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856 0.07577 L 0.02856 0.07577 C 0.02708 0.07222 0.0256 0.06883 0.0243 0.06513 C 0.02083 0.05571 0.01788 0.04553 0.01415 0.03658 C 0.00911 0.02438 0.00243 0.01466 -0.002 0.00185 C -0.01146 -0.02577 -0.01893 -0.0554 -0.02743 -0.0841 C -0.02995 -0.1142 -0.03368 -0.14413 -0.03499 -0.17438 C -0.03603 -0.19737 -0.03264 -0.29367 -0.03082 -0.31312 C -0.02978 -0.32376 -0.02882 -0.33673 -0.02405 -0.34321 C -0.01823 -0.35092 -0.0099 -0.34815 -0.00287 -0.35077 C -0.002 -0.35108 -0.00113 -0.35185 -0.00026 -0.35231 C 0.00112 -0.35293 0.00399 -0.3537 0.00399 -0.3537 " pathEditMode="relative" ptsTypes="AAAAAAAAAAAA">
                                      <p:cBhvr>
                                        <p:cTn id="8" dur="2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"/>
                                            </p:cond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5 0.09799 L 0.00955 0.09799 C 0.01381 0.0841 0.02257 0.05679 0.02396 0.04676 C 0.02839 0.01358 0.02961 -0.02068 0.03238 -0.05432 C 0.03247 -0.05772 0.03438 -0.10957 0.03238 -0.12655 C 0.03134 -0.13565 0.02553 -0.1679 0.02309 -0.17624 C 0.02014 -0.18642 0.01615 -0.19522 0.01294 -0.20494 C 0.01077 -0.21127 0.00964 -0.21883 0.00695 -0.22454 C 0.00417 -0.23056 -4.30556E-6 -0.23426 -0.00321 -0.23966 C -0.00763 -0.24676 -0.01059 -0.25741 -0.01588 -0.26219 C -0.021 -0.26667 -0.02578 -0.27253 -0.03116 -0.27577 C -0.03862 -0.28009 -0.04687 -0.27932 -0.05408 -0.28472 C -0.05607 -0.28627 -0.05816 -0.28735 -0.05998 -0.28935 C -0.0664 -0.2963 -0.07187 -0.30587 -0.07864 -0.31188 C -0.08298 -0.31574 -0.0848 -0.31729 -0.08967 -0.32253 C -0.0914 -0.32438 -0.09296 -0.3267 -0.0947 -0.32855 C -0.09722 -0.33117 -0.09982 -0.33334 -0.10234 -0.33596 C -0.10607 -0.33997 -0.10946 -0.34476 -0.11336 -0.34815 C -0.11658 -0.35077 -0.12013 -0.35216 -0.12352 -0.35417 L -0.12612 -0.35556 C -0.13125 -0.36482 -0.12552 -0.35648 -0.13541 -0.36158 C -0.14774 -0.36806 -0.13941 -0.36759 -0.1447 -0.36759 " pathEditMode="relative" ptsTypes="AAAAAAAAAAAAAAAAAAAAAA">
                                      <p:cBhvr>
                                        <p:cTn id="10" dur="2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1B902-9645-E561-E7FF-0159FE7B6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E4E544A-724A-377F-AF05-4A2C603D5029}"/>
              </a:ext>
            </a:extLst>
          </p:cNvPr>
          <p:cNvSpPr/>
          <p:nvPr/>
        </p:nvSpPr>
        <p:spPr>
          <a:xfrm rot="-5400000">
            <a:off x="4000500" y="-4000501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7864" y="832104"/>
            <a:ext cx="905256" cy="11521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50008" y="978408"/>
            <a:ext cx="12984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00000"/>
                </a:solidFill>
                <a:latin typeface="Times New Roman"/>
              </a:defRPr>
            </a:pPr>
            <a:r>
              <a:t>EXPERIMENTAL TESTBED (GOAD &amp; ADSYNTH)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81376" y="438912"/>
            <a:ext cx="17830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09/15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919886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2194560"/>
            <a:ext cx="475488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0936"/>
          <a:lstStyle/>
          <a:p>
            <a:pPr algn="l"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Dual Evaluation Testbeds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98448" y="2276856"/>
            <a:ext cx="429768" cy="4297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88720" y="2926080"/>
            <a:ext cx="7772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1. GOAD Enterprise Cyber-Range: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Realistic multi-forest Active Directory lab with 5 Domain Controllers, complex trusts, and live ADCS misconfigurations.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2. ADSynth Topology Generator: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Synthesizes 700 diverse enterprise topologies (100 to 100,000 nodes) for rigorous scalability and stress testing.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20" y="5303520"/>
            <a:ext cx="475488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0936"/>
          <a:lstStyle/>
          <a:p>
            <a:pPr algn="l"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Dataset &amp; Validation Protocol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98448" y="5385816"/>
            <a:ext cx="429768" cy="42976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88720" y="603504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1. Scale: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28,450 nodes and 142,890 multi-relational edges across 5 entity types.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2. Protocol: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Stratified 5-fold cross-validation with non-overlapping forest splits.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3. Statistical Rigor: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Evaluated using Nadeau-Bengio corrected paired t-tests to ensure valid significance.</a:t>
            </a:r>
          </a:p>
        </p:txBody>
      </p:sp>
      <p:pic>
        <p:nvPicPr>
          <p:cNvPr id="27" name="Picture 26" descr="goad_forest_topology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418320" y="2377440"/>
            <a:ext cx="7680960" cy="409651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418320" y="676656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000000"/>
                </a:solidFill>
                <a:latin typeface="Times New Roman"/>
              </a:defRPr>
            </a:pPr>
            <a:r>
              <a:t>Figure: GOAD Multi-Forest Enterprise Topology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73152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Captures cross-domain trust relationships, group Managed Service Accounts (gMSA), and cross-forest PKI issuance policies.</a:t>
            </a:r>
          </a:p>
        </p:txBody>
      </p:sp>
    </p:spTree>
    <p:extLst>
      <p:ext uri="{BB962C8B-B14F-4D97-AF65-F5344CB8AC3E}">
        <p14:creationId xmlns:p14="http://schemas.microsoft.com/office/powerpoint/2010/main" val="688537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975 -0.09984 L 0.08975 -0.09984 C 0.08663 -0.09737 0.08333 -0.09552 0.08038 -0.09243 C 0.07621 -0.08796 0.073 -0.08055 0.06849 -0.07731 C 0.06371 -0.07376 0.05877 -0.07083 0.05408 -0.06682 C 0.05295 -0.06574 0.05173 -0.06512 0.05069 -0.06373 C 0.04974 -0.0625 0.04913 -0.06049 0.04818 -0.05925 C 0.04713 -0.05787 0.04583 -0.0574 0.04479 -0.05617 C 0.04357 -0.05493 0.04262 -0.05308 0.0414 -0.05169 C 0.04002 -0.05 0.03863 -0.04861 0.03715 -0.04722 C 0.03611 -0.04614 0.03481 -0.04537 0.03377 -0.04413 C 0.03177 -0.04182 0.02969 -0.0395 0.02786 -0.03657 C 0.02569 -0.03333 0.02396 -0.02947 0.02196 -0.02608 C 0.02057 -0.02391 0.0191 -0.02191 0.01771 -0.02006 C 0.01684 -0.01898 0.0158 -0.01836 0.0151 -0.01697 C 0.01189 -0.0108 0.00955 -0.00293 0.00581 0.00263 C -0.0007 0.01204 -0.00738 0.0213 -0.01363 0.03118 C -0.01441 0.03241 -0.01467 0.03442 -0.01537 0.03565 C -0.01728 0.03936 -0.01945 0.0426 -0.02127 0.0463 C -0.02222 0.04815 -0.02283 0.05047 -0.02387 0.05232 C -0.02457 0.05355 -0.0257 0.05402 -0.02639 0.05525 C -0.02952 0.06081 -0.02969 0.0625 -0.03143 0.06883 C -0.03117 0.07392 -0.03099 0.07886 -0.03064 0.08396 C -0.03047 0.08642 -0.02995 0.08889 -0.02978 0.09152 C -0.02943 0.09692 -0.02934 0.10263 -0.02891 0.10803 C -0.02787 0.12207 -0.02804 0.10726 -0.02804 0.11868 " pathEditMode="relative" ptsTypes="AAAAAAAAAAAAAAAAAAAAAAAAAA">
                                      <p:cBhvr>
                                        <p:cTn id="6" dur="5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6 -0.09506 L 0.00086 -0.09506 C -0.002 -0.07654 -0.00269 -0.08225 4.02778E-6 -0.06496 C 0.00069 -0.06049 0.00251 -0.05138 0.00251 -0.05138 C 0.00225 -0.04598 0.00165 -0.04043 0.00165 -0.03487 C 0.00165 -0.03225 0.00234 -0.02993 0.00251 -0.02731 C 0.00295 -0.0199 0.00286 -0.01219 0.00338 -0.00478 C 0.00442 0.00911 0.00494 0.0034 0.0059 0.01328 C 0.00616 0.01636 0.00633 0.01945 0.00677 0.02238 C 0.0072 0.02593 0.0079 0.02933 0.00842 0.03288 C 0.00876 0.03488 0.00894 0.03689 0.00928 0.03889 C 0.00981 0.04244 0.0105 0.04599 0.01093 0.04954 C 0.01137 0.05247 0.01154 0.05556 0.0118 0.05849 C 0.01154 0.06358 0.01093 0.06852 0.01093 0.07362 C 0.01093 0.07608 0.01163 0.07855 0.0118 0.08118 C 0.01354 0.11173 0.01354 0.10649 0.01354 0.12038 " pathEditMode="relative" ptsTypes="AAAAAAAAAAAAAAAA">
                                      <p:cBhvr>
                                        <p:cTn id="8" dur="5000" fill="hold"/>
                                        <p:tgtEl>
                                          <p:spTgt spid="10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"/>
                                            </p:cond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093 -0.11204 L -0.11093 -0.11204 C -0.10677 -0.11003 -0.10217 -0.10972 -0.09826 -0.10602 C -0.09392 -0.10216 -0.08454 -0.08719 -0.08046 -0.07901 C -0.07821 -0.07438 -0.07612 -0.0696 -0.07369 -0.06543 C -0.06649 -0.05262 -0.05937 -0.0395 -0.05165 -0.02762 C -0.04965 -0.02469 -0.04757 -0.02191 -0.04574 -0.01867 C -0.03767 -0.00478 -0.03116 0.01219 -0.02196 0.02361 C -0.00616 0.04321 0.00947 0.06312 0.02544 0.08241 C 0.04289 0.1034 0.02882 0.08102 0.04497 0.10803 C 0.04636 0.11034 0.04922 0.11559 0.04922 0.11559 " pathEditMode="relative" ptsTypes="AAAAAAAAAAA">
                                      <p:cBhvr>
                                        <p:cTn id="10" dur="50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864" y="832104"/>
            <a:ext cx="905256" cy="1152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50008" y="978408"/>
            <a:ext cx="12984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00000"/>
                </a:solidFill>
                <a:latin typeface="Times New Roman"/>
              </a:defRPr>
            </a:pPr>
            <a:r>
              <a:t>RESULTS: BENCHMARK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81376" y="438912"/>
            <a:ext cx="17830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10/15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919886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194560"/>
            <a:ext cx="502920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0936"/>
          <a:lstStyle/>
          <a:p>
            <a:pPr algn="l"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Quantitative Performance Summary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2276856"/>
            <a:ext cx="429768" cy="429768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188720" y="2926080"/>
          <a:ext cx="84124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2103120"/>
                <a:gridCol w="2103120"/>
              </a:tblGrid>
              <a:tr h="65532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E6EBF5"/>
                    </a:solidFill>
                    <a:lnL w="25400" cmpd="sng">
                      <a:solidFill>
                        <a:srgbClr val="000000"/>
                      </a:solidFill>
                    </a:lnL>
                    <a:lnR w="25400" cmpd="sng">
                      <a:solidFill>
                        <a:srgbClr val="000000"/>
                      </a:solidFill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Certipy (Heuristic)</a:t>
                      </a:r>
                    </a:p>
                  </a:txBody>
                  <a:tcPr>
                    <a:solidFill>
                      <a:srgbClr val="E6EBF5"/>
                    </a:solidFill>
                    <a:lnL w="25400" cmpd="sng">
                      <a:solidFill>
                        <a:srgbClr val="000000"/>
                      </a:solidFill>
                    </a:lnL>
                    <a:lnR w="25400" cmpd="sng">
                      <a:solidFill>
                        <a:srgbClr val="000000"/>
                      </a:solidFill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Symbolic BFS</a:t>
                      </a:r>
                    </a:p>
                  </a:txBody>
                  <a:tcPr>
                    <a:solidFill>
                      <a:srgbClr val="E6EBF5"/>
                    </a:solidFill>
                    <a:lnL w="25400" cmpd="sng">
                      <a:solidFill>
                        <a:srgbClr val="000000"/>
                      </a:solidFill>
                    </a:lnL>
                    <a:lnR w="25400" cmpd="sng">
                      <a:solidFill>
                        <a:srgbClr val="000000"/>
                      </a:solidFill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CertGraph (Ours)</a:t>
                      </a:r>
                    </a:p>
                  </a:txBody>
                  <a:tcPr>
                    <a:solidFill>
                      <a:srgbClr val="E6EBF5"/>
                    </a:solidFill>
                    <a:lnL w="25400" cmpd="sng">
                      <a:solidFill>
                        <a:srgbClr val="000000"/>
                      </a:solidFill>
                    </a:lnL>
                    <a:lnR w="25400" cmpd="sng">
                      <a:solidFill>
                        <a:srgbClr val="000000"/>
                      </a:solidFill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FFFFFF"/>
                    </a:solidFill>
                    <a:lnL w="25400" cmpd="sng">
                      <a:solidFill>
                        <a:srgbClr val="000000"/>
                      </a:solidFill>
                    </a:lnL>
                    <a:lnR w="25400" cmpd="sng">
                      <a:solidFill>
                        <a:srgbClr val="000000"/>
                      </a:solidFill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74.20%</a:t>
                      </a:r>
                    </a:p>
                  </a:txBody>
                  <a:tcPr>
                    <a:solidFill>
                      <a:srgbClr val="FFFFFF"/>
                    </a:solidFill>
                    <a:lnL w="25400" cmpd="sng">
                      <a:solidFill>
                        <a:srgbClr val="000000"/>
                      </a:solidFill>
                    </a:lnL>
                    <a:lnR w="25400" cmpd="sng">
                      <a:solidFill>
                        <a:srgbClr val="000000"/>
                      </a:solidFill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89.15%</a:t>
                      </a:r>
                    </a:p>
                  </a:txBody>
                  <a:tcPr>
                    <a:solidFill>
                      <a:srgbClr val="FFFFFF"/>
                    </a:solidFill>
                    <a:lnL w="25400" cmpd="sng">
                      <a:solidFill>
                        <a:srgbClr val="000000"/>
                      </a:solidFill>
                    </a:lnL>
                    <a:lnR w="25400" cmpd="sng">
                      <a:solidFill>
                        <a:srgbClr val="000000"/>
                      </a:solidFill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102C57"/>
                          </a:solidFill>
                          <a:latin typeface="Times New Roman"/>
                        </a:defRPr>
                      </a:pPr>
                      <a:r>
                        <a:t>99.88%</a:t>
                      </a:r>
                    </a:p>
                  </a:txBody>
                  <a:tcPr>
                    <a:solidFill>
                      <a:srgbClr val="FFFFFF"/>
                    </a:solidFill>
                    <a:lnL w="25400" cmpd="sng">
                      <a:solidFill>
                        <a:srgbClr val="000000"/>
                      </a:solidFill>
                    </a:lnL>
                    <a:lnR w="25400" cmpd="sng">
                      <a:solidFill>
                        <a:srgbClr val="000000"/>
                      </a:solidFill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F5F7FC"/>
                    </a:solidFill>
                    <a:lnL w="25400" cmpd="sng">
                      <a:solidFill>
                        <a:srgbClr val="000000"/>
                      </a:solidFill>
                    </a:lnL>
                    <a:lnR w="25400" cmpd="sng">
                      <a:solidFill>
                        <a:srgbClr val="000000"/>
                      </a:solidFill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69.21%</a:t>
                      </a:r>
                    </a:p>
                  </a:txBody>
                  <a:tcPr>
                    <a:solidFill>
                      <a:srgbClr val="F5F7FC"/>
                    </a:solidFill>
                    <a:lnL w="25400" cmpd="sng">
                      <a:solidFill>
                        <a:srgbClr val="000000"/>
                      </a:solidFill>
                    </a:lnL>
                    <a:lnR w="25400" cmpd="sng">
                      <a:solidFill>
                        <a:srgbClr val="000000"/>
                      </a:solidFill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92.55%</a:t>
                      </a:r>
                    </a:p>
                  </a:txBody>
                  <a:tcPr>
                    <a:solidFill>
                      <a:srgbClr val="F5F7FC"/>
                    </a:solidFill>
                    <a:lnL w="25400" cmpd="sng">
                      <a:solidFill>
                        <a:srgbClr val="000000"/>
                      </a:solidFill>
                    </a:lnL>
                    <a:lnR w="25400" cmpd="sng">
                      <a:solidFill>
                        <a:srgbClr val="000000"/>
                      </a:solidFill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102C57"/>
                          </a:solidFill>
                          <a:latin typeface="Times New Roman"/>
                        </a:defRPr>
                      </a:pPr>
                      <a:r>
                        <a:t>99.84%</a:t>
                      </a:r>
                    </a:p>
                  </a:txBody>
                  <a:tcPr>
                    <a:solidFill>
                      <a:srgbClr val="F5F7FC"/>
                    </a:solidFill>
                    <a:lnL w="25400" cmpd="sng">
                      <a:solidFill>
                        <a:srgbClr val="000000"/>
                      </a:solidFill>
                    </a:lnL>
                    <a:lnR w="25400" cmpd="sng">
                      <a:solidFill>
                        <a:srgbClr val="000000"/>
                      </a:solidFill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Macro-F1</a:t>
                      </a:r>
                    </a:p>
                  </a:txBody>
                  <a:tcPr>
                    <a:solidFill>
                      <a:srgbClr val="FFFFFF"/>
                    </a:solidFill>
                    <a:lnL w="25400" cmpd="sng">
                      <a:solidFill>
                        <a:srgbClr val="000000"/>
                      </a:solidFill>
                    </a:lnL>
                    <a:lnR w="25400" cmpd="sng">
                      <a:solidFill>
                        <a:srgbClr val="000000"/>
                      </a:solidFill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77.91%</a:t>
                      </a:r>
                    </a:p>
                  </a:txBody>
                  <a:tcPr>
                    <a:solidFill>
                      <a:srgbClr val="FFFFFF"/>
                    </a:solidFill>
                    <a:lnL w="25400" cmpd="sng">
                      <a:solidFill>
                        <a:srgbClr val="000000"/>
                      </a:solidFill>
                    </a:lnL>
                    <a:lnR w="25400" cmpd="sng">
                      <a:solidFill>
                        <a:srgbClr val="000000"/>
                      </a:solidFill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90.82%</a:t>
                      </a:r>
                    </a:p>
                  </a:txBody>
                  <a:tcPr>
                    <a:solidFill>
                      <a:srgbClr val="FFFFFF"/>
                    </a:solidFill>
                    <a:lnL w="25400" cmpd="sng">
                      <a:solidFill>
                        <a:srgbClr val="000000"/>
                      </a:solidFill>
                    </a:lnL>
                    <a:lnR w="25400" cmpd="sng">
                      <a:solidFill>
                        <a:srgbClr val="000000"/>
                      </a:solidFill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102C57"/>
                          </a:solidFill>
                          <a:latin typeface="Times New Roman"/>
                        </a:defRPr>
                      </a:pPr>
                      <a:r>
                        <a:t>99.86%</a:t>
                      </a:r>
                    </a:p>
                  </a:txBody>
                  <a:tcPr>
                    <a:solidFill>
                      <a:srgbClr val="FFFFFF"/>
                    </a:solidFill>
                    <a:lnL w="25400" cmpd="sng">
                      <a:solidFill>
                        <a:srgbClr val="000000"/>
                      </a:solidFill>
                    </a:lnL>
                    <a:lnR w="25400" cmpd="sng">
                      <a:solidFill>
                        <a:srgbClr val="000000"/>
                      </a:solidFill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ROC / PR-AUC</a:t>
                      </a:r>
                    </a:p>
                  </a:txBody>
                  <a:tcPr>
                    <a:solidFill>
                      <a:srgbClr val="F5F7FC"/>
                    </a:solidFill>
                    <a:lnL w="25400" cmpd="sng">
                      <a:solidFill>
                        <a:srgbClr val="000000"/>
                      </a:solidFill>
                    </a:lnL>
                    <a:lnR w="25400" cmpd="sng">
                      <a:solidFill>
                        <a:srgbClr val="000000"/>
                      </a:solidFill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0.8410</a:t>
                      </a:r>
                    </a:p>
                  </a:txBody>
                  <a:tcPr>
                    <a:solidFill>
                      <a:srgbClr val="F5F7FC"/>
                    </a:solidFill>
                    <a:lnL w="25400" cmpd="sng">
                      <a:solidFill>
                        <a:srgbClr val="000000"/>
                      </a:solidFill>
                    </a:lnL>
                    <a:lnR w="25400" cmpd="sng">
                      <a:solidFill>
                        <a:srgbClr val="000000"/>
                      </a:solidFill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0.9120</a:t>
                      </a:r>
                    </a:p>
                  </a:txBody>
                  <a:tcPr>
                    <a:solidFill>
                      <a:srgbClr val="F5F7FC"/>
                    </a:solidFill>
                    <a:lnL w="25400" cmpd="sng">
                      <a:solidFill>
                        <a:srgbClr val="000000"/>
                      </a:solidFill>
                    </a:lnL>
                    <a:lnR w="25400" cmpd="sng">
                      <a:solidFill>
                        <a:srgbClr val="000000"/>
                      </a:solidFill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102C57"/>
                          </a:solidFill>
                          <a:latin typeface="Times New Roman"/>
                        </a:defRPr>
                      </a:pPr>
                      <a:r>
                        <a:t>0.9998</a:t>
                      </a:r>
                    </a:p>
                  </a:txBody>
                  <a:tcPr>
                    <a:solidFill>
                      <a:srgbClr val="F5F7FC"/>
                    </a:solidFill>
                    <a:lnL w="25400" cmpd="sng">
                      <a:solidFill>
                        <a:srgbClr val="000000"/>
                      </a:solidFill>
                    </a:lnL>
                    <a:lnR w="25400" cmpd="sng">
                      <a:solidFill>
                        <a:srgbClr val="000000"/>
                      </a:solidFill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Zero-Shot F1</a:t>
                      </a:r>
                    </a:p>
                  </a:txBody>
                  <a:tcPr>
                    <a:solidFill>
                      <a:srgbClr val="FFFFFF"/>
                    </a:solidFill>
                    <a:lnL w="25400" cmpd="sng">
                      <a:solidFill>
                        <a:srgbClr val="000000"/>
                      </a:solidFill>
                    </a:lnL>
                    <a:lnR w="25400" cmpd="sng">
                      <a:solidFill>
                        <a:srgbClr val="000000"/>
                      </a:solidFill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Fails (0%)</a:t>
                      </a:r>
                    </a:p>
                  </a:txBody>
                  <a:tcPr>
                    <a:solidFill>
                      <a:srgbClr val="FFFFFF"/>
                    </a:solidFill>
                    <a:lnL w="25400" cmpd="sng">
                      <a:solidFill>
                        <a:srgbClr val="000000"/>
                      </a:solidFill>
                    </a:lnL>
                    <a:lnR w="25400" cmpd="sng">
                      <a:solidFill>
                        <a:srgbClr val="000000"/>
                      </a:solidFill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64.12%</a:t>
                      </a:r>
                    </a:p>
                  </a:txBody>
                  <a:tcPr>
                    <a:solidFill>
                      <a:srgbClr val="FFFFFF"/>
                    </a:solidFill>
                    <a:lnL w="25400" cmpd="sng">
                      <a:solidFill>
                        <a:srgbClr val="000000"/>
                      </a:solidFill>
                    </a:lnL>
                    <a:lnR w="25400" cmpd="sng">
                      <a:solidFill>
                        <a:srgbClr val="000000"/>
                      </a:solidFill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102C57"/>
                          </a:solidFill>
                          <a:latin typeface="Times New Roman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  <a:lnL w="25400" cmpd="sng">
                      <a:solidFill>
                        <a:srgbClr val="000000"/>
                      </a:solidFill>
                    </a:lnL>
                    <a:lnR w="25400" cmpd="sng">
                      <a:solidFill>
                        <a:srgbClr val="000000"/>
                      </a:solidFill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88720" y="7132320"/>
            <a:ext cx="8412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Key Result: CertGraph achieves 99.86% Macro-F1 across 700 topologies (+21.95 F1 / +28.2% relative gain over heuristics, p = 3.12e-4). Under authentic 96% Safe template imbalance, CertGraph maintains 99.41% Macro-F1 and 0.9982 PR-AUC.</a:t>
            </a:r>
          </a:p>
        </p:txBody>
      </p:sp>
      <p:pic>
        <p:nvPicPr>
          <p:cNvPr id="11" name="Picture 10" descr="confusion_matri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0" y="2194560"/>
            <a:ext cx="6858000" cy="6053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41280" y="832104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i="1">
                <a:solidFill>
                  <a:srgbClr val="000000"/>
                </a:solidFill>
                <a:latin typeface="Times New Roman"/>
              </a:defRPr>
            </a:pPr>
            <a:r>
              <a:t>Figure: Multi-Class Confusion Matrix (Test Set, N=200)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7864" y="832104"/>
            <a:ext cx="905256" cy="1152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50008" y="978408"/>
            <a:ext cx="12984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00000"/>
                </a:solidFill>
                <a:latin typeface="Times New Roman"/>
              </a:defRPr>
            </a:pPr>
            <a:r>
              <a:t>ABLATION STUDY &amp; MODEL INTERPRETABILITY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81376" y="438912"/>
            <a:ext cx="17830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11/15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919886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pic>
        <p:nvPicPr>
          <p:cNvPr id="7" name="Picture 6" descr="ablation_comparis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8720" y="2194560"/>
            <a:ext cx="7680960" cy="38221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88720" y="608076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i="1">
                <a:solidFill>
                  <a:srgbClr val="000000"/>
                </a:solidFill>
                <a:latin typeface="Times New Roman"/>
              </a:defRPr>
            </a:pPr>
            <a:r>
              <a:t>Figure: Architectural Ablation Study (5-Fold CV)</a:t>
            </a:r>
          </a:p>
        </p:txBody>
      </p:sp>
      <p:pic>
        <p:nvPicPr>
          <p:cNvPr id="9" name="Picture 8" descr="attention_explainabilit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18320" y="2194560"/>
            <a:ext cx="7680960" cy="38221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18320" y="608076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i="1">
                <a:solidFill>
                  <a:srgbClr val="000000"/>
                </a:solidFill>
                <a:latin typeface="Times New Roman"/>
              </a:defRPr>
            </a:pPr>
            <a:r>
              <a:t>Figure: Relational Attention Weights in ESC13 Chain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6537960"/>
            <a:ext cx="15910559" cy="50292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9496"/>
          <a:lstStyle/>
          <a:p>
            <a:pPr algn="l"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Key Empirical Takeaways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98448" y="6620256"/>
            <a:ext cx="338328" cy="338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88720" y="7132320"/>
            <a:ext cx="1591055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1. Residual Skip Connections are Vital: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Removing skip pathways drops Macro-F1 from 99.86% to 47.68% (a 52.18% collapse), empirically validating Theorem 1.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2. Attention Multiplicity is Secondary: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A single-head variant matches multi-head performance (100% vs 99.86%), proving residual feature retention drives the gains.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3. Inherent Path Explainability: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Attention weights directly isolate attack edges (alpha &gt; 0.85 on critical hops), providing security analysts with instant visual proof traces.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7864" y="832104"/>
            <a:ext cx="905256" cy="1152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50008" y="978408"/>
            <a:ext cx="12984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00000"/>
                </a:solidFill>
                <a:latin typeface="Times New Roman"/>
              </a:defRPr>
            </a:pPr>
            <a:r>
              <a:t>NEURO-SYMBOLIC HYBRID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81376" y="438912"/>
            <a:ext cx="17830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12/15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919886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194560"/>
            <a:ext cx="475488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0936"/>
          <a:lstStyle/>
          <a:p>
            <a:pPr algn="l"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Neural Shortcut Vulnerability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8448" y="2276856"/>
            <a:ext cx="429768" cy="429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8720" y="2926080"/>
            <a:ext cx="749807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1. The Adversarial Testbed: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We generated 63 hard-negative topologies featuring dangerous template flags paired with admin-only access controls (ground truth: Safe).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2. Neural Shortcut Collapse: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The pure GNN classified only 1 of 63 correctly (1.59% accuracy) — revealing that pure neural models memorize local template flags without checking reachability.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5120640"/>
            <a:ext cx="475488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0936"/>
          <a:lstStyle/>
          <a:p>
            <a:pPr algn="l"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Our Two-Tier Verification Engine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8448" y="5202936"/>
            <a:ext cx="429768" cy="4297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88720" y="5852160"/>
            <a:ext cx="749807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Tier 1 — Neural Screener (18.2 ms):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Flags 62 of 600 templates as potentially risky, filtering out 89.7% of safe templates while retaining 100% of true attack paths.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Tier 2 — Symbolic Verifier (110.6 ms):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Traverses authorization graphs for flagged templates, generating mathematical proof traces and eliminating false alarms.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Combined System (128.8 ms):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Achieves zero false negatives and zero false alarms — combining neural speed with symbolic soundness.</a:t>
            </a:r>
          </a:p>
        </p:txBody>
      </p:sp>
      <p:pic>
        <p:nvPicPr>
          <p:cNvPr id="13" name="Picture 12" descr="neuro_symbolic_pipelin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1120" y="2194560"/>
            <a:ext cx="8138160" cy="3749039"/>
          </a:xfrm>
          <a:prstGeom prst="rect">
            <a:avLst/>
          </a:prstGeom>
        </p:spPr>
      </p:pic>
      <p:pic>
        <p:nvPicPr>
          <p:cNvPr id="14" name="Picture 13" descr="hard_negatives_comparis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0" y="6035040"/>
            <a:ext cx="77724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7864" y="832104"/>
            <a:ext cx="905256" cy="1152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50008" y="978408"/>
            <a:ext cx="12984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00000"/>
                </a:solidFill>
                <a:latin typeface="Times New Roman"/>
              </a:defRPr>
            </a:pPr>
            <a:r>
              <a:t>SCALABILITY &amp; AUTONOMOUS 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81376" y="438912"/>
            <a:ext cx="17830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13/15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919886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194560"/>
            <a:ext cx="475488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0936"/>
          <a:lstStyle/>
          <a:p>
            <a:pPr algn="l"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Sub-Second Operational Scalability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8448" y="2276856"/>
            <a:ext cx="429768" cy="429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8720" y="2926080"/>
            <a:ext cx="749807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1. 1,000-Node Topology: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20 ms forward inference time.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2. 5,000-Node Topology: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112.5 ms forward inference time.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3. 10,000-Node Topology (765k edges):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343 ms inference time — 12.4x faster than Dijkstra/BloodHound graph search.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4. Operational Benefit: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Enables continuous real-time directory audits without impacting enterprise authentication traffic.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5394960"/>
            <a:ext cx="475488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0936"/>
          <a:lstStyle/>
          <a:p>
            <a:pPr algn="l"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Automated Attack Path Interdiction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8448" y="5477256"/>
            <a:ext cx="429768" cy="4297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88720" y="6126480"/>
            <a:ext cx="749807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1. Computational Proof (Theorem 2):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We proved that finding the minimum set of permission revocations to sever all attack paths (MPAI) is NP-hard.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2. Greedy Interdiction Algorithm: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We designed a disruption-bounded greedy algorithm that severs 68.6% of attack paths within a budget of 24 ACL operations.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3. Statistical Validation: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Statistically outperforms degree-centrality baselines across 30 enterprise topologies (p = 3.57e-11).</a:t>
            </a:r>
          </a:p>
        </p:txBody>
      </p:sp>
      <p:pic>
        <p:nvPicPr>
          <p:cNvPr id="13" name="Picture 12" descr="scalability_metric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1200" y="2103120"/>
            <a:ext cx="7132320" cy="3474720"/>
          </a:xfrm>
          <a:prstGeom prst="rect">
            <a:avLst/>
          </a:prstGeom>
        </p:spPr>
      </p:pic>
      <p:pic>
        <p:nvPicPr>
          <p:cNvPr id="14" name="Picture 13" descr="game_theoretic_convergenc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0" y="5760720"/>
            <a:ext cx="80467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86400" y="4265817"/>
            <a:ext cx="7315200" cy="2752344"/>
          </a:xfrm>
          <a:custGeom>
            <a:avLst/>
            <a:gdLst/>
            <a:ahLst/>
            <a:cxnLst/>
            <a:rect l="l" t="t" r="r" b="b"/>
            <a:pathLst>
              <a:path w="7315200" h="2752344">
                <a:moveTo>
                  <a:pt x="0" y="0"/>
                </a:moveTo>
                <a:lnTo>
                  <a:pt x="7315200" y="0"/>
                </a:lnTo>
                <a:lnTo>
                  <a:pt x="7315200" y="2752344"/>
                </a:lnTo>
                <a:lnTo>
                  <a:pt x="0" y="27523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274241" y="7500649"/>
            <a:ext cx="9739517" cy="81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50"/>
              </a:lnSpc>
            </a:pPr>
            <a:r>
              <a:rPr lang="en-US" sz="5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QUESTIONS ?</a:t>
            </a:r>
          </a:p>
        </p:txBody>
      </p:sp>
      <p:sp>
        <p:nvSpPr>
          <p:cNvPr id="5" name="Freeform 5"/>
          <p:cNvSpPr/>
          <p:nvPr/>
        </p:nvSpPr>
        <p:spPr>
          <a:xfrm>
            <a:off x="8135791" y="1235307"/>
            <a:ext cx="2016418" cy="2563785"/>
          </a:xfrm>
          <a:custGeom>
            <a:avLst/>
            <a:gdLst/>
            <a:ahLst/>
            <a:cxnLst/>
            <a:rect l="l" t="t" r="r" b="b"/>
            <a:pathLst>
              <a:path w="2016418" h="2563785">
                <a:moveTo>
                  <a:pt x="0" y="0"/>
                </a:moveTo>
                <a:lnTo>
                  <a:pt x="2016418" y="0"/>
                </a:lnTo>
                <a:lnTo>
                  <a:pt x="2016418" y="2563785"/>
                </a:lnTo>
                <a:lnTo>
                  <a:pt x="0" y="2563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andsca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832104"/>
            <a:ext cx="905256" cy="1152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50008" y="978408"/>
            <a:ext cx="12984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00000"/>
                </a:solidFill>
                <a:latin typeface="Times New Roman"/>
              </a:defRPr>
            </a:pPr>
            <a:r>
              <a:t>CONCLUSION &amp;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81376" y="438912"/>
            <a:ext cx="17830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14/15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919886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65960"/>
            <a:ext cx="1591055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A unified graph AI and verification framework that resolves the conflict between rapid vulnerability screening and formal soundness.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651760"/>
            <a:ext cx="438912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2651760"/>
            <a:ext cx="594360" cy="59436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651760"/>
            <a:ext cx="3611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What We Contributed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83280"/>
            <a:ext cx="84124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1. AD Graph Schema: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Formalized the first heterogeneous graph representation covering 5 entity types and 6 primary ADCS escalation classes.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2. Deep-Path Retention Proof: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Mathematically proved (Theorem 1) and implemented residual skips that preserve features over 4–8 hop chains.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3. Audited Enterprise Benchmark: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Achieved 99.86% Macro-F1 across 700 topologies (+28.2% over heuristics), tested under 96% class imbalance.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4. Neural Shortcut Discovery: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Uncovered that pure GNNs collapse to 1.59% accuracy on adversarial hard negatives due to flag memorization.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5. Two-Tier Verification Engine: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Built a hybrid system combining 18 ms neural screening with 110 ms symbolic verification (zero false negatives).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6. Automated Remediation Algorithm: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Proved MPAI NP-hardness (Theorem 2) and developed a greedy interdiction tool severing 68.6% of attack paths.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0" y="2651760"/>
            <a:ext cx="438912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2651760"/>
            <a:ext cx="594360" cy="59436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2651760"/>
            <a:ext cx="3611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Limitations &amp; Future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3383280"/>
            <a:ext cx="7040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1. Multi-label vulnerability classification for co-occurring ADCS escalation paths.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2. Support for cloud-hybrid identity fabrics (Microsoft Entra ID / Azure AD).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3. Real-time evaluation of automated remediation in live enterprise cyber-ranges.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6035040"/>
            <a:ext cx="438912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0" y="6035040"/>
            <a:ext cx="594360" cy="59436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035040"/>
            <a:ext cx="3611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Project &amp; Thesis Details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766560"/>
            <a:ext cx="7040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Course: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ECE 452 — Project and Thesis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Department: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Electronics and Communication Engineering (ECE)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Institution: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Hajee Mohammad Danesh Science and Technology University (HSTU)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Defense Session: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1074</Words>
  <Application>Microsoft Office PowerPoint</Application>
  <PresentationFormat>Custom</PresentationFormat>
  <Paragraphs>204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Times New Roman Bold</vt:lpstr>
      <vt:lpstr>Calibri</vt:lpstr>
      <vt:lpstr>Telegraf Bold</vt:lpstr>
      <vt:lpstr>Calibri (MS)</vt:lpstr>
      <vt:lpstr>Times New Roman</vt:lpstr>
      <vt:lpstr>Arial</vt:lpstr>
      <vt:lpstr>Big Shoulders Display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and Thesis</dc:title>
  <cp:lastModifiedBy>Shahriar Hasan</cp:lastModifiedBy>
  <cp:revision>4</cp:revision>
  <dcterms:created xsi:type="dcterms:W3CDTF">2006-08-16T00:00:00Z</dcterms:created>
  <dcterms:modified xsi:type="dcterms:W3CDTF">2026-02-21T19:29:52Z</dcterms:modified>
  <dc:identifier>DAHB8UTRzk4</dc:identifier>
</cp:coreProperties>
</file>