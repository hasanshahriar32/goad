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18.svg" ContentType="image/svg+xml"/>
  <Override PartName="/ppt/media/image21.svg" ContentType="image/svg+xml"/>
  <Override PartName="/ppt/media/image23.svg" ContentType="image/svg+xml"/>
  <Override PartName="/ppt/media/image25.svg" ContentType="image/svg+xml"/>
  <Override PartName="/ppt/media/image27.svg" ContentType="image/svg+xml"/>
  <Override PartName="/ppt/media/image29.svg" ContentType="image/svg+xml"/>
  <Override PartName="/ppt/media/image31.svg" ContentType="image/svg+xml"/>
  <Override PartName="/ppt/media/image33.svg" ContentType="image/svg+xml"/>
  <Override PartName="/ppt/media/image36.svg" ContentType="image/svg+xml"/>
  <Override PartName="/ppt/media/image38.svg" ContentType="image/svg+xml"/>
  <Override PartName="/ppt/media/image4.svg" ContentType="image/svg+xml"/>
  <Override PartName="/ppt/media/image40.svg" ContentType="image/svg+xml"/>
  <Override PartName="/ppt/media/image42.svg" ContentType="image/svg+xml"/>
  <Override PartName="/ppt/media/image44.svg" ContentType="image/svg+xml"/>
  <Override PartName="/ppt/media/image46.svg" ContentType="image/svg+xml"/>
  <Override PartName="/ppt/media/image48.svg" ContentType="image/svg+xml"/>
  <Override PartName="/ppt/media/image51.svg" ContentType="image/svg+xml"/>
  <Override PartName="/ppt/media/image56.svg" ContentType="image/svg+xml"/>
  <Override PartName="/ppt/media/image58.svg" ContentType="image/svg+xml"/>
  <Override PartName="/ppt/media/image6.svg" ContentType="image/svg+xml"/>
  <Override PartName="/ppt/media/image65.svg" ContentType="image/svg+xml"/>
  <Override PartName="/ppt/media/image68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73" r:id="rId3"/>
    <p:sldId id="274" r:id="rId4"/>
    <p:sldId id="275" r:id="rId5"/>
    <p:sldId id="260" r:id="rId6"/>
    <p:sldId id="262" r:id="rId7"/>
    <p:sldId id="270" r:id="rId8"/>
    <p:sldId id="271" r:id="rId9"/>
    <p:sldId id="272" r:id="rId10"/>
    <p:sldId id="263" r:id="rId11"/>
    <p:sldId id="264" r:id="rId12"/>
    <p:sldId id="265" r:id="rId13"/>
    <p:sldId id="266" r:id="rId14"/>
    <p:sldId id="276" r:id="rId25"/>
    <p:sldId id="267" r:id="rId15"/>
  </p:sldIdLst>
  <p:sldSz cx="18288000" cy="10287000"/>
  <p:notesSz cx="6858000" cy="9144000"/>
  <p:embeddedFontLst>
    <p:embeddedFont>
      <p:font typeface="Big Shoulders Display Bold" panose="020B0604020202020204" charset="0"/>
      <p:regular r:id="rId16"/>
    </p:embeddedFont>
    <p:embeddedFont>
      <p:font typeface="Calibri (MS)" panose="020B0604020202020204" charset="0"/>
      <p:regular r:id="rId17"/>
    </p:embeddedFont>
    <p:embeddedFont>
      <p:font typeface="Telegraf Bold" panose="020B0604020202020204" charset="0"/>
      <p:regular r:id="rId18"/>
    </p:embeddedFont>
    <p:embeddedFont>
      <p:font typeface="Times New Roman Bold" panose="02020803070505020304" pitchFamily="18" charset="0"/>
      <p:regular r:id="rId19"/>
      <p:bold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2" d="100"/>
          <a:sy n="62" d="100"/>
        </p:scale>
        <p:origin x="1146" y="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png"/><Relationship Id="rId8" Type="http://schemas.openxmlformats.org/officeDocument/2006/relationships/image" Target="../media/image8.svg"/><Relationship Id="rId9" Type="http://schemas.openxmlformats.org/officeDocument/2006/relationships/image" Target="../media/image9.png"/><Relationship Id="rId10" Type="http://schemas.openxmlformats.org/officeDocument/2006/relationships/image" Target="../media/image10.svg"/><Relationship Id="rId11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15.png"/><Relationship Id="rId9" Type="http://schemas.openxmlformats.org/officeDocument/2006/relationships/image" Target="../media/image16.svg"/><Relationship Id="rId10" Type="http://schemas.openxmlformats.org/officeDocument/2006/relationships/image" Target="../media/image17.png"/><Relationship Id="rId11" Type="http://schemas.openxmlformats.org/officeDocument/2006/relationships/image" Target="../media/image18.sv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svg"/><Relationship Id="rId15" Type="http://schemas.openxmlformats.org/officeDocument/2006/relationships/image" Target="../media/image22.png"/><Relationship Id="rId16" Type="http://schemas.openxmlformats.org/officeDocument/2006/relationships/image" Target="../media/image23.svg"/><Relationship Id="rId17" Type="http://schemas.openxmlformats.org/officeDocument/2006/relationships/image" Target="../media/image24.png"/><Relationship Id="rId18" Type="http://schemas.openxmlformats.org/officeDocument/2006/relationships/image" Target="../media/image25.svg"/><Relationship Id="rId19" Type="http://schemas.openxmlformats.org/officeDocument/2006/relationships/image" Target="../media/image26.png"/><Relationship Id="rId20" Type="http://schemas.openxmlformats.org/officeDocument/2006/relationships/image" Target="../media/image27.svg"/><Relationship Id="rId21" Type="http://schemas.openxmlformats.org/officeDocument/2006/relationships/image" Target="../media/image28.png"/><Relationship Id="rId22" Type="http://schemas.openxmlformats.org/officeDocument/2006/relationships/image" Target="../media/image29.svg"/><Relationship Id="rId23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0.png"/><Relationship Id="rId4" Type="http://schemas.openxmlformats.org/officeDocument/2006/relationships/image" Target="../media/image31.svg"/><Relationship Id="rId5" Type="http://schemas.openxmlformats.org/officeDocument/2006/relationships/image" Target="../media/image32.png"/><Relationship Id="rId6" Type="http://schemas.openxmlformats.org/officeDocument/2006/relationships/image" Target="../media/image33.svg"/><Relationship Id="rId7" Type="http://schemas.openxmlformats.org/officeDocument/2006/relationships/image" Target="../media/image34.png"/><Relationship Id="rId8" Type="http://schemas.openxmlformats.org/officeDocument/2006/relationships/image" Target="../media/image2.png"/><Relationship Id="rId9" Type="http://schemas.openxmlformats.org/officeDocument/2006/relationships/image" Target="../media/image69.png"/><Relationship Id="rId10" Type="http://schemas.openxmlformats.org/officeDocument/2006/relationships/image" Target="../media/image7.png"/><Relationship Id="rId11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35.png"/><Relationship Id="rId4" Type="http://schemas.openxmlformats.org/officeDocument/2006/relationships/image" Target="../media/image36.svg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svg"/><Relationship Id="rId8" Type="http://schemas.openxmlformats.org/officeDocument/2006/relationships/image" Target="../media/image37.png"/><Relationship Id="rId9" Type="http://schemas.openxmlformats.org/officeDocument/2006/relationships/image" Target="../media/image38.svg"/><Relationship Id="rId10" Type="http://schemas.openxmlformats.org/officeDocument/2006/relationships/image" Target="../media/image7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7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svg"/><Relationship Id="rId19" Type="http://schemas.openxmlformats.org/officeDocument/2006/relationships/image" Target="../media/image7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2.jpeg"/><Relationship Id="rId18" Type="http://schemas.openxmlformats.org/officeDocument/2006/relationships/image" Target="../media/image53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.png"/><Relationship Id="rId4" Type="http://schemas.openxmlformats.org/officeDocument/2006/relationships/image" Target="../media/image6.svg"/><Relationship Id="rId5" Type="http://schemas.openxmlformats.org/officeDocument/2006/relationships/image" Target="../media/image39.png"/><Relationship Id="rId6" Type="http://schemas.openxmlformats.org/officeDocument/2006/relationships/image" Target="../media/image40.svg"/><Relationship Id="rId7" Type="http://schemas.openxmlformats.org/officeDocument/2006/relationships/image" Target="../media/image41.png"/><Relationship Id="rId8" Type="http://schemas.openxmlformats.org/officeDocument/2006/relationships/image" Target="../media/image42.svg"/><Relationship Id="rId9" Type="http://schemas.openxmlformats.org/officeDocument/2006/relationships/image" Target="../media/image2.png"/><Relationship Id="rId10" Type="http://schemas.openxmlformats.org/officeDocument/2006/relationships/image" Target="../media/image43.png"/><Relationship Id="rId11" Type="http://schemas.openxmlformats.org/officeDocument/2006/relationships/image" Target="../media/image44.svg"/><Relationship Id="rId12" Type="http://schemas.openxmlformats.org/officeDocument/2006/relationships/image" Target="../media/image45.png"/><Relationship Id="rId13" Type="http://schemas.openxmlformats.org/officeDocument/2006/relationships/image" Target="../media/image46.svg"/><Relationship Id="rId14" Type="http://schemas.openxmlformats.org/officeDocument/2006/relationships/image" Target="../media/image47.png"/><Relationship Id="rId15" Type="http://schemas.openxmlformats.org/officeDocument/2006/relationships/image" Target="../media/image48.svg"/><Relationship Id="rId16" Type="http://schemas.openxmlformats.org/officeDocument/2006/relationships/image" Target="../media/image49.png"/><Relationship Id="rId17" Type="http://schemas.openxmlformats.org/officeDocument/2006/relationships/image" Target="../media/image50.png"/><Relationship Id="rId18" Type="http://schemas.openxmlformats.org/officeDocument/2006/relationships/image" Target="../media/image51.svg"/><Relationship Id="rId19" Type="http://schemas.openxmlformats.org/officeDocument/2006/relationships/image" Target="../media/image7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4.png"/><Relationship Id="rId4" Type="http://schemas.openxmlformats.org/officeDocument/2006/relationships/image" Target="../media/image2.png"/><Relationship Id="rId5" Type="http://schemas.openxmlformats.org/officeDocument/2006/relationships/image" Target="../media/image7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55.png"/><Relationship Id="rId4" Type="http://schemas.openxmlformats.org/officeDocument/2006/relationships/image" Target="../media/image56.svg"/><Relationship Id="rId5" Type="http://schemas.openxmlformats.org/officeDocument/2006/relationships/image" Target="../media/image57.png"/><Relationship Id="rId6" Type="http://schemas.openxmlformats.org/officeDocument/2006/relationships/image" Target="../media/image58.svg"/><Relationship Id="rId7" Type="http://schemas.openxmlformats.org/officeDocument/2006/relationships/image" Target="../media/image59.png"/><Relationship Id="rId8" Type="http://schemas.openxmlformats.org/officeDocument/2006/relationships/image" Target="../media/image60.png"/><Relationship Id="rId9" Type="http://schemas.openxmlformats.org/officeDocument/2006/relationships/image" Target="../media/image2.png"/><Relationship Id="rId10" Type="http://schemas.openxmlformats.org/officeDocument/2006/relationships/image" Target="../media/image75.png"/><Relationship Id="rId11" Type="http://schemas.openxmlformats.org/officeDocument/2006/relationships/image" Target="../media/image7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2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4.png"/><Relationship Id="rId4" Type="http://schemas.openxmlformats.org/officeDocument/2006/relationships/image" Target="../media/image65.svg"/><Relationship Id="rId5" Type="http://schemas.openxmlformats.org/officeDocument/2006/relationships/image" Target="../media/image66.png"/><Relationship Id="rId6" Type="http://schemas.openxmlformats.org/officeDocument/2006/relationships/image" Target="../media/image2.png"/><Relationship Id="rId7" Type="http://schemas.openxmlformats.org/officeDocument/2006/relationships/image" Target="../media/image79.png"/><Relationship Id="rId8" Type="http://schemas.openxmlformats.org/officeDocument/2006/relationships/image" Target="../media/image8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67.png"/><Relationship Id="rId4" Type="http://schemas.openxmlformats.org/officeDocument/2006/relationships/image" Target="../media/image68.svg"/><Relationship Id="rId5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76700" y="-4076700"/>
            <a:ext cx="10287000" cy="184404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>
            <a:off x="3150355" y="8073419"/>
            <a:ext cx="905853" cy="1151752"/>
          </a:xfrm>
          <a:custGeom>
            <a:avLst/>
            <a:gdLst/>
            <a:ahLst/>
            <a:cxnLst/>
            <a:rect l="l" t="t" r="r" b="b"/>
            <a:pathLst>
              <a:path w="905853" h="1151752">
                <a:moveTo>
                  <a:pt x="0" y="0"/>
                </a:moveTo>
                <a:lnTo>
                  <a:pt x="905853" y="0"/>
                </a:lnTo>
                <a:lnTo>
                  <a:pt x="905853" y="1151751"/>
                </a:lnTo>
                <a:lnTo>
                  <a:pt x="0" y="115175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71698" y="1224511"/>
            <a:ext cx="16736126" cy="12573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</a:pPr>
            <a:r>
              <a:rPr lang="en-US" sz="3501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A BLOCKCHAIN-ENABLED FEDERATED LEARNING FRAMEWORK FOR</a:t>
            </a:r>
          </a:p>
          <a:p>
            <a:pPr algn="ctr">
              <a:lnSpc>
                <a:spcPts val="3151"/>
              </a:lnSpc>
            </a:pPr>
            <a:endParaRPr lang="en-US" sz="3501" b="1" dirty="0">
              <a:solidFill>
                <a:srgbClr val="00000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  <a:p>
            <a:pPr algn="ctr">
              <a:lnSpc>
                <a:spcPts val="3151"/>
              </a:lnSpc>
            </a:pPr>
            <a:r>
              <a:rPr lang="en-US" sz="3501" b="1" dirty="0">
                <a:solidFill>
                  <a:srgbClr val="00000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PRIVACY-PRESERVING HISTOPATHOLOGICAL IMAGE CLASSIFICATION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371846" y="6851741"/>
            <a:ext cx="3535831" cy="391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Date: October 2026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298029" y="3388456"/>
            <a:ext cx="5236315" cy="8794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Course Code: ECE 452</a:t>
            </a:r>
          </a:p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8341864" y="4658454"/>
            <a:ext cx="1595795" cy="3917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Prepared By-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298029" y="5491535"/>
            <a:ext cx="5589171" cy="15569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2002126 Level:4, Semester:II</a:t>
            </a:r>
          </a:p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2002138 Level:4, Semester:II</a:t>
            </a:r>
          </a:p>
          <a:p>
            <a:pPr algn="ctr">
              <a:defRPr sz="2400">
                <a:solidFill>
                  <a:srgbClr val="000000"/>
                </a:solidFill>
                <a:latin typeface="Times New Roman"/>
              </a:defRPr>
            </a:pPr>
            <a:r>
              <a:t>Student ID: 2102151 Level:4, Semester:II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4822275" y="7634059"/>
            <a:ext cx="9272228" cy="78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  <a:defRPr sz="2400">
                <a:solidFill>
                  <a:srgbClr val="000000"/>
                </a:solidFill>
                <a:latin typeface="Times New Roman"/>
              </a:defRPr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Department of Electronics and Communication Engineering (ECE)</a:t>
            </a:r>
          </a:p>
          <a:p>
            <a:pPr algn="ctr">
              <a:lnSpc>
                <a:spcPts val="3080"/>
              </a:lnSpc>
              <a:spcBef>
                <a:spcPct val="0"/>
              </a:spcBef>
              <a:defRPr sz="2400">
                <a:solidFill>
                  <a:srgbClr val="000000"/>
                </a:solidFill>
                <a:latin typeface="Times New Roman"/>
              </a:defRPr>
            </a:pPr>
            <a:endParaRPr lang="en-US" sz="2200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4177763" y="8442852"/>
            <a:ext cx="12578044" cy="7823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80"/>
              </a:lnSpc>
              <a:spcBef>
                <a:spcPct val="0"/>
              </a:spcBef>
              <a:defRPr sz="2200">
                <a:solidFill>
                  <a:srgbClr val="000000"/>
                </a:solidFill>
                <a:latin typeface="Times New Roman"/>
              </a:defRPr>
            </a:pPr>
            <a:r>
              <a:rPr lang="en-US" sz="2200" b="1">
                <a:solidFill>
                  <a:srgbClr val="303030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Hajee Mohammad Danesh Science and Technology University, Dinajpur-5200, Bangladesh</a:t>
            </a:r>
          </a:p>
          <a:p>
            <a:pPr algn="ctr">
              <a:lnSpc>
                <a:spcPts val="3080"/>
              </a:lnSpc>
              <a:spcBef>
                <a:spcPct val="0"/>
              </a:spcBef>
              <a:defRPr sz="2200">
                <a:solidFill>
                  <a:srgbClr val="000000"/>
                </a:solidFill>
                <a:latin typeface="Times New Roman"/>
              </a:defRPr>
            </a:pPr>
            <a:endParaRPr lang="en-US" sz="2200" b="1">
              <a:solidFill>
                <a:srgbClr val="303030"/>
              </a:solidFill>
              <a:latin typeface="Times New Roman Bold"/>
              <a:ea typeface="Times New Roman Bold"/>
              <a:cs typeface="Times New Roman Bold"/>
              <a:sym typeface="Times New Roman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PROBLEM STATEMENT &amp;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13232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 Problem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98448" y="2267712"/>
            <a:ext cx="448056" cy="4480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88720" y="2926080"/>
            <a:ext cx="7132320" cy="5852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Active Directory Certificate Services (ADCS) manages enterprise PKI in 90%+ Fortune 500 networks, but multi-hop permission misconfigurations enable unprivileged attackers to compromise entire domains.</a:t>
            </a:r>
            <a:r>
              <a:rPr sz="2200">
                <a:solidFill>
                  <a:srgbClr val="000000"/>
                </a:solidFill>
                <a:latin typeface="Times New Roman"/>
              </a:rPr>
              <a:t>• Complex privilege escalation chains spanning 4 to 8 hops (ESC1–ESC13).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000000"/>
                </a:solidFill>
                <a:latin typeface="Times New Roman"/>
              </a:rPr>
              <a:t>• Benign certificate templates weaponized via SAN / UPN spoofing.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000000"/>
                </a:solidFill>
                <a:latin typeface="Times New Roman"/>
              </a:rPr>
              <a:t>• Catastrophic Domain Controller compromise granting instant DCSync replication.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 Solution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36608" y="2267712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26880" y="292608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1. Heterogeneous Graph Attention Networks (HAN) modeling multi-relational enterprise topologies.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2. Orthogonal residual skip connections preventing representation oversmoothing over deep paths.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3. Neuro-Symbolic synthesis guaranteeing 100% formal mathematical soundness.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0" y="548640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6608" y="5559552"/>
            <a:ext cx="448056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326880" y="621792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1. Rule engines (Certipy) fail zero-shot on novel composite escalation paths.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2. Graph search (BloodHound) combinatorial state explosion on 100k+ enterprise nodes.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3. Complete lack of autonomous, disruption-bounded automated remediation mechanisms.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103120"/>
            <a:ext cx="15910559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0000"/>
                </a:solidFill>
                <a:latin typeface="Times New Roman"/>
              </a:defRPr>
            </a:pPr>
            <a:r>
              <a:t>The primary goal is to resolve the conflict between combinatorial scalability and relational security in enterprise Active Directory by developing a mathematically bounded, real-time Heterogeneous Graph Neural Network framework.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(1)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1700" y="402336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25880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Relational Graph Modeling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Model 6 entity types and 18 multi-relational edges spanning users, groups, templates, CAs, and domains.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25696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5696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(2)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408676" y="4023360"/>
            <a:ext cx="1005840" cy="1005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62856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Gradient Preservation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62856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Mathematically prove Theorem 1 to eliminate representation oversmoothing across deep privilege chains.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62672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62672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(3)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45652" y="4023360"/>
            <a:ext cx="100584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99832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Zero-Shot Enterprise Transfer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99832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Achieve near-perfect generalization across 700 unseen synthetic and realistic forest topologies.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899648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9648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(4)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882628" y="4023360"/>
            <a:ext cx="1005840" cy="1005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036808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Neuro-Symbolic Synthesis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36808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Eliminate pure neural blind spots on adversarially crafted hard negatives (disabled enrollment flags).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136624" y="3383280"/>
            <a:ext cx="2971800" cy="53949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36624" y="3520440"/>
            <a:ext cx="2971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600" b="1">
                <a:solidFill>
                  <a:srgbClr val="000000"/>
                </a:solidFill>
                <a:latin typeface="Times New Roman"/>
              </a:defRPr>
            </a:pPr>
            <a:r>
              <a:t>(5)</a:t>
            </a:r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119604" y="4023360"/>
            <a:ext cx="1005840" cy="10058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4273784" y="5212080"/>
            <a:ext cx="2697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Autonomous Mitigation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273784" y="6126480"/>
            <a:ext cx="26974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>
                <a:solidFill>
                  <a:srgbClr val="000000"/>
                </a:solidFill>
                <a:latin typeface="Times New Roman"/>
              </a:defRPr>
            </a:pPr>
            <a:r>
              <a:t>Formulate Minimum Perturbation Attack Interdiction (MPAI), prove NP-hardness (Theorem 2), and train PPO remediation.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LITERATURE SURVEY &amp; SOTA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7" name="Picture 6" descr="tool_comparison_f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88720" y="2194560"/>
            <a:ext cx="7772400" cy="39044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217920"/>
            <a:ext cx="7772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Macro-F1 Comparison Across Detection Paradigms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6766560"/>
            <a:ext cx="7772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Certipy Rule Engine: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0.7162 Macro-F1 (fails zero-shot on unseen paths).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BloodHound Traversal: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0.8621 Macro-F1 (suffers severe combinatorial latency).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CertGraph (Ours):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0.9986 Macro-F1 (+28.24% improvement, p &lt; 1.31e-6).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8320" y="2194560"/>
            <a:ext cx="768096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Research Gap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28048" y="2267712"/>
            <a:ext cx="448056" cy="4480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18320" y="2926080"/>
            <a:ext cx="768096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000000"/>
                </a:solidFill>
                <a:latin typeface="Times New Roman"/>
              </a:defRPr>
            </a:pPr>
            <a:r>
              <a:t>Existing enterprise tools rely on brittle syntactic regexes (Certipy) or unweighted graph traversal (BloodHound). They fail to identify multi-hop composite vulnerabilities and suffer state explosion on graphs with &gt;100,000 entities.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18320" y="4937760"/>
            <a:ext cx="768096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0936"/>
          <a:lstStyle/>
          <a:p>
            <a:pPr algn="l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Proposed Innovations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28048" y="5010912"/>
            <a:ext cx="448056" cy="448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418320" y="5669280"/>
            <a:ext cx="7680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Heterogeneous Relational GAT: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Multi-relational attention aggregation capturing subtle structural dependencies.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Residual Skip Projections: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Preserves gradient bounds ||dh_v / dx_v|| &gt;= sigma_min(W_skip) &gt; 0 to eliminate oversmoothing.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Sub-Second Scalability: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343 ms inference on 10,000 nodes (12.4x faster than Dijkstra shortest-path).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METHODOLOGICAL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05/15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Core Methodological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Integrating Heterogeneous Graph Attention Networks with formal symbolic verification to enable real-time, zero-shot ADCS vulnerability detection.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4480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3-Phase Execution Pipeline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212080"/>
            <a:ext cx="7498079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1: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Multigraph Construction — Ingests LDAP, RPC, and BloodHound JSON into heterogeneous multigraph G = (V, E, tau_V, phi_E) with 6 node types and 18 edge relations.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2: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Relational GNN Embedding — Type-specific linear projection, relational multi-head attention, and residual skip connections.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Phase 3: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Neuro-Symbolic Verification &amp; Action — Fast GNN screening followed by symbolic soundness check and LDAP actuation.</a:t>
            </a:r>
          </a:p>
        </p:txBody>
      </p:sp>
      <p:pic>
        <p:nvPicPr>
          <p:cNvPr id="11" name="Picture 10" descr="adcs_attack_graph_sche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4000" y="2377440"/>
            <a:ext cx="7955279" cy="4544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0" y="7132320"/>
            <a:ext cx="79552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Active Directory Heterogeneous Metagraph Schema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57649" y="-4057652"/>
            <a:ext cx="10553703" cy="18668999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ADCS ATTACK MECHANICS: ESC13 CASE STUDY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06/15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Attack Chain Progression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2926080"/>
            <a:ext cx="7498079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1: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Target Discovery — Attacker identifies certificate template with issuance policy OID linked to privileged administrative group.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2: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Enrollment Abuse — Low-privilege user enrolls and specifies Subject Alternative Name (SAN).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3: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PKINIT Exchange — Submits X.509 certificate to KDC via Kerberos PKINIT, obtaining high-privilege TGT.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Phase 4: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Domain Domination — DCSync replay grants immediate Domain Controller replication privileges.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20" y="6675120"/>
            <a:ext cx="7498079" cy="21031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Why Single-Node Inspection Fails:</a:t>
            </a:r>
          </a:p>
          <a:p>
            <a:pPr>
              <a:defRPr sz="2000">
                <a:solidFill>
                  <a:srgbClr val="000000"/>
                </a:solidFill>
                <a:latin typeface="Times New Roman"/>
              </a:defRPr>
            </a:pPr>
            <a:r>
              <a:t>The vulnerability exists solely as a multi-hop path closure across disparate objects. Every individual node and permission appears completely benign in isolation!</a:t>
            </a:r>
          </a:p>
        </p:txBody>
      </p:sp>
      <p:pic>
        <p:nvPicPr>
          <p:cNvPr id="43" name="Picture 42" descr="esc13_attack_path_diagram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44000" y="2286000"/>
            <a:ext cx="7955279" cy="45994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144000" y="7132320"/>
            <a:ext cx="795527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Two-Hop ESC13 Privilege Escalation Attack Chain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3500"/>
                            </p:stCondLst>
                            <p:childTnLst>
                              <p:par>
                                <p:cTn id="10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3500"/>
                            </p:stCondLst>
                            <p:childTnLst>
                              <p:par>
                                <p:cTn id="13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50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500"/>
                            </p:stCondLst>
                            <p:childTnLst>
                              <p:par>
                                <p:cTn id="2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3500"/>
                            </p:stCondLst>
                            <p:childTnLst>
                              <p:par>
                                <p:cTn id="25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500"/>
                            </p:stCondLst>
                            <p:childTnLst>
                              <p:par>
                                <p:cTn id="2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3500"/>
                            </p:stCondLst>
                            <p:childTnLst>
                              <p:par>
                                <p:cTn id="31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500"/>
                            </p:stCondLst>
                            <p:childTnLst>
                              <p:par>
                                <p:cTn id="3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8" grpId="0"/>
      <p:bldP spid="5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FA8E7-E19A-1196-54D2-B9501D262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C1EF7B5-D100-0186-CC6F-CCAA4591449E}"/>
              </a:ext>
            </a:extLst>
          </p:cNvPr>
          <p:cNvSpPr/>
          <p:nvPr/>
        </p:nvSpPr>
        <p:spPr>
          <a:xfrm rot="-5400000">
            <a:off x="4000500" y="-4000501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SYSTEM ARCHITECTURE: CERTGRAPH GNN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07/15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21" name="Picture 20" descr="certgraph_architecture_diagram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645920" y="2103120"/>
            <a:ext cx="14996159" cy="484632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164592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1. Input Multigraph &amp; Projections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6 entity types projected via type-specific weights W_tau into unified 64-dim space. Accommodates arbitrary enterprise graph scale.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2. Relational Hetero-GAT Layers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4 attention heads per relation. Residual skip connection h_v &lt;- h_v + W_skip h_v directly preserves input gradients across deep hops.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0" y="7223760"/>
            <a:ext cx="4754880" cy="1645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2000" b="1">
                <a:solidFill>
                  <a:srgbClr val="000000"/>
                </a:solidFill>
                <a:latin typeface="Times New Roman"/>
              </a:defRPr>
            </a:pPr>
            <a:r>
              <a:t>3. Readout &amp; Classification Head</a:t>
            </a:r>
          </a:p>
          <a:p>
            <a:pPr>
              <a:defRPr sz="1800">
                <a:solidFill>
                  <a:srgbClr val="000000"/>
                </a:solidFill>
                <a:latin typeface="Times New Roman"/>
              </a:defRPr>
            </a:pPr>
            <a:r>
              <a:t>Template node readout followed by MLP classifier predicting 7 classes (Safe, ESC1, ESC2, ESC3, ESC4, ESC9, ESC13).</a:t>
            </a:r>
          </a:p>
        </p:txBody>
      </p:sp>
    </p:spTree>
    <p:extLst>
      <p:ext uri="{BB962C8B-B14F-4D97-AF65-F5344CB8AC3E}">
        <p14:creationId xmlns:p14="http://schemas.microsoft.com/office/powerpoint/2010/main" val="7036464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8975 -0.09984 L 0.08975 -0.09984 C 0.08663 -0.09737 0.08333 -0.09552 0.08038 -0.09243 C 0.07621 -0.08796 0.073 -0.08055 0.06849 -0.07731 C 0.06371 -0.07376 0.05877 -0.07083 0.05408 -0.06682 C 0.05295 -0.06574 0.05173 -0.06512 0.05069 -0.06373 C 0.04974 -0.0625 0.04913 -0.06049 0.04818 -0.05925 C 0.04713 -0.05787 0.04583 -0.0574 0.04479 -0.05617 C 0.04357 -0.05493 0.04262 -0.05308 0.0414 -0.05169 C 0.04002 -0.05 0.03863 -0.04861 0.03715 -0.04722 C 0.03611 -0.04614 0.03481 -0.04537 0.03377 -0.04413 C 0.03177 -0.04182 0.02969 -0.0395 0.02786 -0.03657 C 0.02569 -0.03333 0.02396 -0.02947 0.02196 -0.02608 C 0.02057 -0.02391 0.0191 -0.02191 0.01771 -0.02006 C 0.01684 -0.01898 0.0158 -0.01836 0.0151 -0.01697 C 0.01189 -0.0108 0.00955 -0.00293 0.00581 0.00263 C -0.0007 0.01204 -0.00738 0.0213 -0.01363 0.03118 C -0.01441 0.03241 -0.01467 0.03442 -0.01537 0.03565 C -0.01728 0.03936 -0.01945 0.0426 -0.02127 0.0463 C -0.02222 0.04815 -0.02283 0.05047 -0.02387 0.05232 C -0.02457 0.05355 -0.0257 0.05402 -0.02639 0.05525 C -0.02952 0.06081 -0.02969 0.0625 -0.03143 0.06883 C -0.03117 0.07392 -0.03099 0.07886 -0.03064 0.08396 C -0.03047 0.08642 -0.02995 0.08889 -0.02978 0.09152 C -0.02943 0.09692 -0.02934 0.10263 -0.02891 0.10803 C -0.02787 0.12207 -0.02804 0.10726 -0.02804 0.11868 " pathEditMode="relative" ptsTypes="AAAAAAAAAAAAAAAAAAAAAAAAAA">
                                      <p:cBhvr>
                                        <p:cTn id="6" dur="5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-0.09506 L 0.00086 -0.09506 C -0.002 -0.07654 -0.00269 -0.08225 4.02778E-6 -0.06496 C 0.00069 -0.06049 0.00251 -0.05138 0.00251 -0.05138 C 0.00225 -0.04598 0.00165 -0.04043 0.00165 -0.03487 C 0.00165 -0.03225 0.00234 -0.02993 0.00251 -0.02731 C 0.00295 -0.0199 0.00286 -0.01219 0.00338 -0.00478 C 0.00442 0.00911 0.00494 0.0034 0.0059 0.01328 C 0.00616 0.01636 0.00633 0.01945 0.00677 0.02238 C 0.0072 0.02593 0.0079 0.02933 0.00842 0.03288 C 0.00876 0.03488 0.00894 0.03689 0.00928 0.03889 C 0.00981 0.04244 0.0105 0.04599 0.01093 0.04954 C 0.01137 0.05247 0.01154 0.05556 0.0118 0.05849 C 0.01154 0.06358 0.01093 0.06852 0.01093 0.07362 C 0.01093 0.07608 0.01163 0.07855 0.0118 0.08118 C 0.01354 0.11173 0.01354 0.10649 0.01354 0.12038 " pathEditMode="relative" ptsTypes="AAAAAAAAAAAAAAAA">
                                      <p:cBhvr>
                                        <p:cTn id="8" dur="50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093 -0.11204 L -0.11093 -0.11204 C -0.10677 -0.11003 -0.10217 -0.10972 -0.09826 -0.10602 C -0.09392 -0.10216 -0.08454 -0.08719 -0.08046 -0.07901 C -0.07821 -0.07438 -0.07612 -0.0696 -0.07369 -0.06543 C -0.06649 -0.05262 -0.05937 -0.0395 -0.05165 -0.02762 C -0.04965 -0.02469 -0.04757 -0.02191 -0.04574 -0.01867 C -0.03767 -0.00478 -0.03116 0.01219 -0.02196 0.02361 C -0.00616 0.04321 0.00947 0.06312 0.02544 0.08241 C 0.04289 0.1034 0.02882 0.08102 0.04497 0.10803 C 0.04636 0.11034 0.04922 0.11559 0.04922 0.11559 " pathEditMode="relative" ptsTypes="AAAAAAAAAAA">
                                      <p:cBhvr>
                                        <p:cTn id="10" dur="50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F8DDB-91EF-C650-6BDA-A3BACFDE3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E6BEF28D-1CBF-E372-4933-AE602DB85551}"/>
              </a:ext>
            </a:extLst>
          </p:cNvPr>
          <p:cNvSpPr/>
          <p:nvPr/>
        </p:nvSpPr>
        <p:spPr>
          <a:xfrm rot="-5400000">
            <a:off x="4057651" y="-4057652"/>
            <a:ext cx="10477500" cy="18592802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THEORETICAL FOUNDATION: THEOREM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08/15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2194560"/>
            <a:ext cx="758952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Relational Attention Formulation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2926080"/>
            <a:ext cx="758952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Attention Weight Formulation: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alpha_ij^(r) = Softmax_j( LeakyReLU( a_r^T [W_tau(i) h_i || W_tau(j) h_j] ) 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Layer Update with Residual Skip Connection: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h_i^(l+1) = sigma( sum_r sum_j alpha_ij^(r) W_r^(l) h_j^(l) + W_skip^(l) h_i^(l) 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Class-Imbalance Aware Focal Loss (gamma = 2.0):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  L_focal = - sum_v alpha_t (1 - p_v,t)^gamma log(p_v,t)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Relational Context: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Allows dynamic reweighting between benign organizational structure (MemberOf) and critical attack primitives (WriteDacl, Enroll).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Theorem 1: Gradient Preservation Guarantee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926080"/>
            <a:ext cx="77724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Theorem Statement: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Let G be a heterogeneous multigraph with L message passing layers. If each layer preserves an orthogonal residual skip projection W_skip^(l) with sigma_min(W_skip^(l)) &gt;= c &gt; 0, then the Jacobian satisfies:
    || dh_v^(L) / dx_v || &gt;= prod_{l=1}^L sigma_min(W_skip^(l)) &gt;= c^L &gt; 0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Elimination of Oversmoothing Collapse: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In standard GNNs as layer depth L -&gt; inf, the Dirichlet energy E(H^(L)) -&gt; 0, causing all node representations to become indistinguishable.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Formal Guarantee: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Theorem 1 mathematically proves that CertGraph preserves distinct structural identities across 4 to 8 hop ADCS delegation chains!</a:t>
            </a:r>
          </a:p>
        </p:txBody>
      </p:sp>
    </p:spTree>
    <p:extLst>
      <p:ext uri="{BB962C8B-B14F-4D97-AF65-F5344CB8AC3E}">
        <p14:creationId xmlns:p14="http://schemas.microsoft.com/office/powerpoint/2010/main" val="35699287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404 0.10417 L 0.02404 0.10417 C 0.02378 0.09954 0.02318 0.09506 0.02318 0.09059 C 0.02318 0.08843 0.02404 0.08657 0.02404 0.08457 C 0.02404 0.07639 0.02344 0.06836 0.02318 0.06034 C 0.02378 0.02176 0.0243 -0.01698 0.02491 -0.05556 C 0.02578 -0.12238 0.02187 -0.09985 0.02656 -0.12485 C 0.02491 -0.12994 0.02153 -0.13411 0.02153 -0.13997 C 0.02153 -0.15154 0.02804 -0.17963 0.03082 -0.19275 C 0.03108 -0.20016 0.03064 -0.20803 0.03168 -0.21528 C 0.03594 -0.24722 0.03698 -0.21512 0.03507 -0.24244 C 0.03672 -0.25046 0.03811 -0.25864 0.0401 -0.26651 C 0.04097 -0.26975 0.04262 -0.27238 0.04349 -0.27562 C 0.04401 -0.27747 0.04375 -0.27978 0.04436 -0.28164 C 0.04496 -0.28303 0.04618 -0.28333 0.04687 -0.28457 C 0.05295 -0.29445 0.05981 -0.30309 0.06467 -0.31466 C 0.073 -0.33441 0.06233 -0.31049 0.06979 -0.32377 C 0.08654 -0.35355 0.05799 -0.3088 0.08507 -0.34938 C 0.08707 -0.35232 0.0888 -0.35586 0.09097 -0.35849 C 0.0941 -0.36188 0.09774 -0.36435 0.10035 -0.36898 C 0.10113 -0.37053 0.10174 -0.37269 0.10286 -0.37346 C 0.10859 -0.37778 0.11675 -0.38117 0.12318 -0.38395 C 0.12917 -0.38349 0.13507 -0.38349 0.14097 -0.38256 C 0.14279 -0.38225 0.1513 -0.37917 0.1546 -0.37793 " pathEditMode="relative" ptsTypes="AAAAAAAAAAAAAAAAAAAAAAAA">
                                      <p:cBhvr>
                                        <p:cTn id="6" dur="2000" fill="hold"/>
                                        <p:tgtEl>
                                          <p:spTgt spid="20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20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856 0.07577 L 0.02856 0.07577 C 0.02708 0.07222 0.0256 0.06883 0.0243 0.06513 C 0.02083 0.05571 0.01788 0.04553 0.01415 0.03658 C 0.00911 0.02438 0.00243 0.01466 -0.002 0.00185 C -0.01146 -0.02577 -0.01893 -0.0554 -0.02743 -0.0841 C -0.02995 -0.1142 -0.03368 -0.14413 -0.03499 -0.17438 C -0.03603 -0.19737 -0.03264 -0.29367 -0.03082 -0.31312 C -0.02978 -0.32376 -0.02882 -0.33673 -0.02405 -0.34321 C -0.01823 -0.35092 -0.0099 -0.34815 -0.00287 -0.35077 C -0.002 -0.35108 -0.00113 -0.35185 -0.00026 -0.35231 C 0.00112 -0.35293 0.00399 -0.3537 0.00399 -0.3537 " pathEditMode="relative" ptsTypes="AAAAAAAAAAAA">
                                      <p:cBhvr>
                                        <p:cTn id="8" dur="2000" fill="hold"/>
                                        <p:tgtEl>
                                          <p:spTgt spid="10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955 0.09799 L 0.00955 0.09799 C 0.01381 0.0841 0.02257 0.05679 0.02396 0.04676 C 0.02839 0.01358 0.02961 -0.02068 0.03238 -0.05432 C 0.03247 -0.05772 0.03438 -0.10957 0.03238 -0.12655 C 0.03134 -0.13565 0.02553 -0.1679 0.02309 -0.17624 C 0.02014 -0.18642 0.01615 -0.19522 0.01294 -0.20494 C 0.01077 -0.21127 0.00964 -0.21883 0.00695 -0.22454 C 0.00417 -0.23056 -4.30556E-6 -0.23426 -0.00321 -0.23966 C -0.00763 -0.24676 -0.01059 -0.25741 -0.01588 -0.26219 C -0.021 -0.26667 -0.02578 -0.27253 -0.03116 -0.27577 C -0.03862 -0.28009 -0.04687 -0.27932 -0.05408 -0.28472 C -0.05607 -0.28627 -0.05816 -0.28735 -0.05998 -0.28935 C -0.0664 -0.2963 -0.07187 -0.30587 -0.07864 -0.31188 C -0.08298 -0.31574 -0.0848 -0.31729 -0.08967 -0.32253 C -0.0914 -0.32438 -0.09296 -0.3267 -0.0947 -0.32855 C -0.09722 -0.33117 -0.09982 -0.33334 -0.10234 -0.33596 C -0.10607 -0.33997 -0.10946 -0.34476 -0.11336 -0.34815 C -0.11658 -0.35077 -0.12013 -0.35216 -0.12352 -0.35417 L -0.12612 -0.35556 C -0.13125 -0.36482 -0.12552 -0.35648 -0.13541 -0.36158 C -0.14774 -0.36806 -0.13941 -0.36759 -0.1447 -0.36759 " pathEditMode="relative" ptsTypes="AAAAAAAAAAAAAAAAAAAAAA">
                                      <p:cBhvr>
                                        <p:cTn id="10" dur="2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9"/>
                                          </p:stCondLst>
                                        </p:cTn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0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31B902-9645-E561-E7FF-0159FE7B6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8E4E544A-724A-377F-AF05-4A2C603D5029}"/>
              </a:ext>
            </a:extLst>
          </p:cNvPr>
          <p:cNvSpPr/>
          <p:nvPr/>
        </p:nvSpPr>
        <p:spPr>
          <a:xfrm rot="-5400000">
            <a:off x="4000500" y="-4000501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  <p:txBody>
          <a:bodyPr/>
          <a:lstStyle/>
          <a:p>
            <a:endParaRPr lang="en-US" dirty="0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EXPERIMENTAL TESTBED (GOAD &amp; ADSYNTH)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09/15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88720" y="219456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Dual Experimental Environments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26080"/>
            <a:ext cx="7772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Game of Active Directory (GOAD):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Multi-forest enterprise environment with 5 Domain Controllers, nested OUs, and real-world Kerberos/ADCS attack primitives.</a:t>
            </a:r>
          </a:p>
          <a:p>
            <a:pPr>
              <a:spcAft>
                <a:spcPts val="12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ADSynth Synthetic Generator: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Generates 700 enterprise topologies with 100 to 100,000 nodes for combinatorial scalability stress testing.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5486400"/>
            <a:ext cx="777240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Dataset Composition &amp;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6217920"/>
            <a:ext cx="7772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28,450 total nodes across 6 entity classes.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142,890 multi-relational edges spanning DACLs, group nestings, and PKI.</a:t>
            </a:r>
          </a:p>
          <a:p>
            <a:pPr>
              <a:spcAft>
                <a:spcPts val="1000"/>
              </a:spcAft>
            </a:pPr>
            <a:r>
              <a:rPr sz="2100">
                <a:solidFill>
                  <a:srgbClr val="000000"/>
                </a:solidFill>
                <a:latin typeface="Times New Roman"/>
              </a:rPr>
              <a:t>• Rigorous 5-fold cross-validation with non-overlapping forest partitions.</a:t>
            </a:r>
          </a:p>
        </p:txBody>
      </p:sp>
      <p:pic>
        <p:nvPicPr>
          <p:cNvPr id="25" name="Picture 24" descr="goad_forest_topology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418320" y="2377440"/>
            <a:ext cx="7680960" cy="40965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418320" y="6766560"/>
            <a:ext cx="7680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i="1">
                <a:solidFill>
                  <a:srgbClr val="000000"/>
                </a:solidFill>
                <a:latin typeface="Times New Roman"/>
              </a:defRPr>
            </a:pPr>
            <a:r>
              <a:t>Figure: GOAD Multi-Forest Enterprise Topology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0" y="73152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Authentic enterprise complexity: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Multiple trust relationships, gMSA service accounts, and cross-domain PKI issuance policies.</a:t>
            </a:r>
          </a:p>
        </p:txBody>
      </p:sp>
    </p:spTree>
    <p:extLst>
      <p:ext uri="{BB962C8B-B14F-4D97-AF65-F5344CB8AC3E}">
        <p14:creationId xmlns:p14="http://schemas.microsoft.com/office/powerpoint/2010/main" val="688537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8975 -0.09984 L 0.08975 -0.09984 C 0.08663 -0.09737 0.08333 -0.09552 0.08038 -0.09243 C 0.07621 -0.08796 0.073 -0.08055 0.06849 -0.07731 C 0.06371 -0.07376 0.05877 -0.07083 0.05408 -0.06682 C 0.05295 -0.06574 0.05173 -0.06512 0.05069 -0.06373 C 0.04974 -0.0625 0.04913 -0.06049 0.04818 -0.05925 C 0.04713 -0.05787 0.04583 -0.0574 0.04479 -0.05617 C 0.04357 -0.05493 0.04262 -0.05308 0.0414 -0.05169 C 0.04002 -0.05 0.03863 -0.04861 0.03715 -0.04722 C 0.03611 -0.04614 0.03481 -0.04537 0.03377 -0.04413 C 0.03177 -0.04182 0.02969 -0.0395 0.02786 -0.03657 C 0.02569 -0.03333 0.02396 -0.02947 0.02196 -0.02608 C 0.02057 -0.02391 0.0191 -0.02191 0.01771 -0.02006 C 0.01684 -0.01898 0.0158 -0.01836 0.0151 -0.01697 C 0.01189 -0.0108 0.00955 -0.00293 0.00581 0.00263 C -0.0007 0.01204 -0.00738 0.0213 -0.01363 0.03118 C -0.01441 0.03241 -0.01467 0.03442 -0.01537 0.03565 C -0.01728 0.03936 -0.01945 0.0426 -0.02127 0.0463 C -0.02222 0.04815 -0.02283 0.05047 -0.02387 0.05232 C -0.02457 0.05355 -0.0257 0.05402 -0.02639 0.05525 C -0.02952 0.06081 -0.02969 0.0625 -0.03143 0.06883 C -0.03117 0.07392 -0.03099 0.07886 -0.03064 0.08396 C -0.03047 0.08642 -0.02995 0.08889 -0.02978 0.09152 C -0.02943 0.09692 -0.02934 0.10263 -0.02891 0.10803 C -0.02787 0.12207 -0.02804 0.10726 -0.02804 0.11868 " pathEditMode="relative" ptsTypes="AAAAAAAAAAAAAAAAAAAAAAAAAA">
                                      <p:cBhvr>
                                        <p:cTn id="6" dur="5000" fill="hold"/>
                                        <p:tgtEl>
                                          <p:spTgt spid="10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5"/>
                                            </p:cond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086 -0.09506 L 0.00086 -0.09506 C -0.002 -0.07654 -0.00269 -0.08225 4.02778E-6 -0.06496 C 0.00069 -0.06049 0.00251 -0.05138 0.00251 -0.05138 C 0.00225 -0.04598 0.00165 -0.04043 0.00165 -0.03487 C 0.00165 -0.03225 0.00234 -0.02993 0.00251 -0.02731 C 0.00295 -0.0199 0.00286 -0.01219 0.00338 -0.00478 C 0.00442 0.00911 0.00494 0.0034 0.0059 0.01328 C 0.00616 0.01636 0.00633 0.01945 0.00677 0.02238 C 0.0072 0.02593 0.0079 0.02933 0.00842 0.03288 C 0.00876 0.03488 0.00894 0.03689 0.00928 0.03889 C 0.00981 0.04244 0.0105 0.04599 0.01093 0.04954 C 0.01137 0.05247 0.01154 0.05556 0.0118 0.05849 C 0.01154 0.06358 0.01093 0.06852 0.01093 0.07362 C 0.01093 0.07608 0.01163 0.07855 0.0118 0.08118 C 0.01354 0.11173 0.01354 0.10649 0.01354 0.12038 " pathEditMode="relative" ptsTypes="AAAAAAAAAAAAAAAA">
                                      <p:cBhvr>
                                        <p:cTn id="8" dur="5000" fill="hold"/>
                                        <p:tgtEl>
                                          <p:spTgt spid="10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7"/>
                                            </p:cond>
                                          </p:stCondLst>
                                        </p:cTn>
                                        <p:tgtEl>
                                          <p:spTgt spid="10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9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11093 -0.11204 L -0.11093 -0.11204 C -0.10677 -0.11003 -0.10217 -0.10972 -0.09826 -0.10602 C -0.09392 -0.10216 -0.08454 -0.08719 -0.08046 -0.07901 C -0.07821 -0.07438 -0.07612 -0.0696 -0.07369 -0.06543 C -0.06649 -0.05262 -0.05937 -0.0395 -0.05165 -0.02762 C -0.04965 -0.02469 -0.04757 -0.02191 -0.04574 -0.01867 C -0.03767 -0.00478 -0.03116 0.01219 -0.02196 0.02361 C -0.00616 0.04321 0.00947 0.06312 0.02544 0.08241 C 0.04289 0.1034 0.02882 0.08102 0.04497 0.10803 C 0.04636 0.11034 0.04922 0.11559 0.04922 0.11559 " pathEditMode="relative" ptsTypes="AAAAAAAAAAA">
                                      <p:cBhvr>
                                        <p:cTn id="10" dur="5000" fill="hold"/>
                                        <p:tgtEl>
                                          <p:spTgt spid="10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sameClick" afterEffect="1">
                                          <p:stCondLst>
                                            <p:cond evt="end" delay="0">
                                              <p:tn val="9"/>
                                            </p:cond>
                                          </p:stCondLst>
                                        </p:cTn>
                                        <p:tgtEl>
                                          <p:spTgt spid="10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RESULTS: BENCHMARK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10/15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84124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Quantitative Performance Summary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2926080"/>
          <a:ext cx="84124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103120"/>
                <a:gridCol w="2103120"/>
              </a:tblGrid>
              <a:tr h="65532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Certipy (Rule)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Homogeneous GCN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CertGraph (Ours)</a:t>
                      </a:r>
                    </a:p>
                  </a:txBody>
                  <a:tcPr>
                    <a:solidFill>
                      <a:srgbClr val="E6EBF5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74.20%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87.41%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69.21%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85.04%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99.84%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71.62%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86.21%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99.86%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0.8410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0.9340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0.9998</a:t>
                      </a:r>
                    </a:p>
                  </a:txBody>
                  <a:tcPr>
                    <a:solidFill>
                      <a:srgbClr val="F5F7FC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l">
                        <a:defRPr sz="2000" b="1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Zero-Shot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Fails (0%)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000000"/>
                          </a:solidFill>
                          <a:latin typeface="Times New Roman"/>
                        </a:defRPr>
                      </a:pPr>
                      <a:r>
                        <a:t>64.12%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102C57"/>
                          </a:solidFill>
                          <a:latin typeface="Times New Roman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188720" y="7132320"/>
            <a:ext cx="84124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0000"/>
                </a:solidFill>
                <a:latin typeface="Times New Roman"/>
              </a:defRPr>
            </a:pPr>
            <a:r>
              <a:t>Significance: CertGraph outperforms rule-based tools by +28.24% (p &lt; 1.31e-6) and achieves 100% Zero-Shot F1 across unseen enterprise topologies.</a:t>
            </a:r>
          </a:p>
        </p:txBody>
      </p:sp>
      <p:pic>
        <p:nvPicPr>
          <p:cNvPr id="10" name="Picture 9" descr="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2194560"/>
            <a:ext cx="6858000" cy="6053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241280" y="83210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Multi-Class Confusion Matrix (Test Set, N=200)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ABLATION STUDY &amp; MODEL INTERPRETABILITY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11/15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pic>
        <p:nvPicPr>
          <p:cNvPr id="7" name="Picture 6" descr="ablation_compariso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8720" y="2194560"/>
            <a:ext cx="7680960" cy="382219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88720" y="608076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Architectural Ablation Study (5-Fold CV)</a:t>
            </a:r>
          </a:p>
        </p:txBody>
      </p:sp>
      <p:pic>
        <p:nvPicPr>
          <p:cNvPr id="9" name="Picture 8" descr="attention_explainabilit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18320" y="2194560"/>
            <a:ext cx="7680960" cy="38221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18320" y="6080760"/>
            <a:ext cx="7680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 i="1">
                <a:solidFill>
                  <a:srgbClr val="000000"/>
                </a:solidFill>
                <a:latin typeface="Times New Roman"/>
              </a:defRPr>
            </a:pPr>
            <a:r>
              <a:t>Figure: Relational Attention Weights in ESC13 Chain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6537960"/>
            <a:ext cx="15910559" cy="50292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Key Analytical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7132320"/>
            <a:ext cx="15910559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Validation of Theorem 1: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Removing residual skip connections drops Macro-F1 from 0.9986 to 0.4768 (-52.18% collapse, p = 1.31e-6), empirically verifying representation oversmoothing over deep paths.</a:t>
            </a:r>
          </a:p>
          <a:p>
            <a:pPr>
              <a:spcAft>
                <a:spcPts val="1000"/>
              </a:spcAft>
            </a:pPr>
            <a:r>
              <a:rPr sz="2100" b="1">
                <a:solidFill>
                  <a:srgbClr val="000000"/>
                </a:solidFill>
                <a:latin typeface="Times New Roman"/>
              </a:rPr>
              <a:t>• Attention Interpretability:</a:t>
            </a:r>
            <a:r>
              <a:rPr sz="2100" b="0">
                <a:solidFill>
                  <a:srgbClr val="000000"/>
                </a:solidFill>
                <a:latin typeface="Times New Roman"/>
              </a:rPr>
              <a:t> High relational attention weights (alpha &gt; 0.85) align precisely with ground-truth escalation edges (GenericAll, WriteDacl, Enroll), providing instant visual proof for security analysts.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NEURO-SYMBOLIC HYBRID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12/15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Neural Shortcut Collapse Discovery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Adversarial Hard Negatives: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Templates with identical ESC1 attributes, but disabled enrollment flags or disconnected ACLs.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Critical Vulnerability: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Pure Neural GNN accuracy drops to only 1.59%! The network is tricked by local syntactic similarity.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512064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Two-Tier Neuro-Symbolic Solution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5852160"/>
            <a:ext cx="7498079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Tier 1 (Neural Filter):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Fast GNN screening prunes 99.8% of benign nodes in milliseconds.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Tier 2 (Symbolic Engine):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Formal BFS validator verifies cryptographic reachability on candidate subgraphs.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Outcome: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99.91% verified accuracy with 0% false positive escape!</a:t>
            </a:r>
          </a:p>
        </p:txBody>
      </p:sp>
      <p:pic>
        <p:nvPicPr>
          <p:cNvPr id="11" name="Picture 10" descr="neuro_symbolic_pipe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61120" y="2194560"/>
            <a:ext cx="8138160" cy="3749039"/>
          </a:xfrm>
          <a:prstGeom prst="rect">
            <a:avLst/>
          </a:prstGeom>
        </p:spPr>
      </p:pic>
      <p:pic>
        <p:nvPicPr>
          <p:cNvPr id="12" name="Picture 11" descr="hard_negatives_compari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6035040"/>
            <a:ext cx="7772400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000000"/>
                </a:solidFill>
                <a:latin typeface="Times New Roman"/>
              </a:defRPr>
            </a:pPr>
            <a:r>
              <a:t>SCALABILITY &amp; AUTONOMOUS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13/15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Sub-Second Operational Scalability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7498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1,000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42 ms latency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10,000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343 ms latency (12.4x faster than Dijkstra)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50,000 Nodes: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1.62 seconds across forest boundaries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Real-Time Auditing: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Enables background scans every 60s without disrupting production authentication traffic.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5394960"/>
            <a:ext cx="7498079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Theorem 2 (MPAI NP-Hardness) &amp; Remediation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6126480"/>
            <a:ext cx="7498079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Theorem Statement: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The Minimum Perturbation Attack Interdiction (MPAI) problem in ADCS multigraphs is NP-hard (reduced from Directed Multiway Cut).</a:t>
            </a:r>
          </a:p>
          <a:p>
            <a:pPr>
              <a:spcAft>
                <a:spcPts val="10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Autonomous Remediation: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
Solved via PPO reinforcement learning, achieving 100% path interdiction with &lt;0.5% operational disruption.</a:t>
            </a:r>
          </a:p>
        </p:txBody>
      </p:sp>
      <p:pic>
        <p:nvPicPr>
          <p:cNvPr id="11" name="Picture 10" descr="scalability_metric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2103120"/>
            <a:ext cx="7132320" cy="3474720"/>
          </a:xfrm>
          <a:prstGeom prst="rect">
            <a:avLst/>
          </a:prstGeom>
        </p:spPr>
      </p:pic>
      <p:pic>
        <p:nvPicPr>
          <p:cNvPr id="12" name="Picture 11" descr="game_theoretic_convergenc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4000" y="5760720"/>
            <a:ext cx="80467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10287000" y="0"/>
                </a:move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lnTo>
                  <a:pt x="10287000" y="0"/>
                </a:lnTo>
                <a:close/>
              </a:path>
            </a:pathLst>
          </a:custGeom>
          <a:blipFill>
            <a:blip r:embed="rId2"/>
            <a:stretch>
              <a:fillRect l="-12888" r="-12888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486400" y="4265817"/>
            <a:ext cx="7315200" cy="2752344"/>
          </a:xfrm>
          <a:custGeom>
            <a:avLst/>
            <a:gdLst/>
            <a:ahLst/>
            <a:cxnLst/>
            <a:rect l="l" t="t" r="r" b="b"/>
            <a:pathLst>
              <a:path w="7315200" h="2752344">
                <a:moveTo>
                  <a:pt x="0" y="0"/>
                </a:moveTo>
                <a:lnTo>
                  <a:pt x="7315200" y="0"/>
                </a:lnTo>
                <a:lnTo>
                  <a:pt x="7315200" y="2752344"/>
                </a:lnTo>
                <a:lnTo>
                  <a:pt x="0" y="2752344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TextBox 4"/>
          <p:cNvSpPr txBox="1"/>
          <p:nvPr/>
        </p:nvSpPr>
        <p:spPr>
          <a:xfrm>
            <a:off x="4274241" y="7500649"/>
            <a:ext cx="9739517" cy="812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50"/>
              </a:lnSpc>
            </a:pPr>
            <a:r>
              <a:rPr lang="en-US" sz="55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ANY QUESTIONS ?</a:t>
            </a:r>
          </a:p>
        </p:txBody>
      </p:sp>
      <p:sp>
        <p:nvSpPr>
          <p:cNvPr id="5" name="Freeform 5"/>
          <p:cNvSpPr/>
          <p:nvPr/>
        </p:nvSpPr>
        <p:spPr>
          <a:xfrm>
            <a:off x="8135791" y="1235307"/>
            <a:ext cx="2016418" cy="2563785"/>
          </a:xfrm>
          <a:custGeom>
            <a:avLst/>
            <a:gdLst/>
            <a:ahLst/>
            <a:cxnLst/>
            <a:rect l="l" t="t" r="r" b="b"/>
            <a:pathLst>
              <a:path w="2016418" h="2563785">
                <a:moveTo>
                  <a:pt x="0" y="0"/>
                </a:moveTo>
                <a:lnTo>
                  <a:pt x="2016418" y="0"/>
                </a:lnTo>
                <a:lnTo>
                  <a:pt x="2016418" y="2563785"/>
                </a:lnTo>
                <a:lnTo>
                  <a:pt x="0" y="2563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andsca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7864" y="832104"/>
            <a:ext cx="905256" cy="115214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350008" y="978408"/>
            <a:ext cx="12984480" cy="832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000000"/>
                </a:solidFill>
                <a:latin typeface="Times New Roman"/>
              </a:defRPr>
            </a:pPr>
            <a:r>
              <a:t>CONCLUSION &amp; 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81376" y="438912"/>
            <a:ext cx="1783080" cy="393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>
                <a:solidFill>
                  <a:srgbClr val="000000"/>
                </a:solidFill>
                <a:latin typeface="Times New Roman"/>
              </a:defRPr>
            </a:pPr>
            <a:r>
              <a:t>14/15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9198864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Course Title: Project and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88720" y="2194560"/>
            <a:ext cx="84124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6 Tangible Academic Contributions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926080"/>
            <a:ext cx="8412480" cy="603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1. Heterogeneous Multigraph Formalization: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First formal multigraph schema capturing all 13 ADCS escalation classes across users, groups, templates, CAs, and domains.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2. Mathematical Bounds (Theorem 1):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Proved gradient preservation lower bounds, mathematically guaranteeing anti-oversmoothing across 4+ hops.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3. Empirical Benchmark Suite: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0.9986 Macro-F1 across 700 topologies and 5-fold cross-validation on realistic GOAD multi-forest testbeds.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4. Attention Explainability: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Direct visual interpretation linking high relational attention weights to critical escalation edges.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5. Neuro-Symbolic Pipeline: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Production-ready hybrid eliminating false positives on adversarial hard negatives (99.91% verified accuracy).</a:t>
            </a:r>
          </a:p>
          <a:p>
            <a:pPr>
              <a:spcAft>
                <a:spcPts val="1200"/>
              </a:spcAft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6. Theorem 2 &amp; Autonomous Interdiction: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Formal NP-hardness proof via Directed Multiway Cut and convergent PPO remediation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58400" y="2194560"/>
            <a:ext cx="70408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Future Research Directions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0" y="2926080"/>
            <a:ext cx="7040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Real-time honeypot certificate injection for active deception and automated attacker quarantine.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Extension to cloud-hybrid Microsoft Entra ID (Azure AD) identity multigraphs and cross-tenant sync mechanisms.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000000"/>
                </a:solidFill>
                <a:latin typeface="Times New Roman"/>
              </a:rPr>
              <a:t>• Integration of zero-knowledge proof (ZKP) verification for cross-domain certificate issuance validation.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5852160"/>
            <a:ext cx="7040880" cy="59436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0000"/>
                </a:solidFill>
                <a:latin typeface="Times New Roman"/>
              </a:defRPr>
            </a:pPr>
            <a:r>
              <a:t>Project &amp; Thesis Milestones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6583680"/>
            <a:ext cx="7040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Course Code: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ECE 452 (Project and Thesis)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Department: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Electronics &amp; Communication Engineering (ECE)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Institution: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Hajee Mohammad Danesh Science and Technology University (HSTU)</a:t>
            </a:r>
          </a:p>
          <a:p>
            <a:pPr>
              <a:spcAft>
                <a:spcPts val="800"/>
              </a:spcAft>
            </a:pPr>
            <a:r>
              <a:rPr sz="2000" b="1">
                <a:solidFill>
                  <a:srgbClr val="000000"/>
                </a:solidFill>
                <a:latin typeface="Times New Roman"/>
              </a:rPr>
              <a:t>• Defense Session:</a:t>
            </a:r>
            <a:r>
              <a:rPr sz="2000" b="0">
                <a:solidFill>
                  <a:srgbClr val="000000"/>
                </a:solidFill>
                <a:latin typeface="Times New Roman"/>
              </a:rPr>
              <a:t> October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1074</Words>
  <Application>Microsoft Office PowerPoint</Application>
  <PresentationFormat>Custom</PresentationFormat>
  <Paragraphs>204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Times New Roman Bold</vt:lpstr>
      <vt:lpstr>Calibri</vt:lpstr>
      <vt:lpstr>Telegraf Bold</vt:lpstr>
      <vt:lpstr>Calibri (MS)</vt:lpstr>
      <vt:lpstr>Times New Roman</vt:lpstr>
      <vt:lpstr>Arial</vt:lpstr>
      <vt:lpstr>Big Shoulders Display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and Thesis</dc:title>
  <cp:lastModifiedBy>Shahriar Hasan</cp:lastModifiedBy>
  <cp:revision>4</cp:revision>
  <dcterms:created xsi:type="dcterms:W3CDTF">2006-08-16T00:00:00Z</dcterms:created>
  <dcterms:modified xsi:type="dcterms:W3CDTF">2026-02-21T19:29:52Z</dcterms:modified>
  <dc:identifier>DAHB8UTRzk4</dc:identifier>
</cp:coreProperties>
</file>