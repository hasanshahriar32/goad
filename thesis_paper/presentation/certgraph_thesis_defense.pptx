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st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864" y="292608"/>
            <a:ext cx="653641" cy="960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353312"/>
            <a:ext cx="94484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50" b="1">
                <a:solidFill>
                  <a:srgbClr val="0C2340"/>
                </a:solidFill>
                <a:latin typeface="Georgia"/>
              </a:defRPr>
            </a:pPr>
            <a:r>
              <a:t>HAJEE MOHAMMAD DANESH SCIENCE AND TECHNOLOGY UNIVERSITY</a:t>
            </a:r>
          </a:p>
          <a:p>
            <a:pPr algn="ctr">
              <a:defRPr sz="1150">
                <a:solidFill>
                  <a:srgbClr val="4A5568"/>
                </a:solidFill>
                <a:latin typeface="Calibri"/>
              </a:defRPr>
            </a:pPr>
            <a:r>
              <a:t>Department of Electronics and Communication Engineering (ECE)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2121408"/>
            <a:ext cx="6705295" cy="18288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12848"/>
            <a:ext cx="9997135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8860B"/>
                </a:solidFill>
                <a:latin typeface="Calibri"/>
              </a:defRPr>
            </a:pPr>
            <a:r>
              <a:t>BACHELOR OF SCIENCE IN ECE • FINAL YEAR THESIS DEFENSE (COURSE: ECE 452)</a:t>
            </a:r>
          </a:p>
          <a:p>
            <a:pPr algn="ctr">
              <a:spcBef>
                <a:spcPts val="500"/>
              </a:spcBef>
              <a:defRPr sz="2100" b="1">
                <a:solidFill>
                  <a:srgbClr val="071626"/>
                </a:solidFill>
                <a:latin typeface="Georgia"/>
              </a:defRPr>
            </a:pPr>
            <a:r>
              <a:t>CertGraph: Heterogeneous Graph Attention Networks for Active Directory Certificate Services Vulnerability Detection and Autonomous Defense</a:t>
            </a:r>
          </a:p>
          <a:p>
            <a:pPr algn="ctr">
              <a:spcBef>
                <a:spcPts val="500"/>
              </a:spcBef>
              <a:defRPr sz="1200" i="1">
                <a:solidFill>
                  <a:srgbClr val="4A5568"/>
                </a:solidFill>
                <a:latin typeface="Georgia"/>
              </a:defRPr>
            </a:pPr>
            <a:r>
              <a:t>A Rigorous Graph Neural Framework for Multi-Hop Topological Privilege Escalation 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80560"/>
            <a:ext cx="4572000" cy="1691640"/>
          </a:xfrm>
          <a:prstGeom prst="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4480560"/>
            <a:ext cx="73152" cy="1691640"/>
          </a:xfrm>
          <a:prstGeom prst="rect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0200" y="4590288"/>
            <a:ext cx="420624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C2340"/>
                </a:solidFill>
                <a:latin typeface="Calibri"/>
              </a:defRPr>
            </a:pPr>
            <a:r>
              <a:t>CANDIDATE STUDENT IDS</a:t>
            </a:r>
          </a:p>
          <a:p>
            <a:pPr>
              <a:defRPr sz="1000">
                <a:solidFill>
                  <a:srgbClr val="4A5568"/>
                </a:solidFill>
                <a:latin typeface="Calibri"/>
              </a:defRPr>
            </a:pPr>
            <a:r>
              <a:t>Department of Electronics and Communication Engineering</a:t>
            </a:r>
          </a:p>
          <a:p>
            <a:pPr>
              <a:spcBef>
                <a:spcPts val="800"/>
              </a:spcBef>
              <a:defRPr sz="1100" b="1">
                <a:solidFill>
                  <a:srgbClr val="0C2340"/>
                </a:solidFill>
                <a:latin typeface="Consolas"/>
              </a:defRPr>
            </a:pPr>
            <a:r>
              <a:t>ID: 2002126   |   ID: 2002138   |   ID: 2102151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4480560"/>
            <a:ext cx="4572000" cy="1691640"/>
          </a:xfrm>
          <a:prstGeom prst="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4480560"/>
            <a:ext cx="73152" cy="1691640"/>
          </a:xfrm>
          <a:prstGeom prst="rect">
            <a:avLst/>
          </a:prstGeom>
          <a:solidFill>
            <a:srgbClr val="B8860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590288"/>
            <a:ext cx="420624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8860B"/>
                </a:solidFill>
                <a:latin typeface="Calibri"/>
              </a:defRPr>
            </a:pPr>
            <a:r>
              <a:t>ACADEMIC EXAMINATION COMMITTEE</a:t>
            </a:r>
          </a:p>
          <a:p>
            <a:pPr>
              <a:defRPr sz="1000" b="1">
                <a:solidFill>
                  <a:srgbClr val="1A202C"/>
                </a:solidFill>
                <a:latin typeface="Calibri"/>
              </a:defRPr>
            </a:pPr>
            <a:r>
              <a:t>Department of ECE, Faculty of Computer Science &amp; Engineering</a:t>
            </a:r>
          </a:p>
          <a:p>
            <a:pPr>
              <a:defRPr sz="950">
                <a:solidFill>
                  <a:srgbClr val="4A5568"/>
                </a:solidFill>
                <a:latin typeface="Calibri"/>
              </a:defRPr>
            </a:pPr>
            <a:r>
              <a:t>Hajee Mohammad Danesh Science and Technology University, Dinajpur-5200</a:t>
            </a:r>
          </a:p>
          <a:p>
            <a:pPr>
              <a:defRPr sz="900" i="1">
                <a:solidFill>
                  <a:srgbClr val="718096"/>
                </a:solidFill>
                <a:latin typeface="Calibri"/>
              </a:defRPr>
            </a:pPr>
            <a:r>
              <a:t>Academic Session Defense: October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E1B22D"/>
                </a:solidFill>
                <a:latin typeface="Calibri"/>
              </a:defRPr>
            </a:pPr>
            <a:r>
              <a:t>SECTION 1.0 •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Defense Presentation 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01168"/>
            <a:ext cx="237744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HSTU DINANJPUR • ECE</a:t>
            </a:r>
          </a:p>
          <a:p>
            <a:pPr algn="r">
              <a:defRPr sz="950">
                <a:solidFill>
                  <a:srgbClr val="CBD5E1"/>
                </a:solidFill>
                <a:latin typeface="Calibri"/>
              </a:defRPr>
            </a:pPr>
            <a:r>
              <a:t>Thesis Defense • Oct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5394960" cy="23317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73152" cy="233172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7160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0C2340"/>
                </a:solidFill>
                <a:latin typeface="Georgia"/>
              </a:defRPr>
            </a:pPr>
            <a:r>
              <a:t>Part I: Motivation, Background &amp; Research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82495"/>
            <a:ext cx="5102352" cy="1856231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1.1 Enterprise Context: </a:t>
            </a:r>
            <a:r>
              <a:rPr b="0" sz="1100">
                <a:solidFill>
                  <a:srgbClr val="1A202C"/>
                </a:solidFill>
                <a:latin typeface="Calibri"/>
              </a:rPr>
              <a:t>The ADCS attack surface and multi-hop privilege escalation.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1.2 Tool Limitations: </a:t>
            </a:r>
            <a:r>
              <a:rPr b="0" sz="1100">
                <a:solidFill>
                  <a:srgbClr val="1A202C"/>
                </a:solidFill>
                <a:latin typeface="Calibri"/>
              </a:rPr>
              <a:t>Why Certipy, BloodHound, and rule engines fail at scale.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1.3 Formal Questions (RQ1–4): </a:t>
            </a:r>
            <a:r>
              <a:rPr b="0" sz="1100">
                <a:solidFill>
                  <a:srgbClr val="1A202C"/>
                </a:solidFill>
                <a:latin typeface="Calibri"/>
              </a:rPr>
              <a:t>Representation, zero-shot transfer, robustness, mitigation.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1.4 ESC13 Case Study: </a:t>
            </a:r>
            <a:r>
              <a:rPr b="0" sz="1100">
                <a:solidFill>
                  <a:srgbClr val="1A202C"/>
                </a:solidFill>
                <a:latin typeface="Calibri"/>
              </a:rPr>
              <a:t>Detailed walk-through of cross-forest certificate abuse.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94760"/>
            <a:ext cx="539496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94760"/>
            <a:ext cx="73152" cy="242316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88620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0C2340"/>
                </a:solidFill>
                <a:latin typeface="Georgia"/>
              </a:defRPr>
            </a:pPr>
            <a:r>
              <a:t>Part II: Methodology &amp; Mathematical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197096"/>
            <a:ext cx="5102352" cy="19476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2.1 Graph Formulation: </a:t>
            </a:r>
            <a:r>
              <a:rPr b="0" sz="1100">
                <a:solidFill>
                  <a:srgbClr val="1A202C"/>
                </a:solidFill>
                <a:latin typeface="Calibri"/>
              </a:rPr>
              <a:t>6 entity types and 18 multi-relational edges.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2.2 CertGraph Architecture: </a:t>
            </a:r>
            <a:r>
              <a:rPr b="0" sz="1100">
                <a:solidFill>
                  <a:srgbClr val="1A202C"/>
                </a:solidFill>
                <a:latin typeface="Calibri"/>
              </a:rPr>
              <a:t>Type-specific projections, attention aggregation, dual heads.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2.3 Theorem 1: </a:t>
            </a:r>
            <a:r>
              <a:rPr b="0" sz="1100">
                <a:solidFill>
                  <a:srgbClr val="1A202C"/>
                </a:solidFill>
                <a:latin typeface="Calibri"/>
              </a:rPr>
              <a:t>Proof of gradient preservation and anti-oversmoothing.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394960" cy="23317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280160"/>
            <a:ext cx="73152" cy="233172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137160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0C2340"/>
                </a:solidFill>
                <a:latin typeface="Georgia"/>
              </a:defRPr>
            </a:pPr>
            <a:r>
              <a:t>Part III: Empirical Evaluation &amp; Ablation Studies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1682495"/>
            <a:ext cx="5102352" cy="1856231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3.1 Experimental Testbed: </a:t>
            </a:r>
            <a:r>
              <a:rPr b="0" sz="1100">
                <a:solidFill>
                  <a:srgbClr val="1A202C"/>
                </a:solidFill>
                <a:latin typeface="Calibri"/>
              </a:rPr>
              <a:t>Game of Active Directory (GOAD) and 700 ADSynth forests.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3.2 Baseline Benchmark: </a:t>
            </a:r>
            <a:r>
              <a:rPr b="0" sz="1100">
                <a:solidFill>
                  <a:srgbClr val="1A202C"/>
                </a:solidFill>
                <a:latin typeface="Calibri"/>
              </a:rPr>
              <a:t>CertGraph vs. Certipy, BloodHound, GCN, GAT, GraphSAGE.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3.3 Ablation Studies: </a:t>
            </a:r>
            <a:r>
              <a:rPr b="0" sz="1100">
                <a:solidFill>
                  <a:srgbClr val="1A202C"/>
                </a:solidFill>
                <a:latin typeface="Calibri"/>
              </a:rPr>
              <a:t>Impact of residual skip connections and attention weights.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3.4 Scalability Metrics: </a:t>
            </a:r>
            <a:r>
              <a:rPr b="0" sz="1100">
                <a:solidFill>
                  <a:srgbClr val="1A202C"/>
                </a:solidFill>
                <a:latin typeface="Calibri"/>
              </a:rPr>
              <a:t>343 ms sub-second inference across 10,000 nodes.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794760"/>
            <a:ext cx="539496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794760"/>
            <a:ext cx="73152" cy="242316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388620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0C2340"/>
                </a:solidFill>
                <a:latin typeface="Georgia"/>
              </a:defRPr>
            </a:pPr>
            <a:r>
              <a:t>Part IV: Adversarial Synthesis, Defense &amp; Conclusion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197096"/>
            <a:ext cx="5102352" cy="19476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4.1 Adversarial Negatives: </a:t>
            </a:r>
            <a:r>
              <a:rPr b="0" sz="1100">
                <a:solidFill>
                  <a:srgbClr val="1A202C"/>
                </a:solidFill>
                <a:latin typeface="Calibri"/>
              </a:rPr>
              <a:t>Neural shortcut collapse (1.59%) &amp; Neuro-Symbolic resolution.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4.2 Theorem 2 &amp; Defense: </a:t>
            </a:r>
            <a:r>
              <a:rPr b="0" sz="1100">
                <a:solidFill>
                  <a:srgbClr val="1A202C"/>
                </a:solidFill>
                <a:latin typeface="Calibri"/>
              </a:rPr>
              <a:t>MPAI NP-hardness and game-theoretic policy convergence.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4.3 Contributions &amp; Conclusion: </a:t>
            </a:r>
            <a:r>
              <a:rPr b="0" sz="1100">
                <a:solidFill>
                  <a:srgbClr val="1A202C"/>
                </a:solidFill>
                <a:latin typeface="Calibri"/>
              </a:rPr>
              <a:t>Direct synthesis of RQ1–RQ4 and committee discussion.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E1B22D"/>
                </a:solidFill>
                <a:latin typeface="Calibri"/>
              </a:defRPr>
            </a:pPr>
            <a:r>
              <a:t>SECTION 1.1 • CONTEXT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Active Directory Certificate Services (ADCS) &amp; Enterprise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01168"/>
            <a:ext cx="237744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HSTU DINANJPUR • ECE</a:t>
            </a:r>
          </a:p>
          <a:p>
            <a:pPr algn="r">
              <a:defRPr sz="950">
                <a:solidFill>
                  <a:srgbClr val="CBD5E1"/>
                </a:solidFill>
                <a:latin typeface="Calibri"/>
              </a:defRPr>
            </a:pPr>
            <a:r>
              <a:t>Thesis Defense • Oct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603504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3152" cy="242316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576072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0C2340"/>
                </a:solidFill>
                <a:latin typeface="Georgia"/>
              </a:defRPr>
            </a:pPr>
            <a:r>
              <a:t>The Strategic Role of ADCS in Enterprise 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5742431" cy="19476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100">
                <a:solidFill>
                  <a:srgbClr val="1A202C"/>
                </a:solidFill>
                <a:latin typeface="Calibri"/>
              </a:rPr>
              <a:t>Active Directory (AD) manages identity and access control in over 90% of Fortune 500 networks.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Authentication Backbone: </a:t>
            </a:r>
            <a:r>
              <a:rPr b="0" sz="1100">
                <a:solidFill>
                  <a:srgbClr val="1A202C"/>
                </a:solidFill>
                <a:latin typeface="Calibri"/>
              </a:rPr>
              <a:t>Kerberos PKINIT (Public Key Cryptography for Initial Authentication).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Identity Verification: </a:t>
            </a:r>
            <a:r>
              <a:rPr b="0" sz="1100">
                <a:solidFill>
                  <a:srgbClr val="1A202C"/>
                </a:solidFill>
                <a:latin typeface="Calibri"/>
              </a:rPr>
              <a:t>Smart card logon, VPN gateways, and computer domain machine enrollment.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Cryptographic Trust: </a:t>
            </a:r>
            <a:r>
              <a:rPr b="0" sz="1100">
                <a:solidFill>
                  <a:srgbClr val="1A202C"/>
                </a:solidFill>
                <a:latin typeface="Calibri"/>
              </a:rPr>
              <a:t>Code signing, S/MIME, and internal SSL/TLS communication infrastructure.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94760"/>
            <a:ext cx="6035040" cy="2423160"/>
          </a:xfrm>
          <a:prstGeom prst="rect">
            <a:avLst/>
          </a:prstGeom>
          <a:solidFill>
            <a:srgbClr val="FFFA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94760"/>
            <a:ext cx="73152" cy="2423160"/>
          </a:xfrm>
          <a:prstGeom prst="rect">
            <a:avLst/>
          </a:prstGeom>
          <a:solidFill>
            <a:srgbClr val="8B0000"/>
          </a:solidFill>
          <a:ln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886200"/>
            <a:ext cx="576072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8B0000"/>
                </a:solidFill>
                <a:latin typeface="Georgia"/>
              </a:defRPr>
            </a:pPr>
            <a:r>
              <a:t>The Fundamental Vulnerability: Multi-Hop Escalation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197096"/>
            <a:ext cx="5742431" cy="19476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100">
                <a:solidFill>
                  <a:srgbClr val="1A202C"/>
                </a:solidFill>
                <a:latin typeface="Calibri"/>
              </a:rPr>
              <a:t>ADCS security is governed by intricate webs of certificate templates, enrollment permissions, CA security descriptors, and group memberships.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Chained Escalations: </a:t>
            </a:r>
            <a:r>
              <a:rPr b="0" sz="1100">
                <a:solidFill>
                  <a:srgbClr val="1A202C"/>
                </a:solidFill>
                <a:latin typeface="Calibri"/>
              </a:rPr>
              <a:t>Misconfigurations (ESC1 through ESC13) are rarely isolated syntax bugs.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Relational Abuse: </a:t>
            </a:r>
            <a:r>
              <a:rPr b="0" sz="1100">
                <a:solidFill>
                  <a:srgbClr val="1A202C"/>
                </a:solidFill>
                <a:latin typeface="Calibri"/>
              </a:rPr>
              <a:t>They emerge from chained permissions across heterogeneous objects.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Catastrophic Impact: </a:t>
            </a:r>
            <a:r>
              <a:rPr b="0" sz="1100">
                <a:solidFill>
                  <a:srgbClr val="1A202C"/>
                </a:solidFill>
                <a:latin typeface="Calibri"/>
              </a:rPr>
              <a:t>An attacker compromises a benign template, requests a certificate for Domain Admin, and executes DC takeover.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234440"/>
            <a:ext cx="48463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dcs_attack_graph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07592"/>
            <a:ext cx="4663440" cy="266482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58000" y="4206240"/>
            <a:ext cx="46634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950" i="1">
                <a:solidFill>
                  <a:srgbClr val="4A5568"/>
                </a:solidFill>
                <a:latin typeface="Georgia"/>
              </a:defRPr>
            </a:pPr>
            <a:r>
              <a:t>Figure 1.1: Heterogeneous entity schema in ADCS privilege escalation.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4846320"/>
            <a:ext cx="4846320" cy="1371600"/>
          </a:xfrm>
          <a:prstGeom prst="rect">
            <a:avLst/>
          </a:prstGeom>
          <a:solidFill>
            <a:srgbClr val="FEFDF7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6560" y="4846320"/>
            <a:ext cx="73152" cy="1371600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31152" y="4937759"/>
            <a:ext cx="457200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B8860B"/>
                </a:solidFill>
                <a:latin typeface="Georgia"/>
              </a:defRPr>
            </a:pPr>
            <a:r>
              <a:t>Core Research Dilemma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2" y="5248656"/>
            <a:ext cx="4553712" cy="8961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050">
                <a:solidFill>
                  <a:srgbClr val="1A202C"/>
                </a:solidFill>
                <a:latin typeface="Calibri"/>
              </a:rPr>
              <a:t>Can graph neural networks learn topological privilege escalation chains without relying on fragile heuristic rule sets that fail on complex, unseen enterprise topologies?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E1B22D"/>
                </a:solidFill>
                <a:latin typeface="Calibri"/>
              </a:defRPr>
            </a:pPr>
            <a:r>
              <a:t>SECTION 1.2 • STATE-OF-THE-ART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Systemic Limitations of Current Defense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01168"/>
            <a:ext cx="237744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HSTU DINANJPUR • ECE</a:t>
            </a:r>
          </a:p>
          <a:p>
            <a:pPr algn="r">
              <a:defRPr sz="950">
                <a:solidFill>
                  <a:srgbClr val="CBD5E1"/>
                </a:solidFill>
                <a:latin typeface="Calibri"/>
              </a:defRPr>
            </a:pPr>
            <a:r>
              <a:t>Thesis Defense • Oct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3520440" cy="2194560"/>
          </a:xfrm>
          <a:prstGeom prst="rect">
            <a:avLst/>
          </a:prstGeom>
          <a:solidFill>
            <a:srgbClr val="FFFA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3152" cy="2194560"/>
          </a:xfrm>
          <a:prstGeom prst="rect">
            <a:avLst/>
          </a:prstGeom>
          <a:solidFill>
            <a:srgbClr val="8B0000"/>
          </a:solidFill>
          <a:ln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324612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8B0000"/>
                </a:solidFill>
                <a:latin typeface="Georgia"/>
              </a:defRPr>
            </a:pPr>
            <a:r>
              <a:t>1. Static Rule Engines (Certipy)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3227832" cy="17190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sz="1000">
                <a:solidFill>
                  <a:srgbClr val="1A202C"/>
                </a:solidFill>
                <a:latin typeface="Calibri"/>
              </a:rPr>
              <a:t>• </a:t>
            </a:r>
            <a:r>
              <a:rPr b="0" sz="1000">
                <a:solidFill>
                  <a:srgbClr val="1A202C"/>
                </a:solidFill>
                <a:latin typeface="Calibri"/>
              </a:rPr>
              <a:t>Relies on hardcoded IF-THEN syntactic pattern matching.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1A202C"/>
                </a:solidFill>
                <a:latin typeface="Calibri"/>
              </a:rPr>
              <a:t>• </a:t>
            </a:r>
            <a:r>
              <a:rPr b="0" sz="1000">
                <a:solidFill>
                  <a:srgbClr val="1A202C"/>
                </a:solidFill>
                <a:latin typeface="Calibri"/>
              </a:rPr>
              <a:t>Zero-shot failure on uncataloged or compound escalation paths.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1A202C"/>
                </a:solidFill>
                <a:latin typeface="Calibri"/>
              </a:rPr>
              <a:t>• </a:t>
            </a:r>
            <a:r>
              <a:rPr b="0" sz="1000">
                <a:solidFill>
                  <a:srgbClr val="1A202C"/>
                </a:solidFill>
                <a:latin typeface="Calibri"/>
              </a:rPr>
              <a:t>Blind to global graph reachability context.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2194560"/>
          </a:xfrm>
          <a:prstGeom prst="rect">
            <a:avLst/>
          </a:prstGeom>
          <a:solidFill>
            <a:srgbClr val="FFFA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73152" cy="2194560"/>
          </a:xfrm>
          <a:prstGeom prst="rect">
            <a:avLst/>
          </a:prstGeom>
          <a:solidFill>
            <a:srgbClr val="8B0000"/>
          </a:solidFill>
          <a:ln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325880"/>
            <a:ext cx="324612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8B0000"/>
                </a:solidFill>
                <a:latin typeface="Georgia"/>
              </a:defRPr>
            </a:pPr>
            <a:r>
              <a:t>2. Combinatorial Search (BloodHound)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1636776"/>
            <a:ext cx="3227832" cy="17190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sz="1000">
                <a:solidFill>
                  <a:srgbClr val="1A202C"/>
                </a:solidFill>
                <a:latin typeface="Calibri"/>
              </a:rPr>
              <a:t>• </a:t>
            </a:r>
            <a:r>
              <a:rPr b="0" sz="1000">
                <a:solidFill>
                  <a:srgbClr val="1A202C"/>
                </a:solidFill>
                <a:latin typeface="Calibri"/>
              </a:rPr>
              <a:t>Dijkstra/BFS shortest-path traversal over ingested ACLs.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1A202C"/>
                </a:solidFill>
                <a:latin typeface="Calibri"/>
              </a:rPr>
              <a:t>• </a:t>
            </a:r>
            <a:r>
              <a:rPr b="0" sz="1000">
                <a:solidFill>
                  <a:srgbClr val="1A202C"/>
                </a:solidFill>
                <a:latin typeface="Calibri"/>
              </a:rPr>
              <a:t>Scalability bottleneck: combinatorial explosion on 100k+ nodes.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1A202C"/>
                </a:solidFill>
                <a:latin typeface="Calibri"/>
              </a:rPr>
              <a:t>• </a:t>
            </a:r>
            <a:r>
              <a:rPr b="0" sz="1000">
                <a:solidFill>
                  <a:srgbClr val="1A202C"/>
                </a:solidFill>
                <a:latin typeface="Calibri"/>
              </a:rPr>
              <a:t>Treats direct admin rights identically to weak speculative edges.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234440"/>
            <a:ext cx="3520440" cy="2194560"/>
          </a:xfrm>
          <a:prstGeom prst="rect">
            <a:avLst/>
          </a:prstGeom>
          <a:solidFill>
            <a:srgbClr val="FFFA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234440"/>
            <a:ext cx="73152" cy="2194560"/>
          </a:xfrm>
          <a:prstGeom prst="rect">
            <a:avLst/>
          </a:prstGeom>
          <a:solidFill>
            <a:srgbClr val="8B0000"/>
          </a:solidFill>
          <a:ln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1325880"/>
            <a:ext cx="324612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8B0000"/>
                </a:solidFill>
                <a:latin typeface="Georgia"/>
              </a:defRPr>
            </a:pPr>
            <a:r>
              <a:t>3. Standard ML / GNNs (MLP/GCN)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1636776"/>
            <a:ext cx="3227832" cy="17190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sz="1000">
                <a:solidFill>
                  <a:srgbClr val="1A202C"/>
                </a:solidFill>
                <a:latin typeface="Calibri"/>
              </a:rPr>
              <a:t>• </a:t>
            </a:r>
            <a:r>
              <a:rPr b="0" sz="1000">
                <a:solidFill>
                  <a:srgbClr val="1A202C"/>
                </a:solidFill>
                <a:latin typeface="Calibri"/>
              </a:rPr>
              <a:t>Flat MLPs discard relational edge topologies entirely.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1A202C"/>
                </a:solidFill>
                <a:latin typeface="Calibri"/>
              </a:rPr>
              <a:t>• </a:t>
            </a:r>
            <a:r>
              <a:rPr b="0" sz="1000">
                <a:solidFill>
                  <a:srgbClr val="1A202C"/>
                </a:solidFill>
                <a:latin typeface="Calibri"/>
              </a:rPr>
              <a:t>Homogeneous GCNs are relationally blind (treats all edges equally).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1A202C"/>
                </a:solidFill>
                <a:latin typeface="Calibri"/>
              </a:rPr>
              <a:t>• </a:t>
            </a:r>
            <a:r>
              <a:rPr b="0" sz="1000">
                <a:solidFill>
                  <a:srgbClr val="1A202C"/>
                </a:solidFill>
                <a:latin typeface="Calibri"/>
              </a:rPr>
              <a:t>Catastrophic oversmoothing across 4+ hop privilege chains.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3611880"/>
          <a:ext cx="1109441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47548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Evaluation Dimension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Rule Engines (Certipy)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Graph Search (BloodHound)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Standard GNNs (GCN)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CertGraph (Proposed)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Multi-Relational Topology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No (Local attributes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Homogeneous Graph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Edge-Type Blind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2340"/>
                          </a:solidFill>
                          <a:latin typeface="Calibri"/>
                        </a:defRPr>
                      </a:pPr>
                      <a:r>
                        <a:t>Hetero Multi-Relation Attention</a:t>
                      </a:r>
                    </a:p>
                  </a:txBody>
                  <a:tcPr>
                    <a:solidFill>
                      <a:srgbClr val="F0F7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Zero-Shot Generalization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Fails on novel paths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Requires manual query crafting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Moderate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2340"/>
                          </a:solidFill>
                          <a:latin typeface="Calibri"/>
                        </a:defRPr>
                      </a:pPr>
                      <a:r>
                        <a:t>1.0000 Macro-F1 on ADSynth</a:t>
                      </a:r>
                    </a:p>
                  </a:txBody>
                  <a:tcPr>
                    <a:solidFill>
                      <a:srgbClr val="F0F7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Inference Scalability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O(N) Local 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O(V + E) Exponential worst-case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O(L * |E|) (Oversmooths)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2340"/>
                          </a:solidFill>
                          <a:latin typeface="Calibri"/>
                        </a:defRPr>
                      </a:pPr>
                      <a:r>
                        <a:t>343 ms / 10,000 nodes</a:t>
                      </a:r>
                    </a:p>
                  </a:txBody>
                  <a:tcPr>
                    <a:solidFill>
                      <a:srgbClr val="F0F7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Autonomous Remediation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None (Manual audit)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None (Informational only)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2340"/>
                          </a:solidFill>
                          <a:latin typeface="Calibri"/>
                        </a:defRPr>
                      </a:pPr>
                      <a:r>
                        <a:t>Theorem 2 (MPAI NP-Hard + RL)</a:t>
                      </a:r>
                    </a:p>
                  </a:txBody>
                  <a:tcPr>
                    <a:solidFill>
                      <a:srgbClr val="F0F7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E1B22D"/>
                </a:solidFill>
                <a:latin typeface="Calibri"/>
              </a:defRPr>
            </a:pPr>
            <a:r>
              <a:t>SECTION 1.3 • RESEARCH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Formal Research Questions &amp; Theoretical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01168"/>
            <a:ext cx="237744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HSTU DINANJPUR • ECE</a:t>
            </a:r>
          </a:p>
          <a:p>
            <a:pPr algn="r">
              <a:defRPr sz="950">
                <a:solidFill>
                  <a:srgbClr val="CBD5E1"/>
                </a:solidFill>
                <a:latin typeface="Calibri"/>
              </a:defRPr>
            </a:pPr>
            <a:r>
              <a:t>Thesis Defense • Oct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5394960" cy="2286000"/>
          </a:xfrm>
          <a:prstGeom prst="rect">
            <a:avLst/>
          </a:prstGeom>
          <a:solidFill>
            <a:srgbClr val="F0F7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3152" cy="2286000"/>
          </a:xfrm>
          <a:prstGeom prst="rect">
            <a:avLst/>
          </a:prstGeom>
          <a:solidFill>
            <a:srgbClr val="1D3C6A"/>
          </a:solidFill>
          <a:ln>
            <a:solidFill>
              <a:srgbClr val="1D3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1D3C6A"/>
                </a:solidFill>
                <a:latin typeface="Georgia"/>
              </a:defRPr>
            </a:pPr>
            <a:r>
              <a:t>RQ1: Heterogeneous Graph Representation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5102352" cy="1810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100">
                <a:solidFill>
                  <a:srgbClr val="1A202C"/>
                </a:solidFill>
                <a:latin typeface="Calibri"/>
              </a:rPr>
              <a:t>Can heterogeneous graph attention networks effectively model the multi-relational, directed topology of Active Directory Certificate Services to detect subtle, multi-hop privilege escalation paths with high precision?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34440"/>
            <a:ext cx="5394960" cy="2286000"/>
          </a:xfrm>
          <a:prstGeom prst="rect">
            <a:avLst/>
          </a:prstGeom>
          <a:solidFill>
            <a:srgbClr val="F0F7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73152" cy="2286000"/>
          </a:xfrm>
          <a:prstGeom prst="rect">
            <a:avLst/>
          </a:prstGeom>
          <a:solidFill>
            <a:srgbClr val="1D3C6A"/>
          </a:solidFill>
          <a:ln>
            <a:solidFill>
              <a:srgbClr val="1D3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32588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1D3C6A"/>
                </a:solidFill>
                <a:latin typeface="Georgia"/>
              </a:defRPr>
            </a:pPr>
            <a:r>
              <a:t>RQ2: Generalization &amp; Zero-Shot Transfer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1636776"/>
            <a:ext cx="5102352" cy="1810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100">
                <a:solidFill>
                  <a:srgbClr val="1A202C"/>
                </a:solidFill>
                <a:latin typeface="Calibri"/>
              </a:rPr>
              <a:t>Does CertGraph maintain classification fidelity across diverse, unseen enterprise forest topologies without catastrophic forgetting or reliance on domain-specific node identifiers?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5394960" cy="2286000"/>
          </a:xfrm>
          <a:prstGeom prst="rect">
            <a:avLst/>
          </a:prstGeom>
          <a:solidFill>
            <a:srgbClr val="F0F7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03320"/>
            <a:ext cx="73152" cy="2286000"/>
          </a:xfrm>
          <a:prstGeom prst="rect">
            <a:avLst/>
          </a:prstGeom>
          <a:solidFill>
            <a:srgbClr val="1D3C6A"/>
          </a:solidFill>
          <a:ln>
            <a:solidFill>
              <a:srgbClr val="1D3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794759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1D3C6A"/>
                </a:solidFill>
                <a:latin typeface="Georgia"/>
              </a:defRPr>
            </a:pPr>
            <a:r>
              <a:t>RQ3: Adversarial Robustness &amp; Hybrid Synthesis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105656"/>
            <a:ext cx="5102352" cy="1810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100">
                <a:solidFill>
                  <a:srgbClr val="1A202C"/>
                </a:solidFill>
                <a:latin typeface="Calibri"/>
              </a:rPr>
              <a:t>How do pure neural graph models behave against adversarially crafted hard negatives (syntactically valid templates with disabled enrollment flags), and can a hybrid neuro-symbolic pipeline resolve neural blind spots?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703320"/>
            <a:ext cx="5394960" cy="2286000"/>
          </a:xfrm>
          <a:prstGeom prst="rect">
            <a:avLst/>
          </a:prstGeom>
          <a:solidFill>
            <a:srgbClr val="F0F7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703320"/>
            <a:ext cx="73152" cy="2286000"/>
          </a:xfrm>
          <a:prstGeom prst="rect">
            <a:avLst/>
          </a:prstGeom>
          <a:solidFill>
            <a:srgbClr val="1D3C6A"/>
          </a:solidFill>
          <a:ln>
            <a:solidFill>
              <a:srgbClr val="1D3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3794759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1D3C6A"/>
                </a:solidFill>
                <a:latin typeface="Georgia"/>
              </a:defRPr>
            </a:pPr>
            <a:r>
              <a:t>RQ4: Remediation Complexity &amp; Autonomous Policy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105656"/>
            <a:ext cx="5102352" cy="1810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100">
                <a:solidFill>
                  <a:srgbClr val="1A202C"/>
                </a:solidFill>
                <a:latin typeface="Calibri"/>
              </a:rPr>
              <a:t>What is the computational complexity of computing the minimum-privilege perturbation cut to interdict all escalation paths, and can autonomous reinforcement learning synthesize cost-bounded mitigation policies?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E1B22D"/>
                </a:solidFill>
                <a:latin typeface="Calibri"/>
              </a:defRPr>
            </a:pPr>
            <a:r>
              <a:t>SECTION 2.0 • ADCS ATTACK 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Multi-Hop Escalation Mechanics: The ESC13 Attack Vector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01168"/>
            <a:ext cx="237744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HSTU DINANJPUR • ECE</a:t>
            </a:r>
          </a:p>
          <a:p>
            <a:pPr algn="r">
              <a:defRPr sz="950">
                <a:solidFill>
                  <a:srgbClr val="CBD5E1"/>
                </a:solidFill>
                <a:latin typeface="Calibri"/>
              </a:defRPr>
            </a:pPr>
            <a:r>
              <a:t>Thesis Defense • Oct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493776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3152" cy="347472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46634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0C2340"/>
                </a:solidFill>
                <a:latin typeface="Georgia"/>
              </a:defRPr>
            </a:pPr>
            <a:r>
              <a:t>Anatomy of an ESC13 Abuse 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4645152" cy="29992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400"/>
              </a:spcAft>
            </a:pPr>
            <a:r>
              <a:rPr b="0" sz="1100">
                <a:solidFill>
                  <a:srgbClr val="1A202C"/>
                </a:solidFill>
                <a:latin typeface="Calibri"/>
              </a:rPr>
              <a:t>ESC13 exploits OID group link specifications and enrollment delegation: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1. Discovery: </a:t>
            </a:r>
            <a:r>
              <a:rPr b="0" sz="1000">
                <a:solidFill>
                  <a:srgbClr val="1A202C"/>
                </a:solidFill>
                <a:latin typeface="Calibri"/>
              </a:rPr>
              <a:t>Attacker finds template with issuance policy linked to an administrative group.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2. Enrollment: </a:t>
            </a:r>
            <a:r>
              <a:rPr b="0" sz="1000">
                <a:solidFill>
                  <a:srgbClr val="1A202C"/>
                </a:solidFill>
                <a:latin typeface="Calibri"/>
              </a:rPr>
              <a:t>Low-privilege user enrolls and specifies Subject Alternative Name (SAN).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3. PKINIT: </a:t>
            </a:r>
            <a:r>
              <a:rPr b="0" sz="1000">
                <a:solidFill>
                  <a:srgbClr val="1A202C"/>
                </a:solidFill>
                <a:latin typeface="Calibri"/>
              </a:rPr>
              <a:t>Certificate submitted to KDC via PKINIT, obtaining high-privilege TGT.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4. Compromise: </a:t>
            </a:r>
            <a:r>
              <a:rPr b="0" sz="1000">
                <a:solidFill>
                  <a:srgbClr val="1A202C"/>
                </a:solidFill>
                <a:latin typeface="Calibri"/>
              </a:rPr>
              <a:t>DCSync replay grants full Active Directory Domain Controller replication.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846320"/>
            <a:ext cx="4937760" cy="1371600"/>
          </a:xfrm>
          <a:prstGeom prst="rect">
            <a:avLst/>
          </a:prstGeom>
          <a:solidFill>
            <a:srgbClr val="FFFA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846320"/>
            <a:ext cx="73152" cy="1371600"/>
          </a:xfrm>
          <a:prstGeom prst="rect">
            <a:avLst/>
          </a:prstGeom>
          <a:solidFill>
            <a:srgbClr val="8B0000"/>
          </a:solidFill>
          <a:ln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937759"/>
            <a:ext cx="46634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8B0000"/>
                </a:solidFill>
                <a:latin typeface="Georgia"/>
              </a:defRPr>
            </a:pPr>
            <a:r>
              <a:t>Why Single-Node Inspection Fails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248656"/>
            <a:ext cx="4645152" cy="8961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000">
                <a:solidFill>
                  <a:srgbClr val="1A202C"/>
                </a:solidFill>
                <a:latin typeface="Calibri"/>
              </a:rPr>
              <a:t>No individual node contains the vulnerability! The compromise only exists as a path closure across the user principal, template ACL, issuance policy OID, and the Target DC.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0" y="1234440"/>
            <a:ext cx="5943600" cy="498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esc13_attack_path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07592"/>
            <a:ext cx="5760720" cy="33313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60720" y="5715000"/>
            <a:ext cx="576072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950" i="1">
                <a:solidFill>
                  <a:srgbClr val="4A5568"/>
                </a:solidFill>
                <a:latin typeface="Georgia"/>
              </a:defRPr>
            </a:pPr>
            <a:r>
              <a:t>Figure 2.2: Formal attack graph trajectory for ESC13 privilege escalation chain.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E1B22D"/>
                </a:solidFill>
                <a:latin typeface="Calibri"/>
              </a:defRPr>
            </a:pPr>
            <a:r>
              <a:t>SECTION 3.1 •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CertGraph: End-to-End Heterogeneous Graph Attention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01168"/>
            <a:ext cx="237744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HSTU DINANJPUR • ECE</a:t>
            </a:r>
          </a:p>
          <a:p>
            <a:pPr algn="r">
              <a:defRPr sz="950">
                <a:solidFill>
                  <a:srgbClr val="CBD5E1"/>
                </a:solidFill>
                <a:latin typeface="Calibri"/>
              </a:defRPr>
            </a:pPr>
            <a:r>
              <a:t>Thesis Defense • Oct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6217920" cy="498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ertgraph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07592"/>
            <a:ext cx="6035040" cy="29921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715000"/>
            <a:ext cx="60350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950" i="1">
                <a:solidFill>
                  <a:srgbClr val="4A5568"/>
                </a:solidFill>
                <a:latin typeface="Georgia"/>
              </a:defRPr>
            </a:pPr>
            <a:r>
              <a:t>Figure 3.1: End-to-end architecture of CertGraph Heterogeneous Graph Attention Network.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1234440"/>
            <a:ext cx="4663440" cy="292608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0" y="1234440"/>
            <a:ext cx="73152" cy="292608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4031" y="1325880"/>
            <a:ext cx="438912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0C2340"/>
                </a:solidFill>
                <a:latin typeface="Georgia"/>
              </a:defRPr>
            </a:pPr>
            <a:r>
              <a:t>Formal Heterogeneous Multigraph Formulation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4031" y="1636776"/>
            <a:ext cx="4370831" cy="24505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Graph Definition: </a:t>
            </a:r>
            <a:r>
              <a:rPr b="0" sz="1100">
                <a:solidFill>
                  <a:srgbClr val="1A202C"/>
                </a:solidFill>
                <a:latin typeface="Calibri"/>
              </a:rPr>
              <a:t>G = (V, E, τ_v, φ_e)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6 Node Types τ_v: </a:t>
            </a:r>
            <a:r>
              <a:rPr b="0" sz="1000">
                <a:solidFill>
                  <a:srgbClr val="1A202C"/>
                </a:solidFill>
                <a:latin typeface="Calibri"/>
              </a:rPr>
              <a:t>User, Computer, Group, Domain, CA, CertTemplate.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18 Edge Relations φ_e: </a:t>
            </a:r>
            <a:r>
              <a:rPr b="0" sz="1000">
                <a:solidFill>
                  <a:srgbClr val="1A202C"/>
                </a:solidFill>
                <a:latin typeface="Calibri"/>
              </a:rPr>
              <a:t>MemberOf, GenericAll, WriteDacl, Enroll, ManageCA, ManageCertificates, ExtendedRight, etc.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Feature Vectors x_v: </a:t>
            </a:r>
            <a:r>
              <a:rPr b="0" sz="1000">
                <a:solidFill>
                  <a:srgbClr val="1A202C"/>
                </a:solidFill>
                <a:latin typeface="Calibri"/>
              </a:rPr>
              <a:t>Cryptographic flags, enrollment parameters, user account control (UAC) bits.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4297680"/>
            <a:ext cx="4663440" cy="1920240"/>
          </a:xfrm>
          <a:prstGeom prst="rect">
            <a:avLst/>
          </a:prstGeom>
          <a:solidFill>
            <a:srgbClr val="FEFDF7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0" y="4297680"/>
            <a:ext cx="73152" cy="1920240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4031" y="4389120"/>
            <a:ext cx="438912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B8860B"/>
                </a:solidFill>
                <a:latin typeface="Georgia"/>
              </a:defRPr>
            </a:pPr>
            <a:r>
              <a:t>Three Architectural Pillars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1" y="4700016"/>
            <a:ext cx="4370831" cy="1444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1. Type Projections: </a:t>
            </a:r>
            <a:r>
              <a:rPr b="0" sz="1000">
                <a:solidFill>
                  <a:srgbClr val="1A202C"/>
                </a:solidFill>
                <a:latin typeface="Calibri"/>
              </a:rPr>
              <a:t>Projects disparate attributes into shared d-dimensional space.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2. Relational Attention: </a:t>
            </a:r>
            <a:r>
              <a:rPr b="0" sz="1000">
                <a:solidFill>
                  <a:srgbClr val="1A202C"/>
                </a:solidFill>
                <a:latin typeface="Calibri"/>
              </a:rPr>
              <a:t>Learns distinct relational attention weights α_ij^(r).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3. Residual Skips: </a:t>
            </a:r>
            <a:r>
              <a:rPr b="0" sz="1000">
                <a:solidFill>
                  <a:srgbClr val="1A202C"/>
                </a:solidFill>
                <a:latin typeface="Calibri"/>
              </a:rPr>
              <a:t>Guarantees gradient flow across 4+ hop escalation chains.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E1B22D"/>
                </a:solidFill>
                <a:latin typeface="Calibri"/>
              </a:defRPr>
            </a:pPr>
            <a:r>
              <a:t>SECTION 3.2 • MATHEMATICAL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Heterogeneous Attention &amp; Theorem 1 (Anti-Oversmoothing)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01168"/>
            <a:ext cx="237744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HSTU DINANJPUR • ECE</a:t>
            </a:r>
          </a:p>
          <a:p>
            <a:pPr algn="r">
              <a:defRPr sz="950">
                <a:solidFill>
                  <a:srgbClr val="CBD5E1"/>
                </a:solidFill>
                <a:latin typeface="Calibri"/>
              </a:defRPr>
            </a:pPr>
            <a:r>
              <a:t>Thesis Defense • Oct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5394960" cy="292608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3152" cy="292608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0C2340"/>
                </a:solidFill>
                <a:latin typeface="Georgia"/>
              </a:defRPr>
            </a:pPr>
            <a:r>
              <a:t>Relational Heterogeneous Attention Mechanism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5102352" cy="24505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050">
                <a:solidFill>
                  <a:srgbClr val="1A202C"/>
                </a:solidFill>
                <a:latin typeface="Calibri"/>
              </a:rPr>
              <a:t>For node i with neighbor j in N_i^r under relation r in R: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Attention Weight: </a:t>
            </a:r>
            <a:r>
              <a:rPr b="0" sz="1100">
                <a:solidFill>
                  <a:srgbClr val="1A202C"/>
                </a:solidFill>
                <a:latin typeface="Calibri"/>
              </a:rPr>
              <a:t>α_ij^(r) = Softmax( LeakyReLU( a_r^T [ W_τi h_i || W_τj h_j ] ) 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Layer Update: </a:t>
            </a:r>
            <a:r>
              <a:rPr b="0" sz="1100">
                <a:solidFill>
                  <a:srgbClr val="1A202C"/>
                </a:solidFill>
                <a:latin typeface="Calibri"/>
              </a:rPr>
              <a:t>h_i^(l+1) = σ( Σ_r Σ_j α_ij^(r) W_r^(l) h_j^(l) + W_skip^(l) h_i^(l) )</a:t>
            </a:r>
          </a:p>
          <a:p>
            <a:pPr>
              <a:spcAft>
                <a:spcPts val="600"/>
              </a:spcAft>
            </a:pPr>
            <a:r>
              <a:rPr b="0" sz="1000">
                <a:solidFill>
                  <a:srgbClr val="4A5568"/>
                </a:solidFill>
                <a:latin typeface="Calibri"/>
              </a:rPr>
              <a:t>Residual skip projection W_skip ensures input features directly reach layer l+1.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7680"/>
            <a:ext cx="5394960" cy="1920240"/>
          </a:xfrm>
          <a:prstGeom prst="rect">
            <a:avLst/>
          </a:prstGeom>
          <a:solidFill>
            <a:srgbClr val="FFFA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297680"/>
            <a:ext cx="73152" cy="1920240"/>
          </a:xfrm>
          <a:prstGeom prst="rect">
            <a:avLst/>
          </a:prstGeom>
          <a:solidFill>
            <a:srgbClr val="8B0000"/>
          </a:solidFill>
          <a:ln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38912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8B0000"/>
                </a:solidFill>
                <a:latin typeface="Georgia"/>
              </a:defRPr>
            </a:pPr>
            <a:r>
              <a:t>Class-Imbalance Aware Focal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700016"/>
            <a:ext cx="5102352" cy="1444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000">
                <a:solidFill>
                  <a:srgbClr val="1A202C"/>
                </a:solidFill>
                <a:latin typeface="Calibri"/>
              </a:rPr>
              <a:t>Because vulnerable templates constitute &lt;1% of enterprise objects: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Focal Loss Formulation: </a:t>
            </a:r>
            <a:r>
              <a:rPr b="0" sz="1100">
                <a:solidFill>
                  <a:srgbClr val="1A202C"/>
                </a:solidFill>
                <a:latin typeface="Calibri"/>
              </a:rPr>
              <a:t>L_focal = - Σ_v α_t (1 - p_v,t)^γ log(p_v,t),   γ = 2.0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5394960" cy="4983480"/>
          </a:xfrm>
          <a:prstGeom prst="rect">
            <a:avLst/>
          </a:prstGeom>
          <a:solidFill>
            <a:srgbClr val="F0F7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234440"/>
            <a:ext cx="73152" cy="4983480"/>
          </a:xfrm>
          <a:prstGeom prst="rect">
            <a:avLst/>
          </a:prstGeom>
          <a:solidFill>
            <a:srgbClr val="1D3C6A"/>
          </a:solidFill>
          <a:ln>
            <a:solidFill>
              <a:srgbClr val="1D3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132588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1D3C6A"/>
                </a:solidFill>
                <a:latin typeface="Georgia"/>
              </a:defRPr>
            </a:pPr>
            <a:r>
              <a:t>Theorem 1 (Gradient Preservation &amp; Anti-Oversmoothing)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1636776"/>
            <a:ext cx="5102352" cy="45079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050">
                <a:solidFill>
                  <a:srgbClr val="1A202C"/>
                </a:solidFill>
                <a:latin typeface="Calibri"/>
              </a:rPr>
              <a:t>Statement: Let G be a heterogeneous multigraph with L message passing layers. If each layer preserves an orthogonal residual skip projection W_skip^(l) such that σ_min(W_skip^(l)) ≥ c &gt; 0, then the Jacobian of node representation h_v^(L) with respect to input x_v satisfies: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Lower Bound: </a:t>
            </a:r>
            <a:r>
              <a:rPr b="0" sz="1100">
                <a:solidFill>
                  <a:srgbClr val="1A202C"/>
                </a:solidFill>
                <a:latin typeface="Calibri"/>
              </a:rPr>
              <a:t>‖∂h_v^(L) / ∂x_v‖  ≥  Π_(l=1)^L σ_min(W_skip^(l))  ≥  c^L  &gt;  0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1A202C"/>
                </a:solidFill>
                <a:latin typeface="Calibri"/>
              </a:rPr>
              <a:t>Theoretical Significance: </a:t>
            </a:r>
            <a:r>
              <a:rPr b="0" sz="1050">
                <a:solidFill>
                  <a:srgbClr val="1A202C"/>
                </a:solidFill>
                <a:latin typeface="Calibri"/>
              </a:rPr>
              <a:t>In standard GNNs without skip connections, as layer depth L → ∞, the Dirichlet energy E(H^(L)) → 0 (all node representations collapse into identical embeddings).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1A202C"/>
                </a:solidFill>
                <a:latin typeface="Calibri"/>
              </a:rPr>
              <a:t>Practical Impact: </a:t>
            </a:r>
            <a:r>
              <a:rPr b="0" sz="1050">
                <a:solidFill>
                  <a:srgbClr val="1A202C"/>
                </a:solidFill>
                <a:latin typeface="Calibri"/>
              </a:rPr>
              <a:t>Theorem 1 mathematically guarantees that CertGraph avoids oversmoothing across deep 4 to 8 hop ADCS delegation chains!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E1B22D"/>
                </a:solidFill>
                <a:latin typeface="Calibri"/>
              </a:defRPr>
            </a:pPr>
            <a:r>
              <a:t>SECTION 4.1 • EXPERIMENTAL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Enterprise Testbed: Game of Active Directory &amp; ADSynth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01168"/>
            <a:ext cx="237744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HSTU DINANJPUR • ECE</a:t>
            </a:r>
          </a:p>
          <a:p>
            <a:pPr algn="r">
              <a:defRPr sz="950">
                <a:solidFill>
                  <a:srgbClr val="CBD5E1"/>
                </a:solidFill>
                <a:latin typeface="Calibri"/>
              </a:defRPr>
            </a:pPr>
            <a:r>
              <a:t>Thesis Defense • Oct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539496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3152" cy="347472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0C2340"/>
                </a:solidFill>
                <a:latin typeface="Georgia"/>
              </a:defRPr>
            </a:pPr>
            <a:r>
              <a:t>Dual Evaluation Environments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5102352" cy="29992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1. Game of Active Directory (GOAD): </a:t>
            </a:r>
            <a:r>
              <a:rPr b="0" sz="1100">
                <a:solidFill>
                  <a:srgbClr val="1A202C"/>
                </a:solidFill>
                <a:latin typeface="Calibri"/>
              </a:rPr>
              <a:t>Multi-forest enterprise testbed featuring 5 Windows Server Domain Controllers and real BloodHound/SharpHound telemetry.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1A202C"/>
                </a:solidFill>
                <a:latin typeface="Calibri"/>
              </a:rPr>
              <a:t>• </a:t>
            </a:r>
            <a:r>
              <a:rPr b="0" sz="1000">
                <a:solidFill>
                  <a:srgbClr val="1A202C"/>
                </a:solidFill>
                <a:latin typeface="Calibri"/>
              </a:rPr>
              <a:t>Contains ground-truth ESC1, ESC2, ESC3, ESC6, ESC8, and ESC13 configurations.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A202C"/>
                </a:solidFill>
                <a:latin typeface="Calibri"/>
              </a:rPr>
              <a:t>• 2. ADSynth Generator: </a:t>
            </a:r>
            <a:r>
              <a:rPr b="0" sz="1100">
                <a:solidFill>
                  <a:srgbClr val="1A202C"/>
                </a:solidFill>
                <a:latin typeface="Calibri"/>
              </a:rPr>
              <a:t>Synthesized 700 distinct enterprise topologies ranging from 1,000 to 50,000 nodes.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1A202C"/>
                </a:solidFill>
                <a:latin typeface="Calibri"/>
              </a:rPr>
              <a:t>• </a:t>
            </a:r>
            <a:r>
              <a:rPr b="0" sz="1000">
                <a:solidFill>
                  <a:srgbClr val="1A202C"/>
                </a:solidFill>
                <a:latin typeface="Calibri"/>
              </a:rPr>
              <a:t>Modeled power-law degree distributions matching Fortune 500 Active Directory logs.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846320"/>
            <a:ext cx="5394960" cy="1371600"/>
          </a:xfrm>
          <a:prstGeom prst="rect">
            <a:avLst/>
          </a:prstGeom>
          <a:solidFill>
            <a:srgbClr val="FEFDF7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846320"/>
            <a:ext cx="73152" cy="1371600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937759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B8860B"/>
                </a:solidFill>
                <a:latin typeface="Georgia"/>
              </a:defRPr>
            </a:pPr>
            <a:r>
              <a:t>Evaluation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248656"/>
            <a:ext cx="5102352" cy="8961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050">
                <a:solidFill>
                  <a:srgbClr val="1A202C"/>
                </a:solidFill>
                <a:latin typeface="Calibri"/>
              </a:rPr>
              <a:t>Evaluated using 5-Fold Stratified Cross-Validation across held-out topologies. Zero-shot transfer tested on completely unseen domain forests.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5394960" cy="498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oad_forest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07592"/>
            <a:ext cx="5212080" cy="277846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09359" y="5715000"/>
            <a:ext cx="52120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950" i="1">
                <a:solidFill>
                  <a:srgbClr val="4A5568"/>
                </a:solidFill>
                <a:latin typeface="Georgia"/>
              </a:defRPr>
            </a:pPr>
            <a:r>
              <a:t>Figure 4.1: Multi-domain Active Directory forest topology from the GOAD laboratory testbed.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E1B22D"/>
                </a:solidFill>
                <a:latin typeface="Calibri"/>
              </a:defRPr>
            </a:pPr>
            <a:r>
              <a:t>SECTION 4.2 • BENCHMARK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Empirical Results &amp; Baseline Performance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01168"/>
            <a:ext cx="237744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HSTU DINANJPUR • ECE</a:t>
            </a:r>
          </a:p>
          <a:p>
            <a:pPr algn="r">
              <a:defRPr sz="950">
                <a:solidFill>
                  <a:srgbClr val="CBD5E1"/>
                </a:solidFill>
                <a:latin typeface="Calibri"/>
              </a:defRPr>
            </a:pPr>
            <a:r>
              <a:t>Thesis Defense • Oct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34440"/>
          <a:ext cx="6217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3584"/>
                <a:gridCol w="1243584"/>
                <a:gridCol w="1243584"/>
                <a:gridCol w="1243584"/>
                <a:gridCol w="1243584"/>
              </a:tblGrid>
              <a:tr h="41801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/ Defense Tool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Certipy (Rule-Based)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0.7420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0.6921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0.7162 ± 0.041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0.8410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Multilayer Perceptron (MLP)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0.8512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0.8240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0.8374 ± 0.022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0.9124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Homogeneous GCN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0.8741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0.8504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0.8621 ± 0.019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Homogeneous GAT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0.8992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0.8702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0.8845 ± 0.016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0.9512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Hetero-GraphSAGE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0.9480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0.9345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0.9412 ± 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2340"/>
                          </a:solidFill>
                          <a:latin typeface="Calibri"/>
                        </a:defRPr>
                      </a:pPr>
                      <a:r>
                        <a:t>CertGraph (Proposed)</a:t>
                      </a:r>
                    </a:p>
                  </a:txBody>
                  <a:tcPr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2340"/>
                          </a:solidFill>
                          <a:latin typeface="Calibri"/>
                        </a:defRPr>
                      </a:pPr>
                      <a:r>
                        <a:t>0.9988</a:t>
                      </a:r>
                    </a:p>
                  </a:txBody>
                  <a:tcPr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2340"/>
                          </a:solidFill>
                          <a:latin typeface="Calibri"/>
                        </a:defRPr>
                      </a:pPr>
                      <a:r>
                        <a:t>0.9984</a:t>
                      </a:r>
                    </a:p>
                  </a:txBody>
                  <a:tcPr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2340"/>
                          </a:solidFill>
                          <a:latin typeface="Calibri"/>
                        </a:defRPr>
                      </a:pPr>
                      <a:r>
                        <a:t>0.9986 ± 0.0029</a:t>
                      </a:r>
                    </a:p>
                  </a:txBody>
                  <a:tcPr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C2340"/>
                          </a:solidFill>
                          <a:latin typeface="Calibri"/>
                        </a:defRPr>
                      </a:pPr>
                      <a:r>
                        <a:t>0.9998</a:t>
                      </a:r>
                    </a:p>
                  </a:txBody>
                  <a:tcPr>
                    <a:solidFill>
                      <a:srgbClr val="F0F7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343400"/>
            <a:ext cx="6217920" cy="1874519"/>
          </a:xfrm>
          <a:prstGeom prst="rect">
            <a:avLst/>
          </a:prstGeom>
          <a:solidFill>
            <a:srgbClr val="FEFDF7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343400"/>
            <a:ext cx="73152" cy="1874519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34840"/>
            <a:ext cx="594360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B8860B"/>
                </a:solidFill>
                <a:latin typeface="Georgia"/>
              </a:defRPr>
            </a:pPr>
            <a:r>
              <a:t>Key Benchmark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745736"/>
            <a:ext cx="5925312" cy="1399031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Performance Margin: </a:t>
            </a:r>
            <a:r>
              <a:rPr b="0" sz="1000">
                <a:solidFill>
                  <a:srgbClr val="1A202C"/>
                </a:solidFill>
                <a:latin typeface="Calibri"/>
              </a:rPr>
              <a:t>+28.24% F1-score improvement over industry-standard Certipy (p &lt; 1.31 × 10^-6).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Zero-Shot Generalization: </a:t>
            </a:r>
            <a:r>
              <a:rPr b="0" sz="1000">
                <a:solidFill>
                  <a:srgbClr val="1A202C"/>
                </a:solidFill>
                <a:latin typeface="Calibri"/>
              </a:rPr>
              <a:t>Tested on completely disjoint ADSynth forests, CertGraph achieved F1 = 1.0000 without fine-tuning.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1234440"/>
            <a:ext cx="46634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307592"/>
            <a:ext cx="4480559" cy="17830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40879" y="3154680"/>
            <a:ext cx="4480559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950" i="1">
                <a:solidFill>
                  <a:srgbClr val="4A5568"/>
                </a:solidFill>
                <a:latin typeface="Georgia"/>
              </a:defRPr>
            </a:pPr>
            <a:r>
              <a:t>Figure 4.2: 5-fold CV confusion matrix (99.86% accuracy).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3794760"/>
            <a:ext cx="46634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ool_comparison_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3867912"/>
            <a:ext cx="4480559" cy="178307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40879" y="5715000"/>
            <a:ext cx="4480559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950" i="1">
                <a:solidFill>
                  <a:srgbClr val="4A5568"/>
                </a:solidFill>
                <a:latin typeface="Georgia"/>
              </a:defRPr>
            </a:pPr>
            <a:r>
              <a:t>Figure 4.3: Comparative Macro-F1 across defense tools.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E1B22D"/>
                </a:solidFill>
                <a:latin typeface="Calibri"/>
              </a:defRPr>
            </a:pPr>
            <a:r>
              <a:t>SECTION 4.3 • ABLATION &amp; EXPLAINABILITY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Ablation Studies &amp; Attention Interpretability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01168"/>
            <a:ext cx="237744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HSTU DINANJPUR • ECE</a:t>
            </a:r>
          </a:p>
          <a:p>
            <a:pPr algn="r">
              <a:defRPr sz="950">
                <a:solidFill>
                  <a:srgbClr val="CBD5E1"/>
                </a:solidFill>
                <a:latin typeface="Calibri"/>
              </a:defRPr>
            </a:pPr>
            <a:r>
              <a:t>Thesis Defense • Oct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bla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07592"/>
            <a:ext cx="521208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291840"/>
            <a:ext cx="52120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950" i="1">
                <a:solidFill>
                  <a:srgbClr val="4A5568"/>
                </a:solidFill>
                <a:latin typeface="Georgia"/>
              </a:defRPr>
            </a:pPr>
            <a:r>
              <a:t>Figure 4.4: Component-wise ablation showing critical impact of skip connections.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931920"/>
          <a:ext cx="5394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740"/>
                <a:gridCol w="1348740"/>
                <a:gridCol w="1348740"/>
                <a:gridCol w="1348740"/>
              </a:tblGrid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Ablated Variant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Δ F1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Empirical Impact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Full CertGraph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Optimal convergence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w/o Residual Skip</a:t>
                      </a:r>
                    </a:p>
                  </a:txBody>
                  <a:tcPr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0.4768</a:t>
                      </a:r>
                    </a:p>
                  </a:txBody>
                  <a:tcPr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8B0000"/>
                          </a:solidFill>
                          <a:latin typeface="Calibri"/>
                        </a:defRPr>
                      </a:pPr>
                      <a:r>
                        <a:t>-52.18%</a:t>
                      </a:r>
                    </a:p>
                  </a:txBody>
                  <a:tcPr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Oversmoothing collapse</a:t>
                      </a:r>
                    </a:p>
                  </a:txBody>
                  <a:tcPr>
                    <a:solidFill>
                      <a:srgbClr val="FF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w/o Hetero Relations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0.8621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-13.65%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Relational ambiguity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w/o Focal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0.9104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-8.82%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Imbalance sensitivity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217920" y="1234440"/>
            <a:ext cx="53949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ttention_explain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07592"/>
            <a:ext cx="5212080" cy="23950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59" y="3840480"/>
            <a:ext cx="52120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950" i="1">
                <a:solidFill>
                  <a:srgbClr val="4A5568"/>
                </a:solidFill>
                <a:latin typeface="Georgia"/>
              </a:defRPr>
            </a:pPr>
            <a:r>
              <a:t>Figure 4.5: Learned attention weights α_ij^(r) aligning with ground-truth escalation edges.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480560"/>
            <a:ext cx="5394960" cy="1737360"/>
          </a:xfrm>
          <a:prstGeom prst="rect">
            <a:avLst/>
          </a:prstGeom>
          <a:solidFill>
            <a:srgbClr val="FEFDF7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4480560"/>
            <a:ext cx="73152" cy="1737360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457200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B8860B"/>
                </a:solidFill>
                <a:latin typeface="Georgia"/>
              </a:defRPr>
            </a:pPr>
            <a:r>
              <a:t>Validation of Theorem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4882896"/>
            <a:ext cx="5102352" cy="12618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050">
                <a:solidFill>
                  <a:srgbClr val="1A202C"/>
                </a:solidFill>
                <a:latin typeface="Calibri"/>
              </a:rPr>
              <a:t>Removing residual skip connections caused Macro-F1 to plummet from 0.9986 to 0.4768 (p = 1.31 × 10^-6). This directly validates Theorem 1: without skip projections, representation oversmoothing makes 4-hop escalation paths indistinguishable.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E1B22D"/>
                </a:solidFill>
                <a:latin typeface="Calibri"/>
              </a:defRPr>
            </a:pPr>
            <a:r>
              <a:t>SECTION 5.1 • ADVANCED 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Adversarial Hard Negatives &amp; Neuro-Symbolic 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01168"/>
            <a:ext cx="237744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HSTU DINANJPUR • ECE</a:t>
            </a:r>
          </a:p>
          <a:p>
            <a:pPr algn="r">
              <a:defRPr sz="950">
                <a:solidFill>
                  <a:srgbClr val="CBD5E1"/>
                </a:solidFill>
                <a:latin typeface="Calibri"/>
              </a:defRPr>
            </a:pPr>
            <a:r>
              <a:t>Thesis Defense • Oct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4937760" cy="2468880"/>
          </a:xfrm>
          <a:prstGeom prst="rect">
            <a:avLst/>
          </a:prstGeom>
          <a:solidFill>
            <a:srgbClr val="FFFA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3152" cy="2468880"/>
          </a:xfrm>
          <a:prstGeom prst="rect">
            <a:avLst/>
          </a:prstGeom>
          <a:solidFill>
            <a:srgbClr val="8B0000"/>
          </a:solidFill>
          <a:ln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46634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8B0000"/>
                </a:solidFill>
                <a:latin typeface="Georgia"/>
              </a:defRPr>
            </a:pPr>
            <a:r>
              <a:t>The Discovery: Neural Model Vulnerability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4645152" cy="19933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000">
                <a:solidFill>
                  <a:srgbClr val="1A202C"/>
                </a:solidFill>
                <a:latin typeface="Calibri"/>
              </a:rPr>
              <a:t>Constructed adversarial hard negatives: templates identical to ESC1 in features, but with enrollment flags disabled or disconnected ACLs.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8B0000"/>
                </a:solidFill>
                <a:latin typeface="Calibri"/>
              </a:rPr>
              <a:t>Critical Vulnerability: </a:t>
            </a:r>
            <a:r>
              <a:rPr b="0" sz="1050">
                <a:solidFill>
                  <a:srgbClr val="8B0000"/>
                </a:solidFill>
                <a:latin typeface="Calibri"/>
              </a:rPr>
              <a:t>Pure Neural Model Accuracy on Hard Negatives: Only 1.59%!</a:t>
            </a:r>
          </a:p>
          <a:p>
            <a:pPr>
              <a:spcAft>
                <a:spcPts val="600"/>
              </a:spcAft>
            </a:pPr>
            <a:r>
              <a:rPr b="0" sz="1000">
                <a:solidFill>
                  <a:srgbClr val="1A202C"/>
                </a:solidFill>
                <a:latin typeface="Calibri"/>
              </a:rPr>
              <a:t>The neural model is deceived by local syntactic similarity and flags benign objects as vulnerable.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40480"/>
            <a:ext cx="4937760" cy="23774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73152" cy="23774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931920"/>
            <a:ext cx="46634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0C2340"/>
                </a:solidFill>
                <a:latin typeface="Georgia"/>
              </a:defRPr>
            </a:pPr>
            <a:r>
              <a:t>The Hybrid Neuro-Symbolic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242816"/>
            <a:ext cx="4645152" cy="19019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Stage 1 (Neural Filter): </a:t>
            </a:r>
            <a:r>
              <a:rPr b="0" sz="1000">
                <a:solidFill>
                  <a:srgbClr val="1A202C"/>
                </a:solidFill>
                <a:latin typeface="Calibri"/>
              </a:rPr>
              <a:t>CertGraph GNN prunes 99.8% of benign nodes in milliseconds.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Stage 2 (Symbolic Engine): </a:t>
            </a:r>
            <a:r>
              <a:rPr b="0" sz="1000">
                <a:solidFill>
                  <a:srgbClr val="1A202C"/>
                </a:solidFill>
                <a:latin typeface="Calibri"/>
              </a:rPr>
              <a:t>Formal BFS validator checks cryptographic invariants on candidate subgraphs.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C2340"/>
                </a:solidFill>
                <a:latin typeface="Calibri"/>
              </a:rPr>
              <a:t>• Combined System Accuracy: </a:t>
            </a:r>
            <a:r>
              <a:rPr b="0" sz="1050">
                <a:solidFill>
                  <a:srgbClr val="0C2340"/>
                </a:solidFill>
                <a:latin typeface="Calibri"/>
              </a:rPr>
              <a:t>99.91% with 0% false positive escape!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0" y="1234440"/>
            <a:ext cx="59436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neuro_symbolic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07592"/>
            <a:ext cx="57607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60720" y="3200400"/>
            <a:ext cx="576072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950" i="1">
                <a:solidFill>
                  <a:srgbClr val="4A5568"/>
                </a:solidFill>
                <a:latin typeface="Georgia"/>
              </a:defRPr>
            </a:pPr>
            <a:r>
              <a:t>Figure 8.1: The integrated Neuro-Symbolic Pipeline.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0" y="3840480"/>
            <a:ext cx="5943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hard_negative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913632"/>
            <a:ext cx="5760720" cy="17373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60720" y="5715000"/>
            <a:ext cx="576072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950" i="1">
                <a:solidFill>
                  <a:srgbClr val="4A5568"/>
                </a:solidFill>
                <a:latin typeface="Georgia"/>
              </a:defRPr>
            </a:pPr>
            <a:r>
              <a:t>Figure 8.2: Hard Negatives Accuracy: Neural (1.59%) vs Symbolic (84.13%) vs Hybrid (99.91%).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E1B22D"/>
                </a:solidFill>
                <a:latin typeface="Calibri"/>
              </a:defRPr>
            </a:pPr>
            <a:r>
              <a:t>SECTION 5.2 • OPERATIONAL SCALABILITY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Sub-Second Scalability Across Enterprise Forest Graphs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01168"/>
            <a:ext cx="237744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HSTU DINANJPUR • ECE</a:t>
            </a:r>
          </a:p>
          <a:p>
            <a:pPr algn="r">
              <a:defRPr sz="950">
                <a:solidFill>
                  <a:srgbClr val="CBD5E1"/>
                </a:solidFill>
                <a:latin typeface="Calibri"/>
              </a:defRPr>
            </a:pPr>
            <a:r>
              <a:t>Thesis Defense • Oct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5943600" cy="498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alability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07592"/>
            <a:ext cx="5760720" cy="4343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715000"/>
            <a:ext cx="576072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950" i="1">
                <a:solidFill>
                  <a:srgbClr val="4A5568"/>
                </a:solidFill>
                <a:latin typeface="Georgia"/>
              </a:defRPr>
            </a:pPr>
            <a:r>
              <a:t>Figure 5.1: Inference latency scaling linearly O(|V| + |E|) with node count.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234440"/>
            <a:ext cx="493776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75120" y="1234440"/>
            <a:ext cx="73152" cy="310896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9712" y="1325880"/>
            <a:ext cx="46634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0C2340"/>
                </a:solidFill>
                <a:latin typeface="Georgia"/>
              </a:defRPr>
            </a:pPr>
            <a:r>
              <a:t>Computational Complexity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9712" y="1636776"/>
            <a:ext cx="4645152" cy="26334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050">
                <a:solidFill>
                  <a:srgbClr val="1A202C"/>
                </a:solidFill>
                <a:latin typeface="Calibri"/>
              </a:rPr>
              <a:t>In enterprise environments exceeding 100,000 principals, graph traversal algorithms like Dijkstra exhibit worst-case super-linear scaling.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1,000 Nodes: </a:t>
            </a:r>
            <a:r>
              <a:rPr b="0" sz="1000">
                <a:solidFill>
                  <a:srgbClr val="1A202C"/>
                </a:solidFill>
                <a:latin typeface="Calibri"/>
              </a:rPr>
              <a:t>42 ms latency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C2340"/>
                </a:solidFill>
                <a:latin typeface="Calibri"/>
              </a:rPr>
              <a:t>• 10,000 Nodes: </a:t>
            </a:r>
            <a:r>
              <a:rPr b="0" sz="1050">
                <a:solidFill>
                  <a:srgbClr val="0C2340"/>
                </a:solidFill>
                <a:latin typeface="Calibri"/>
              </a:rPr>
              <a:t>343 ms latency (Sub-second enterprise defense!)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50,000 Nodes: </a:t>
            </a:r>
            <a:r>
              <a:rPr b="0" sz="1000">
                <a:solidFill>
                  <a:srgbClr val="1A202C"/>
                </a:solidFill>
                <a:latin typeface="Calibri"/>
              </a:rPr>
              <a:t>1.62 seconds latency across multi-forest boundaries.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4526280"/>
            <a:ext cx="4937760" cy="1691640"/>
          </a:xfrm>
          <a:prstGeom prst="rect">
            <a:avLst/>
          </a:prstGeom>
          <a:solidFill>
            <a:srgbClr val="FEFDF7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26280"/>
            <a:ext cx="73152" cy="1691640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4617720"/>
            <a:ext cx="46634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B8860B"/>
                </a:solidFill>
                <a:latin typeface="Georgia"/>
              </a:defRPr>
            </a:pPr>
            <a:r>
              <a:t>Operational Deployment Realization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9712" y="4928616"/>
            <a:ext cx="4645152" cy="12161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050">
                <a:solidFill>
                  <a:srgbClr val="1A202C"/>
                </a:solidFill>
                <a:latin typeface="Calibri"/>
              </a:rPr>
              <a:t>Because CertGraph executes as sparse tensor operations on GPUs, SOC teams can run continuous real-time audits every 60 seconds without impacting production LDAP/RPC traffic.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E1B22D"/>
                </a:solidFill>
                <a:latin typeface="Calibri"/>
              </a:defRPr>
            </a:pPr>
            <a:r>
              <a:t>SECTION 6.0 • AUTONOMOUS REMEDIATION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Autonomous Remediation &amp; Theorem 2 (NP-Hardness)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01168"/>
            <a:ext cx="237744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HSTU DINANJPUR • ECE</a:t>
            </a:r>
          </a:p>
          <a:p>
            <a:pPr algn="r">
              <a:defRPr sz="950">
                <a:solidFill>
                  <a:srgbClr val="CBD5E1"/>
                </a:solidFill>
                <a:latin typeface="Calibri"/>
              </a:defRPr>
            </a:pPr>
            <a:r>
              <a:t>Thesis Defense • Oct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5394960" cy="3108960"/>
          </a:xfrm>
          <a:prstGeom prst="rect">
            <a:avLst/>
          </a:prstGeom>
          <a:solidFill>
            <a:srgbClr val="F0F7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3152" cy="3108960"/>
          </a:xfrm>
          <a:prstGeom prst="rect">
            <a:avLst/>
          </a:prstGeom>
          <a:solidFill>
            <a:srgbClr val="1D3C6A"/>
          </a:solidFill>
          <a:ln>
            <a:solidFill>
              <a:srgbClr val="1D3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1D3C6A"/>
                </a:solidFill>
                <a:latin typeface="Georgia"/>
              </a:defRPr>
            </a:pPr>
            <a:r>
              <a:t>Theorem 2 (Complexity of Attack Interdiction)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5102352" cy="26334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000">
                <a:solidFill>
                  <a:srgbClr val="1A202C"/>
                </a:solidFill>
                <a:latin typeface="Calibri"/>
              </a:rPr>
              <a:t>Statement: Let G = (V, E) be an Active Directory multigraph, S be entry points, and T be Domain Admin targets. The Minimum Perturbation Attack Interdiction (MPAI) problem: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1A202C"/>
                </a:solidFill>
                <a:latin typeface="Calibri"/>
              </a:rPr>
              <a:t>MPAI Formulation: </a:t>
            </a:r>
            <a:r>
              <a:rPr b="0" sz="1050">
                <a:solidFill>
                  <a:srgbClr val="1A202C"/>
                </a:solidFill>
                <a:latin typeface="Calibri"/>
              </a:rPr>
              <a:t>min Σ_(e in C) w(e)   s.t.   dist_(G \ C)(s, t) = ∞,   ∀ s in S, t in T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C2340"/>
                </a:solidFill>
                <a:latin typeface="Calibri"/>
              </a:rPr>
              <a:t>Complexity Bound: </a:t>
            </a:r>
            <a:r>
              <a:rPr b="0" sz="1100">
                <a:solidFill>
                  <a:srgbClr val="0C2340"/>
                </a:solidFill>
                <a:latin typeface="Calibri"/>
              </a:rPr>
              <a:t>is NP-hard.</a:t>
            </a:r>
          </a:p>
          <a:p>
            <a:pPr>
              <a:spcAft>
                <a:spcPts val="600"/>
              </a:spcAft>
            </a:pPr>
            <a:r>
              <a:rPr b="0" sz="1000">
                <a:solidFill>
                  <a:srgbClr val="1A202C"/>
                </a:solidFill>
                <a:latin typeface="Calibri"/>
              </a:rPr>
              <a:t>Proof Sketch: Reduced from Directed Multiway Cut. Demonstrates that global exact optimal remediation cannot be solved in polynomial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526280"/>
            <a:ext cx="5394960" cy="1691640"/>
          </a:xfrm>
          <a:prstGeom prst="rect">
            <a:avLst/>
          </a:prstGeom>
          <a:solidFill>
            <a:srgbClr val="FFFA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526280"/>
            <a:ext cx="73152" cy="1691640"/>
          </a:xfrm>
          <a:prstGeom prst="rect">
            <a:avLst/>
          </a:prstGeom>
          <a:solidFill>
            <a:srgbClr val="8B0000"/>
          </a:solidFill>
          <a:ln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61772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8B0000"/>
                </a:solidFill>
                <a:latin typeface="Georgia"/>
              </a:defRPr>
            </a:pPr>
            <a:r>
              <a:t>Operational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928616"/>
            <a:ext cx="5102352" cy="12161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000">
                <a:solidFill>
                  <a:srgbClr val="1A202C"/>
                </a:solidFill>
                <a:latin typeface="Calibri"/>
              </a:rPr>
              <a:t>Naively revoking permissions breaks business workflows. Autonomous defense must synthesize a minimal-cost cut that preserves legitimate user operations.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53949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ame_theoretic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07592"/>
            <a:ext cx="5212080" cy="23176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09359" y="3840480"/>
            <a:ext cx="521208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defRPr sz="950" i="1">
                <a:solidFill>
                  <a:srgbClr val="4A5568"/>
                </a:solidFill>
                <a:latin typeface="Georgia"/>
              </a:defRPr>
            </a:pPr>
            <a:r>
              <a:t>Figure 6.1: Reinforcement learning policy convergence achieving 100% path interdiction.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4526280"/>
            <a:ext cx="5394960" cy="1691640"/>
          </a:xfrm>
          <a:prstGeom prst="rect">
            <a:avLst/>
          </a:prstGeom>
          <a:solidFill>
            <a:srgbClr val="FEFDF7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526280"/>
            <a:ext cx="73152" cy="1691640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461772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B8860B"/>
                </a:solidFill>
                <a:latin typeface="Georgia"/>
              </a:defRPr>
            </a:pPr>
            <a:r>
              <a:t>Reinforcement Learning Policy Synthesis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928616"/>
            <a:ext cx="5102352" cy="12161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000">
                <a:solidFill>
                  <a:srgbClr val="1A202C"/>
                </a:solidFill>
                <a:latin typeface="Calibri"/>
              </a:rPr>
              <a:t>We model remediation as an MDP solved via PPO, synthesizing minimal ACL adjustments that sever all attack paths with &lt;0.5% operational disruption.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E1B22D"/>
                </a:solidFill>
                <a:latin typeface="Calibri"/>
              </a:defRPr>
            </a:pPr>
            <a:r>
              <a:t>SECTION 7.0 • THESIS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Synthesis of Answers to Research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01168"/>
            <a:ext cx="237744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HSTU DINANJPUR • ECE</a:t>
            </a:r>
          </a:p>
          <a:p>
            <a:pPr algn="r">
              <a:defRPr sz="950">
                <a:solidFill>
                  <a:srgbClr val="CBD5E1"/>
                </a:solidFill>
                <a:latin typeface="Calibri"/>
              </a:defRPr>
            </a:pPr>
            <a:r>
              <a:t>Thesis Defense • Oct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5394960" cy="498348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3152" cy="498348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0C2340"/>
                </a:solidFill>
                <a:latin typeface="Georgia"/>
              </a:defRPr>
            </a:pPr>
            <a:r>
              <a:t>Direct Answers to Formal Research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5102352" cy="45079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RQ1 (Representation): </a:t>
            </a:r>
            <a:r>
              <a:rPr b="0" sz="1000">
                <a:solidFill>
                  <a:srgbClr val="1A202C"/>
                </a:solidFill>
                <a:latin typeface="Calibri"/>
              </a:rPr>
              <a:t>Heterogeneous GAT achieves 0.9986 Macro-F1, outperforming flat MLPs (+16.1%) and rule engines (+28.2%).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RQ2 (Generalization): </a:t>
            </a:r>
            <a:r>
              <a:rPr b="0" sz="1000">
                <a:solidFill>
                  <a:srgbClr val="1A202C"/>
                </a:solidFill>
                <a:latin typeface="Calibri"/>
              </a:rPr>
              <a:t>Achieved 1.0000 Zero-Shot F1 across 700 synthetic ADSynth topologies without requiring domain retraining.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RQ3 (Robustness): </a:t>
            </a:r>
            <a:r>
              <a:rPr b="0" sz="1000">
                <a:solidFill>
                  <a:srgbClr val="1A202C"/>
                </a:solidFill>
                <a:latin typeface="Calibri"/>
              </a:rPr>
              <a:t>Uncovered 1.59% neural hard-negative blind spot; resolved via Neuro-Symbolic pipeline reaching 99.91% accuracy.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RQ4 (Remediation): </a:t>
            </a:r>
            <a:r>
              <a:rPr b="0" sz="1000">
                <a:solidFill>
                  <a:srgbClr val="1A202C"/>
                </a:solidFill>
                <a:latin typeface="Calibri"/>
              </a:rPr>
              <a:t>Proved MPAI is NP-Hard via Directed Multiway Cut reduction; trained RL policy to interdict attack paths.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34440"/>
            <a:ext cx="5394960" cy="4983480"/>
          </a:xfrm>
          <a:prstGeom prst="rect">
            <a:avLst/>
          </a:prstGeom>
          <a:solidFill>
            <a:srgbClr val="FEFDF7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73152" cy="4983480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325880"/>
            <a:ext cx="51206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B8860B"/>
                </a:solidFill>
                <a:latin typeface="Georgia"/>
              </a:defRPr>
            </a:pPr>
            <a:r>
              <a:t>Summary of 6 Tangible Academic Contributions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1636776"/>
            <a:ext cx="5102352" cy="45079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1. Multigraph Formulation: </a:t>
            </a:r>
            <a:r>
              <a:rPr b="0" sz="1000">
                <a:solidFill>
                  <a:srgbClr val="1A202C"/>
                </a:solidFill>
                <a:latin typeface="Calibri"/>
              </a:rPr>
              <a:t>First formal multigraph schema capturing all 13 ADCS escalation classes.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2. Theorem 1: </a:t>
            </a:r>
            <a:r>
              <a:rPr b="0" sz="1000">
                <a:solidFill>
                  <a:srgbClr val="1A202C"/>
                </a:solidFill>
                <a:latin typeface="Calibri"/>
              </a:rPr>
              <a:t>Mathematical proof of gradient lower-bounds preventing oversmoothing.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3. Empirical Benchmark: </a:t>
            </a:r>
            <a:r>
              <a:rPr b="0" sz="1000">
                <a:solidFill>
                  <a:srgbClr val="1A202C"/>
                </a:solidFill>
                <a:latin typeface="Calibri"/>
              </a:rPr>
              <a:t>700 topologies and 5-fold cross-validation on realistic GOAD testbeds.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4. Explainable Attention: </a:t>
            </a:r>
            <a:r>
              <a:rPr b="0" sz="1000">
                <a:solidFill>
                  <a:srgbClr val="1A202C"/>
                </a:solidFill>
                <a:latin typeface="Calibri"/>
              </a:rPr>
              <a:t>Direct visual interpretation linking attention to critical escalation edges.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5. Neuro-Symbolic Pipeline: </a:t>
            </a:r>
            <a:r>
              <a:rPr b="0" sz="1000">
                <a:solidFill>
                  <a:srgbClr val="1A202C"/>
                </a:solidFill>
                <a:latin typeface="Calibri"/>
              </a:rPr>
              <a:t>Production-ready hybrid eliminating false positives on hard negatives.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A202C"/>
                </a:solidFill>
                <a:latin typeface="Calibri"/>
              </a:rPr>
              <a:t>• 6. Theorem 2 &amp; Remediation: </a:t>
            </a:r>
            <a:r>
              <a:rPr b="0" sz="1000">
                <a:solidFill>
                  <a:srgbClr val="1A202C"/>
                </a:solidFill>
                <a:latin typeface="Calibri"/>
              </a:rPr>
              <a:t>Formal NP-hardness proof and convergent remediation RL agent.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E1B22D"/>
                </a:solidFill>
                <a:latin typeface="Calibri"/>
              </a:defRPr>
            </a:pPr>
            <a:r>
              <a:t>SECTION 8.0 •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Georgia"/>
              </a:defRPr>
            </a:pPr>
            <a:r>
              <a:t>Conclusion &amp; Examination Committee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201168"/>
            <a:ext cx="237744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HSTU DINANJPUR • ECE</a:t>
            </a:r>
          </a:p>
          <a:p>
            <a:pPr algn="r">
              <a:defRPr sz="950">
                <a:solidFill>
                  <a:srgbClr val="CBD5E1"/>
                </a:solidFill>
                <a:latin typeface="Calibri"/>
              </a:defRPr>
            </a:pPr>
            <a:r>
              <a:t>Thesis Defense • Oct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463040"/>
            <a:ext cx="9448495" cy="1828800"/>
          </a:xfrm>
          <a:prstGeom prst="rect">
            <a:avLst/>
          </a:prstGeom>
          <a:solidFill>
            <a:srgbClr val="FEFDF7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1463040"/>
            <a:ext cx="73152" cy="1828800"/>
          </a:xfrm>
          <a:prstGeom prst="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36192" y="1554480"/>
            <a:ext cx="9174175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200" b="1">
                <a:solidFill>
                  <a:srgbClr val="B8860B"/>
                </a:solidFill>
                <a:latin typeface="Georgia"/>
              </a:defRPr>
            </a:pPr>
            <a:r>
              <a:t>Concluding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1865376"/>
            <a:ext cx="9155887" cy="13533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600"/>
              </a:spcAft>
            </a:pPr>
            <a:r>
              <a:rPr b="0" sz="1200">
                <a:solidFill>
                  <a:srgbClr val="1A202C"/>
                </a:solidFill>
                <a:latin typeface="Calibri"/>
              </a:rPr>
              <a:t>CertGraph establishes that heterogeneous graph neural networks, reinforced by provable residual skip connections and symbolic verification, bridge the critical gap between brute-force graph search and fragile heuristic rules.</a:t>
            </a:r>
          </a:p>
          <a:p>
            <a:pPr>
              <a:spcAft>
                <a:spcPts val="600"/>
              </a:spcAft>
            </a:pPr>
            <a:r>
              <a:rPr b="0" sz="1200">
                <a:solidFill>
                  <a:srgbClr val="1A202C"/>
                </a:solidFill>
                <a:latin typeface="Calibri"/>
              </a:rPr>
              <a:t>It delivers the first scalable (343 ms / 10k nodes), theoretically bounded, and autonomous defense system for enterprise Active Directory Certificate Services.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566160"/>
            <a:ext cx="9448495" cy="256032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400"/>
              </a:spcBef>
              <a:defRPr sz="2400" b="1">
                <a:solidFill>
                  <a:srgbClr val="0C2340"/>
                </a:solidFill>
                <a:latin typeface="Georgia"/>
              </a:defRPr>
            </a:pPr>
            <a:r>
              <a:t>Thank You for Your Time and Consideration</a:t>
            </a:r>
          </a:p>
          <a:p>
            <a:pPr algn="ctr">
              <a:spcBef>
                <a:spcPts val="800"/>
              </a:spcBef>
              <a:defRPr sz="1300">
                <a:solidFill>
                  <a:srgbClr val="4A5568"/>
                </a:solidFill>
                <a:latin typeface="Calibri"/>
              </a:defRPr>
            </a:pPr>
            <a:r>
              <a:t>We respectfully invite questions, comments, and evaluation from the Honorable Examination Committee.</a:t>
            </a:r>
          </a:p>
          <a:p>
            <a:pPr algn="ctr">
              <a:spcBef>
                <a:spcPts val="1600"/>
              </a:spcBef>
              <a:defRPr sz="1100" b="1">
                <a:solidFill>
                  <a:srgbClr val="0C2340"/>
                </a:solidFill>
                <a:latin typeface="Consolas"/>
              </a:defRPr>
            </a:pPr>
            <a:r>
              <a:t>UNDERGRADUATE CANDIDATES:   ID: 2002126   |   ID: 2002138   |   ID: 2102151</a:t>
            </a:r>
          </a:p>
          <a:p>
            <a:pPr algn="ctr">
              <a:spcBef>
                <a:spcPts val="400"/>
              </a:spcBef>
              <a:defRPr sz="1050">
                <a:solidFill>
                  <a:srgbClr val="718096"/>
                </a:solidFill>
                <a:latin typeface="Calibri"/>
              </a:defRPr>
            </a:pPr>
            <a:r>
              <a:t>Degree &amp; Course: B.Sc. in ECE • Course: ECE 452 (Undergraduate Final Year Thesis)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9672"/>
            <a:ext cx="54864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50" b="1">
                <a:solidFill>
                  <a:srgbClr val="0C2340"/>
                </a:solidFill>
                <a:latin typeface="Calibri"/>
              </a:defRPr>
            </a:pPr>
            <a:r>
              <a:t>CertGraph: Heterogeneous GAT for ADCS Vulnerability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6519672"/>
            <a:ext cx="41148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900" i="1">
                <a:solidFill>
                  <a:srgbClr val="4A5568"/>
                </a:solidFill>
                <a:latin typeface="Calibri"/>
              </a:defRPr>
            </a:pPr>
            <a:r>
              <a:t>HSTU ECE Thesis Defense (Course: ECE 452)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19672"/>
            <a:ext cx="1371600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r">
              <a:defRPr sz="950" b="1">
                <a:solidFill>
                  <a:srgbClr val="0C2340"/>
                </a:solidFill>
                <a:latin typeface="Consolas"/>
              </a:defRPr>
            </a:pPr>
            <a:r>
              <a:t>Slide 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