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874a48eb1354571" /><Relationship Type="http://schemas.openxmlformats.org/officeDocument/2006/relationships/extended-properties" Target="/docProps/app.xml" Id="R1c83861a13b94f97" /><Relationship Type="http://schemas.openxmlformats.org/officeDocument/2006/relationships/officeDocument" Target="/ppt/presentation.xml" Id="Ra21a3a2b94984daf" /></Relationships>
</file>

<file path=ppt/presentation.xml><?xml version="1.0" encoding="utf-8"?>
<p:presentation xmlns:p="http://schemas.openxmlformats.org/presentationml/2006/main">
  <p:sldMasterIdLst>
    <p:sldMasterId xmlns:r="http://schemas.openxmlformats.org/officeDocument/2006/relationships" id="2147483648" r:id="R055a41c7985e42da"/>
  </p:sldMasterIdLst>
  <p:notesMasterIdLst>
    <p:notesMasterId xmlns:r="http://schemas.openxmlformats.org/officeDocument/2006/relationships" r:id="R37616923f3544be7"/>
  </p:notesMasterIdLst>
  <p:sldIdLst>
    <p:sldId xmlns:r="http://schemas.openxmlformats.org/officeDocument/2006/relationships" id="256" r:id="R70998275213a4884"/>
    <p:sldId xmlns:r="http://schemas.openxmlformats.org/officeDocument/2006/relationships" id="257" r:id="R64ad116c3fec4d0a"/>
    <p:sldId xmlns:r="http://schemas.openxmlformats.org/officeDocument/2006/relationships" id="258" r:id="Rf80f101864ec4866"/>
    <p:sldId xmlns:r="http://schemas.openxmlformats.org/officeDocument/2006/relationships" id="259" r:id="R553f97d95102449f"/>
    <p:sldId xmlns:r="http://schemas.openxmlformats.org/officeDocument/2006/relationships" id="260" r:id="R03ea8496c2484602"/>
    <p:sldId xmlns:r="http://schemas.openxmlformats.org/officeDocument/2006/relationships" id="261" r:id="R3ac84f3ee648490b"/>
    <p:sldId xmlns:r="http://schemas.openxmlformats.org/officeDocument/2006/relationships" id="262" r:id="R06618bb6298543ed"/>
    <p:sldId xmlns:r="http://schemas.openxmlformats.org/officeDocument/2006/relationships" id="263" r:id="Rf44bc50d91cf4eef"/>
    <p:sldId xmlns:r="http://schemas.openxmlformats.org/officeDocument/2006/relationships" id="264" r:id="Ree52668c62004183"/>
    <p:sldId xmlns:r="http://schemas.openxmlformats.org/officeDocument/2006/relationships" id="265" r:id="R6fc0e2c8f6904291"/>
    <p:sldId xmlns:r="http://schemas.openxmlformats.org/officeDocument/2006/relationships" id="266" r:id="Ra735e9d9cf364f95"/>
    <p:sldId xmlns:r="http://schemas.openxmlformats.org/officeDocument/2006/relationships" id="267" r:id="R7a9a4f9dcb3a4718"/>
    <p:sldId xmlns:r="http://schemas.openxmlformats.org/officeDocument/2006/relationships" id="268" r:id="R128e5d77055744ae"/>
    <p:sldId xmlns:r="http://schemas.openxmlformats.org/officeDocument/2006/relationships" id="269" r:id="Rebc5cb9a0ab849cf"/>
    <p:sldId xmlns:r="http://schemas.openxmlformats.org/officeDocument/2006/relationships" id="270" r:id="R11474f50434747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ba4e93614648de" /><Relationship Type="http://schemas.openxmlformats.org/officeDocument/2006/relationships/slideMaster" Target="/ppt/slideMasters/slideMaster1.xml" Id="R055a41c7985e42da" /><Relationship Type="http://schemas.openxmlformats.org/officeDocument/2006/relationships/notesMaster" Target="/ppt/notesMasters/notesMaster1.xml" Id="R37616923f3544be7" /><Relationship Type="http://schemas.openxmlformats.org/officeDocument/2006/relationships/presProps" Target="/ppt/presProps.xml" Id="R76c7222674324aec" /><Relationship Type="http://schemas.openxmlformats.org/officeDocument/2006/relationships/tableStyles" Target="/ppt/tableStyles.xml" Id="R89910afb331b4c63" /><Relationship Type="http://schemas.openxmlformats.org/officeDocument/2006/relationships/slide" Target="/ppt/slides/slide1.xml" Id="R70998275213a4884" /><Relationship Type="http://schemas.openxmlformats.org/officeDocument/2006/relationships/slide" Target="/ppt/slides/slide2.xml" Id="R64ad116c3fec4d0a" /><Relationship Type="http://schemas.openxmlformats.org/officeDocument/2006/relationships/slide" Target="/ppt/slides/slide3.xml" Id="Rf80f101864ec4866" /><Relationship Type="http://schemas.openxmlformats.org/officeDocument/2006/relationships/slide" Target="/ppt/slides/slide4.xml" Id="R553f97d95102449f" /><Relationship Type="http://schemas.openxmlformats.org/officeDocument/2006/relationships/slide" Target="/ppt/slides/slide5.xml" Id="R03ea8496c2484602" /><Relationship Type="http://schemas.openxmlformats.org/officeDocument/2006/relationships/slide" Target="/ppt/slides/slide6.xml" Id="R3ac84f3ee648490b" /><Relationship Type="http://schemas.openxmlformats.org/officeDocument/2006/relationships/slide" Target="/ppt/slides/slide7.xml" Id="R06618bb6298543ed" /><Relationship Type="http://schemas.openxmlformats.org/officeDocument/2006/relationships/slide" Target="/ppt/slides/slide8.xml" Id="Rf44bc50d91cf4eef" /><Relationship Type="http://schemas.openxmlformats.org/officeDocument/2006/relationships/slide" Target="/ppt/slides/slide9.xml" Id="Ree52668c62004183" /><Relationship Type="http://schemas.openxmlformats.org/officeDocument/2006/relationships/slide" Target="/ppt/slides/slide10.xml" Id="R6fc0e2c8f6904291" /><Relationship Type="http://schemas.openxmlformats.org/officeDocument/2006/relationships/slide" Target="/ppt/slides/slide11.xml" Id="Ra735e9d9cf364f95" /><Relationship Type="http://schemas.openxmlformats.org/officeDocument/2006/relationships/slide" Target="/ppt/slides/slide12.xml" Id="R7a9a4f9dcb3a4718" /><Relationship Type="http://schemas.openxmlformats.org/officeDocument/2006/relationships/slide" Target="/ppt/slides/slide13.xml" Id="R128e5d77055744ae" /><Relationship Type="http://schemas.openxmlformats.org/officeDocument/2006/relationships/slide" Target="/ppt/slides/slide14.xml" Id="Rebc5cb9a0ab849cf" /><Relationship Type="http://schemas.openxmlformats.org/officeDocument/2006/relationships/slide" Target="/ppt/slides/slide15.xml" Id="R11474f504347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0e64fcdb3543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7b938e6fa94df3" /><Relationship Type="http://schemas.openxmlformats.org/officeDocument/2006/relationships/notesMaster" Target="/ppt/notesMasters/notesMaster1.xml" Id="R81ac9d4b9dc24e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e1f0531d554bee" /><Relationship Type="http://schemas.openxmlformats.org/officeDocument/2006/relationships/notesMaster" Target="/ppt/notesMasters/notesMaster1.xml" Id="Rfe463aed552a48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b80b5243ab4f82" /><Relationship Type="http://schemas.openxmlformats.org/officeDocument/2006/relationships/notesMaster" Target="/ppt/notesMasters/notesMaster1.xml" Id="R59336cbeba0248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dff9b9197a465b" /><Relationship Type="http://schemas.openxmlformats.org/officeDocument/2006/relationships/notesMaster" Target="/ppt/notesMasters/notesMaster1.xml" Id="R5af34c4486c84a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93aa084ed84ef8" /><Relationship Type="http://schemas.openxmlformats.org/officeDocument/2006/relationships/notesMaster" Target="/ppt/notesMasters/notesMaster1.xml" Id="Rb307879ce33740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5c81e2207945e7" /><Relationship Type="http://schemas.openxmlformats.org/officeDocument/2006/relationships/notesMaster" Target="/ppt/notesMasters/notesMaster1.xml" Id="Rca46090059b74d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9ec2b1a8894a3f" /><Relationship Type="http://schemas.openxmlformats.org/officeDocument/2006/relationships/notesMaster" Target="/ppt/notesMasters/notesMaster1.xml" Id="R363443f3cc9d41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f2b881def24eb8" /><Relationship Type="http://schemas.openxmlformats.org/officeDocument/2006/relationships/notesMaster" Target="/ppt/notesMasters/notesMaster1.xml" Id="R636ce15bb8134f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60057ab49745b9" /><Relationship Type="http://schemas.openxmlformats.org/officeDocument/2006/relationships/notesMaster" Target="/ppt/notesMasters/notesMaster1.xml" Id="Re50f0f00702046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78c19d20394ccb" /><Relationship Type="http://schemas.openxmlformats.org/officeDocument/2006/relationships/notesMaster" Target="/ppt/notesMasters/notesMaster1.xml" Id="R90c97aade5094a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9ea83c92b946d9" /><Relationship Type="http://schemas.openxmlformats.org/officeDocument/2006/relationships/notesMaster" Target="/ppt/notesMasters/notesMaster1.xml" Id="R227738bf8dcd46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9c41fb0c6b4fe1" /><Relationship Type="http://schemas.openxmlformats.org/officeDocument/2006/relationships/notesMaster" Target="/ppt/notesMasters/notesMaster1.xml" Id="Rec1a86fef6f247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00714c71414823" /><Relationship Type="http://schemas.openxmlformats.org/officeDocument/2006/relationships/notesMaster" Target="/ppt/notesMasters/notesMaster1.xml" Id="R9ca8651170c84a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24a82a2768415f" /><Relationship Type="http://schemas.openxmlformats.org/officeDocument/2006/relationships/notesMaster" Target="/ppt/notesMasters/notesMaster1.xml" Id="Re6f9fd85d56447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160ee074784b67" /><Relationship Type="http://schemas.openxmlformats.org/officeDocument/2006/relationships/notesMaster" Target="/ppt/notesMasters/notesMaster1.xml" Id="R19198bfbdb1747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work as a study of ADCS vulnerability detection, the limits of neural reasoning, and bounded attack-path mitigation. The thesis title is preserved below. The empirical defense contribution is a greedy graph algorithm. Reinforcement learning is a notional framework reserved for future live evaluation.</a:t>
            </a:r>
          </a:p>
          <a:p xmlns:a="http://schemas.openxmlformats.org/drawingml/2006/main">
            <a:r>
              <a:t/>
            </a:r>
          </a:p>
          <a:p xmlns:a="http://schemas.openxmlformats.org/drawingml/2006/main">
            <a:r>
              <a:t>Primary source: supplied thesis.pdf, ECE 452 · Project and Thesis ·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 is the directory managing accounts, groups, computers and permissions. ADCS issues certificates from templates. A CA signs certificates. PKINIT enables certificate-based Kerberos authentication. Exploitability combines configuration, effective access rights and authentication/issuance conditions. Dangerous flags alone do not establish a vulnerability. ESC13 is policy-to-group privilege assignment, not inherently SAN spoofing or automatic DCSync. External background: https://specterops.io/blog/2024/02/14/adcs-esc13-abuse-technique/</a:t>
            </a:r>
          </a:p>
          <a:p xmlns:a="http://schemas.openxmlformats.org/drawingml/2006/main">
            <a:r>
              <a:t/>
            </a:r>
          </a:p>
          <a:p xmlns:a="http://schemas.openxmlformats.org/drawingml/2006/main">
            <a:r>
              <a:t>Primary source: supplied thesis.pdf, Thesis §§2.4–2.7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questions guide the work: relational classification, attribute preservation, out-of-distribution robustness, and verified defense. Threat model assumes an already compromised low-privilege account and authorized read-only directory telemetry for the defender. Classification is single-label across six evaluated escalation classes plus Safe. CA-wide settings, protocol relay attacks and endpoint vulnerabilities lie outside this template-centric classifier. No claim of detecting all ESC classes.</a:t>
            </a:r>
          </a:p>
          <a:p xmlns:a="http://schemas.openxmlformats.org/drawingml/2006/main">
            <a:r>
              <a:t/>
            </a:r>
          </a:p>
          <a:p xmlns:a="http://schemas.openxmlformats.org/drawingml/2006/main">
            <a:r>
              <a:t>Primary source: supplied thesis.pdf, Thesis §§1.6, 2.6.1,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SpecterOps supplies ADCS attack semantics. Veličković et al. introduce neighborhood attention. Chen et al. provide a residual/initial-feature graph-learning foundation. Arp et al. describe evaluation pitfalls in security ML. These are background contributions, not CertGraph experimental results. The thesis baselines are simplified heuristic and BFS implementations and must not be read as performance claims about current full Certipy/BloodHound releases. Sources: https://specterops.io/blog/2024/02/14/adcs-esc13-abuse-technique/ ; https://arxiv.org/abs/1710.10903 ; https://proceedings.mlr.press/v119/chen20v.html ; https://www.usenix.org/conference/usenixsecurity22/presentation/arp</a:t>
            </a:r>
          </a:p>
          <a:p xmlns:a="http://schemas.openxmlformats.org/drawingml/2006/main">
            <a:r>
              <a:t/>
            </a:r>
          </a:p>
          <a:p xmlns:a="http://schemas.openxmlformats.org/drawingml/2006/main">
            <a:r>
              <a:t>Primary source: supplied thesis.pdf, Thesis Chapter 2; primary research sources in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definition specifies five node types, eight forward relation types and 16 with canonical reverse relations. The old slides incorrectly stated six node types and 18 relations. Reverse edges facilitate information exchange; they do not create reverse authorization rights. Ten template flags include supplies-subject, client-auth, any-purpose, agent EKU, no-security-extension, schema-v1, approval, policy link, dangerous DACL and publication. Nested group memberships are expanded by transitive closure before learning. This preprocessing is essential to the claimed two-hop receptive field and its cost is distinct from forward inference.</a:t>
            </a:r>
          </a:p>
          <a:p xmlns:a="http://schemas.openxmlformats.org/drawingml/2006/main">
            <a:r>
              <a:t/>
            </a:r>
          </a:p>
          <a:p xmlns:a="http://schemas.openxmlformats.org/drawingml/2006/main">
            <a:r>
              <a:t>Primary source: supplied thesis.pdf, Thesis §§3.1–3.2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projections are relation specific. Each of two layers applies four attention heads of 16 dimensions, sums relational messages and adds type-specific projected residual features. ELU, LayerNorm and dropout follow. A template embedding in R64 enters a 64-to-32-to-7 MLP and Softmax. Objective is weighted cross-entropy with L2 regularization, not focal loss. AdamW learning rate 0.001, weight decay 0.0001, dropout 0.2, batch 32, up to 100 epochs with early stopping patience 15 and cosine schedule. Attention helps analyst triage but does not prove causal exploitability. Theorem 3.1 and Appendix A discuss feature-gradient preservation under assumptions, not an unconditional guarantee of correctness for arbitrary networks.</a:t>
            </a:r>
          </a:p>
          <a:p xmlns:a="http://schemas.openxmlformats.org/drawingml/2006/main">
            <a:r>
              <a:t/>
            </a:r>
          </a:p>
          <a:p xmlns:a="http://schemas.openxmlformats.org/drawingml/2006/main">
            <a:r>
              <a:t>Primary source: supplied thesis.pdf, Thesis §§3.3–3.6; Table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perfect score prompted an adversarial audit. Fixed entity positions leaked privilege labels. Flat baselines originally lacked topology information. Four structural counts gave graph-augmented tabular models nearly the same in-distribution performance. Including hard negatives in training would test memorization rather than zero-shot generalization. Sanitization randomized indices, used semantic privilege features and segregated unseen hard negatives. Domain Admins index-zero allocation fell from 700/700 to 9/700, close to 1/75 expectation, with reported p=0.913. The reported chi-square audit addresses the tested allocation bias, not every possible leakage mechanism.</a:t>
            </a:r>
          </a:p>
          <a:p xmlns:a="http://schemas.openxmlformats.org/drawingml/2006/main">
            <a:r>
              <a:t/>
            </a:r>
          </a:p>
          <a:p xmlns:a="http://schemas.openxmlformats.org/drawingml/2006/main">
            <a:r>
              <a:t>Primary source: supplied thesis.pdf, Thesis Chapter 4; Tables 4.1–4.2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Balanced benchmark: 700 independent synthetic environments, 100 per class, averaging about 30 nodes and 120 edges. Stratified five-fold evaluation with Nadeau-Bengio corrected paired tests. A separate hard-negative experiment trains on 1400 clean domains and tests 63 safe domains with risky flags. Imbalanced experiment uses 2000 templates across 200 forests, 1920 Safe and 80 vulnerable. Macro-F1 averages F1 across classes equally. PR-AUC is informative under class imbalance. GOAD temporal data: 21 unique domain-template configurations collected at three dates, yielding 63 repeated observations rather than 63 independent configurations. External community data is an independent collection of GOAD-like topology, not diverse production deployments.</a:t>
            </a:r>
          </a:p>
          <a:p xmlns:a="http://schemas.openxmlformats.org/drawingml/2006/main">
            <a:r>
              <a:t/>
            </a:r>
          </a:p>
          <a:p xmlns:a="http://schemas.openxmlformats.org/drawingml/2006/main">
            <a:r>
              <a:t>Primary source: supplied thesis.pdf, Thesis Chapters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Five-fold means ± SD: CertGraph .9986±.0029; graph-augmented MLP .9971±.0035; graph-augmented RF .9871±.0084; symbolic BFS .9082±.0229; flat MLP .8600±.0130; flat RF .8384±.0057; Certipy heuristic .7791±.0247. Corrected p=.7396 against graph-augmented MLP: no statistically significant difference. Against flat MLP corrected p=.000130 and heuristic .000312. Difference from heuristic is .2195 F1 (21.95 percentage points on a percentage scale), about 28.2% relative improvement. Avoid mixing these measures. Imbalanced results: Macro-F1 .9941, PR-AUC .9982, precision .9925, recall .9958, ECE .0142, Brier .0031. These are thesis-reported experiments rather than independently reproduced runs.</a:t>
            </a:r>
          </a:p>
          <a:p xmlns:a="http://schemas.openxmlformats.org/drawingml/2006/main">
            <a:r>
              <a:t/>
            </a:r>
          </a:p>
          <a:p xmlns:a="http://schemas.openxmlformats.org/drawingml/2006/main">
            <a:r>
              <a:t>Primary source: supplied thesis.pdf, Thesis Tables 5.2–5.4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.9986±.0029, single-head 1.0000±0, no graph .8600±.0130, no skips .4768±.0532. Removing skips reduces F1 by .5218, with corrected p=6.61e-6. Single-head is not significantly different (corrected p=.5415), so multi-head superiority is not established by this test. The useful empirical conclusion is that the evaluated model depends strongly on its residual feature pathway. The thesis theoretical bounds require full-rank skips and restrictions on graph-path terms. Attention weights depend on target features, and nonlinearities/normalization complicate full-model Jacobian claims. Present conditional feature-preservation intuition rather than universal anti-oversmoothing or arbitrary-depth proof.</a:t>
            </a:r>
          </a:p>
          <a:p xmlns:a="http://schemas.openxmlformats.org/drawingml/2006/main">
            <a:r>
              <a:t/>
            </a:r>
          </a:p>
          <a:p xmlns:a="http://schemas.openxmlformats.org/drawingml/2006/main">
            <a:r>
              <a:t>Primary source: supplied thesis.pdf, Thesis Table 5.5; §3.5 and Appendix 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63 test environments are Safe by ground truth but contain apparently dangerous flags. CertGraph predicts Safe for only 1/63 (1.59%, Wilson CI .3–8.5%). Augmented MLP: 18/63 (28.57%, CI18.8–40.8%). Symbolic BFS: 53/63 (84.13%, CI73.1–91.2%). Other evaluated models predict no Safe cases. This is safe-case accuracy on an all-negative suite, not overall deployment accuracy or a direct comparison to the balanced Macro-F1 metric. The simplified BFS misses fine-grained DACL semantics in 10 cases. Training links dangerous flags to valid paths, allowing local-flag shortcuts. High attention is not a security proof.</a:t>
            </a:r>
          </a:p>
          <a:p xmlns:a="http://schemas.openxmlformats.org/drawingml/2006/main">
            <a:r>
              <a:t/>
            </a:r>
          </a:p>
          <a:p xmlns:a="http://schemas.openxmlformats.org/drawingml/2006/main">
            <a:r>
              <a:t>Primary source: supplied thesis.pdf, Thesis Table 5.6;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Tier 1 screens using 1−P(Safe). Tier 2 verifies class conditions, effective low-privilege permissions and local reachability, returning a concrete trace or suppressing an unsupported alert. Soundness is conditional on correct rules and sufficiently complete telemetry. Verification cannot recover candidates discarded by the screener. At tau .5,62 of600 forwarded,60/60 true paths captured,18.2ms GNN+110.6ms symbolic=128.8ms. 538/600=89.7% of all templates are filtered. If all60 true paths are admitted, 538/540=99.6% of benign templates are filtered; the thesis wording mixes denominators. Slide uses the unambiguous forwarded fraction. At tau .75,58/60 recall; at .9,49/60. No unsupported 99.91% verified accuracy or universal zero false positives.</a:t>
            </a:r>
          </a:p>
          <a:p xmlns:a="http://schemas.openxmlformats.org/drawingml/2006/main">
            <a:r>
              <a:t/>
            </a:r>
          </a:p>
          <a:p xmlns:a="http://schemas.openxmlformats.org/drawingml/2006/main">
            <a:r>
              <a:t>Primary source: supplied thesis.pdf, Thesis §§8.3–8.4; Table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GOAD includes six attack scenarios, hard-negative examples and benign templates. Hybrid corrects pure-neural false positives on HN_ESC1 and HN_ESC4. Temporal hybrid63/63 on21 repeated configurations across3 dates, CI94.2–100. External30/30 hybrid,24/30 pure,19/30 heuristic on community-collected GOAD-like data. Synthetic-to-ADSynth F1=1; reverse=.9347. These share template rules and do not negate the separate adversarial collapse. Latencies in Table7.3:100nodes7.83ms;50012.45;100020.00;5000112.50;10000342.99. At10000nodes765000edges. This is forward inference, not LDAP collection, transitive closure, symbolic checks or actuation. RSS894.64MB reflects process baseline, not isolated model memory. Robustness:30% edge deletionF1=.9637;5% bit-flipF1=.8412, supporting strong feature dependence.</a:t>
            </a:r>
          </a:p>
          <a:p xmlns:a="http://schemas.openxmlformats.org/drawingml/2006/main">
            <a:r>
              <a:t/>
            </a:r>
          </a:p>
          <a:p xmlns:a="http://schemas.openxmlformats.org/drawingml/2006/main">
            <a:r>
              <a:t>Primary source: supplied thesis.pdf, Thesis Tables 6.1–6.2, 7.1 and 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MPAI chooses permission edges to revoke so that forbidden source-target pairs disconnect while respecting operational costs. Thesis gives an NP-hardness reduction from Directed Multiway Cut. A greedy heuristic scores each edge by compromise-path centrality divided by disruption cost. Across30 synthetic topologies, averaging80.8nodes,200edges and52.4paths, greedy severance at budgets6/12/18/24 is31.2/43.7/56.2/68.6%; SD12.7/11.2/10.8/11.7. Degree15.7/22.7/28.8/34.9%; random3.9/7.7/10.8/14.2%. Greedy vs degree at24 paired t(29)=10.27,p=3.57e-11.100% budget compliance is not100% remediation or .5% production disruption. Stackelberg learning trajectories are explicitly notional. Live RL actuation and operational validation remain future work.</a:t>
            </a:r>
          </a:p>
          <a:p xmlns:a="http://schemas.openxmlformats.org/drawingml/2006/main">
            <a:r>
              <a:t/>
            </a:r>
          </a:p>
          <a:p xmlns:a="http://schemas.openxmlformats.org/drawingml/2006/main">
            <a:r>
              <a:t>Primary source: supplied thesis.pdf, Thesis Chapter 9; Table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contribution includes architecture, empirical auditing, adversarial counterexamples and a verification pipeline. It does not show neural graph reasoning universally outperforming informed tabular baselines. Residual feature preservation is supported empirically, while full-model mathematical guarantees require care. Hybrid screening is useful when its recall is calibrated and its symbolic rules match the environment. Measured greedy remediation is partial. Limitations: synthetic rule assumptions, single-label targets, no production-enterprise ground truth,10k-node measured monolithic scale and incomplete or stale telemetry. Next steps: multi-label detection, temporal graph analysis, cloud identity extension, privacy-preserving collaborations and live cyber-range RL validation. Discussion questions: why a GNN rather than an augmented MLP; what the hard-negative accuracy means; how denied rights and nested memberships are handled; whether a filtered vulnerability can be recovered; which defense results were measured.</a:t>
            </a:r>
          </a:p>
          <a:p xmlns:a="http://schemas.openxmlformats.org/drawingml/2006/main">
            <a:r>
              <a:t/>
            </a:r>
          </a:p>
          <a:p xmlns:a="http://schemas.openxmlformats.org/drawingml/2006/main">
            <a:r>
              <a:t>Primary source: supplied thesis.pdf, Thesis Chapter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23a20573e843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928dd0fe5144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232cf2565146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6d71dfde8f47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5d06a33e4647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7b8986991942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4FF06A7-40C3-48DC-B252-42F841BEEC4A}"/>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5501DBC-25A5-4ABF-B360-FABF7AF348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41B0793-89B7-4D90-B134-543A4528EF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53946CD-6636-47E6-9E56-C9C87B281DD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CFFBF5A-433B-41D1-8AF7-BE05F03A0B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93E4E73-1A58-4245-9FC8-1C5B5A7F0AB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200B6A9-394D-450E-9B65-E69DF900AA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CFA958F-5634-43C7-8D7C-BDE27F53A5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BDE88A9-4072-4DDB-AE83-3022B6A439B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231EC1C-0F0C-43D4-8466-C0C7EFBC8C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AE422BE-265E-4FC5-8432-6035A86546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15BF47A-0B6C-4E67-9467-6F67A19FFF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D53406D-4DD4-409C-800C-DC5739A5D19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6117F30-89E2-48B0-91B4-811DEEE6F5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5A7FC97-045E-43C8-96EE-B2BBE34F6B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de998ae015428a" /><Relationship Type="http://schemas.openxmlformats.org/officeDocument/2006/relationships/slideLayout" Target="/ppt/slideLayouts/slideLayout1.xml" Id="R64145da64e724490" /><Relationship Type="http://schemas.openxmlformats.org/officeDocument/2006/relationships/slideLayout" Target="/ppt/slideLayouts/slideLayout2.xml" Id="Rbc9853c603f045fc" /><Relationship Type="http://schemas.openxmlformats.org/officeDocument/2006/relationships/slideLayout" Target="/ppt/slideLayouts/slideLayout3.xml" Id="R670549eb238c46f6" /><Relationship Type="http://schemas.openxmlformats.org/officeDocument/2006/relationships/slideLayout" Target="/ppt/slideLayouts/slideLayout4.xml" Id="Rf503241f808c43a9" /><Relationship Type="http://schemas.openxmlformats.org/officeDocument/2006/relationships/slideLayout" Target="/ppt/slideLayouts/slideLayout5.xml" Id="R6376ed1e428642f7" /><Relationship Type="http://schemas.openxmlformats.org/officeDocument/2006/relationships/slideLayout" Target="/ppt/slideLayouts/slideLayout6.xml" Id="Rcfa4b8a26b7c40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145da64e724490"/>
    <p:sldLayoutId xmlns:r="http://schemas.openxmlformats.org/officeDocument/2006/relationships" id="2147483650" r:id="Rbc9853c603f045fc"/>
    <p:sldLayoutId xmlns:r="http://schemas.openxmlformats.org/officeDocument/2006/relationships" id="2147483651" r:id="R670549eb238c46f6"/>
    <p:sldLayoutId xmlns:r="http://schemas.openxmlformats.org/officeDocument/2006/relationships" id="2147483652" r:id="Rf503241f808c43a9"/>
    <p:sldLayoutId xmlns:r="http://schemas.openxmlformats.org/officeDocument/2006/relationships" id="2147483653" r:id="R6376ed1e428642f7"/>
    <p:sldLayoutId xmlns:r="http://schemas.openxmlformats.org/officeDocument/2006/relationships" id="2147483654" r:id="Rcfa4b8a26b7c40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50f8615ddc43a0" /><Relationship Type="http://schemas.openxmlformats.org/officeDocument/2006/relationships/image" Target="/ppt/media/image.png" Id="R7323e3254ec74cdf" /><Relationship Type="http://schemas.openxmlformats.org/officeDocument/2006/relationships/notesSlide" Target="/ppt/notesSlides/notesSlide1.xml" Id="R22cfbc74913240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04cd8b1aef427c" /><Relationship Type="http://schemas.openxmlformats.org/officeDocument/2006/relationships/notesSlide" Target="/ppt/notesSlides/notesSlide2.xml" Id="R253f7711bdeb47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5d9f743dd142d2" /><Relationship Type="http://schemas.openxmlformats.org/officeDocument/2006/relationships/notesSlide" Target="/ppt/notesSlides/notesSlide3.xml" Id="Rac83e1dd6cbe4f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cac915f52346c9" /><Relationship Type="http://schemas.openxmlformats.org/officeDocument/2006/relationships/notesSlide" Target="/ppt/notesSlides/notesSlide4.xml" Id="R6c6c8c27125147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941964274b47d6" /><Relationship Type="http://schemas.openxmlformats.org/officeDocument/2006/relationships/notesSlide" Target="/ppt/notesSlides/notesSlide5.xml" Id="R4e77823f88e648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8562bd8fda449b" /><Relationship Type="http://schemas.openxmlformats.org/officeDocument/2006/relationships/notesSlide" Target="/ppt/notesSlides/notesSlide6.xml" Id="Rd70641a1dddd4b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9965d713c24087" /><Relationship Type="http://schemas.openxmlformats.org/officeDocument/2006/relationships/notesSlide" Target="/ppt/notesSlides/notesSlide7.xml" Id="R575b12675f6945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48aa87049a40bc" /><Relationship Type="http://schemas.openxmlformats.org/officeDocument/2006/relationships/notesSlide" Target="/ppt/notesSlides/notesSlide8.xml" Id="R6fd6f76a555848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27901ea5fa44c8" /><Relationship Type="http://schemas.openxmlformats.org/officeDocument/2006/relationships/notesSlide" Target="/ppt/notesSlides/notesSlide9.xml" Id="R7d4932ac0c6b43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18acd6d1a9946a2" /><Relationship Type="http://schemas.openxmlformats.org/officeDocument/2006/relationships/chart" Target="/ppt/slides/charts/chart1.xml" Id="Refe13e5b5d1b4a96" /><Relationship Type="http://schemas.openxmlformats.org/officeDocument/2006/relationships/notesSlide" Target="/ppt/notesSlides/notesSlide10.xml" Id="R3249f90d80184c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609c7ebffe49c0" /><Relationship Type="http://schemas.openxmlformats.org/officeDocument/2006/relationships/chart" Target="/ppt/slides/charts/chart2.xml" Id="Ra4c96ab866ba4189" /><Relationship Type="http://schemas.openxmlformats.org/officeDocument/2006/relationships/notesSlide" Target="/ppt/notesSlides/notesSlide11.xml" Id="R7fdae825aca147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e0b81b634d4c34" /><Relationship Type="http://schemas.openxmlformats.org/officeDocument/2006/relationships/notesSlide" Target="/ppt/notesSlides/notesSlide12.xml" Id="Rbd993abccb204d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48a525cdd694dec" /><Relationship Type="http://schemas.openxmlformats.org/officeDocument/2006/relationships/notesSlide" Target="/ppt/notesSlides/notesSlide13.xml" Id="R12614f8a139f44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d1e6acd55940ba" /><Relationship Type="http://schemas.openxmlformats.org/officeDocument/2006/relationships/notesSlide" Target="/ppt/notesSlides/notesSlide14.xml" Id="Ra14c6ad959fd43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d07207599c74510" /><Relationship Type="http://schemas.openxmlformats.org/officeDocument/2006/relationships/notesSlide" Target="/ppt/notesSlides/notesSlide15.xml" Id="Ra8fc3badbc384b1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Macro-F1</c:v>
          </c:tx>
          <c:spPr>
            <a:solidFill xmlns:a="http://schemas.openxmlformats.org/drawingml/2006/main">
              <a:srgbClr val="187B59"/>
            </a:solidFill>
          </c:spPr>
          <c:cat>
            <c:strRef>
              <c:f>'Chart Data'!$A$2:$A$5</c:f>
              <c:strCache>
                <c:ptCount val="4"/>
                <c:pt idx="0">
                  <c:v>Full model</c:v>
                </c:pt>
                <c:pt idx="1">
                  <c:v>Single head</c:v>
                </c:pt>
                <c:pt idx="2">
                  <c:v>No graph</c:v>
                </c:pt>
                <c:pt idx="3">
                  <c:v>No skips</c:v>
                </c:pt>
              </c:strCache>
            </c:strRef>
          </c:cat>
          <c:val>
            <c:numRef>
              <c:f>'Chart Data'!$B$2:$B$5</c:f>
              <c:numCache>
                <c:formatCode>0.0000</c:formatCode>
                <c:ptCount val="4"/>
                <c:pt idx="0">
                  <c:v>0.9986</c:v>
                </c:pt>
                <c:pt idx="1">
                  <c:v>1</c:v>
                </c:pt>
                <c:pt idx="2">
                  <c:v>0.86</c:v>
                </c:pt>
                <c:pt idx="3">
                  <c:v>0.4768</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52C28"/>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52C28"/>
                </a:solidFill>
                <a:latin typeface="Arial"/>
                <a:ea typeface="Arial"/>
                <a:cs typeface="Arial"/>
              </a:defRPr>
            </a:pPr>
          </a:p>
        </c:txPr>
        <c:crossAx val="48672768"/>
      </c:catAx>
      <c:valAx>
        <c:axId val="48672768"/>
        <c:scaling>
          <c:orientation val="minMax"/>
          <c:max val="1.15"/>
          <c:min val="0"/>
        </c:scaling>
        <c:delete val="0"/>
        <c:axPos val="l"/>
        <c:majorGridlines>
          <c:spPr>
            <a:ln xmlns:a="http://schemas.openxmlformats.org/drawingml/2006/main" w="9525">
              <a:solidFill>
                <a:srgbClr val="D6E3D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0615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Safe-case accuracy (%)</c:v>
          </c:tx>
          <c:spPr>
            <a:solidFill xmlns:a="http://schemas.openxmlformats.org/drawingml/2006/main">
              <a:srgbClr val="187B59"/>
            </a:solidFill>
          </c:spPr>
          <c:cat>
            <c:strRef>
              <c:f>'Chart Data'!$A$2:$A$4</c:f>
              <c:strCache>
                <c:ptCount val="3"/>
                <c:pt idx="0">
                  <c:v>CertGraph</c:v>
                </c:pt>
                <c:pt idx="1">
                  <c:v>Augmented MLP</c:v>
                </c:pt>
                <c:pt idx="2">
                  <c:v>Symbolic BFS</c:v>
                </c:pt>
              </c:strCache>
            </c:strRef>
          </c:cat>
          <c:val>
            <c:numRef>
              <c:f>'Chart Data'!$B$2:$B$4</c:f>
              <c:numCache>
                <c:formatCode>0.00"%"</c:formatCode>
                <c:ptCount val="3"/>
                <c:pt idx="0">
                  <c:v>1.59</c:v>
                </c:pt>
                <c:pt idx="1">
                  <c:v>28.57</c:v>
                </c:pt>
                <c:pt idx="2">
                  <c:v>84.13</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52C28"/>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52C28"/>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6E3DC"/>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0615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317722-7F83-41C3-B5E5-C768856C8FCB}"/>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CertGraph</a:t>
            </a:r>
          </a:p>
        </p:txBody>
      </p:sp>
      <p:sp>
        <p:nvSpPr>
          <p:cNvPr id="2" name="">
            <a:extLst xmlns:a="http://schemas.openxmlformats.org/drawingml/2006/main">
              <a:ext uri="{FF2B5EF4-FFF2-40B4-BE49-F238E27FC236}">
                <a16:creationId xmlns:a16="http://schemas.microsoft.com/office/drawing/2014/main" id="{A785D037-17B5-4C86-B2CD-2D503893394A}"/>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ECE 452 · Project and Thesis · October 2026</a:t>
            </a:r>
          </a:p>
        </p:txBody>
      </p:sp>
      <p:sp>
        <p:nvSpPr>
          <p:cNvPr id="3" name="">
            <a:extLst xmlns:a="http://schemas.openxmlformats.org/drawingml/2006/main">
              <a:ext uri="{FF2B5EF4-FFF2-40B4-BE49-F238E27FC236}">
                <a16:creationId xmlns:a16="http://schemas.microsoft.com/office/drawing/2014/main" id="{511FF09D-8F43-4A60-BDD8-BFB801A1F3C5}"/>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01/15</a:t>
            </a:r>
          </a:p>
        </p:txBody>
      </p:sp>
      <p:sp>
        <p:nvSpPr>
          <p:cNvPr id="4" name="">
            <a:extLst xmlns:a="http://schemas.openxmlformats.org/drawingml/2006/main">
              <a:ext uri="{FF2B5EF4-FFF2-40B4-BE49-F238E27FC236}">
                <a16:creationId xmlns:a16="http://schemas.microsoft.com/office/drawing/2014/main" id="{5800462E-350C-44E6-84CA-FD5286ABC3A4}"/>
              </a:ext>
            </a:extLst>
          </p:cNvPr>
          <p:cNvSpPr>
            <a:spLocks xmlns:a="http://schemas.openxmlformats.org/drawingml/2006/main" noGrp="1"/>
          </p:cNvSpPr>
          <p:nvPr/>
        </p:nvSpPr>
        <p:spPr>
          <a:xfrm xmlns:a="http://schemas.openxmlformats.org/drawingml/2006/main">
            <a:off x="609600" y="1476375"/>
            <a:ext cx="10810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150" b="1">
                <a:solidFill>
                  <a:srgbClr val="152C28"/>
                </a:solidFill>
                <a:latin typeface="Arial"/>
                <a:ea typeface="Arial"/>
                <a:cs typeface="Arial"/>
              </a:defRPr>
            </a:pPr>
            <a:r>
              <a:rPr sz="3150" b="1">
                <a:solidFill>
                  <a:srgbClr val="152C28"/>
                </a:solidFill>
                <a:latin typeface="Arial"/>
                <a:ea typeface="Arial"/>
                <a:cs typeface="Arial"/>
              </a:rPr>
              <a:t>Heterogeneous Graph Attention Networks for</a:t>
            </a:r>
          </a:p>
          <a:p xmlns:a="http://schemas.openxmlformats.org/drawingml/2006/main">
            <a:pPr>
              <a:defRPr sz="3150" b="1">
                <a:solidFill>
                  <a:srgbClr val="152C28"/>
                </a:solidFill>
                <a:latin typeface="Arial"/>
                <a:ea typeface="Arial"/>
                <a:cs typeface="Arial"/>
              </a:defRPr>
            </a:pPr>
            <a:r>
              <a:rPr sz="3150" b="1">
                <a:solidFill>
                  <a:srgbClr val="152C28"/>
                </a:solidFill>
                <a:latin typeface="Arial"/>
                <a:ea typeface="Arial"/>
                <a:cs typeface="Arial"/>
              </a:rPr>
              <a:t>Active Directory Certificate Services</a:t>
            </a:r>
          </a:p>
          <a:p xmlns:a="http://schemas.openxmlformats.org/drawingml/2006/main">
            <a:pPr>
              <a:defRPr sz="3150" b="1">
                <a:solidFill>
                  <a:srgbClr val="152C28"/>
                </a:solidFill>
                <a:latin typeface="Arial"/>
                <a:ea typeface="Arial"/>
                <a:cs typeface="Arial"/>
              </a:defRPr>
            </a:pPr>
            <a:r>
              <a:rPr sz="3150" b="1">
                <a:solidFill>
                  <a:srgbClr val="152C28"/>
                </a:solidFill>
                <a:latin typeface="Arial"/>
                <a:ea typeface="Arial"/>
                <a:cs typeface="Arial"/>
              </a:rPr>
              <a:t>Vulnerability Detection and Autonomous Defense</a:t>
            </a:r>
          </a:p>
        </p:txBody>
      </p:sp>
      <p:sp>
        <p:nvSpPr>
          <p:cNvPr id="5" name="">
            <a:extLst xmlns:a="http://schemas.openxmlformats.org/drawingml/2006/main">
              <a:ext uri="{FF2B5EF4-FFF2-40B4-BE49-F238E27FC236}">
                <a16:creationId xmlns:a16="http://schemas.microsoft.com/office/drawing/2014/main" id="{14845AD7-F4F2-438E-A676-C74481CF4C5C}"/>
              </a:ext>
            </a:extLst>
          </p:cNvPr>
          <p:cNvSpPr>
            <a:spLocks xmlns:a="http://schemas.openxmlformats.org/drawingml/2006/main" noGrp="1"/>
          </p:cNvSpPr>
          <p:nvPr/>
        </p:nvSpPr>
        <p:spPr>
          <a:xfrm xmlns:a="http://schemas.openxmlformats.org/drawingml/2006/main">
            <a:off x="609600" y="3714750"/>
            <a:ext cx="1019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Prepared by</a:t>
            </a:r>
          </a:p>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Student IDs: 2002126, 2002138, 2102151</a:t>
            </a:r>
          </a:p>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Level 4, Semester II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323e3254ec74cdf"/>
          <a:stretch xmlns:a="http://schemas.openxmlformats.org/drawingml/2006/main"/>
        </p:blipFill>
        <p:spPr>
          <a:xfrm xmlns:a="http://schemas.openxmlformats.org/drawingml/2006/main">
            <a:off x="609600" y="5107135"/>
            <a:ext cx="619125" cy="78710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3B737D-BE8E-4C32-8D2B-564478689627}"/>
              </a:ext>
            </a:extLst>
          </p:cNvPr>
          <p:cNvSpPr>
            <a:spLocks xmlns:a="http://schemas.openxmlformats.org/drawingml/2006/main" noGrp="1"/>
          </p:cNvSpPr>
          <p:nvPr/>
        </p:nvSpPr>
        <p:spPr>
          <a:xfrm xmlns:a="http://schemas.openxmlformats.org/drawingml/2006/main">
            <a:off x="1438275" y="5172075"/>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52C28"/>
                </a:solidFill>
                <a:latin typeface="Arial"/>
                <a:ea typeface="Arial"/>
                <a:cs typeface="Arial"/>
              </a:defRPr>
            </a:pPr>
            <a:r>
              <a:rPr sz="1800" b="0">
                <a:solidFill>
                  <a:srgbClr val="152C28"/>
                </a:solidFill>
                <a:latin typeface="Arial"/>
                <a:ea typeface="Arial"/>
                <a:cs typeface="Arial"/>
              </a:rPr>
              <a:t>Department of Electronics and Communication Engineering</a:t>
            </a:r>
          </a:p>
          <a:p xmlns:a="http://schemas.openxmlformats.org/drawingml/2006/main">
            <a:pPr>
              <a:defRPr sz="1800" b="0">
                <a:solidFill>
                  <a:srgbClr val="152C28"/>
                </a:solidFill>
                <a:latin typeface="Arial"/>
                <a:ea typeface="Arial"/>
                <a:cs typeface="Arial"/>
              </a:defRPr>
            </a:pPr>
            <a:r>
              <a:rPr sz="1800" b="0">
                <a:solidFill>
                  <a:srgbClr val="152C28"/>
                </a:solidFill>
                <a:latin typeface="Arial"/>
                <a:ea typeface="Arial"/>
                <a:cs typeface="Arial"/>
              </a:rPr>
              <a:t>Hajee Mohammad Danesh Science and Technology University</a:t>
            </a:r>
          </a:p>
          <a:p xmlns:a="http://schemas.openxmlformats.org/drawingml/2006/main">
            <a:pPr>
              <a:defRPr sz="1800" b="0">
                <a:solidFill>
                  <a:srgbClr val="152C28"/>
                </a:solidFill>
                <a:latin typeface="Arial"/>
                <a:ea typeface="Arial"/>
                <a:cs typeface="Arial"/>
              </a:defRPr>
            </a:pPr>
            <a:r>
              <a:rPr sz="1800" b="0">
                <a:solidFill>
                  <a:srgbClr val="152C28"/>
                </a:solidFill>
                <a:latin typeface="Arial"/>
                <a:ea typeface="Arial"/>
                <a:cs typeface="Arial"/>
              </a:rPr>
              <a:t>Dinajpur-5200, Bangladesh</a:t>
            </a:r>
          </a:p>
        </p:txBody>
      </p:sp>
    </p:spTree>
    <p:extLst>
      <p:ext uri="{BB962C8B-B14F-4D97-AF65-F5344CB8AC3E}">
        <p14:creationId xmlns:p14="http://schemas.microsoft.com/office/powerpoint/2010/main" val="4352303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25217E-B40A-43FF-814C-B1CB47DFBF03}"/>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ADCS and the security problem</a:t>
            </a:r>
          </a:p>
        </p:txBody>
      </p:sp>
      <p:sp>
        <p:nvSpPr>
          <p:cNvPr id="2" name="">
            <a:extLst xmlns:a="http://schemas.openxmlformats.org/drawingml/2006/main">
              <a:ext uri="{FF2B5EF4-FFF2-40B4-BE49-F238E27FC236}">
                <a16:creationId xmlns:a16="http://schemas.microsoft.com/office/drawing/2014/main" id="{E54C8E2F-9290-43D1-8E86-BD48A03D4B79}"/>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§§2.4–2.7</a:t>
            </a:r>
          </a:p>
        </p:txBody>
      </p:sp>
      <p:sp>
        <p:nvSpPr>
          <p:cNvPr id="3" name="">
            <a:extLst xmlns:a="http://schemas.openxmlformats.org/drawingml/2006/main">
              <a:ext uri="{FF2B5EF4-FFF2-40B4-BE49-F238E27FC236}">
                <a16:creationId xmlns:a16="http://schemas.microsoft.com/office/drawing/2014/main" id="{5E77FE0D-C436-4FA4-8962-66E8212AF3CF}"/>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02/15</a:t>
            </a:r>
          </a:p>
        </p:txBody>
      </p:sp>
      <p:graphicFrame>
        <p:nvGraphicFramePr>
          <p:cNvPr id="10" name=""/>
          <p:cNvGraphicFramePr/>
          <p:nvPr/>
        </p:nvGraphicFramePr>
        <p:xfrm>
          <a:off xmlns:a="http://schemas.openxmlformats.org/drawingml/2006/main" x="609600" y="1381125"/>
          <a:ext xmlns:a="http://schemas.openxmlformats.org/drawingml/2006/main" cx="10972800" cy="3048000"/>
        </p:xfrm>
        <a:graphic xmlns:a="http://schemas.openxmlformats.org/drawingml/2006/main">
          <a:graphicData uri="http://schemas.openxmlformats.org/drawingml/2006/table">
            <a:tbl>
              <a:tblPr/>
              <a:tblGrid>
                <a:gridCol w="3143250"/>
                <a:gridCol w="7829550"/>
              </a:tblGrid>
              <a:tr h="508000">
                <a:tc>
                  <a:txBody>
                    <a:bodyPr/>
                    <a:lstStyle/>
                    <a:p>
                      <a:r>
                        <a:rPr sz="1875" b="1">
                          <a:solidFill>
                            <a:srgbClr val="FFFFFF"/>
                          </a:solidFill>
                          <a:latin typeface="Arial"/>
                          <a:ea typeface="Arial"/>
                          <a:cs typeface="Arial"/>
                        </a:rPr>
                        <a:t>Term</a:t>
                      </a:r>
                    </a:p>
                  </a:txBody>
                  <a:tcPr marL="91440" marR="91440" marT="45720" marB="45720">
                    <a:solidFill>
                      <a:srgbClr val="187B59"/>
                    </a:solidFill>
                  </a:tcPr>
                </a:tc>
                <a:tc>
                  <a:txBody>
                    <a:bodyPr/>
                    <a:lstStyle/>
                    <a:p>
                      <a:r>
                        <a:rPr sz="1875" b="1">
                          <a:solidFill>
                            <a:srgbClr val="FFFFFF"/>
                          </a:solidFill>
                          <a:latin typeface="Arial"/>
                          <a:ea typeface="Arial"/>
                          <a:cs typeface="Arial"/>
                        </a:rPr>
                        <a:t>Basic meaning</a:t>
                      </a:r>
                    </a:p>
                  </a:txBody>
                  <a:tcPr marL="91440" marR="91440" marT="45720" marB="45720">
                    <a:solidFill>
                      <a:srgbClr val="187B59"/>
                    </a:solidFill>
                  </a:tcPr>
                </a:tc>
              </a:tr>
              <a:tr h="508000">
                <a:tc>
                  <a:txBody>
                    <a:bodyPr/>
                    <a:lstStyle/>
                    <a:p>
                      <a:r>
                        <a:rPr sz="1875" b="0">
                          <a:solidFill>
                            <a:srgbClr val="152C28"/>
                          </a:solidFill>
                          <a:latin typeface="Arial"/>
                          <a:ea typeface="Arial"/>
                          <a:cs typeface="Arial"/>
                        </a:rPr>
                        <a:t>Active Directory (AD)</a:t>
                      </a:r>
                    </a:p>
                  </a:txBody>
                  <a:tcPr marL="91440" marR="91440" marT="45720" marB="45720">
                    <a:solidFill>
                      <a:srgbClr val="FFFFFF"/>
                    </a:solidFill>
                  </a:tcPr>
                </a:tc>
                <a:tc>
                  <a:txBody>
                    <a:bodyPr/>
                    <a:lstStyle/>
                    <a:p>
                      <a:r>
                        <a:rPr sz="1875" b="0">
                          <a:solidFill>
                            <a:srgbClr val="152C28"/>
                          </a:solidFill>
                          <a:latin typeface="Arial"/>
                          <a:ea typeface="Arial"/>
                          <a:cs typeface="Arial"/>
                        </a:rPr>
                        <a:t>Manages enterprise identities and access permissions</a:t>
                      </a:r>
                    </a:p>
                  </a:txBody>
                  <a:tcPr marL="91440" marR="91440" marT="45720" marB="45720">
                    <a:solidFill>
                      <a:srgbClr val="FFFFFF"/>
                    </a:solidFill>
                  </a:tcPr>
                </a:tc>
              </a:tr>
              <a:tr h="508000">
                <a:tc>
                  <a:txBody>
                    <a:bodyPr/>
                    <a:lstStyle/>
                    <a:p>
                      <a:r>
                        <a:rPr sz="1875" b="0">
                          <a:solidFill>
                            <a:srgbClr val="152C28"/>
                          </a:solidFill>
                          <a:latin typeface="Arial"/>
                          <a:ea typeface="Arial"/>
                          <a:cs typeface="Arial"/>
                        </a:rPr>
                        <a:t>AD Certificate Services</a:t>
                      </a:r>
                    </a:p>
                  </a:txBody>
                  <a:tcPr marL="91440" marR="91440" marT="45720" marB="45720">
                    <a:solidFill>
                      <a:srgbClr val="EDF4EF"/>
                    </a:solidFill>
                  </a:tcPr>
                </a:tc>
                <a:tc>
                  <a:txBody>
                    <a:bodyPr/>
                    <a:lstStyle/>
                    <a:p>
                      <a:r>
                        <a:rPr sz="1875" b="0">
                          <a:solidFill>
                            <a:srgbClr val="152C28"/>
                          </a:solidFill>
                          <a:latin typeface="Arial"/>
                          <a:ea typeface="Arial"/>
                          <a:cs typeface="Arial"/>
                        </a:rPr>
                        <a:t>Issues certificates that can support authentication</a:t>
                      </a:r>
                    </a:p>
                  </a:txBody>
                  <a:tcPr marL="91440" marR="91440" marT="45720" marB="45720">
                    <a:solidFill>
                      <a:srgbClr val="EDF4EF"/>
                    </a:solidFill>
                  </a:tcPr>
                </a:tc>
              </a:tr>
              <a:tr h="508000">
                <a:tc>
                  <a:txBody>
                    <a:bodyPr/>
                    <a:lstStyle/>
                    <a:p>
                      <a:r>
                        <a:rPr sz="1875" b="0">
                          <a:solidFill>
                            <a:srgbClr val="152C28"/>
                          </a:solidFill>
                          <a:latin typeface="Arial"/>
                          <a:ea typeface="Arial"/>
                          <a:cs typeface="Arial"/>
                        </a:rPr>
                        <a:t>Certificate template</a:t>
                      </a:r>
                    </a:p>
                  </a:txBody>
                  <a:tcPr marL="91440" marR="91440" marT="45720" marB="45720">
                    <a:solidFill>
                      <a:srgbClr val="FFFFFF"/>
                    </a:solidFill>
                  </a:tcPr>
                </a:tc>
                <a:tc>
                  <a:txBody>
                    <a:bodyPr/>
                    <a:lstStyle/>
                    <a:p>
                      <a:r>
                        <a:rPr sz="1875" b="0">
                          <a:solidFill>
                            <a:srgbClr val="152C28"/>
                          </a:solidFill>
                          <a:latin typeface="Arial"/>
                          <a:ea typeface="Arial"/>
                          <a:cs typeface="Arial"/>
                        </a:rPr>
                        <a:t>Defines who can enroll and how certificates work</a:t>
                      </a:r>
                    </a:p>
                  </a:txBody>
                  <a:tcPr marL="91440" marR="91440" marT="45720" marB="45720">
                    <a:solidFill>
                      <a:srgbClr val="FFFFFF"/>
                    </a:solidFill>
                  </a:tcPr>
                </a:tc>
              </a:tr>
              <a:tr h="508000">
                <a:tc>
                  <a:txBody>
                    <a:bodyPr/>
                    <a:lstStyle/>
                    <a:p>
                      <a:r>
                        <a:rPr sz="1875" b="0">
                          <a:solidFill>
                            <a:srgbClr val="152C28"/>
                          </a:solidFill>
                          <a:latin typeface="Arial"/>
                          <a:ea typeface="Arial"/>
                          <a:cs typeface="Arial"/>
                        </a:rPr>
                        <a:t>ACL / DACL</a:t>
                      </a:r>
                    </a:p>
                  </a:txBody>
                  <a:tcPr marL="91440" marR="91440" marT="45720" marB="45720">
                    <a:solidFill>
                      <a:srgbClr val="EDF4EF"/>
                    </a:solidFill>
                  </a:tcPr>
                </a:tc>
                <a:tc>
                  <a:txBody>
                    <a:bodyPr/>
                    <a:lstStyle/>
                    <a:p>
                      <a:r>
                        <a:rPr sz="1875" b="0">
                          <a:solidFill>
                            <a:srgbClr val="152C28"/>
                          </a:solidFill>
                          <a:latin typeface="Arial"/>
                          <a:ea typeface="Arial"/>
                          <a:cs typeface="Arial"/>
                        </a:rPr>
                        <a:t>Rules that grant or deny access to an object</a:t>
                      </a:r>
                    </a:p>
                  </a:txBody>
                  <a:tcPr marL="91440" marR="91440" marT="45720" marB="45720">
                    <a:solidFill>
                      <a:srgbClr val="EDF4EF"/>
                    </a:solidFill>
                  </a:tcPr>
                </a:tc>
              </a:tr>
              <a:tr h="508000">
                <a:tc>
                  <a:txBody>
                    <a:bodyPr/>
                    <a:lstStyle/>
                    <a:p>
                      <a:r>
                        <a:rPr sz="1875" b="0">
                          <a:solidFill>
                            <a:srgbClr val="152C28"/>
                          </a:solidFill>
                          <a:latin typeface="Arial"/>
                          <a:ea typeface="Arial"/>
                          <a:cs typeface="Arial"/>
                        </a:rPr>
                        <a:t>Attack path</a:t>
                      </a:r>
                    </a:p>
                  </a:txBody>
                  <a:tcPr marL="91440" marR="91440" marT="45720" marB="45720">
                    <a:solidFill>
                      <a:srgbClr val="FFFFFF"/>
                    </a:solidFill>
                  </a:tcPr>
                </a:tc>
                <a:tc>
                  <a:txBody>
                    <a:bodyPr/>
                    <a:lstStyle/>
                    <a:p>
                      <a:r>
                        <a:rPr sz="1875" b="0">
                          <a:solidFill>
                            <a:srgbClr val="152C28"/>
                          </a:solidFill>
                          <a:latin typeface="Arial"/>
                          <a:ea typeface="Arial"/>
                          <a:cs typeface="Arial"/>
                        </a:rPr>
                        <a:t>A sequence of permissions enabling higher privileges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092AE7E-D6AB-4723-86FB-8E53B9CBE535}"/>
              </a:ext>
            </a:extLst>
          </p:cNvPr>
          <p:cNvSpPr>
            <a:spLocks xmlns:a="http://schemas.openxmlformats.org/drawingml/2006/main" noGrp="1"/>
          </p:cNvSpPr>
          <p:nvPr/>
        </p:nvSpPr>
        <p:spPr>
          <a:xfrm xmlns:a="http://schemas.openxmlformats.org/drawingml/2006/main">
            <a:off x="609600" y="4857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Exploitability requires both configuration and effective access</a:t>
            </a:r>
          </a:p>
        </p:txBody>
      </p:sp>
      <p:sp>
        <p:nvSpPr>
          <p:cNvPr id="6" name="">
            <a:extLst xmlns:a="http://schemas.openxmlformats.org/drawingml/2006/main">
              <a:ext uri="{FF2B5EF4-FFF2-40B4-BE49-F238E27FC236}">
                <a16:creationId xmlns:a16="http://schemas.microsoft.com/office/drawing/2014/main" id="{5F17D734-59C3-46E8-BC43-3307ADC278C8}"/>
              </a:ext>
            </a:extLst>
          </p:cNvPr>
          <p:cNvSpPr>
            <a:spLocks xmlns:a="http://schemas.openxmlformats.org/drawingml/2006/main" noGrp="1"/>
          </p:cNvSpPr>
          <p:nvPr/>
        </p:nvSpPr>
        <p:spPr>
          <a:xfrm xmlns:a="http://schemas.openxmlformats.org/drawingml/2006/main">
            <a:off x="609600" y="538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A risky template can remain safe when unprivileged users cannot reach or use it.</a:t>
            </a:r>
          </a:p>
        </p:txBody>
      </p:sp>
    </p:spTree>
    <p:extLst>
      <p:ext uri="{BB962C8B-B14F-4D97-AF65-F5344CB8AC3E}">
        <p14:creationId xmlns:p14="http://schemas.microsoft.com/office/powerpoint/2010/main" val="2994492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013C7A-BB02-4EBA-A04E-4148457FD0DA}"/>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Research questions and scope</a:t>
            </a:r>
          </a:p>
        </p:txBody>
      </p:sp>
      <p:sp>
        <p:nvSpPr>
          <p:cNvPr id="2" name="">
            <a:extLst xmlns:a="http://schemas.openxmlformats.org/drawingml/2006/main">
              <a:ext uri="{FF2B5EF4-FFF2-40B4-BE49-F238E27FC236}">
                <a16:creationId xmlns:a16="http://schemas.microsoft.com/office/drawing/2014/main" id="{FF591506-CB19-4E2A-A909-EC1DC7ECA96F}"/>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§§1.6, 2.6.1, 2.7</a:t>
            </a:r>
          </a:p>
        </p:txBody>
      </p:sp>
      <p:sp>
        <p:nvSpPr>
          <p:cNvPr id="3" name="">
            <a:extLst xmlns:a="http://schemas.openxmlformats.org/drawingml/2006/main">
              <a:ext uri="{FF2B5EF4-FFF2-40B4-BE49-F238E27FC236}">
                <a16:creationId xmlns:a16="http://schemas.microsoft.com/office/drawing/2014/main" id="{65F40181-2066-4B0E-B406-7D89B7FCEE77}"/>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03/15</a:t>
            </a:r>
          </a:p>
        </p:txBody>
      </p:sp>
      <p:sp>
        <p:nvSpPr>
          <p:cNvPr id="4" name="">
            <a:extLst xmlns:a="http://schemas.openxmlformats.org/drawingml/2006/main">
              <a:ext uri="{FF2B5EF4-FFF2-40B4-BE49-F238E27FC236}">
                <a16:creationId xmlns:a16="http://schemas.microsoft.com/office/drawing/2014/main" id="{6495E322-9B93-4454-8BEB-6D86C137585F}"/>
              </a:ext>
            </a:extLst>
          </p:cNvPr>
          <p:cNvSpPr>
            <a:spLocks xmlns:a="http://schemas.openxmlformats.org/drawingml/2006/main" noGrp="1"/>
          </p:cNvSpPr>
          <p:nvPr/>
        </p:nvSpPr>
        <p:spPr>
          <a:xfrm xmlns:a="http://schemas.openxmlformats.org/drawingml/2006/main">
            <a:off x="609600" y="13811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Four questions</a:t>
            </a:r>
          </a:p>
        </p:txBody>
      </p:sp>
      <p:sp>
        <p:nvSpPr>
          <p:cNvPr id="5" name="">
            <a:extLst xmlns:a="http://schemas.openxmlformats.org/drawingml/2006/main">
              <a:ext uri="{FF2B5EF4-FFF2-40B4-BE49-F238E27FC236}">
                <a16:creationId xmlns:a16="http://schemas.microsoft.com/office/drawing/2014/main" id="{5D2FF990-15C6-4633-8A11-03DD5D5CA24B}"/>
              </a:ext>
            </a:extLst>
          </p:cNvPr>
          <p:cNvSpPr>
            <a:spLocks xmlns:a="http://schemas.openxmlformats.org/drawingml/2006/main" noGrp="1"/>
          </p:cNvSpPr>
          <p:nvPr/>
        </p:nvSpPr>
        <p:spPr>
          <a:xfrm xmlns:a="http://schemas.openxmlformats.org/drawingml/2006/main">
            <a:off x="609600" y="1905000"/>
            <a:ext cx="642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54000" indent="-127000">
              <a:spcAft>
                <a:spcPts val="1500"/>
              </a:spcAft>
              <a:buChar char="•"/>
              <a:defRPr sz="2025" b="0">
                <a:solidFill>
                  <a:srgbClr val="152C28"/>
                </a:solidFill>
                <a:latin typeface="Arial"/>
                <a:ea typeface="Arial"/>
                <a:cs typeface="Arial"/>
              </a:defRPr>
            </a:pPr>
            <a:r>
              <a:t>Does graph context improve template classification?</a:t>
            </a:r>
          </a:p>
          <a:p xmlns:a="http://schemas.openxmlformats.org/drawingml/2006/main">
            <a:pPr marL="254000" indent="-127000">
              <a:spcAft>
                <a:spcPts val="1500"/>
              </a:spcAft>
              <a:buChar char="•"/>
              <a:defRPr sz="2025" b="0">
                <a:solidFill>
                  <a:srgbClr val="152C28"/>
                </a:solidFill>
                <a:latin typeface="Arial"/>
                <a:ea typeface="Arial"/>
                <a:cs typeface="Arial"/>
              </a:defRPr>
            </a:pPr>
            <a:r>
              <a:t>Do residual connections preserve useful node attributes?</a:t>
            </a:r>
          </a:p>
          <a:p xmlns:a="http://schemas.openxmlformats.org/drawingml/2006/main">
            <a:pPr marL="254000" indent="-127000">
              <a:spcAft>
                <a:spcPts val="1500"/>
              </a:spcAft>
              <a:buChar char="•"/>
              <a:defRPr sz="2025" b="0">
                <a:solidFill>
                  <a:srgbClr val="152C28"/>
                </a:solidFill>
                <a:latin typeface="Arial"/>
                <a:ea typeface="Arial"/>
                <a:cs typeface="Arial"/>
              </a:defRPr>
            </a:pPr>
            <a:r>
              <a:t>Does the model generalize to unseen hard negatives?</a:t>
            </a:r>
          </a:p>
          <a:p xmlns:a="http://schemas.openxmlformats.org/drawingml/2006/main">
            <a:pPr marL="254000" indent="-127000">
              <a:spcAft>
                <a:spcPts val="1500"/>
              </a:spcAft>
              <a:buChar char="•"/>
              <a:defRPr sz="2025" b="0">
                <a:solidFill>
                  <a:srgbClr val="152C28"/>
                </a:solidFill>
                <a:latin typeface="Arial"/>
                <a:ea typeface="Arial"/>
                <a:cs typeface="Arial"/>
              </a:defRPr>
            </a:pPr>
            <a:r>
              <a:t>Can verified paths guide mitigation within a budget?</a:t>
            </a:r>
          </a:p>
        </p:txBody>
      </p:sp>
      <p:sp>
        <p:nvSpPr>
          <p:cNvPr id="6" name="">
            <a:extLst xmlns:a="http://schemas.openxmlformats.org/drawingml/2006/main">
              <a:ext uri="{FF2B5EF4-FFF2-40B4-BE49-F238E27FC236}">
                <a16:creationId xmlns:a16="http://schemas.microsoft.com/office/drawing/2014/main" id="{D071D00A-093E-4660-A2E6-3AB8040DAC07}"/>
              </a:ext>
            </a:extLst>
          </p:cNvPr>
          <p:cNvSpPr>
            <a:spLocks xmlns:a="http://schemas.openxmlformats.org/drawingml/2006/main" noGrp="1"/>
          </p:cNvSpPr>
          <p:nvPr/>
        </p:nvSpPr>
        <p:spPr>
          <a:xfrm xmlns:a="http://schemas.openxmlformats.org/drawingml/2006/main">
            <a:off x="7810500" y="13811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Evaluated classes</a:t>
            </a:r>
          </a:p>
        </p:txBody>
      </p:sp>
      <p:sp>
        <p:nvSpPr>
          <p:cNvPr id="7" name="">
            <a:extLst xmlns:a="http://schemas.openxmlformats.org/drawingml/2006/main">
              <a:ext uri="{FF2B5EF4-FFF2-40B4-BE49-F238E27FC236}">
                <a16:creationId xmlns:a16="http://schemas.microsoft.com/office/drawing/2014/main" id="{650B625E-4DEB-4349-8952-FAEAB9BFD4A7}"/>
              </a:ext>
            </a:extLst>
          </p:cNvPr>
          <p:cNvSpPr>
            <a:spLocks xmlns:a="http://schemas.openxmlformats.org/drawingml/2006/main" noGrp="1"/>
          </p:cNvSpPr>
          <p:nvPr/>
        </p:nvSpPr>
        <p:spPr>
          <a:xfrm xmlns:a="http://schemas.openxmlformats.org/drawingml/2006/main">
            <a:off x="7810500" y="1952625"/>
            <a:ext cx="3714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52C28"/>
                </a:solidFill>
                <a:latin typeface="Arial"/>
                <a:ea typeface="Arial"/>
                <a:cs typeface="Arial"/>
              </a:defRPr>
            </a:pPr>
            <a:r>
              <a:rPr sz="2250" b="1">
                <a:solidFill>
                  <a:srgbClr val="152C28"/>
                </a:solidFill>
                <a:latin typeface="Arial"/>
                <a:ea typeface="Arial"/>
                <a:cs typeface="Arial"/>
              </a:rPr>
              <a:t>Safe</a:t>
            </a:r>
          </a:p>
          <a:p xmlns:a="http://schemas.openxmlformats.org/drawingml/2006/main">
            <a:pPr>
              <a:defRPr sz="2250" b="1">
                <a:solidFill>
                  <a:srgbClr val="152C28"/>
                </a:solidFill>
                <a:latin typeface="Arial"/>
                <a:ea typeface="Arial"/>
                <a:cs typeface="Arial"/>
              </a:defRPr>
            </a:pPr>
            <a:r>
              <a:rPr sz="2250" b="1">
                <a:solidFill>
                  <a:srgbClr val="152C28"/>
                </a:solidFill>
                <a:latin typeface="Arial"/>
                <a:ea typeface="Arial"/>
                <a:cs typeface="Arial"/>
              </a:rPr>
              <a:t>ESC1, ESC2, ESC3</a:t>
            </a:r>
          </a:p>
          <a:p xmlns:a="http://schemas.openxmlformats.org/drawingml/2006/main">
            <a:pPr>
              <a:defRPr sz="2250" b="1">
                <a:solidFill>
                  <a:srgbClr val="152C28"/>
                </a:solidFill>
                <a:latin typeface="Arial"/>
                <a:ea typeface="Arial"/>
                <a:cs typeface="Arial"/>
              </a:defRPr>
            </a:pPr>
            <a:r>
              <a:rPr sz="2250" b="1">
                <a:solidFill>
                  <a:srgbClr val="152C28"/>
                </a:solidFill>
                <a:latin typeface="Arial"/>
                <a:ea typeface="Arial"/>
                <a:cs typeface="Arial"/>
              </a:rPr>
              <a:t>ESC4, ESC9, ESC13</a:t>
            </a:r>
          </a:p>
        </p:txBody>
      </p:sp>
      <p:sp>
        <p:nvSpPr>
          <p:cNvPr id="8" name="">
            <a:extLst xmlns:a="http://schemas.openxmlformats.org/drawingml/2006/main">
              <a:ext uri="{FF2B5EF4-FFF2-40B4-BE49-F238E27FC236}">
                <a16:creationId xmlns:a16="http://schemas.microsoft.com/office/drawing/2014/main" id="{4A426FFC-BEB8-4C30-8969-22D9A7B09D6E}"/>
              </a:ext>
            </a:extLst>
          </p:cNvPr>
          <p:cNvSpPr>
            <a:spLocks xmlns:a="http://schemas.openxmlformats.org/drawingml/2006/main" noGrp="1"/>
          </p:cNvSpPr>
          <p:nvPr/>
        </p:nvSpPr>
        <p:spPr>
          <a:xfrm xmlns:a="http://schemas.openxmlformats.org/drawingml/2006/main">
            <a:off x="7810500" y="3952875"/>
            <a:ext cx="3714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Template-centered analysis</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Assumed low-privilege breach</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Single primary label per target</a:t>
            </a:r>
          </a:p>
        </p:txBody>
      </p:sp>
    </p:spTree>
    <p:extLst>
      <p:ext uri="{BB962C8B-B14F-4D97-AF65-F5344CB8AC3E}">
        <p14:creationId xmlns:p14="http://schemas.microsoft.com/office/powerpoint/2010/main" val="7189719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353C87-7477-46B8-BB14-E765651B2967}"/>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Related work and the research gap</a:t>
            </a:r>
          </a:p>
        </p:txBody>
      </p:sp>
      <p:sp>
        <p:nvSpPr>
          <p:cNvPr id="2" name="">
            <a:extLst xmlns:a="http://schemas.openxmlformats.org/drawingml/2006/main">
              <a:ext uri="{FF2B5EF4-FFF2-40B4-BE49-F238E27FC236}">
                <a16:creationId xmlns:a16="http://schemas.microsoft.com/office/drawing/2014/main" id="{E2C29D5C-C7DF-49BF-B1B0-88FE8EE972AA}"/>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Chapter 2; primary research sources in notes</a:t>
            </a:r>
          </a:p>
        </p:txBody>
      </p:sp>
      <p:sp>
        <p:nvSpPr>
          <p:cNvPr id="3" name="">
            <a:extLst xmlns:a="http://schemas.openxmlformats.org/drawingml/2006/main">
              <a:ext uri="{FF2B5EF4-FFF2-40B4-BE49-F238E27FC236}">
                <a16:creationId xmlns:a16="http://schemas.microsoft.com/office/drawing/2014/main" id="{96F82355-0589-4AC3-AE3E-C8A16C47EA5A}"/>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04/15</a:t>
            </a:r>
          </a:p>
        </p:txBody>
      </p:sp>
      <p:graphicFrame>
        <p:nvGraphicFramePr>
          <p:cNvPr id="9" name=""/>
          <p:cNvGraphicFramePr/>
          <p:nvPr/>
        </p:nvGraphicFramePr>
        <p:xfrm>
          <a:off xmlns:a="http://schemas.openxmlformats.org/drawingml/2006/main" x="609600" y="1381125"/>
          <a:ext xmlns:a="http://schemas.openxmlformats.org/drawingml/2006/main" cx="10972800" cy="3286125"/>
        </p:xfrm>
        <a:graphic xmlns:a="http://schemas.openxmlformats.org/drawingml/2006/main">
          <a:graphicData uri="http://schemas.openxmlformats.org/drawingml/2006/table">
            <a:tbl>
              <a:tblPr/>
              <a:tblGrid>
                <a:gridCol w="3238500"/>
                <a:gridCol w="3619500"/>
                <a:gridCol w="4114800"/>
              </a:tblGrid>
              <a:tr h="657225">
                <a:tc>
                  <a:txBody>
                    <a:bodyPr/>
                    <a:lstStyle/>
                    <a:p>
                      <a:r>
                        <a:rPr sz="1725" b="1">
                          <a:solidFill>
                            <a:srgbClr val="FFFFFF"/>
                          </a:solidFill>
                          <a:latin typeface="Arial"/>
                          <a:ea typeface="Arial"/>
                          <a:cs typeface="Arial"/>
                        </a:rPr>
                        <a:t>Prior work</a:t>
                      </a:r>
                    </a:p>
                  </a:txBody>
                  <a:tcPr marL="91440" marR="91440" marT="45720" marB="45720">
                    <a:solidFill>
                      <a:srgbClr val="187B59"/>
                    </a:solidFill>
                  </a:tcPr>
                </a:tc>
                <a:tc>
                  <a:txBody>
                    <a:bodyPr/>
                    <a:lstStyle/>
                    <a:p>
                      <a:r>
                        <a:rPr sz="1725" b="1">
                          <a:solidFill>
                            <a:srgbClr val="FFFFFF"/>
                          </a:solidFill>
                          <a:latin typeface="Arial"/>
                          <a:ea typeface="Arial"/>
                          <a:cs typeface="Arial"/>
                        </a:rPr>
                        <a:t>Contribution</a:t>
                      </a:r>
                    </a:p>
                  </a:txBody>
                  <a:tcPr marL="91440" marR="91440" marT="45720" marB="45720">
                    <a:solidFill>
                      <a:srgbClr val="187B59"/>
                    </a:solidFill>
                  </a:tcPr>
                </a:tc>
                <a:tc>
                  <a:txBody>
                    <a:bodyPr/>
                    <a:lstStyle/>
                    <a:p>
                      <a:r>
                        <a:rPr sz="1725" b="1">
                          <a:solidFill>
                            <a:srgbClr val="FFFFFF"/>
                          </a:solidFill>
                          <a:latin typeface="Arial"/>
                          <a:ea typeface="Arial"/>
                          <a:cs typeface="Arial"/>
                        </a:rPr>
                        <a:t>Connection to this thesis</a:t>
                      </a:r>
                    </a:p>
                  </a:txBody>
                  <a:tcPr marL="91440" marR="91440" marT="45720" marB="45720">
                    <a:solidFill>
                      <a:srgbClr val="187B59"/>
                    </a:solidFill>
                  </a:tcPr>
                </a:tc>
              </a:tr>
              <a:tr h="657225">
                <a:tc>
                  <a:txBody>
                    <a:bodyPr/>
                    <a:lstStyle/>
                    <a:p>
                      <a:r>
                        <a:rPr sz="1725" b="0">
                          <a:solidFill>
                            <a:srgbClr val="152C28"/>
                          </a:solidFill>
                          <a:latin typeface="Arial"/>
                          <a:ea typeface="Arial"/>
                          <a:cs typeface="Arial"/>
                        </a:rPr>
                        <a:t>SpecterOps ADCS research</a:t>
                      </a:r>
                    </a:p>
                  </a:txBody>
                  <a:tcPr marL="91440" marR="91440" marT="45720" marB="45720">
                    <a:solidFill>
                      <a:srgbClr val="FFFFFF"/>
                    </a:solidFill>
                  </a:tcPr>
                </a:tc>
                <a:tc>
                  <a:txBody>
                    <a:bodyPr/>
                    <a:lstStyle/>
                    <a:p>
                      <a:r>
                        <a:rPr sz="1725" b="0">
                          <a:solidFill>
                            <a:srgbClr val="152C28"/>
                          </a:solidFill>
                          <a:latin typeface="Arial"/>
                          <a:ea typeface="Arial"/>
                          <a:cs typeface="Arial"/>
                        </a:rPr>
                        <a:t>Certificate abuse semantics</a:t>
                      </a:r>
                    </a:p>
                  </a:txBody>
                  <a:tcPr marL="91440" marR="91440" marT="45720" marB="45720">
                    <a:solidFill>
                      <a:srgbClr val="FFFFFF"/>
                    </a:solidFill>
                  </a:tcPr>
                </a:tc>
                <a:tc>
                  <a:txBody>
                    <a:bodyPr/>
                    <a:lstStyle/>
                    <a:p>
                      <a:r>
                        <a:rPr sz="1725" b="0">
                          <a:solidFill>
                            <a:srgbClr val="152C28"/>
                          </a:solidFill>
                          <a:latin typeface="Arial"/>
                          <a:ea typeface="Arial"/>
                          <a:cs typeface="Arial"/>
                        </a:rPr>
                        <a:t>Defines the security conditions</a:t>
                      </a:r>
                    </a:p>
                  </a:txBody>
                  <a:tcPr marL="91440" marR="91440" marT="45720" marB="45720">
                    <a:solidFill>
                      <a:srgbClr val="FFFFFF"/>
                    </a:solidFill>
                  </a:tcPr>
                </a:tc>
              </a:tr>
              <a:tr h="657225">
                <a:tc>
                  <a:txBody>
                    <a:bodyPr/>
                    <a:lstStyle/>
                    <a:p>
                      <a:r>
                        <a:rPr sz="1725" b="0">
                          <a:solidFill>
                            <a:srgbClr val="152C28"/>
                          </a:solidFill>
                          <a:latin typeface="Arial"/>
                          <a:ea typeface="Arial"/>
                          <a:cs typeface="Arial"/>
                        </a:rPr>
                        <a:t>GAT, Veličković et al. (2018)</a:t>
                      </a:r>
                    </a:p>
                  </a:txBody>
                  <a:tcPr marL="91440" marR="91440" marT="45720" marB="45720">
                    <a:solidFill>
                      <a:srgbClr val="EDF4EF"/>
                    </a:solidFill>
                  </a:tcPr>
                </a:tc>
                <a:tc>
                  <a:txBody>
                    <a:bodyPr/>
                    <a:lstStyle/>
                    <a:p>
                      <a:r>
                        <a:rPr sz="1725" b="0">
                          <a:solidFill>
                            <a:srgbClr val="152C28"/>
                          </a:solidFill>
                          <a:latin typeface="Arial"/>
                          <a:ea typeface="Arial"/>
                          <a:cs typeface="Arial"/>
                        </a:rPr>
                        <a:t>Attention over graph neighbors</a:t>
                      </a:r>
                    </a:p>
                  </a:txBody>
                  <a:tcPr marL="91440" marR="91440" marT="45720" marB="45720">
                    <a:solidFill>
                      <a:srgbClr val="EDF4EF"/>
                    </a:solidFill>
                  </a:tcPr>
                </a:tc>
                <a:tc>
                  <a:txBody>
                    <a:bodyPr/>
                    <a:lstStyle/>
                    <a:p>
                      <a:r>
                        <a:rPr sz="1725" b="0">
                          <a:solidFill>
                            <a:srgbClr val="152C28"/>
                          </a:solidFill>
                          <a:latin typeface="Arial"/>
                          <a:ea typeface="Arial"/>
                          <a:cs typeface="Arial"/>
                        </a:rPr>
                        <a:t>Basis for relational learning</a:t>
                      </a:r>
                    </a:p>
                  </a:txBody>
                  <a:tcPr marL="91440" marR="91440" marT="45720" marB="45720">
                    <a:solidFill>
                      <a:srgbClr val="EDF4EF"/>
                    </a:solidFill>
                  </a:tcPr>
                </a:tc>
              </a:tr>
              <a:tr h="657225">
                <a:tc>
                  <a:txBody>
                    <a:bodyPr/>
                    <a:lstStyle/>
                    <a:p>
                      <a:r>
                        <a:rPr sz="1725" b="0">
                          <a:solidFill>
                            <a:srgbClr val="152C28"/>
                          </a:solidFill>
                          <a:latin typeface="Arial"/>
                          <a:ea typeface="Arial"/>
                          <a:cs typeface="Arial"/>
                        </a:rPr>
                        <a:t>GCNII, Chen et al. (2020)</a:t>
                      </a:r>
                    </a:p>
                  </a:txBody>
                  <a:tcPr marL="91440" marR="91440" marT="45720" marB="45720">
                    <a:solidFill>
                      <a:srgbClr val="FFFFFF"/>
                    </a:solidFill>
                  </a:tcPr>
                </a:tc>
                <a:tc>
                  <a:txBody>
                    <a:bodyPr/>
                    <a:lstStyle/>
                    <a:p>
                      <a:r>
                        <a:rPr sz="1725" b="0">
                          <a:solidFill>
                            <a:srgbClr val="152C28"/>
                          </a:solidFill>
                          <a:latin typeface="Arial"/>
                          <a:ea typeface="Arial"/>
                          <a:cs typeface="Arial"/>
                        </a:rPr>
                        <a:t>Preserves initial features</a:t>
                      </a:r>
                    </a:p>
                  </a:txBody>
                  <a:tcPr marL="91440" marR="91440" marT="45720" marB="45720">
                    <a:solidFill>
                      <a:srgbClr val="FFFFFF"/>
                    </a:solidFill>
                  </a:tcPr>
                </a:tc>
                <a:tc>
                  <a:txBody>
                    <a:bodyPr/>
                    <a:lstStyle/>
                    <a:p>
                      <a:r>
                        <a:rPr sz="1725" b="0">
                          <a:solidFill>
                            <a:srgbClr val="152C28"/>
                          </a:solidFill>
                          <a:latin typeface="Arial"/>
                          <a:ea typeface="Arial"/>
                          <a:cs typeface="Arial"/>
                        </a:rPr>
                        <a:t>Motivates residual pathways</a:t>
                      </a:r>
                    </a:p>
                  </a:txBody>
                  <a:tcPr marL="91440" marR="91440" marT="45720" marB="45720">
                    <a:solidFill>
                      <a:srgbClr val="FFFFFF"/>
                    </a:solidFill>
                  </a:tcPr>
                </a:tc>
              </a:tr>
              <a:tr h="657225">
                <a:tc>
                  <a:txBody>
                    <a:bodyPr/>
                    <a:lstStyle/>
                    <a:p>
                      <a:r>
                        <a:rPr sz="1725" b="0">
                          <a:solidFill>
                            <a:srgbClr val="152C28"/>
                          </a:solidFill>
                          <a:latin typeface="Arial"/>
                          <a:ea typeface="Arial"/>
                          <a:cs typeface="Arial"/>
                        </a:rPr>
                        <a:t>Arp et al. (2022)</a:t>
                      </a:r>
                    </a:p>
                  </a:txBody>
                  <a:tcPr marL="91440" marR="91440" marT="45720" marB="45720">
                    <a:solidFill>
                      <a:srgbClr val="EDF4EF"/>
                    </a:solidFill>
                  </a:tcPr>
                </a:tc>
                <a:tc>
                  <a:txBody>
                    <a:bodyPr/>
                    <a:lstStyle/>
                    <a:p>
                      <a:r>
                        <a:rPr sz="1725" b="0">
                          <a:solidFill>
                            <a:srgbClr val="152C28"/>
                          </a:solidFill>
                          <a:latin typeface="Arial"/>
                          <a:ea typeface="Arial"/>
                          <a:cs typeface="Arial"/>
                        </a:rPr>
                        <a:t>Security ML evaluation pitfalls</a:t>
                      </a:r>
                    </a:p>
                  </a:txBody>
                  <a:tcPr marL="91440" marR="91440" marT="45720" marB="45720">
                    <a:solidFill>
                      <a:srgbClr val="EDF4EF"/>
                    </a:solidFill>
                  </a:tcPr>
                </a:tc>
                <a:tc>
                  <a:txBody>
                    <a:bodyPr/>
                    <a:lstStyle/>
                    <a:p>
                      <a:r>
                        <a:rPr sz="1725" b="0">
                          <a:solidFill>
                            <a:srgbClr val="152C28"/>
                          </a:solidFill>
                          <a:latin typeface="Arial"/>
                          <a:ea typeface="Arial"/>
                          <a:cs typeface="Arial"/>
                        </a:rPr>
                        <a:t>Motivates the dataset audit</a:t>
                      </a:r>
                    </a:p>
                  </a:txBody>
                  <a:tcPr marL="91440" marR="91440" marT="45720" marB="45720">
                    <a:solidFill>
                      <a:srgbClr val="EDF4EF"/>
                    </a:solidFill>
                  </a:tcPr>
                </a:tc>
              </a:tr>
            </a:tbl>
          </a:graphicData>
        </a:graphic>
      </p:graphicFrame>
      <p:sp>
        <p:nvSpPr>
          <p:cNvPr id="5" name="">
            <a:extLst xmlns:a="http://schemas.openxmlformats.org/drawingml/2006/main">
              <a:ext uri="{FF2B5EF4-FFF2-40B4-BE49-F238E27FC236}">
                <a16:creationId xmlns:a16="http://schemas.microsoft.com/office/drawing/2014/main" id="{DE5B6D8C-6A80-441E-BED4-7AC46F15F289}"/>
              </a:ext>
            </a:extLst>
          </p:cNvPr>
          <p:cNvSpPr>
            <a:spLocks xmlns:a="http://schemas.openxmlformats.org/drawingml/2006/main" noGrp="1"/>
          </p:cNvSpPr>
          <p:nvPr/>
        </p:nvSpPr>
        <p:spPr>
          <a:xfrm xmlns:a="http://schemas.openxmlformats.org/drawingml/2006/main">
            <a:off x="609600" y="509587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54000" indent="-127000">
              <a:spcAft>
                <a:spcPts val="1500"/>
              </a:spcAft>
              <a:buChar char="•"/>
              <a:defRPr sz="1875" b="0">
                <a:solidFill>
                  <a:srgbClr val="152C28"/>
                </a:solidFill>
                <a:latin typeface="Arial"/>
                <a:ea typeface="Arial"/>
                <a:cs typeface="Arial"/>
              </a:defRPr>
            </a:pPr>
            <a:r>
              <a:t>Research gap: combine rapid risk screening with explicit path verification.</a:t>
            </a:r>
          </a:p>
          <a:p xmlns:a="http://schemas.openxmlformats.org/drawingml/2006/main">
            <a:pPr marL="254000" indent="-127000">
              <a:spcAft>
                <a:spcPts val="1500"/>
              </a:spcAft>
              <a:buChar char="•"/>
              <a:defRPr sz="1875" b="0">
                <a:solidFill>
                  <a:srgbClr val="152C28"/>
                </a:solidFill>
                <a:latin typeface="Arial"/>
                <a:ea typeface="Arial"/>
                <a:cs typeface="Arial"/>
              </a:defRPr>
            </a:pPr>
            <a:r>
              <a:t>Comparison scope: thesis heuristic baselines, rather than current tool capabilities.</a:t>
            </a:r>
          </a:p>
        </p:txBody>
      </p:sp>
    </p:spTree>
    <p:extLst>
      <p:ext uri="{BB962C8B-B14F-4D97-AF65-F5344CB8AC3E}">
        <p14:creationId xmlns:p14="http://schemas.microsoft.com/office/powerpoint/2010/main" val="12709547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49FB10-530B-45D5-9CA6-F3FFD4D3E66D}"/>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Identity graph and feature design</a:t>
            </a:r>
          </a:p>
        </p:txBody>
      </p:sp>
      <p:sp>
        <p:nvSpPr>
          <p:cNvPr id="2" name="">
            <a:extLst xmlns:a="http://schemas.openxmlformats.org/drawingml/2006/main">
              <a:ext uri="{FF2B5EF4-FFF2-40B4-BE49-F238E27FC236}">
                <a16:creationId xmlns:a16="http://schemas.microsoft.com/office/drawing/2014/main" id="{AC8E7F5E-CB2B-4D95-A9C1-89FF245783A3}"/>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§§3.1–3.2</a:t>
            </a:r>
          </a:p>
        </p:txBody>
      </p:sp>
      <p:sp>
        <p:nvSpPr>
          <p:cNvPr id="3" name="">
            <a:extLst xmlns:a="http://schemas.openxmlformats.org/drawingml/2006/main">
              <a:ext uri="{FF2B5EF4-FFF2-40B4-BE49-F238E27FC236}">
                <a16:creationId xmlns:a16="http://schemas.microsoft.com/office/drawing/2014/main" id="{4FDFC7A3-58BC-4051-BE93-33AAD195C12A}"/>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05/15</a:t>
            </a:r>
          </a:p>
        </p:txBody>
      </p:sp>
      <p:graphicFrame>
        <p:nvGraphicFramePr>
          <p:cNvPr id="10" name=""/>
          <p:cNvGraphicFramePr/>
          <p:nvPr/>
        </p:nvGraphicFramePr>
        <p:xfrm>
          <a:off xmlns:a="http://schemas.openxmlformats.org/drawingml/2006/main" x="609600" y="1381125"/>
          <a:ext xmlns:a="http://schemas.openxmlformats.org/drawingml/2006/main" cx="10972800" cy="3143250"/>
        </p:xfrm>
        <a:graphic xmlns:a="http://schemas.openxmlformats.org/drawingml/2006/main">
          <a:graphicData uri="http://schemas.openxmlformats.org/drawingml/2006/table">
            <a:tbl>
              <a:tblPr/>
              <a:tblGrid>
                <a:gridCol w="3333750"/>
                <a:gridCol w="7639050"/>
              </a:tblGrid>
              <a:tr h="628650">
                <a:tc>
                  <a:txBody>
                    <a:bodyPr/>
                    <a:lstStyle/>
                    <a:p>
                      <a:r>
                        <a:rPr sz="1800" b="1">
                          <a:solidFill>
                            <a:srgbClr val="FFFFFF"/>
                          </a:solidFill>
                          <a:latin typeface="Arial"/>
                          <a:ea typeface="Arial"/>
                          <a:cs typeface="Arial"/>
                        </a:rPr>
                        <a:t>Graph component</a:t>
                      </a:r>
                    </a:p>
                  </a:txBody>
                  <a:tcPr marL="91440" marR="91440" marT="45720" marB="45720">
                    <a:solidFill>
                      <a:srgbClr val="187B59"/>
                    </a:solidFill>
                  </a:tcPr>
                </a:tc>
                <a:tc>
                  <a:txBody>
                    <a:bodyPr/>
                    <a:lstStyle/>
                    <a:p>
                      <a:r>
                        <a:rPr sz="1800" b="1">
                          <a:solidFill>
                            <a:srgbClr val="FFFFFF"/>
                          </a:solidFill>
                          <a:latin typeface="Arial"/>
                          <a:ea typeface="Arial"/>
                          <a:cs typeface="Arial"/>
                        </a:rPr>
                        <a:t>Representation</a:t>
                      </a:r>
                    </a:p>
                  </a:txBody>
                  <a:tcPr marL="91440" marR="91440" marT="45720" marB="45720">
                    <a:solidFill>
                      <a:srgbClr val="187B59"/>
                    </a:solidFill>
                  </a:tcPr>
                </a:tc>
              </a:tr>
              <a:tr h="628650">
                <a:tc>
                  <a:txBody>
                    <a:bodyPr/>
                    <a:lstStyle/>
                    <a:p>
                      <a:r>
                        <a:rPr sz="1800" b="0">
                          <a:solidFill>
                            <a:srgbClr val="152C28"/>
                          </a:solidFill>
                          <a:latin typeface="Arial"/>
                          <a:ea typeface="Arial"/>
                          <a:cs typeface="Arial"/>
                        </a:rPr>
                        <a:t>5 entity types</a:t>
                      </a:r>
                    </a:p>
                  </a:txBody>
                  <a:tcPr marL="91440" marR="91440" marT="45720" marB="45720">
                    <a:solidFill>
                      <a:srgbClr val="FFFFFF"/>
                    </a:solidFill>
                  </a:tcPr>
                </a:tc>
                <a:tc>
                  <a:txBody>
                    <a:bodyPr/>
                    <a:lstStyle/>
                    <a:p>
                      <a:r>
                        <a:rPr sz="1800" b="0">
                          <a:solidFill>
                            <a:srgbClr val="152C28"/>
                          </a:solidFill>
                          <a:latin typeface="Arial"/>
                          <a:ea typeface="Arial"/>
                          <a:cs typeface="Arial"/>
                        </a:rPr>
                        <a:t>User, Computer, Group, Template, EnterpriseCA</a:t>
                      </a:r>
                    </a:p>
                  </a:txBody>
                  <a:tcPr marL="91440" marR="91440" marT="45720" marB="45720">
                    <a:solidFill>
                      <a:srgbClr val="FFFFFF"/>
                    </a:solidFill>
                  </a:tcPr>
                </a:tc>
              </a:tr>
              <a:tr h="628650">
                <a:tc>
                  <a:txBody>
                    <a:bodyPr/>
                    <a:lstStyle/>
                    <a:p>
                      <a:r>
                        <a:rPr sz="1800" b="0">
                          <a:solidFill>
                            <a:srgbClr val="152C28"/>
                          </a:solidFill>
                          <a:latin typeface="Arial"/>
                          <a:ea typeface="Arial"/>
                          <a:cs typeface="Arial"/>
                        </a:rPr>
                        <a:t>8 forward relation types</a:t>
                      </a:r>
                    </a:p>
                  </a:txBody>
                  <a:tcPr marL="91440" marR="91440" marT="45720" marB="45720">
                    <a:solidFill>
                      <a:srgbClr val="EDF4EF"/>
                    </a:solidFill>
                  </a:tcPr>
                </a:tc>
                <a:tc>
                  <a:txBody>
                    <a:bodyPr/>
                    <a:lstStyle/>
                    <a:p>
                      <a:r>
                        <a:rPr sz="1800" b="0">
                          <a:solidFill>
                            <a:srgbClr val="152C28"/>
                          </a:solidFill>
                          <a:latin typeface="Arial"/>
                          <a:ea typeface="Arial"/>
                          <a:cs typeface="Arial"/>
                        </a:rPr>
                        <a:t>MemberOf, Enroll, GenericAll, WriteDacl, WriteOwner,</a:t>
                      </a:r>
                    </a:p>
                    <a:p>
                      <a:r>
                        <a:rPr sz="1800" b="0">
                          <a:solidFill>
                            <a:srgbClr val="152C28"/>
                          </a:solidFill>
                          <a:latin typeface="Arial"/>
                          <a:ea typeface="Arial"/>
                          <a:cs typeface="Arial"/>
                        </a:rPr>
                        <a:t>PublishedTo, ManageCA, LinksPolicy</a:t>
                      </a:r>
                    </a:p>
                  </a:txBody>
                  <a:tcPr marL="91440" marR="91440" marT="45720" marB="45720">
                    <a:solidFill>
                      <a:srgbClr val="EDF4EF"/>
                    </a:solidFill>
                  </a:tcPr>
                </a:tc>
              </a:tr>
              <a:tr h="628650">
                <a:tc>
                  <a:txBody>
                    <a:bodyPr/>
                    <a:lstStyle/>
                    <a:p>
                      <a:r>
                        <a:rPr sz="1800" b="0">
                          <a:solidFill>
                            <a:srgbClr val="152C28"/>
                          </a:solidFill>
                          <a:latin typeface="Arial"/>
                          <a:ea typeface="Arial"/>
                          <a:cs typeface="Arial"/>
                        </a:rPr>
                        <a:t>16 relations for learning</a:t>
                      </a:r>
                    </a:p>
                  </a:txBody>
                  <a:tcPr marL="91440" marR="91440" marT="45720" marB="45720">
                    <a:solidFill>
                      <a:srgbClr val="FFFFFF"/>
                    </a:solidFill>
                  </a:tcPr>
                </a:tc>
                <a:tc>
                  <a:txBody>
                    <a:bodyPr/>
                    <a:lstStyle/>
                    <a:p>
                      <a:r>
                        <a:rPr sz="1800" b="0">
                          <a:solidFill>
                            <a:srgbClr val="152C28"/>
                          </a:solidFill>
                          <a:latin typeface="Arial"/>
                          <a:ea typeface="Arial"/>
                          <a:cs typeface="Arial"/>
                        </a:rPr>
                        <a:t>Forward relations plus their reverse counterparts</a:t>
                      </a:r>
                    </a:p>
                  </a:txBody>
                  <a:tcPr marL="91440" marR="91440" marT="45720" marB="45720">
                    <a:solidFill>
                      <a:srgbClr val="FFFFFF"/>
                    </a:solidFill>
                  </a:tcPr>
                </a:tc>
              </a:tr>
              <a:tr h="628650">
                <a:tc>
                  <a:txBody>
                    <a:bodyPr/>
                    <a:lstStyle/>
                    <a:p>
                      <a:r>
                        <a:rPr sz="1800" b="0">
                          <a:solidFill>
                            <a:srgbClr val="152C28"/>
                          </a:solidFill>
                          <a:latin typeface="Arial"/>
                          <a:ea typeface="Arial"/>
                          <a:cs typeface="Arial"/>
                        </a:rPr>
                        <a:t>10 template flags</a:t>
                      </a:r>
                    </a:p>
                  </a:txBody>
                  <a:tcPr marL="91440" marR="91440" marT="45720" marB="45720">
                    <a:solidFill>
                      <a:srgbClr val="EDF4EF"/>
                    </a:solidFill>
                  </a:tcPr>
                </a:tc>
                <a:tc>
                  <a:txBody>
                    <a:bodyPr/>
                    <a:lstStyle/>
                    <a:p>
                      <a:r>
                        <a:rPr sz="1800" b="0">
                          <a:solidFill>
                            <a:srgbClr val="152C28"/>
                          </a:solidFill>
                          <a:latin typeface="Arial"/>
                          <a:ea typeface="Arial"/>
                          <a:cs typeface="Arial"/>
                        </a:rPr>
                        <a:t>Identity settings, EKUs, approval, policy, DACL, publication</a:t>
                      </a:r>
                    </a:p>
                  </a:txBody>
                  <a:tcPr marL="91440" marR="91440" marT="45720" marB="45720">
                    <a:solidFill>
                      <a:srgbClr val="EDF4EF"/>
                    </a:solidFill>
                  </a:tcPr>
                </a:tc>
              </a:tr>
            </a:tbl>
          </a:graphicData>
        </a:graphic>
      </p:graphicFrame>
      <p:sp>
        <p:nvSpPr>
          <p:cNvPr id="5" name="">
            <a:extLst xmlns:a="http://schemas.openxmlformats.org/drawingml/2006/main">
              <a:ext uri="{FF2B5EF4-FFF2-40B4-BE49-F238E27FC236}">
                <a16:creationId xmlns:a16="http://schemas.microsoft.com/office/drawing/2014/main" id="{ED736B71-CE5F-4D8F-B035-1311C160DD27}"/>
              </a:ext>
            </a:extLst>
          </p:cNvPr>
          <p:cNvSpPr>
            <a:spLocks xmlns:a="http://schemas.openxmlformats.org/drawingml/2006/main" noGrp="1"/>
          </p:cNvSpPr>
          <p:nvPr/>
        </p:nvSpPr>
        <p:spPr>
          <a:xfrm xmlns:a="http://schemas.openxmlformats.org/drawingml/2006/main">
            <a:off x="609600" y="4953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Preprocessing makes indirect membership explicit</a:t>
            </a:r>
          </a:p>
        </p:txBody>
      </p:sp>
      <p:sp>
        <p:nvSpPr>
          <p:cNvPr id="6" name="">
            <a:extLst xmlns:a="http://schemas.openxmlformats.org/drawingml/2006/main">
              <a:ext uri="{FF2B5EF4-FFF2-40B4-BE49-F238E27FC236}">
                <a16:creationId xmlns:a16="http://schemas.microsoft.com/office/drawing/2014/main" id="{C2419A90-66E7-4E62-AB67-5E644847E253}"/>
              </a:ext>
            </a:extLst>
          </p:cNvPr>
          <p:cNvSpPr>
            <a:spLocks xmlns:a="http://schemas.openxmlformats.org/drawingml/2006/main" noGrp="1"/>
          </p:cNvSpPr>
          <p:nvPr/>
        </p:nvSpPr>
        <p:spPr>
          <a:xfrm xmlns:a="http://schemas.openxmlformats.org/drawingml/2006/main">
            <a:off x="609600" y="541020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Expand nested group membership before the two-layer GNN.</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The graph keeps object types and permission types distinct.</a:t>
            </a:r>
          </a:p>
        </p:txBody>
      </p:sp>
    </p:spTree>
    <p:extLst>
      <p:ext uri="{BB962C8B-B14F-4D97-AF65-F5344CB8AC3E}">
        <p14:creationId xmlns:p14="http://schemas.microsoft.com/office/powerpoint/2010/main" val="11631130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44CBF0-16B9-4C04-AEEE-3D75A46939C1}"/>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CertGraph model and training</a:t>
            </a:r>
          </a:p>
        </p:txBody>
      </p:sp>
      <p:sp>
        <p:nvSpPr>
          <p:cNvPr id="2" name="">
            <a:extLst xmlns:a="http://schemas.openxmlformats.org/drawingml/2006/main">
              <a:ext uri="{FF2B5EF4-FFF2-40B4-BE49-F238E27FC236}">
                <a16:creationId xmlns:a16="http://schemas.microsoft.com/office/drawing/2014/main" id="{B3F5B0DF-FE46-4517-8FAF-19A959FF85D9}"/>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§§3.3–3.6; Table 5.1</a:t>
            </a:r>
          </a:p>
        </p:txBody>
      </p:sp>
      <p:sp>
        <p:nvSpPr>
          <p:cNvPr id="3" name="">
            <a:extLst xmlns:a="http://schemas.openxmlformats.org/drawingml/2006/main">
              <a:ext uri="{FF2B5EF4-FFF2-40B4-BE49-F238E27FC236}">
                <a16:creationId xmlns:a16="http://schemas.microsoft.com/office/drawing/2014/main" id="{0F0D3FCC-5359-46EE-AB50-95E210972F00}"/>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06/15</a:t>
            </a:r>
          </a:p>
        </p:txBody>
      </p:sp>
      <p:graphicFrame>
        <p:nvGraphicFramePr>
          <p:cNvPr id="9" name=""/>
          <p:cNvGraphicFramePr/>
          <p:nvPr/>
        </p:nvGraphicFramePr>
        <p:xfrm>
          <a:off xmlns:a="http://schemas.openxmlformats.org/drawingml/2006/main" x="609600" y="1381125"/>
          <a:ext xmlns:a="http://schemas.openxmlformats.org/drawingml/2006/main" cx="10972800" cy="3048000"/>
        </p:xfrm>
        <a:graphic xmlns:a="http://schemas.openxmlformats.org/drawingml/2006/main">
          <a:graphicData uri="http://schemas.openxmlformats.org/drawingml/2006/table">
            <a:tbl>
              <a:tblPr/>
              <a:tblGrid>
                <a:gridCol w="2857500"/>
                <a:gridCol w="4857750"/>
                <a:gridCol w="3257550"/>
              </a:tblGrid>
              <a:tr h="609600">
                <a:tc>
                  <a:txBody>
                    <a:bodyPr/>
                    <a:lstStyle/>
                    <a:p>
                      <a:r>
                        <a:rPr sz="1800" b="1">
                          <a:solidFill>
                            <a:srgbClr val="FFFFFF"/>
                          </a:solidFill>
                          <a:latin typeface="Arial"/>
                          <a:ea typeface="Arial"/>
                          <a:cs typeface="Arial"/>
                        </a:rPr>
                        <a:t>Stage</a:t>
                      </a:r>
                    </a:p>
                  </a:txBody>
                  <a:tcPr marL="91440" marR="91440" marT="45720" marB="45720">
                    <a:solidFill>
                      <a:srgbClr val="187B59"/>
                    </a:solidFill>
                  </a:tcPr>
                </a:tc>
                <a:tc>
                  <a:txBody>
                    <a:bodyPr/>
                    <a:lstStyle/>
                    <a:p>
                      <a:r>
                        <a:rPr sz="1800" b="1">
                          <a:solidFill>
                            <a:srgbClr val="FFFFFF"/>
                          </a:solidFill>
                          <a:latin typeface="Arial"/>
                          <a:ea typeface="Arial"/>
                          <a:cs typeface="Arial"/>
                        </a:rPr>
                        <a:t>Operation</a:t>
                      </a:r>
                    </a:p>
                  </a:txBody>
                  <a:tcPr marL="91440" marR="91440" marT="45720" marB="45720">
                    <a:solidFill>
                      <a:srgbClr val="187B59"/>
                    </a:solidFill>
                  </a:tcPr>
                </a:tc>
                <a:tc>
                  <a:txBody>
                    <a:bodyPr/>
                    <a:lstStyle/>
                    <a:p>
                      <a:r>
                        <a:rPr sz="1800" b="1">
                          <a:solidFill>
                            <a:srgbClr val="FFFFFF"/>
                          </a:solidFill>
                          <a:latin typeface="Arial"/>
                          <a:ea typeface="Arial"/>
                          <a:cs typeface="Arial"/>
                        </a:rPr>
                        <a:t>Output</a:t>
                      </a:r>
                    </a:p>
                  </a:txBody>
                  <a:tcPr marL="91440" marR="91440" marT="45720" marB="45720">
                    <a:solidFill>
                      <a:srgbClr val="187B59"/>
                    </a:solidFill>
                  </a:tcPr>
                </a:tc>
              </a:tr>
              <a:tr h="609600">
                <a:tc>
                  <a:txBody>
                    <a:bodyPr/>
                    <a:lstStyle/>
                    <a:p>
                      <a:r>
                        <a:rPr sz="1800" b="0">
                          <a:solidFill>
                            <a:srgbClr val="152C28"/>
                          </a:solidFill>
                          <a:latin typeface="Arial"/>
                          <a:ea typeface="Arial"/>
                          <a:cs typeface="Arial"/>
                        </a:rPr>
                        <a:t>1. Typed input</a:t>
                      </a:r>
                    </a:p>
                  </a:txBody>
                  <a:tcPr marL="91440" marR="91440" marT="45720" marB="45720">
                    <a:solidFill>
                      <a:srgbClr val="FFFFFF"/>
                    </a:solidFill>
                  </a:tcPr>
                </a:tc>
                <a:tc>
                  <a:txBody>
                    <a:bodyPr/>
                    <a:lstStyle/>
                    <a:p>
                      <a:r>
                        <a:rPr sz="1800" b="0">
                          <a:solidFill>
                            <a:srgbClr val="152C28"/>
                          </a:solidFill>
                          <a:latin typeface="Arial"/>
                          <a:ea typeface="Arial"/>
                          <a:cs typeface="Arial"/>
                        </a:rPr>
                        <a:t>Project each entity’s local attributes</a:t>
                      </a:r>
                    </a:p>
                  </a:txBody>
                  <a:tcPr marL="91440" marR="91440" marT="45720" marB="45720">
                    <a:solidFill>
                      <a:srgbClr val="FFFFFF"/>
                    </a:solidFill>
                  </a:tcPr>
                </a:tc>
                <a:tc>
                  <a:txBody>
                    <a:bodyPr/>
                    <a:lstStyle/>
                    <a:p>
                      <a:r>
                        <a:rPr sz="1800" b="0">
                          <a:solidFill>
                            <a:srgbClr val="152C28"/>
                          </a:solidFill>
                          <a:latin typeface="Arial"/>
                          <a:ea typeface="Arial"/>
                          <a:cs typeface="Arial"/>
                        </a:rPr>
                        <a:t>Compatible feature vectors</a:t>
                      </a:r>
                    </a:p>
                  </a:txBody>
                  <a:tcPr marL="91440" marR="91440" marT="45720" marB="45720">
                    <a:solidFill>
                      <a:srgbClr val="FFFFFF"/>
                    </a:solidFill>
                  </a:tcPr>
                </a:tc>
              </a:tr>
              <a:tr h="609600">
                <a:tc>
                  <a:txBody>
                    <a:bodyPr/>
                    <a:lstStyle/>
                    <a:p>
                      <a:r>
                        <a:rPr sz="1800" b="0">
                          <a:solidFill>
                            <a:srgbClr val="152C28"/>
                          </a:solidFill>
                          <a:latin typeface="Arial"/>
                          <a:ea typeface="Arial"/>
                          <a:cs typeface="Arial"/>
                        </a:rPr>
                        <a:t>2. Relational attention</a:t>
                      </a:r>
                    </a:p>
                  </a:txBody>
                  <a:tcPr marL="91440" marR="91440" marT="45720" marB="45720">
                    <a:solidFill>
                      <a:srgbClr val="EDF4EF"/>
                    </a:solidFill>
                  </a:tcPr>
                </a:tc>
                <a:tc>
                  <a:txBody>
                    <a:bodyPr/>
                    <a:lstStyle/>
                    <a:p>
                      <a:r>
                        <a:rPr sz="1800" b="0">
                          <a:solidFill>
                            <a:srgbClr val="152C28"/>
                          </a:solidFill>
                          <a:latin typeface="Arial"/>
                          <a:ea typeface="Arial"/>
                          <a:cs typeface="Arial"/>
                        </a:rPr>
                        <a:t>Two GAT layers, four heads per relation</a:t>
                      </a:r>
                    </a:p>
                  </a:txBody>
                  <a:tcPr marL="91440" marR="91440" marT="45720" marB="45720">
                    <a:solidFill>
                      <a:srgbClr val="EDF4EF"/>
                    </a:solidFill>
                  </a:tcPr>
                </a:tc>
                <a:tc>
                  <a:txBody>
                    <a:bodyPr/>
                    <a:lstStyle/>
                    <a:p>
                      <a:r>
                        <a:rPr sz="1800" b="0">
                          <a:solidFill>
                            <a:srgbClr val="152C28"/>
                          </a:solidFill>
                          <a:latin typeface="Arial"/>
                          <a:ea typeface="Arial"/>
                          <a:cs typeface="Arial"/>
                        </a:rPr>
                        <a:t>Neighborhood information</a:t>
                      </a:r>
                    </a:p>
                  </a:txBody>
                  <a:tcPr marL="91440" marR="91440" marT="45720" marB="45720">
                    <a:solidFill>
                      <a:srgbClr val="EDF4EF"/>
                    </a:solidFill>
                  </a:tcPr>
                </a:tc>
              </a:tr>
              <a:tr h="609600">
                <a:tc>
                  <a:txBody>
                    <a:bodyPr/>
                    <a:lstStyle/>
                    <a:p>
                      <a:r>
                        <a:rPr sz="1800" b="0">
                          <a:solidFill>
                            <a:srgbClr val="152C28"/>
                          </a:solidFill>
                          <a:latin typeface="Arial"/>
                          <a:ea typeface="Arial"/>
                          <a:cs typeface="Arial"/>
                        </a:rPr>
                        <a:t>3. Residual pathway</a:t>
                      </a:r>
                    </a:p>
                  </a:txBody>
                  <a:tcPr marL="91440" marR="91440" marT="45720" marB="45720">
                    <a:solidFill>
                      <a:srgbClr val="FFFFFF"/>
                    </a:solidFill>
                  </a:tcPr>
                </a:tc>
                <a:tc>
                  <a:txBody>
                    <a:bodyPr/>
                    <a:lstStyle/>
                    <a:p>
                      <a:r>
                        <a:rPr sz="1800" b="0">
                          <a:solidFill>
                            <a:srgbClr val="152C28"/>
                          </a:solidFill>
                          <a:latin typeface="Arial"/>
                          <a:ea typeface="Arial"/>
                          <a:cs typeface="Arial"/>
                        </a:rPr>
                        <a:t>Retain the node’s own feature signal</a:t>
                      </a:r>
                    </a:p>
                  </a:txBody>
                  <a:tcPr marL="91440" marR="91440" marT="45720" marB="45720">
                    <a:solidFill>
                      <a:srgbClr val="FFFFFF"/>
                    </a:solidFill>
                  </a:tcPr>
                </a:tc>
                <a:tc>
                  <a:txBody>
                    <a:bodyPr/>
                    <a:lstStyle/>
                    <a:p>
                      <a:r>
                        <a:rPr sz="1800" b="0">
                          <a:solidFill>
                            <a:srgbClr val="152C28"/>
                          </a:solidFill>
                          <a:latin typeface="Arial"/>
                          <a:ea typeface="Arial"/>
                          <a:cs typeface="Arial"/>
                        </a:rPr>
                        <a:t>64-dimensional embedding</a:t>
                      </a:r>
                    </a:p>
                  </a:txBody>
                  <a:tcPr marL="91440" marR="91440" marT="45720" marB="45720">
                    <a:solidFill>
                      <a:srgbClr val="FFFFFF"/>
                    </a:solidFill>
                  </a:tcPr>
                </a:tc>
              </a:tr>
              <a:tr h="609600">
                <a:tc>
                  <a:txBody>
                    <a:bodyPr/>
                    <a:lstStyle/>
                    <a:p>
                      <a:r>
                        <a:rPr sz="1800" b="0">
                          <a:solidFill>
                            <a:srgbClr val="152C28"/>
                          </a:solidFill>
                          <a:latin typeface="Arial"/>
                          <a:ea typeface="Arial"/>
                          <a:cs typeface="Arial"/>
                        </a:rPr>
                        <a:t>4. Template classifier</a:t>
                      </a:r>
                    </a:p>
                  </a:txBody>
                  <a:tcPr marL="91440" marR="91440" marT="45720" marB="45720">
                    <a:solidFill>
                      <a:srgbClr val="EDF4EF"/>
                    </a:solidFill>
                  </a:tcPr>
                </a:tc>
                <a:tc>
                  <a:txBody>
                    <a:bodyPr/>
                    <a:lstStyle/>
                    <a:p>
                      <a:r>
                        <a:rPr sz="1800" b="0">
                          <a:solidFill>
                            <a:srgbClr val="152C28"/>
                          </a:solidFill>
                          <a:latin typeface="Arial"/>
                          <a:ea typeface="Arial"/>
                          <a:cs typeface="Arial"/>
                        </a:rPr>
                        <a:t>MLP and Softmax</a:t>
                      </a:r>
                    </a:p>
                  </a:txBody>
                  <a:tcPr marL="91440" marR="91440" marT="45720" marB="45720">
                    <a:solidFill>
                      <a:srgbClr val="EDF4EF"/>
                    </a:solidFill>
                  </a:tcPr>
                </a:tc>
                <a:tc>
                  <a:txBody>
                    <a:bodyPr/>
                    <a:lstStyle/>
                    <a:p>
                      <a:r>
                        <a:rPr sz="1800" b="0">
                          <a:solidFill>
                            <a:srgbClr val="152C28"/>
                          </a:solidFill>
                          <a:latin typeface="Arial"/>
                          <a:ea typeface="Arial"/>
                          <a:cs typeface="Arial"/>
                        </a:rPr>
                        <a:t>Seven class probabilities</a:t>
                      </a:r>
                    </a:p>
                  </a:txBody>
                  <a:tcPr marL="91440" marR="91440" marT="45720" marB="45720">
                    <a:solidFill>
                      <a:srgbClr val="EDF4EF"/>
                    </a:solidFill>
                  </a:tcPr>
                </a:tc>
              </a:tr>
            </a:tbl>
          </a:graphicData>
        </a:graphic>
      </p:graphicFrame>
      <p:sp>
        <p:nvSpPr>
          <p:cNvPr id="5" name="">
            <a:extLst xmlns:a="http://schemas.openxmlformats.org/drawingml/2006/main">
              <a:ext uri="{FF2B5EF4-FFF2-40B4-BE49-F238E27FC236}">
                <a16:creationId xmlns:a16="http://schemas.microsoft.com/office/drawing/2014/main" id="{3381DF14-2CA9-48BE-A036-FC12CABCDEE8}"/>
              </a:ext>
            </a:extLst>
          </p:cNvPr>
          <p:cNvSpPr>
            <a:spLocks xmlns:a="http://schemas.openxmlformats.org/drawingml/2006/main" noGrp="1"/>
          </p:cNvSpPr>
          <p:nvPr/>
        </p:nvSpPr>
        <p:spPr>
          <a:xfrm xmlns:a="http://schemas.openxmlformats.org/drawingml/2006/main">
            <a:off x="609600" y="490537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54000" indent="-127000">
              <a:spcAft>
                <a:spcPts val="1500"/>
              </a:spcAft>
              <a:buChar char="•"/>
              <a:defRPr sz="1950" b="0">
                <a:solidFill>
                  <a:srgbClr val="152C28"/>
                </a:solidFill>
                <a:latin typeface="Arial"/>
                <a:ea typeface="Arial"/>
                <a:cs typeface="Arial"/>
              </a:defRPr>
            </a:pPr>
            <a:r>
              <a:t>Training: weighted cross-entropy, AdamW, dropout 0.2.</a:t>
            </a:r>
          </a:p>
          <a:p xmlns:a="http://schemas.openxmlformats.org/drawingml/2006/main">
            <a:pPr marL="254000" indent="-127000">
              <a:spcAft>
                <a:spcPts val="1500"/>
              </a:spcAft>
              <a:buChar char="•"/>
              <a:defRPr sz="1950" b="0">
                <a:solidFill>
                  <a:srgbClr val="152C28"/>
                </a:solidFill>
                <a:latin typeface="Arial"/>
                <a:ea typeface="Arial"/>
                <a:cs typeface="Arial"/>
              </a:defRPr>
            </a:pPr>
            <a:r>
              <a:t>Risk score = 1 − P(Safe). Attention supports inspection of relevant edges.</a:t>
            </a:r>
          </a:p>
        </p:txBody>
      </p:sp>
    </p:spTree>
    <p:extLst>
      <p:ext uri="{BB962C8B-B14F-4D97-AF65-F5344CB8AC3E}">
        <p14:creationId xmlns:p14="http://schemas.microsoft.com/office/powerpoint/2010/main" val="2355694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3C37A7-2C42-464C-968D-2B2BFB353520}"/>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Forensic audit of the benchmark</a:t>
            </a:r>
          </a:p>
        </p:txBody>
      </p:sp>
      <p:sp>
        <p:nvSpPr>
          <p:cNvPr id="2" name="">
            <a:extLst xmlns:a="http://schemas.openxmlformats.org/drawingml/2006/main">
              <a:ext uri="{FF2B5EF4-FFF2-40B4-BE49-F238E27FC236}">
                <a16:creationId xmlns:a16="http://schemas.microsoft.com/office/drawing/2014/main" id="{2385702F-DDC5-4A8F-9186-AB64C901E144}"/>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Chapter 4; Tables 4.1–4.2</a:t>
            </a:r>
          </a:p>
        </p:txBody>
      </p:sp>
      <p:sp>
        <p:nvSpPr>
          <p:cNvPr id="3" name="">
            <a:extLst xmlns:a="http://schemas.openxmlformats.org/drawingml/2006/main">
              <a:ext uri="{FF2B5EF4-FFF2-40B4-BE49-F238E27FC236}">
                <a16:creationId xmlns:a16="http://schemas.microsoft.com/office/drawing/2014/main" id="{A41B58D1-98DC-4A04-92F9-E7D681CCFF97}"/>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07/15</a:t>
            </a:r>
          </a:p>
        </p:txBody>
      </p:sp>
      <p:graphicFrame>
        <p:nvGraphicFramePr>
          <p:cNvPr id="10" name=""/>
          <p:cNvGraphicFramePr/>
          <p:nvPr/>
        </p:nvGraphicFramePr>
        <p:xfrm>
          <a:off xmlns:a="http://schemas.openxmlformats.org/drawingml/2006/main" x="609600" y="1381125"/>
          <a:ext xmlns:a="http://schemas.openxmlformats.org/drawingml/2006/main" cx="10972800" cy="3286125"/>
        </p:xfrm>
        <a:graphic xmlns:a="http://schemas.openxmlformats.org/drawingml/2006/main">
          <a:graphicData uri="http://schemas.openxmlformats.org/drawingml/2006/table">
            <a:tbl>
              <a:tblPr/>
              <a:tblGrid>
                <a:gridCol w="3714750"/>
                <a:gridCol w="7258050"/>
              </a:tblGrid>
              <a:tr h="657225">
                <a:tc>
                  <a:txBody>
                    <a:bodyPr/>
                    <a:lstStyle/>
                    <a:p>
                      <a:r>
                        <a:rPr sz="1875" b="1">
                          <a:solidFill>
                            <a:srgbClr val="FFFFFF"/>
                          </a:solidFill>
                          <a:latin typeface="Arial"/>
                          <a:ea typeface="Arial"/>
                          <a:cs typeface="Arial"/>
                        </a:rPr>
                        <a:t>Pitfall</a:t>
                      </a:r>
                    </a:p>
                  </a:txBody>
                  <a:tcPr marL="91440" marR="91440" marT="45720" marB="45720">
                    <a:solidFill>
                      <a:srgbClr val="187B59"/>
                    </a:solidFill>
                  </a:tcPr>
                </a:tc>
                <a:tc>
                  <a:txBody>
                    <a:bodyPr/>
                    <a:lstStyle/>
                    <a:p>
                      <a:r>
                        <a:rPr sz="1875" b="1">
                          <a:solidFill>
                            <a:srgbClr val="FFFFFF"/>
                          </a:solidFill>
                          <a:latin typeface="Arial"/>
                          <a:ea typeface="Arial"/>
                          <a:cs typeface="Arial"/>
                        </a:rPr>
                        <a:t>Correction or finding</a:t>
                      </a:r>
                    </a:p>
                  </a:txBody>
                  <a:tcPr marL="91440" marR="91440" marT="45720" marB="45720">
                    <a:solidFill>
                      <a:srgbClr val="187B59"/>
                    </a:solidFill>
                  </a:tcPr>
                </a:tc>
              </a:tr>
              <a:tr h="657225">
                <a:tc>
                  <a:txBody>
                    <a:bodyPr/>
                    <a:lstStyle/>
                    <a:p>
                      <a:r>
                        <a:rPr sz="1875" b="0">
                          <a:solidFill>
                            <a:srgbClr val="152C28"/>
                          </a:solidFill>
                          <a:latin typeface="Arial"/>
                          <a:ea typeface="Arial"/>
                          <a:cs typeface="Arial"/>
                        </a:rPr>
                        <a:t>Positional index leakage</a:t>
                      </a:r>
                    </a:p>
                  </a:txBody>
                  <a:tcPr marL="91440" marR="91440" marT="45720" marB="45720">
                    <a:solidFill>
                      <a:srgbClr val="FFFFFF"/>
                    </a:solidFill>
                  </a:tcPr>
                </a:tc>
                <a:tc>
                  <a:txBody>
                    <a:bodyPr/>
                    <a:lstStyle/>
                    <a:p>
                      <a:r>
                        <a:rPr sz="1875" b="0">
                          <a:solidFill>
                            <a:srgbClr val="152C28"/>
                          </a:solidFill>
                          <a:latin typeface="Arial"/>
                          <a:ea typeface="Arial"/>
                          <a:cs typeface="Arial"/>
                        </a:rPr>
                        <a:t>Shuffle entity indices and encode privileges semantically</a:t>
                      </a:r>
                    </a:p>
                  </a:txBody>
                  <a:tcPr marL="91440" marR="91440" marT="45720" marB="45720">
                    <a:solidFill>
                      <a:srgbClr val="FFFFFF"/>
                    </a:solidFill>
                  </a:tcPr>
                </a:tc>
              </a:tr>
              <a:tr h="657225">
                <a:tc>
                  <a:txBody>
                    <a:bodyPr/>
                    <a:lstStyle/>
                    <a:p>
                      <a:r>
                        <a:rPr sz="1875" b="0">
                          <a:solidFill>
                            <a:srgbClr val="152C28"/>
                          </a:solidFill>
                          <a:latin typeface="Arial"/>
                          <a:ea typeface="Arial"/>
                          <a:cs typeface="Arial"/>
                        </a:rPr>
                        <a:t>Unequal baseline inputs</a:t>
                      </a:r>
                    </a:p>
                  </a:txBody>
                  <a:tcPr marL="91440" marR="91440" marT="45720" marB="45720">
                    <a:solidFill>
                      <a:srgbClr val="EDF4EF"/>
                    </a:solidFill>
                  </a:tcPr>
                </a:tc>
                <a:tc>
                  <a:txBody>
                    <a:bodyPr/>
                    <a:lstStyle/>
                    <a:p>
                      <a:r>
                        <a:rPr sz="1875" b="0">
                          <a:solidFill>
                            <a:srgbClr val="152C28"/>
                          </a:solidFill>
                          <a:latin typeface="Arial"/>
                          <a:ea typeface="Arial"/>
                          <a:cs typeface="Arial"/>
                        </a:rPr>
                        <a:t>Give flat models four structural summary features</a:t>
                      </a:r>
                    </a:p>
                  </a:txBody>
                  <a:tcPr marL="91440" marR="91440" marT="45720" marB="45720">
                    <a:solidFill>
                      <a:srgbClr val="EDF4EF"/>
                    </a:solidFill>
                  </a:tcPr>
                </a:tc>
              </a:tr>
              <a:tr h="657225">
                <a:tc>
                  <a:txBody>
                    <a:bodyPr/>
                    <a:lstStyle/>
                    <a:p>
                      <a:r>
                        <a:rPr sz="1875" b="0">
                          <a:solidFill>
                            <a:srgbClr val="152C28"/>
                          </a:solidFill>
                          <a:latin typeface="Arial"/>
                          <a:ea typeface="Arial"/>
                          <a:cs typeface="Arial"/>
                        </a:rPr>
                        <a:t>Synthetic rule saturation</a:t>
                      </a:r>
                    </a:p>
                  </a:txBody>
                  <a:tcPr marL="91440" marR="91440" marT="45720" marB="45720">
                    <a:solidFill>
                      <a:srgbClr val="FFFFFF"/>
                    </a:solidFill>
                  </a:tcPr>
                </a:tc>
                <a:tc>
                  <a:txBody>
                    <a:bodyPr/>
                    <a:lstStyle/>
                    <a:p>
                      <a:r>
                        <a:rPr sz="1875" b="0">
                          <a:solidFill>
                            <a:srgbClr val="152C28"/>
                          </a:solidFill>
                          <a:latin typeface="Arial"/>
                          <a:ea typeface="Arial"/>
                          <a:cs typeface="Arial"/>
                        </a:rPr>
                        <a:t>A 7-node decision tree reaches Macro-F1 0.9928</a:t>
                      </a:r>
                    </a:p>
                  </a:txBody>
                  <a:tcPr marL="91440" marR="91440" marT="45720" marB="45720">
                    <a:solidFill>
                      <a:srgbClr val="FFFFFF"/>
                    </a:solidFill>
                  </a:tcPr>
                </a:tc>
              </a:tr>
              <a:tr h="657225">
                <a:tc>
                  <a:txBody>
                    <a:bodyPr/>
                    <a:lstStyle/>
                    <a:p>
                      <a:r>
                        <a:rPr sz="1875" b="0">
                          <a:solidFill>
                            <a:srgbClr val="152C28"/>
                          </a:solidFill>
                          <a:latin typeface="Arial"/>
                          <a:ea typeface="Arial"/>
                          <a:cs typeface="Arial"/>
                        </a:rPr>
                        <a:t>Hard-negative memorization</a:t>
                      </a:r>
                    </a:p>
                  </a:txBody>
                  <a:tcPr marL="91440" marR="91440" marT="45720" marB="45720">
                    <a:solidFill>
                      <a:srgbClr val="EDF4EF"/>
                    </a:solidFill>
                  </a:tcPr>
                </a:tc>
                <a:tc>
                  <a:txBody>
                    <a:bodyPr/>
                    <a:lstStyle/>
                    <a:p>
                      <a:r>
                        <a:rPr sz="1875" b="0">
                          <a:solidFill>
                            <a:srgbClr val="152C28"/>
                          </a:solidFill>
                          <a:latin typeface="Arial"/>
                          <a:ea typeface="Arial"/>
                          <a:cs typeface="Arial"/>
                        </a:rPr>
                        <a:t>Keep adversarial negatives outside the training set</a:t>
                      </a:r>
                    </a:p>
                  </a:txBody>
                  <a:tcPr marL="91440" marR="91440" marT="45720" marB="45720">
                    <a:solidFill>
                      <a:srgbClr val="EDF4EF"/>
                    </a:solidFill>
                  </a:tcPr>
                </a:tc>
              </a:tr>
            </a:tbl>
          </a:graphicData>
        </a:graphic>
      </p:graphicFrame>
      <p:sp>
        <p:nvSpPr>
          <p:cNvPr id="5" name="">
            <a:extLst xmlns:a="http://schemas.openxmlformats.org/drawingml/2006/main">
              <a:ext uri="{FF2B5EF4-FFF2-40B4-BE49-F238E27FC236}">
                <a16:creationId xmlns:a16="http://schemas.microsoft.com/office/drawing/2014/main" id="{8DB7311E-0124-4E00-A388-6C77B79EB56A}"/>
              </a:ext>
            </a:extLst>
          </p:cNvPr>
          <p:cNvSpPr>
            <a:spLocks xmlns:a="http://schemas.openxmlformats.org/drawingml/2006/main" noGrp="1"/>
          </p:cNvSpPr>
          <p:nvPr/>
        </p:nvSpPr>
        <p:spPr>
          <a:xfrm xmlns:a="http://schemas.openxmlformats.org/drawingml/2006/main">
            <a:off x="609600" y="50958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Main lesson</a:t>
            </a:r>
          </a:p>
        </p:txBody>
      </p:sp>
      <p:sp>
        <p:nvSpPr>
          <p:cNvPr id="6" name="">
            <a:extLst xmlns:a="http://schemas.openxmlformats.org/drawingml/2006/main">
              <a:ext uri="{FF2B5EF4-FFF2-40B4-BE49-F238E27FC236}">
                <a16:creationId xmlns:a16="http://schemas.microsoft.com/office/drawing/2014/main" id="{E40689C5-A3F1-42EB-AF19-9CD06565EA4A}"/>
              </a:ext>
            </a:extLst>
          </p:cNvPr>
          <p:cNvSpPr>
            <a:spLocks xmlns:a="http://schemas.openxmlformats.org/drawingml/2006/main" noGrp="1"/>
          </p:cNvSpPr>
          <p:nvPr/>
        </p:nvSpPr>
        <p:spPr>
          <a:xfrm xmlns:a="http://schemas.openxmlformats.org/drawingml/2006/main">
            <a:off x="609600" y="5524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A near-perfect score can reflect recoverable generator rules.</a:t>
            </a:r>
          </a:p>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Fair baselines and unseen counterexamples test what the model learned.</a:t>
            </a:r>
          </a:p>
        </p:txBody>
      </p:sp>
    </p:spTree>
    <p:extLst>
      <p:ext uri="{BB962C8B-B14F-4D97-AF65-F5344CB8AC3E}">
        <p14:creationId xmlns:p14="http://schemas.microsoft.com/office/powerpoint/2010/main" val="1020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B6EEA5-0478-49A9-93C2-AB1A765A3E0E}"/>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Evaluation design</a:t>
            </a:r>
          </a:p>
        </p:txBody>
      </p:sp>
      <p:sp>
        <p:nvSpPr>
          <p:cNvPr id="2" name="">
            <a:extLst xmlns:a="http://schemas.openxmlformats.org/drawingml/2006/main">
              <a:ext uri="{FF2B5EF4-FFF2-40B4-BE49-F238E27FC236}">
                <a16:creationId xmlns:a16="http://schemas.microsoft.com/office/drawing/2014/main" id="{B5F1AE48-1E31-44BA-9ACC-1BF9EC4AF4DF}"/>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Chapters 5–7</a:t>
            </a:r>
          </a:p>
        </p:txBody>
      </p:sp>
      <p:sp>
        <p:nvSpPr>
          <p:cNvPr id="3" name="">
            <a:extLst xmlns:a="http://schemas.openxmlformats.org/drawingml/2006/main">
              <a:ext uri="{FF2B5EF4-FFF2-40B4-BE49-F238E27FC236}">
                <a16:creationId xmlns:a16="http://schemas.microsoft.com/office/drawing/2014/main" id="{005C3F1B-45E9-45AB-B1F1-AD3665DBA84F}"/>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08/15</a:t>
            </a:r>
          </a:p>
        </p:txBody>
      </p:sp>
      <p:graphicFrame>
        <p:nvGraphicFramePr>
          <p:cNvPr id="9" name=""/>
          <p:cNvGraphicFramePr/>
          <p:nvPr/>
        </p:nvGraphicFramePr>
        <p:xfrm>
          <a:off xmlns:a="http://schemas.openxmlformats.org/drawingml/2006/main" x="609600" y="1381125"/>
          <a:ext xmlns:a="http://schemas.openxmlformats.org/drawingml/2006/main" cx="10972800" cy="3667125"/>
        </p:xfrm>
        <a:graphic xmlns:a="http://schemas.openxmlformats.org/drawingml/2006/main">
          <a:graphicData uri="http://schemas.openxmlformats.org/drawingml/2006/table">
            <a:tbl>
              <a:tblPr/>
              <a:tblGrid>
                <a:gridCol w="3143250"/>
                <a:gridCol w="3524250"/>
                <a:gridCol w="4305300"/>
              </a:tblGrid>
              <a:tr h="611188">
                <a:tc>
                  <a:txBody>
                    <a:bodyPr/>
                    <a:lstStyle/>
                    <a:p>
                      <a:r>
                        <a:rPr sz="1725" b="1">
                          <a:solidFill>
                            <a:srgbClr val="FFFFFF"/>
                          </a:solidFill>
                          <a:latin typeface="Arial"/>
                          <a:ea typeface="Arial"/>
                          <a:cs typeface="Arial"/>
                        </a:rPr>
                        <a:t>Evaluation</a:t>
                      </a:r>
                    </a:p>
                  </a:txBody>
                  <a:tcPr marL="91440" marR="91440" marT="45720" marB="45720">
                    <a:solidFill>
                      <a:srgbClr val="187B59"/>
                    </a:solidFill>
                  </a:tcPr>
                </a:tc>
                <a:tc>
                  <a:txBody>
                    <a:bodyPr/>
                    <a:lstStyle/>
                    <a:p>
                      <a:r>
                        <a:rPr sz="1725" b="1">
                          <a:solidFill>
                            <a:srgbClr val="FFFFFF"/>
                          </a:solidFill>
                          <a:latin typeface="Arial"/>
                          <a:ea typeface="Arial"/>
                          <a:cs typeface="Arial"/>
                        </a:rPr>
                        <a:t>Purpose</a:t>
                      </a:r>
                    </a:p>
                  </a:txBody>
                  <a:tcPr marL="91440" marR="91440" marT="45720" marB="45720">
                    <a:solidFill>
                      <a:srgbClr val="187B59"/>
                    </a:solidFill>
                  </a:tcPr>
                </a:tc>
                <a:tc>
                  <a:txBody>
                    <a:bodyPr/>
                    <a:lstStyle/>
                    <a:p>
                      <a:r>
                        <a:rPr sz="1725" b="1">
                          <a:solidFill>
                            <a:srgbClr val="FFFFFF"/>
                          </a:solidFill>
                          <a:latin typeface="Arial"/>
                          <a:ea typeface="Arial"/>
                          <a:cs typeface="Arial"/>
                        </a:rPr>
                        <a:t>Dataset</a:t>
                      </a:r>
                    </a:p>
                  </a:txBody>
                  <a:tcPr marL="91440" marR="91440" marT="45720" marB="45720">
                    <a:solidFill>
                      <a:srgbClr val="187B59"/>
                    </a:solidFill>
                  </a:tcPr>
                </a:tc>
              </a:tr>
              <a:tr h="611188">
                <a:tc>
                  <a:txBody>
                    <a:bodyPr/>
                    <a:lstStyle/>
                    <a:p>
                      <a:r>
                        <a:rPr sz="1725" b="0">
                          <a:solidFill>
                            <a:srgbClr val="152C28"/>
                          </a:solidFill>
                          <a:latin typeface="Arial"/>
                          <a:ea typeface="Arial"/>
                          <a:cs typeface="Arial"/>
                        </a:rPr>
                        <a:t>Balanced cross-validation</a:t>
                      </a:r>
                    </a:p>
                  </a:txBody>
                  <a:tcPr marL="91440" marR="91440" marT="45720" marB="45720">
                    <a:solidFill>
                      <a:srgbClr val="FFFFFF"/>
                    </a:solidFill>
                  </a:tcPr>
                </a:tc>
                <a:tc>
                  <a:txBody>
                    <a:bodyPr/>
                    <a:lstStyle/>
                    <a:p>
                      <a:r>
                        <a:rPr sz="1725" b="0">
                          <a:solidFill>
                            <a:srgbClr val="152C28"/>
                          </a:solidFill>
                          <a:latin typeface="Arial"/>
                          <a:ea typeface="Arial"/>
                          <a:cs typeface="Arial"/>
                        </a:rPr>
                        <a:t>Compare classification methods</a:t>
                      </a:r>
                    </a:p>
                  </a:txBody>
                  <a:tcPr marL="91440" marR="91440" marT="45720" marB="45720">
                    <a:solidFill>
                      <a:srgbClr val="FFFFFF"/>
                    </a:solidFill>
                  </a:tcPr>
                </a:tc>
                <a:tc>
                  <a:txBody>
                    <a:bodyPr/>
                    <a:lstStyle/>
                    <a:p>
                      <a:r>
                        <a:rPr sz="1725" b="0">
                          <a:solidFill>
                            <a:srgbClr val="152C28"/>
                          </a:solidFill>
                          <a:latin typeface="Arial"/>
                          <a:ea typeface="Arial"/>
                          <a:cs typeface="Arial"/>
                        </a:rPr>
                        <a:t>700 domains, 7 classes, 5 folds</a:t>
                      </a:r>
                    </a:p>
                  </a:txBody>
                  <a:tcPr marL="91440" marR="91440" marT="45720" marB="45720">
                    <a:solidFill>
                      <a:srgbClr val="FFFFFF"/>
                    </a:solidFill>
                  </a:tcPr>
                </a:tc>
              </a:tr>
              <a:tr h="611188">
                <a:tc>
                  <a:txBody>
                    <a:bodyPr/>
                    <a:lstStyle/>
                    <a:p>
                      <a:r>
                        <a:rPr sz="1725" b="0">
                          <a:solidFill>
                            <a:srgbClr val="152C28"/>
                          </a:solidFill>
                          <a:latin typeface="Arial"/>
                          <a:ea typeface="Arial"/>
                          <a:cs typeface="Arial"/>
                        </a:rPr>
                        <a:t>Imbalanced benchmark</a:t>
                      </a:r>
                    </a:p>
                  </a:txBody>
                  <a:tcPr marL="91440" marR="91440" marT="45720" marB="45720">
                    <a:solidFill>
                      <a:srgbClr val="EDF4EF"/>
                    </a:solidFill>
                  </a:tcPr>
                </a:tc>
                <a:tc>
                  <a:txBody>
                    <a:bodyPr/>
                    <a:lstStyle/>
                    <a:p>
                      <a:r>
                        <a:rPr sz="1725" b="0">
                          <a:solidFill>
                            <a:srgbClr val="152C28"/>
                          </a:solidFill>
                          <a:latin typeface="Arial"/>
                          <a:ea typeface="Arial"/>
                          <a:cs typeface="Arial"/>
                        </a:rPr>
                        <a:t>Test rare-vulnerability detection</a:t>
                      </a:r>
                    </a:p>
                  </a:txBody>
                  <a:tcPr marL="91440" marR="91440" marT="45720" marB="45720">
                    <a:solidFill>
                      <a:srgbClr val="EDF4EF"/>
                    </a:solidFill>
                  </a:tcPr>
                </a:tc>
                <a:tc>
                  <a:txBody>
                    <a:bodyPr/>
                    <a:lstStyle/>
                    <a:p>
                      <a:r>
                        <a:rPr sz="1725" b="0">
                          <a:solidFill>
                            <a:srgbClr val="152C28"/>
                          </a:solidFill>
                          <a:latin typeface="Arial"/>
                          <a:ea typeface="Arial"/>
                          <a:cs typeface="Arial"/>
                        </a:rPr>
                        <a:t>2,000 templates, 96% Safe</a:t>
                      </a:r>
                    </a:p>
                  </a:txBody>
                  <a:tcPr marL="91440" marR="91440" marT="45720" marB="45720">
                    <a:solidFill>
                      <a:srgbClr val="EDF4EF"/>
                    </a:solidFill>
                  </a:tcPr>
                </a:tc>
              </a:tr>
              <a:tr h="611188">
                <a:tc>
                  <a:txBody>
                    <a:bodyPr/>
                    <a:lstStyle/>
                    <a:p>
                      <a:r>
                        <a:rPr sz="1725" b="0">
                          <a:solidFill>
                            <a:srgbClr val="152C28"/>
                          </a:solidFill>
                          <a:latin typeface="Arial"/>
                          <a:ea typeface="Arial"/>
                          <a:cs typeface="Arial"/>
                        </a:rPr>
                        <a:t>Unseen hard negatives</a:t>
                      </a:r>
                    </a:p>
                  </a:txBody>
                  <a:tcPr marL="91440" marR="91440" marT="45720" marB="45720">
                    <a:solidFill>
                      <a:srgbClr val="FFFFFF"/>
                    </a:solidFill>
                  </a:tcPr>
                </a:tc>
                <a:tc>
                  <a:txBody>
                    <a:bodyPr/>
                    <a:lstStyle/>
                    <a:p>
                      <a:r>
                        <a:rPr sz="1725" b="0">
                          <a:solidFill>
                            <a:srgbClr val="152C28"/>
                          </a:solidFill>
                          <a:latin typeface="Arial"/>
                          <a:ea typeface="Arial"/>
                          <a:cs typeface="Arial"/>
                        </a:rPr>
                        <a:t>Test shortcut learning</a:t>
                      </a:r>
                    </a:p>
                  </a:txBody>
                  <a:tcPr marL="91440" marR="91440" marT="45720" marB="45720">
                    <a:solidFill>
                      <a:srgbClr val="FFFFFF"/>
                    </a:solidFill>
                  </a:tcPr>
                </a:tc>
                <a:tc>
                  <a:txBody>
                    <a:bodyPr/>
                    <a:lstStyle/>
                    <a:p>
                      <a:r>
                        <a:rPr sz="1725" b="0">
                          <a:solidFill>
                            <a:srgbClr val="152C28"/>
                          </a:solidFill>
                          <a:latin typeface="Arial"/>
                          <a:ea typeface="Arial"/>
                          <a:cs typeface="Arial"/>
                        </a:rPr>
                        <a:t>1,400 training domains, 63 tests</a:t>
                      </a:r>
                    </a:p>
                  </a:txBody>
                  <a:tcPr marL="91440" marR="91440" marT="45720" marB="45720">
                    <a:solidFill>
                      <a:srgbClr val="FFFFFF"/>
                    </a:solidFill>
                  </a:tcPr>
                </a:tc>
              </a:tr>
              <a:tr h="611188">
                <a:tc>
                  <a:txBody>
                    <a:bodyPr/>
                    <a:lstStyle/>
                    <a:p>
                      <a:r>
                        <a:rPr sz="1725" b="0">
                          <a:solidFill>
                            <a:srgbClr val="152C28"/>
                          </a:solidFill>
                          <a:latin typeface="Arial"/>
                          <a:ea typeface="Arial"/>
                          <a:cs typeface="Arial"/>
                        </a:rPr>
                        <a:t>GOAD and community data</a:t>
                      </a:r>
                    </a:p>
                  </a:txBody>
                  <a:tcPr marL="91440" marR="91440" marT="45720" marB="45720">
                    <a:solidFill>
                      <a:srgbClr val="EDF4EF"/>
                    </a:solidFill>
                  </a:tcPr>
                </a:tc>
                <a:tc>
                  <a:txBody>
                    <a:bodyPr/>
                    <a:lstStyle/>
                    <a:p>
                      <a:r>
                        <a:rPr sz="1725" b="0">
                          <a:solidFill>
                            <a:srgbClr val="152C28"/>
                          </a:solidFill>
                          <a:latin typeface="Arial"/>
                          <a:ea typeface="Arial"/>
                          <a:cs typeface="Arial"/>
                        </a:rPr>
                        <a:t>Test ingestion and hybrid verification</a:t>
                      </a:r>
                    </a:p>
                  </a:txBody>
                  <a:tcPr marL="91440" marR="91440" marT="45720" marB="45720">
                    <a:solidFill>
                      <a:srgbClr val="EDF4EF"/>
                    </a:solidFill>
                  </a:tcPr>
                </a:tc>
                <a:tc>
                  <a:txBody>
                    <a:bodyPr/>
                    <a:lstStyle/>
                    <a:p>
                      <a:r>
                        <a:rPr sz="1725" b="0">
                          <a:solidFill>
                            <a:srgbClr val="152C28"/>
                          </a:solidFill>
                          <a:latin typeface="Arial"/>
                          <a:ea typeface="Arial"/>
                          <a:cs typeface="Arial"/>
                        </a:rPr>
                        <a:t>Lab cases, temporal snapshots, 30 external cases</a:t>
                      </a:r>
                    </a:p>
                  </a:txBody>
                  <a:tcPr marL="91440" marR="91440" marT="45720" marB="45720">
                    <a:solidFill>
                      <a:srgbClr val="EDF4EF"/>
                    </a:solidFill>
                  </a:tcPr>
                </a:tc>
              </a:tr>
              <a:tr h="611188">
                <a:tc>
                  <a:txBody>
                    <a:bodyPr/>
                    <a:lstStyle/>
                    <a:p>
                      <a:r>
                        <a:rPr sz="1725" b="0">
                          <a:solidFill>
                            <a:srgbClr val="152C28"/>
                          </a:solidFill>
                          <a:latin typeface="Arial"/>
                          <a:ea typeface="Arial"/>
                          <a:cs typeface="Arial"/>
                        </a:rPr>
                        <a:t>Scaling and defense</a:t>
                      </a:r>
                    </a:p>
                  </a:txBody>
                  <a:tcPr marL="91440" marR="91440" marT="45720" marB="45720">
                    <a:solidFill>
                      <a:srgbClr val="FFFFFF"/>
                    </a:solidFill>
                  </a:tcPr>
                </a:tc>
                <a:tc>
                  <a:txBody>
                    <a:bodyPr/>
                    <a:lstStyle/>
                    <a:p>
                      <a:r>
                        <a:rPr sz="1725" b="0">
                          <a:solidFill>
                            <a:srgbClr val="152C28"/>
                          </a:solidFill>
                          <a:latin typeface="Arial"/>
                          <a:ea typeface="Arial"/>
                          <a:cs typeface="Arial"/>
                        </a:rPr>
                        <a:t>Measure runtime and path mitigation</a:t>
                      </a:r>
                    </a:p>
                  </a:txBody>
                  <a:tcPr marL="91440" marR="91440" marT="45720" marB="45720">
                    <a:solidFill>
                      <a:srgbClr val="FFFFFF"/>
                    </a:solidFill>
                  </a:tcPr>
                </a:tc>
                <a:tc>
                  <a:txBody>
                    <a:bodyPr/>
                    <a:lstStyle/>
                    <a:p>
                      <a:r>
                        <a:rPr sz="1725" b="0">
                          <a:solidFill>
                            <a:srgbClr val="152C28"/>
                          </a:solidFill>
                          <a:latin typeface="Arial"/>
                          <a:ea typeface="Arial"/>
                          <a:cs typeface="Arial"/>
                        </a:rPr>
                        <a:t>Up to 10,000 nodes; 30 defense topologies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7E2877-1DDA-4DEF-A02D-3BE558EFD5E4}"/>
              </a:ext>
            </a:extLst>
          </p:cNvPr>
          <p:cNvSpPr>
            <a:spLocks xmlns:a="http://schemas.openxmlformats.org/drawingml/2006/main" noGrp="1"/>
          </p:cNvSpPr>
          <p:nvPr/>
        </p:nvSpPr>
        <p:spPr>
          <a:xfrm xmlns:a="http://schemas.openxmlformats.org/drawingml/2006/main">
            <a:off x="609600" y="55245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Report Macro-F1, precision–recall metrics, corrected tests and dataset scope.</a:t>
            </a:r>
          </a:p>
        </p:txBody>
      </p:sp>
    </p:spTree>
    <p:extLst>
      <p:ext uri="{BB962C8B-B14F-4D97-AF65-F5344CB8AC3E}">
        <p14:creationId xmlns:p14="http://schemas.microsoft.com/office/powerpoint/2010/main" val="14319827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170F0C-B9C3-44B1-9835-D470A66E9F13}"/>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Balanced results and fair baselines</a:t>
            </a:r>
          </a:p>
        </p:txBody>
      </p:sp>
      <p:sp>
        <p:nvSpPr>
          <p:cNvPr id="2" name="">
            <a:extLst xmlns:a="http://schemas.openxmlformats.org/drawingml/2006/main">
              <a:ext uri="{FF2B5EF4-FFF2-40B4-BE49-F238E27FC236}">
                <a16:creationId xmlns:a16="http://schemas.microsoft.com/office/drawing/2014/main" id="{5BFDA94D-8DE4-4D48-9A12-462543239DD8}"/>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Tables 5.2–5.4</a:t>
            </a:r>
          </a:p>
        </p:txBody>
      </p:sp>
      <p:sp>
        <p:nvSpPr>
          <p:cNvPr id="3" name="">
            <a:extLst xmlns:a="http://schemas.openxmlformats.org/drawingml/2006/main">
              <a:ext uri="{FF2B5EF4-FFF2-40B4-BE49-F238E27FC236}">
                <a16:creationId xmlns:a16="http://schemas.microsoft.com/office/drawing/2014/main" id="{76D62653-FB71-4408-847C-BA4BC10249D4}"/>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09/15</a:t>
            </a:r>
          </a:p>
        </p:txBody>
      </p:sp>
      <p:graphicFrame>
        <p:nvGraphicFramePr>
          <p:cNvPr id="12" name=""/>
          <p:cNvGraphicFramePr/>
          <p:nvPr/>
        </p:nvGraphicFramePr>
        <p:xfrm>
          <a:off xmlns:a="http://schemas.openxmlformats.org/drawingml/2006/main" x="609600" y="1381125"/>
          <a:ext xmlns:a="http://schemas.openxmlformats.org/drawingml/2006/main" cx="6905625" cy="3905250"/>
        </p:xfrm>
        <a:graphic xmlns:a="http://schemas.openxmlformats.org/drawingml/2006/main">
          <a:graphicData uri="http://schemas.openxmlformats.org/drawingml/2006/table">
            <a:tbl>
              <a:tblPr/>
              <a:tblGrid>
                <a:gridCol w="4000500"/>
                <a:gridCol w="2905125"/>
              </a:tblGrid>
              <a:tr h="488156">
                <a:tc>
                  <a:txBody>
                    <a:bodyPr/>
                    <a:lstStyle/>
                    <a:p>
                      <a:r>
                        <a:rPr sz="1800" b="1">
                          <a:solidFill>
                            <a:srgbClr val="FFFFFF"/>
                          </a:solidFill>
                          <a:latin typeface="Arial"/>
                          <a:ea typeface="Arial"/>
                          <a:cs typeface="Arial"/>
                        </a:rPr>
                        <a:t>Method</a:t>
                      </a:r>
                    </a:p>
                  </a:txBody>
                  <a:tcPr marL="91440" marR="91440" marT="45720" marB="45720">
                    <a:solidFill>
                      <a:srgbClr val="187B59"/>
                    </a:solidFill>
                  </a:tcPr>
                </a:tc>
                <a:tc>
                  <a:txBody>
                    <a:bodyPr/>
                    <a:lstStyle/>
                    <a:p>
                      <a:r>
                        <a:rPr sz="1800" b="1">
                          <a:solidFill>
                            <a:srgbClr val="FFFFFF"/>
                          </a:solidFill>
                          <a:latin typeface="Arial"/>
                          <a:ea typeface="Arial"/>
                          <a:cs typeface="Arial"/>
                        </a:rPr>
                        <a:t>Macro-F1 (mean ± SD)</a:t>
                      </a:r>
                    </a:p>
                  </a:txBody>
                  <a:tcPr marL="91440" marR="91440" marT="45720" marB="45720">
                    <a:solidFill>
                      <a:srgbClr val="187B59"/>
                    </a:solidFill>
                  </a:tcPr>
                </a:tc>
              </a:tr>
              <a:tr h="488156">
                <a:tc>
                  <a:txBody>
                    <a:bodyPr/>
                    <a:lstStyle/>
                    <a:p>
                      <a:r>
                        <a:rPr sz="1800" b="0">
                          <a:solidFill>
                            <a:srgbClr val="152C28"/>
                          </a:solidFill>
                          <a:latin typeface="Arial"/>
                          <a:ea typeface="Arial"/>
                          <a:cs typeface="Arial"/>
                        </a:rPr>
                        <a:t>CertGraph</a:t>
                      </a:r>
                    </a:p>
                  </a:txBody>
                  <a:tcPr marL="91440" marR="91440" marT="45720" marB="45720">
                    <a:solidFill>
                      <a:srgbClr val="FFFFFF"/>
                    </a:solidFill>
                  </a:tcPr>
                </a:tc>
                <a:tc>
                  <a:txBody>
                    <a:bodyPr/>
                    <a:lstStyle/>
                    <a:p>
                      <a:r>
                        <a:rPr sz="1800" b="0">
                          <a:solidFill>
                            <a:srgbClr val="152C28"/>
                          </a:solidFill>
                          <a:latin typeface="Arial"/>
                          <a:ea typeface="Arial"/>
                          <a:cs typeface="Arial"/>
                        </a:rPr>
                        <a:t>0.9986 ± 0.0029</a:t>
                      </a:r>
                    </a:p>
                  </a:txBody>
                  <a:tcPr marL="91440" marR="91440" marT="45720" marB="45720">
                    <a:solidFill>
                      <a:srgbClr val="FFFFFF"/>
                    </a:solidFill>
                  </a:tcPr>
                </a:tc>
              </a:tr>
              <a:tr h="488156">
                <a:tc>
                  <a:txBody>
                    <a:bodyPr/>
                    <a:lstStyle/>
                    <a:p>
                      <a:r>
                        <a:rPr sz="1800" b="0">
                          <a:solidFill>
                            <a:srgbClr val="152C28"/>
                          </a:solidFill>
                          <a:latin typeface="Arial"/>
                          <a:ea typeface="Arial"/>
                          <a:cs typeface="Arial"/>
                        </a:rPr>
                        <a:t>Graph-augmented MLP</a:t>
                      </a:r>
                    </a:p>
                  </a:txBody>
                  <a:tcPr marL="91440" marR="91440" marT="45720" marB="45720">
                    <a:solidFill>
                      <a:srgbClr val="EDF4EF"/>
                    </a:solidFill>
                  </a:tcPr>
                </a:tc>
                <a:tc>
                  <a:txBody>
                    <a:bodyPr/>
                    <a:lstStyle/>
                    <a:p>
                      <a:r>
                        <a:rPr sz="1800" b="0">
                          <a:solidFill>
                            <a:srgbClr val="152C28"/>
                          </a:solidFill>
                          <a:latin typeface="Arial"/>
                          <a:ea typeface="Arial"/>
                          <a:cs typeface="Arial"/>
                        </a:rPr>
                        <a:t>0.9971 ± 0.0035</a:t>
                      </a:r>
                    </a:p>
                  </a:txBody>
                  <a:tcPr marL="91440" marR="91440" marT="45720" marB="45720">
                    <a:solidFill>
                      <a:srgbClr val="EDF4EF"/>
                    </a:solidFill>
                  </a:tcPr>
                </a:tc>
              </a:tr>
              <a:tr h="488156">
                <a:tc>
                  <a:txBody>
                    <a:bodyPr/>
                    <a:lstStyle/>
                    <a:p>
                      <a:r>
                        <a:rPr sz="1800" b="0">
                          <a:solidFill>
                            <a:srgbClr val="152C28"/>
                          </a:solidFill>
                          <a:latin typeface="Arial"/>
                          <a:ea typeface="Arial"/>
                          <a:cs typeface="Arial"/>
                        </a:rPr>
                        <a:t>Graph-augmented RF</a:t>
                      </a:r>
                    </a:p>
                  </a:txBody>
                  <a:tcPr marL="91440" marR="91440" marT="45720" marB="45720">
                    <a:solidFill>
                      <a:srgbClr val="FFFFFF"/>
                    </a:solidFill>
                  </a:tcPr>
                </a:tc>
                <a:tc>
                  <a:txBody>
                    <a:bodyPr/>
                    <a:lstStyle/>
                    <a:p>
                      <a:r>
                        <a:rPr sz="1800" b="0">
                          <a:solidFill>
                            <a:srgbClr val="152C28"/>
                          </a:solidFill>
                          <a:latin typeface="Arial"/>
                          <a:ea typeface="Arial"/>
                          <a:cs typeface="Arial"/>
                        </a:rPr>
                        <a:t>0.9871 ± 0.0084</a:t>
                      </a:r>
                    </a:p>
                  </a:txBody>
                  <a:tcPr marL="91440" marR="91440" marT="45720" marB="45720">
                    <a:solidFill>
                      <a:srgbClr val="FFFFFF"/>
                    </a:solidFill>
                  </a:tcPr>
                </a:tc>
              </a:tr>
              <a:tr h="488156">
                <a:tc>
                  <a:txBody>
                    <a:bodyPr/>
                    <a:lstStyle/>
                    <a:p>
                      <a:r>
                        <a:rPr sz="1800" b="0">
                          <a:solidFill>
                            <a:srgbClr val="152C28"/>
                          </a:solidFill>
                          <a:latin typeface="Arial"/>
                          <a:ea typeface="Arial"/>
                          <a:cs typeface="Arial"/>
                        </a:rPr>
                        <a:t>Symbolic BFS baseline</a:t>
                      </a:r>
                    </a:p>
                  </a:txBody>
                  <a:tcPr marL="91440" marR="91440" marT="45720" marB="45720">
                    <a:solidFill>
                      <a:srgbClr val="EDF4EF"/>
                    </a:solidFill>
                  </a:tcPr>
                </a:tc>
                <a:tc>
                  <a:txBody>
                    <a:bodyPr/>
                    <a:lstStyle/>
                    <a:p>
                      <a:r>
                        <a:rPr sz="1800" b="0">
                          <a:solidFill>
                            <a:srgbClr val="152C28"/>
                          </a:solidFill>
                          <a:latin typeface="Arial"/>
                          <a:ea typeface="Arial"/>
                          <a:cs typeface="Arial"/>
                        </a:rPr>
                        <a:t>0.9082 ± 0.0229</a:t>
                      </a:r>
                    </a:p>
                  </a:txBody>
                  <a:tcPr marL="91440" marR="91440" marT="45720" marB="45720">
                    <a:solidFill>
                      <a:srgbClr val="EDF4EF"/>
                    </a:solidFill>
                  </a:tcPr>
                </a:tc>
              </a:tr>
              <a:tr h="488156">
                <a:tc>
                  <a:txBody>
                    <a:bodyPr/>
                    <a:lstStyle/>
                    <a:p>
                      <a:r>
                        <a:rPr sz="1800" b="0">
                          <a:solidFill>
                            <a:srgbClr val="152C28"/>
                          </a:solidFill>
                          <a:latin typeface="Arial"/>
                          <a:ea typeface="Arial"/>
                          <a:cs typeface="Arial"/>
                        </a:rPr>
                        <a:t>Flat MLP</a:t>
                      </a:r>
                    </a:p>
                  </a:txBody>
                  <a:tcPr marL="91440" marR="91440" marT="45720" marB="45720">
                    <a:solidFill>
                      <a:srgbClr val="FFFFFF"/>
                    </a:solidFill>
                  </a:tcPr>
                </a:tc>
                <a:tc>
                  <a:txBody>
                    <a:bodyPr/>
                    <a:lstStyle/>
                    <a:p>
                      <a:r>
                        <a:rPr sz="1800" b="0">
                          <a:solidFill>
                            <a:srgbClr val="152C28"/>
                          </a:solidFill>
                          <a:latin typeface="Arial"/>
                          <a:ea typeface="Arial"/>
                          <a:cs typeface="Arial"/>
                        </a:rPr>
                        <a:t>0.8600 ± 0.0130</a:t>
                      </a:r>
                    </a:p>
                  </a:txBody>
                  <a:tcPr marL="91440" marR="91440" marT="45720" marB="45720">
                    <a:solidFill>
                      <a:srgbClr val="FFFFFF"/>
                    </a:solidFill>
                  </a:tcPr>
                </a:tc>
              </a:tr>
              <a:tr h="488156">
                <a:tc>
                  <a:txBody>
                    <a:bodyPr/>
                    <a:lstStyle/>
                    <a:p>
                      <a:r>
                        <a:rPr sz="1800" b="0">
                          <a:solidFill>
                            <a:srgbClr val="152C28"/>
                          </a:solidFill>
                          <a:latin typeface="Arial"/>
                          <a:ea typeface="Arial"/>
                          <a:cs typeface="Arial"/>
                        </a:rPr>
                        <a:t>Flat RF</a:t>
                      </a:r>
                    </a:p>
                  </a:txBody>
                  <a:tcPr marL="91440" marR="91440" marT="45720" marB="45720">
                    <a:solidFill>
                      <a:srgbClr val="EDF4EF"/>
                    </a:solidFill>
                  </a:tcPr>
                </a:tc>
                <a:tc>
                  <a:txBody>
                    <a:bodyPr/>
                    <a:lstStyle/>
                    <a:p>
                      <a:r>
                        <a:rPr sz="1800" b="0">
                          <a:solidFill>
                            <a:srgbClr val="152C28"/>
                          </a:solidFill>
                          <a:latin typeface="Arial"/>
                          <a:ea typeface="Arial"/>
                          <a:cs typeface="Arial"/>
                        </a:rPr>
                        <a:t>0.8384 ± 0.0057</a:t>
                      </a:r>
                    </a:p>
                  </a:txBody>
                  <a:tcPr marL="91440" marR="91440" marT="45720" marB="45720">
                    <a:solidFill>
                      <a:srgbClr val="EDF4EF"/>
                    </a:solidFill>
                  </a:tcPr>
                </a:tc>
              </a:tr>
              <a:tr h="488156">
                <a:tc>
                  <a:txBody>
                    <a:bodyPr/>
                    <a:lstStyle/>
                    <a:p>
                      <a:r>
                        <a:rPr sz="1800" b="0">
                          <a:solidFill>
                            <a:srgbClr val="152C28"/>
                          </a:solidFill>
                          <a:latin typeface="Arial"/>
                          <a:ea typeface="Arial"/>
                          <a:cs typeface="Arial"/>
                        </a:rPr>
                        <a:t>Certipy heuristic baseline</a:t>
                      </a:r>
                    </a:p>
                  </a:txBody>
                  <a:tcPr marL="91440" marR="91440" marT="45720" marB="45720">
                    <a:solidFill>
                      <a:srgbClr val="FFFFFF"/>
                    </a:solidFill>
                  </a:tcPr>
                </a:tc>
                <a:tc>
                  <a:txBody>
                    <a:bodyPr/>
                    <a:lstStyle/>
                    <a:p>
                      <a:r>
                        <a:rPr sz="1800" b="0">
                          <a:solidFill>
                            <a:srgbClr val="152C28"/>
                          </a:solidFill>
                          <a:latin typeface="Arial"/>
                          <a:ea typeface="Arial"/>
                          <a:cs typeface="Arial"/>
                        </a:rPr>
                        <a:t>0.7791 ± 0.0247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ECAF3CC-A811-44F6-B753-46D0DA2B8CEA}"/>
              </a:ext>
            </a:extLst>
          </p:cNvPr>
          <p:cNvSpPr>
            <a:spLocks xmlns:a="http://schemas.openxmlformats.org/drawingml/2006/main" noGrp="1"/>
          </p:cNvSpPr>
          <p:nvPr/>
        </p:nvSpPr>
        <p:spPr>
          <a:xfrm xmlns:a="http://schemas.openxmlformats.org/drawingml/2006/main">
            <a:off x="7953375" y="138112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Interpretation</a:t>
            </a:r>
          </a:p>
        </p:txBody>
      </p:sp>
      <p:sp>
        <p:nvSpPr>
          <p:cNvPr id="6" name="">
            <a:extLst xmlns:a="http://schemas.openxmlformats.org/drawingml/2006/main">
              <a:ext uri="{FF2B5EF4-FFF2-40B4-BE49-F238E27FC236}">
                <a16:creationId xmlns:a16="http://schemas.microsoft.com/office/drawing/2014/main" id="{B029947A-0250-4287-BDEE-0FF0F7EF0A97}"/>
              </a:ext>
            </a:extLst>
          </p:cNvPr>
          <p:cNvSpPr>
            <a:spLocks xmlns:a="http://schemas.openxmlformats.org/drawingml/2006/main" noGrp="1"/>
          </p:cNvSpPr>
          <p:nvPr/>
        </p:nvSpPr>
        <p:spPr>
          <a:xfrm xmlns:a="http://schemas.openxmlformats.org/drawingml/2006/main">
            <a:off x="7953375" y="1905000"/>
            <a:ext cx="361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52C28"/>
                </a:solidFill>
                <a:latin typeface="Arial"/>
                <a:ea typeface="Arial"/>
                <a:cs typeface="Arial"/>
              </a:defRPr>
            </a:pPr>
            <a:r>
              <a:rPr sz="2025" b="1">
                <a:solidFill>
                  <a:srgbClr val="152C28"/>
                </a:solidFill>
                <a:latin typeface="Arial"/>
                <a:ea typeface="Arial"/>
                <a:cs typeface="Arial"/>
              </a:rPr>
              <a:t>No significant gain over</a:t>
            </a:r>
          </a:p>
          <a:p xmlns:a="http://schemas.openxmlformats.org/drawingml/2006/main">
            <a:pPr>
              <a:defRPr sz="2025" b="1">
                <a:solidFill>
                  <a:srgbClr val="152C28"/>
                </a:solidFill>
                <a:latin typeface="Arial"/>
                <a:ea typeface="Arial"/>
                <a:cs typeface="Arial"/>
              </a:defRPr>
            </a:pPr>
            <a:r>
              <a:rPr sz="2025" b="1">
                <a:solidFill>
                  <a:srgbClr val="152C28"/>
                </a:solidFill>
                <a:latin typeface="Arial"/>
                <a:ea typeface="Arial"/>
                <a:cs typeface="Arial"/>
              </a:rPr>
              <a:t>graph-augmented MLP</a:t>
            </a:r>
          </a:p>
          <a:p xmlns:a="http://schemas.openxmlformats.org/drawingml/2006/main">
            <a:pPr>
              <a:defRPr sz="2025" b="1">
                <a:solidFill>
                  <a:srgbClr val="152C28"/>
                </a:solidFill>
                <a:latin typeface="Arial"/>
                <a:ea typeface="Arial"/>
                <a:cs typeface="Arial"/>
              </a:defRPr>
            </a:pPr>
            <a:r>
              <a:rPr sz="2025" b="1">
                <a:solidFill>
                  <a:srgbClr val="152C28"/>
                </a:solidFill>
                <a:latin typeface="Arial"/>
                <a:ea typeface="Arial"/>
                <a:cs typeface="Arial"/>
              </a:rPr>
              <a:t>(corrected p = 0.7396)</a:t>
            </a:r>
          </a:p>
        </p:txBody>
      </p:sp>
      <p:sp>
        <p:nvSpPr>
          <p:cNvPr id="7" name="">
            <a:extLst xmlns:a="http://schemas.openxmlformats.org/drawingml/2006/main">
              <a:ext uri="{FF2B5EF4-FFF2-40B4-BE49-F238E27FC236}">
                <a16:creationId xmlns:a16="http://schemas.microsoft.com/office/drawing/2014/main" id="{FD3B4834-E3FE-443D-B904-97E1E95D8BDA}"/>
              </a:ext>
            </a:extLst>
          </p:cNvPr>
          <p:cNvSpPr>
            <a:spLocks xmlns:a="http://schemas.openxmlformats.org/drawingml/2006/main" noGrp="1"/>
          </p:cNvSpPr>
          <p:nvPr/>
        </p:nvSpPr>
        <p:spPr>
          <a:xfrm xmlns:a="http://schemas.openxmlformats.org/drawingml/2006/main">
            <a:off x="7953375" y="3714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With 96% Safe templates</a:t>
            </a:r>
          </a:p>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Macro-F1: 0.9941</a:t>
            </a:r>
          </a:p>
          <a:p xmlns:a="http://schemas.openxmlformats.org/drawingml/2006/main">
            <a:pPr>
              <a:defRPr sz="2025" b="0">
                <a:solidFill>
                  <a:srgbClr val="152C28"/>
                </a:solidFill>
                <a:latin typeface="Arial"/>
                <a:ea typeface="Arial"/>
                <a:cs typeface="Arial"/>
              </a:defRPr>
            </a:pPr>
            <a:r>
              <a:rPr sz="2025" b="0">
                <a:solidFill>
                  <a:srgbClr val="152C28"/>
                </a:solidFill>
                <a:latin typeface="Arial"/>
                <a:ea typeface="Arial"/>
                <a:cs typeface="Arial"/>
              </a:rPr>
              <a:t>PR-AUC: 0.9982</a:t>
            </a:r>
          </a:p>
        </p:txBody>
      </p:sp>
      <p:sp>
        <p:nvSpPr>
          <p:cNvPr id="8" name="">
            <a:extLst xmlns:a="http://schemas.openxmlformats.org/drawingml/2006/main">
              <a:ext uri="{FF2B5EF4-FFF2-40B4-BE49-F238E27FC236}">
                <a16:creationId xmlns:a16="http://schemas.microsoft.com/office/drawing/2014/main" id="{EBB22BFE-D012-464B-AA0C-85D3C8E16B7A}"/>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High in-distribution performance requires an out-of-distribution test.</a:t>
            </a:r>
          </a:p>
        </p:txBody>
      </p:sp>
    </p:spTree>
    <p:extLst>
      <p:ext uri="{BB962C8B-B14F-4D97-AF65-F5344CB8AC3E}">
        <p14:creationId xmlns:p14="http://schemas.microsoft.com/office/powerpoint/2010/main" val="5061841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2FEF98-4834-4D94-9B3D-131EA6B24EE8}"/>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Ablation: residual connections matter</a:t>
            </a:r>
          </a:p>
        </p:txBody>
      </p:sp>
      <p:sp>
        <p:nvSpPr>
          <p:cNvPr id="2" name="">
            <a:extLst xmlns:a="http://schemas.openxmlformats.org/drawingml/2006/main">
              <a:ext uri="{FF2B5EF4-FFF2-40B4-BE49-F238E27FC236}">
                <a16:creationId xmlns:a16="http://schemas.microsoft.com/office/drawing/2014/main" id="{9646D61F-35F8-4F6F-894C-5BE537C068A7}"/>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Table 5.5; §3.5 and Appendix A.1</a:t>
            </a:r>
          </a:p>
        </p:txBody>
      </p:sp>
      <p:sp>
        <p:nvSpPr>
          <p:cNvPr id="3" name="">
            <a:extLst xmlns:a="http://schemas.openxmlformats.org/drawingml/2006/main">
              <a:ext uri="{FF2B5EF4-FFF2-40B4-BE49-F238E27FC236}">
                <a16:creationId xmlns:a16="http://schemas.microsoft.com/office/drawing/2014/main" id="{5EC4A82A-9B8D-4FE4-81FC-91E2B6C7066E}"/>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10/15</a:t>
            </a:r>
          </a:p>
        </p:txBody>
      </p:sp>
      <p:sp>
        <p:nvSpPr>
          <p:cNvPr id="4" name="">
            <a:extLst xmlns:a="http://schemas.openxmlformats.org/drawingml/2006/main">
              <a:ext uri="{FF2B5EF4-FFF2-40B4-BE49-F238E27FC236}">
                <a16:creationId xmlns:a16="http://schemas.microsoft.com/office/drawing/2014/main" id="{73943A35-F2F7-4BF9-87FD-505D51141DA6}"/>
              </a:ext>
            </a:extLst>
          </p:cNvPr>
          <p:cNvSpPr>
            <a:spLocks xmlns:a="http://schemas.openxmlformats.org/drawingml/2006/main" noGrp="1"/>
          </p:cNvSpPr>
          <p:nvPr/>
        </p:nvSpPr>
        <p:spPr>
          <a:xfrm xmlns:a="http://schemas.openxmlformats.org/drawingml/2006/main">
            <a:off x="609600" y="11430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0615B"/>
                </a:solidFill>
                <a:latin typeface="Arial"/>
                <a:ea typeface="Arial"/>
                <a:cs typeface="Arial"/>
              </a:defRPr>
            </a:pPr>
            <a:r>
              <a:rPr sz="1425" b="0">
                <a:solidFill>
                  <a:srgbClr val="50615B"/>
                </a:solidFill>
                <a:latin typeface="Arial"/>
                <a:ea typeface="Arial"/>
                <a:cs typeface="Arial"/>
              </a:rPr>
              <a:t>Macro-F1</a:t>
            </a:r>
          </a:p>
        </p:txBody>
      </p:sp>
      <p:graphicFrame>
        <p:nvGraphicFramePr>
          <p:cNvPr id="14" name="Chart"/>
          <p:cNvGraphicFramePr/>
          <p:nvPr/>
        </p:nvGraphicFramePr>
        <p:xfrm>
          <a:off xmlns:a="http://schemas.openxmlformats.org/drawingml/2006/main" x="609600" y="1381125"/>
          <a:ext xmlns:a="http://schemas.openxmlformats.org/drawingml/2006/main" cx="7239000" cy="3857625"/>
        </p:xfrm>
        <a:graphic xmlns:a="http://schemas.openxmlformats.org/drawingml/2006/main">
          <a:graphicData uri="http://schemas.openxmlformats.org/drawingml/2006/chart">
            <c:chart xmlns:r="http://schemas.openxmlformats.org/officeDocument/2006/relationships" xmlns:c="http://schemas.openxmlformats.org/drawingml/2006/chart" r:id="Refe13e5b5d1b4a96"/>
          </a:graphicData>
        </a:graphic>
      </p:graphicFrame>
      <p:sp>
        <p:nvSpPr>
          <p:cNvPr id="6" name="">
            <a:extLst xmlns:a="http://schemas.openxmlformats.org/drawingml/2006/main">
              <a:ext uri="{FF2B5EF4-FFF2-40B4-BE49-F238E27FC236}">
                <a16:creationId xmlns:a16="http://schemas.microsoft.com/office/drawing/2014/main" id="{BA41FB43-F858-4B1F-B77C-CF02A0414C84}"/>
              </a:ext>
            </a:extLst>
          </p:cNvPr>
          <p:cNvSpPr>
            <a:spLocks xmlns:a="http://schemas.openxmlformats.org/drawingml/2006/main" noGrp="1"/>
          </p:cNvSpPr>
          <p:nvPr/>
        </p:nvSpPr>
        <p:spPr>
          <a:xfrm xmlns:a="http://schemas.openxmlformats.org/drawingml/2006/main">
            <a:off x="8239125" y="13811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What the experiment shows</a:t>
            </a:r>
          </a:p>
        </p:txBody>
      </p:sp>
      <p:sp>
        <p:nvSpPr>
          <p:cNvPr id="7" name="">
            <a:extLst xmlns:a="http://schemas.openxmlformats.org/drawingml/2006/main">
              <a:ext uri="{FF2B5EF4-FFF2-40B4-BE49-F238E27FC236}">
                <a16:creationId xmlns:a16="http://schemas.microsoft.com/office/drawing/2014/main" id="{B8F3F78A-AEBD-4BCD-B021-959D3EF6CBF2}"/>
              </a:ext>
            </a:extLst>
          </p:cNvPr>
          <p:cNvSpPr>
            <a:spLocks xmlns:a="http://schemas.openxmlformats.org/drawingml/2006/main" noGrp="1"/>
          </p:cNvSpPr>
          <p:nvPr/>
        </p:nvSpPr>
        <p:spPr>
          <a:xfrm xmlns:a="http://schemas.openxmlformats.org/drawingml/2006/main">
            <a:off x="8239125" y="20478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52C28"/>
                </a:solidFill>
                <a:latin typeface="Arial"/>
                <a:ea typeface="Arial"/>
                <a:cs typeface="Arial"/>
              </a:defRPr>
            </a:pPr>
            <a:r>
              <a:rPr sz="2175" b="1">
                <a:solidFill>
                  <a:srgbClr val="152C28"/>
                </a:solidFill>
                <a:latin typeface="Arial"/>
                <a:ea typeface="Arial"/>
                <a:cs typeface="Arial"/>
              </a:rPr>
              <a:t>Without residuals</a:t>
            </a:r>
          </a:p>
          <a:p xmlns:a="http://schemas.openxmlformats.org/drawingml/2006/main">
            <a:pPr>
              <a:defRPr sz="2175" b="1">
                <a:solidFill>
                  <a:srgbClr val="152C28"/>
                </a:solidFill>
                <a:latin typeface="Arial"/>
                <a:ea typeface="Arial"/>
                <a:cs typeface="Arial"/>
              </a:defRPr>
            </a:pPr>
            <a:r>
              <a:rPr sz="2175" b="1">
                <a:solidFill>
                  <a:srgbClr val="152C28"/>
                </a:solidFill>
                <a:latin typeface="Arial"/>
                <a:ea typeface="Arial"/>
                <a:cs typeface="Arial"/>
              </a:rPr>
              <a:t>Macro-F1 falls to 0.4768</a:t>
            </a:r>
          </a:p>
        </p:txBody>
      </p:sp>
      <p:sp>
        <p:nvSpPr>
          <p:cNvPr id="8" name="">
            <a:extLst xmlns:a="http://schemas.openxmlformats.org/drawingml/2006/main">
              <a:ext uri="{FF2B5EF4-FFF2-40B4-BE49-F238E27FC236}">
                <a16:creationId xmlns:a16="http://schemas.microsoft.com/office/drawing/2014/main" id="{B16D9F3D-514B-4F19-B6FC-2568E8173E6E}"/>
              </a:ext>
            </a:extLst>
          </p:cNvPr>
          <p:cNvSpPr>
            <a:spLocks xmlns:a="http://schemas.openxmlformats.org/drawingml/2006/main" noGrp="1"/>
          </p:cNvSpPr>
          <p:nvPr/>
        </p:nvSpPr>
        <p:spPr>
          <a:xfrm xmlns:a="http://schemas.openxmlformats.org/drawingml/2006/main">
            <a:off x="8239125" y="3476625"/>
            <a:ext cx="3333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Residuals preserve a direct</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path for local attributes.</a:t>
            </a:r>
          </a:p>
          <a:p xmlns:a="http://schemas.openxmlformats.org/drawingml/2006/main">
            <a:r>
              <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Single-head attention</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performs comparably.</a:t>
            </a:r>
          </a:p>
        </p:txBody>
      </p:sp>
      <p:sp>
        <p:nvSpPr>
          <p:cNvPr id="9" name="">
            <a:extLst xmlns:a="http://schemas.openxmlformats.org/drawingml/2006/main">
              <a:ext uri="{FF2B5EF4-FFF2-40B4-BE49-F238E27FC236}">
                <a16:creationId xmlns:a16="http://schemas.microsoft.com/office/drawing/2014/main" id="{C1F0ABFB-323B-4594-AE60-79AD6A14AC64}"/>
              </a:ext>
            </a:extLst>
          </p:cNvPr>
          <p:cNvSpPr>
            <a:spLocks xmlns:a="http://schemas.openxmlformats.org/drawingml/2006/main" noGrp="1"/>
          </p:cNvSpPr>
          <p:nvPr/>
        </p:nvSpPr>
        <p:spPr>
          <a:xfrm xmlns:a="http://schemas.openxmlformats.org/drawingml/2006/main">
            <a:off x="609600" y="5667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87B59"/>
                </a:solidFill>
                <a:latin typeface="Arial"/>
                <a:ea typeface="Arial"/>
                <a:cs typeface="Arial"/>
              </a:defRPr>
            </a:pPr>
            <a:r>
              <a:rPr sz="1950" b="1">
                <a:solidFill>
                  <a:srgbClr val="187B59"/>
                </a:solidFill>
                <a:latin typeface="Arial"/>
                <a:ea typeface="Arial"/>
                <a:cs typeface="Arial"/>
              </a:rPr>
              <a:t>Residual contribution is clear. Multi-head benefit is not established here.</a:t>
            </a:r>
          </a:p>
        </p:txBody>
      </p:sp>
    </p:spTree>
    <p:extLst>
      <p:ext uri="{BB962C8B-B14F-4D97-AF65-F5344CB8AC3E}">
        <p14:creationId xmlns:p14="http://schemas.microsoft.com/office/powerpoint/2010/main" val="14485678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107559-FD34-446C-9B0D-2164985A8AFE}"/>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Unseen hard negatives expose a failure</a:t>
            </a:r>
          </a:p>
        </p:txBody>
      </p:sp>
      <p:sp>
        <p:nvSpPr>
          <p:cNvPr id="2" name="">
            <a:extLst xmlns:a="http://schemas.openxmlformats.org/drawingml/2006/main">
              <a:ext uri="{FF2B5EF4-FFF2-40B4-BE49-F238E27FC236}">
                <a16:creationId xmlns:a16="http://schemas.microsoft.com/office/drawing/2014/main" id="{0AA2B96B-0271-42BB-8072-C43BE4AC0403}"/>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Table 5.6; §5.4</a:t>
            </a:r>
          </a:p>
        </p:txBody>
      </p:sp>
      <p:sp>
        <p:nvSpPr>
          <p:cNvPr id="3" name="">
            <a:extLst xmlns:a="http://schemas.openxmlformats.org/drawingml/2006/main">
              <a:ext uri="{FF2B5EF4-FFF2-40B4-BE49-F238E27FC236}">
                <a16:creationId xmlns:a16="http://schemas.microsoft.com/office/drawing/2014/main" id="{9FCE306E-9A5E-46D8-9566-B123B8EA4CA5}"/>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11/15</a:t>
            </a:r>
          </a:p>
        </p:txBody>
      </p:sp>
      <p:sp>
        <p:nvSpPr>
          <p:cNvPr id="4" name="">
            <a:extLst xmlns:a="http://schemas.openxmlformats.org/drawingml/2006/main">
              <a:ext uri="{FF2B5EF4-FFF2-40B4-BE49-F238E27FC236}">
                <a16:creationId xmlns:a16="http://schemas.microsoft.com/office/drawing/2014/main" id="{B06DAFB0-0467-416B-AF0F-D6B1BF8EA741}"/>
              </a:ext>
            </a:extLst>
          </p:cNvPr>
          <p:cNvSpPr>
            <a:spLocks xmlns:a="http://schemas.openxmlformats.org/drawingml/2006/main" noGrp="1"/>
          </p:cNvSpPr>
          <p:nvPr/>
        </p:nvSpPr>
        <p:spPr>
          <a:xfrm xmlns:a="http://schemas.openxmlformats.org/drawingml/2006/main">
            <a:off x="609600" y="1143000"/>
            <a:ext cx="719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0615B"/>
                </a:solidFill>
                <a:latin typeface="Arial"/>
                <a:ea typeface="Arial"/>
                <a:cs typeface="Arial"/>
              </a:defRPr>
            </a:pPr>
            <a:r>
              <a:rPr sz="1425" b="0">
                <a:solidFill>
                  <a:srgbClr val="50615B"/>
                </a:solidFill>
                <a:latin typeface="Arial"/>
                <a:ea typeface="Arial"/>
                <a:cs typeface="Arial"/>
              </a:rPr>
              <a:t>Safe-case accuracy (%)</a:t>
            </a:r>
          </a:p>
        </p:txBody>
      </p:sp>
      <p:graphicFrame>
        <p:nvGraphicFramePr>
          <p:cNvPr id="14" name="Chart"/>
          <p:cNvGraphicFramePr/>
          <p:nvPr/>
        </p:nvGraphicFramePr>
        <p:xfrm>
          <a:off xmlns:a="http://schemas.openxmlformats.org/drawingml/2006/main" x="609600" y="1476375"/>
          <a:ext xmlns:a="http://schemas.openxmlformats.org/drawingml/2006/main" cx="7191375" cy="3714750"/>
        </p:xfrm>
        <a:graphic xmlns:a="http://schemas.openxmlformats.org/drawingml/2006/main">
          <a:graphicData uri="http://schemas.openxmlformats.org/drawingml/2006/chart">
            <c:chart xmlns:r="http://schemas.openxmlformats.org/officeDocument/2006/relationships" xmlns:c="http://schemas.openxmlformats.org/drawingml/2006/chart" r:id="Ra4c96ab866ba4189"/>
          </a:graphicData>
        </a:graphic>
      </p:graphicFrame>
      <p:sp>
        <p:nvSpPr>
          <p:cNvPr id="6" name="">
            <a:extLst xmlns:a="http://schemas.openxmlformats.org/drawingml/2006/main">
              <a:ext uri="{FF2B5EF4-FFF2-40B4-BE49-F238E27FC236}">
                <a16:creationId xmlns:a16="http://schemas.microsoft.com/office/drawing/2014/main" id="{70F6051B-FA4C-4FDD-A56D-2DFB8FBC0795}"/>
              </a:ext>
            </a:extLst>
          </p:cNvPr>
          <p:cNvSpPr>
            <a:spLocks xmlns:a="http://schemas.openxmlformats.org/drawingml/2006/main" noGrp="1"/>
          </p:cNvSpPr>
          <p:nvPr/>
        </p:nvSpPr>
        <p:spPr>
          <a:xfrm xmlns:a="http://schemas.openxmlformats.org/drawingml/2006/main">
            <a:off x="8191500" y="13811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Counterexample</a:t>
            </a:r>
          </a:p>
        </p:txBody>
      </p:sp>
      <p:sp>
        <p:nvSpPr>
          <p:cNvPr id="7" name="">
            <a:extLst xmlns:a="http://schemas.openxmlformats.org/drawingml/2006/main">
              <a:ext uri="{FF2B5EF4-FFF2-40B4-BE49-F238E27FC236}">
                <a16:creationId xmlns:a16="http://schemas.microsoft.com/office/drawing/2014/main" id="{12EF056D-6E3E-46BB-AC3D-680952D4EB7A}"/>
              </a:ext>
            </a:extLst>
          </p:cNvPr>
          <p:cNvSpPr>
            <a:spLocks xmlns:a="http://schemas.openxmlformats.org/drawingml/2006/main" noGrp="1"/>
          </p:cNvSpPr>
          <p:nvPr/>
        </p:nvSpPr>
        <p:spPr>
          <a:xfrm xmlns:a="http://schemas.openxmlformats.org/drawingml/2006/main">
            <a:off x="8191500" y="195262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52C28"/>
                </a:solidFill>
                <a:latin typeface="Arial"/>
                <a:ea typeface="Arial"/>
                <a:cs typeface="Arial"/>
              </a:defRPr>
            </a:pPr>
            <a:r>
              <a:rPr sz="2025" b="1">
                <a:solidFill>
                  <a:srgbClr val="152C28"/>
                </a:solidFill>
                <a:latin typeface="Arial"/>
                <a:ea typeface="Arial"/>
                <a:cs typeface="Arial"/>
              </a:rPr>
              <a:t>Dangerous template flags</a:t>
            </a:r>
          </a:p>
          <a:p xmlns:a="http://schemas.openxmlformats.org/drawingml/2006/main">
            <a:pPr>
              <a:defRPr sz="2025" b="1">
                <a:solidFill>
                  <a:srgbClr val="152C28"/>
                </a:solidFill>
                <a:latin typeface="Arial"/>
                <a:ea typeface="Arial"/>
                <a:cs typeface="Arial"/>
              </a:defRPr>
            </a:pPr>
            <a:r>
              <a:rPr sz="2025" b="1">
                <a:solidFill>
                  <a:srgbClr val="152C28"/>
                </a:solidFill>
                <a:latin typeface="Arial"/>
                <a:ea typeface="Arial"/>
                <a:cs typeface="Arial"/>
              </a:rPr>
              <a:t>+ admin-only permissions</a:t>
            </a:r>
          </a:p>
          <a:p xmlns:a="http://schemas.openxmlformats.org/drawingml/2006/main">
            <a:pPr>
              <a:defRPr sz="2025" b="1">
                <a:solidFill>
                  <a:srgbClr val="152C28"/>
                </a:solidFill>
                <a:latin typeface="Arial"/>
                <a:ea typeface="Arial"/>
                <a:cs typeface="Arial"/>
              </a:defRPr>
            </a:pPr>
            <a:r>
              <a:rPr sz="2025" b="1">
                <a:solidFill>
                  <a:srgbClr val="152C28"/>
                </a:solidFill>
                <a:latin typeface="Arial"/>
                <a:ea typeface="Arial"/>
                <a:cs typeface="Arial"/>
              </a:rPr>
              <a:t>= Safe ground truth</a:t>
            </a:r>
          </a:p>
        </p:txBody>
      </p:sp>
      <p:sp>
        <p:nvSpPr>
          <p:cNvPr id="8" name="">
            <a:extLst xmlns:a="http://schemas.openxmlformats.org/drawingml/2006/main">
              <a:ext uri="{FF2B5EF4-FFF2-40B4-BE49-F238E27FC236}">
                <a16:creationId xmlns:a16="http://schemas.microsoft.com/office/drawing/2014/main" id="{8A557CEA-BADE-486E-8E42-096DD2E7F069}"/>
              </a:ext>
            </a:extLst>
          </p:cNvPr>
          <p:cNvSpPr>
            <a:spLocks xmlns:a="http://schemas.openxmlformats.org/drawingml/2006/main" noGrp="1"/>
          </p:cNvSpPr>
          <p:nvPr/>
        </p:nvSpPr>
        <p:spPr>
          <a:xfrm xmlns:a="http://schemas.openxmlformats.org/drawingml/2006/main">
            <a:off x="8191500" y="3857625"/>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CertGraph: 1 / 63 correct</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BFS baseline: 53 / 63</a:t>
            </a:r>
          </a:p>
          <a:p xmlns:a="http://schemas.openxmlformats.org/drawingml/2006/main">
            <a:r>
              <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The neural model learned</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a flag-based shortcut.</a:t>
            </a:r>
          </a:p>
        </p:txBody>
      </p:sp>
      <p:sp>
        <p:nvSpPr>
          <p:cNvPr id="9" name="">
            <a:extLst xmlns:a="http://schemas.openxmlformats.org/drawingml/2006/main">
              <a:ext uri="{FF2B5EF4-FFF2-40B4-BE49-F238E27FC236}">
                <a16:creationId xmlns:a16="http://schemas.microsoft.com/office/drawing/2014/main" id="{53AC4314-5564-4A39-B3D0-B898DC52E392}"/>
              </a:ext>
            </a:extLst>
          </p:cNvPr>
          <p:cNvSpPr>
            <a:spLocks xmlns:a="http://schemas.openxmlformats.org/drawingml/2006/main" noGrp="1"/>
          </p:cNvSpPr>
          <p:nvPr/>
        </p:nvSpPr>
        <p:spPr>
          <a:xfrm xmlns:a="http://schemas.openxmlformats.org/drawingml/2006/main">
            <a:off x="609600" y="5667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Topology transfer success does not establish adversarial robustness.</a:t>
            </a:r>
          </a:p>
        </p:txBody>
      </p:sp>
    </p:spTree>
    <p:extLst>
      <p:ext uri="{BB962C8B-B14F-4D97-AF65-F5344CB8AC3E}">
        <p14:creationId xmlns:p14="http://schemas.microsoft.com/office/powerpoint/2010/main" val="19289811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470BCB-A32D-4A67-96EB-EBD9D78D17B7}"/>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Two-tier neuro-symbolic verification</a:t>
            </a:r>
          </a:p>
        </p:txBody>
      </p:sp>
      <p:sp>
        <p:nvSpPr>
          <p:cNvPr id="2" name="">
            <a:extLst xmlns:a="http://schemas.openxmlformats.org/drawingml/2006/main">
              <a:ext uri="{FF2B5EF4-FFF2-40B4-BE49-F238E27FC236}">
                <a16:creationId xmlns:a16="http://schemas.microsoft.com/office/drawing/2014/main" id="{6F0E919D-C8E2-43B2-A1B4-3BF384186C25}"/>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§§8.3–8.4; Table 8.2</a:t>
            </a:r>
          </a:p>
        </p:txBody>
      </p:sp>
      <p:sp>
        <p:nvSpPr>
          <p:cNvPr id="3" name="">
            <a:extLst xmlns:a="http://schemas.openxmlformats.org/drawingml/2006/main">
              <a:ext uri="{FF2B5EF4-FFF2-40B4-BE49-F238E27FC236}">
                <a16:creationId xmlns:a16="http://schemas.microsoft.com/office/drawing/2014/main" id="{BF498336-0BCA-4A03-8CF0-07816D278AA1}"/>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12/15</a:t>
            </a:r>
          </a:p>
        </p:txBody>
      </p:sp>
      <p:sp>
        <p:nvSpPr>
          <p:cNvPr id="4" name="">
            <a:extLst xmlns:a="http://schemas.openxmlformats.org/drawingml/2006/main">
              <a:ext uri="{FF2B5EF4-FFF2-40B4-BE49-F238E27FC236}">
                <a16:creationId xmlns:a16="http://schemas.microsoft.com/office/drawing/2014/main" id="{FC4BBC45-E503-45FA-B6D2-71320079422D}"/>
              </a:ext>
            </a:extLst>
          </p:cNvPr>
          <p:cNvSpPr>
            <a:spLocks xmlns:a="http://schemas.openxmlformats.org/drawingml/2006/main" noGrp="1"/>
          </p:cNvSpPr>
          <p:nvPr/>
        </p:nvSpPr>
        <p:spPr>
          <a:xfrm xmlns:a="http://schemas.openxmlformats.org/drawingml/2006/main">
            <a:off x="609600" y="138112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Tier 1: rapid screening</a:t>
            </a:r>
          </a:p>
        </p:txBody>
      </p:sp>
      <p:sp>
        <p:nvSpPr>
          <p:cNvPr id="5" name="">
            <a:extLst xmlns:a="http://schemas.openxmlformats.org/drawingml/2006/main">
              <a:ext uri="{FF2B5EF4-FFF2-40B4-BE49-F238E27FC236}">
                <a16:creationId xmlns:a16="http://schemas.microsoft.com/office/drawing/2014/main" id="{6E224B8F-B276-4B7F-9586-9093F9AC4C30}"/>
              </a:ext>
            </a:extLst>
          </p:cNvPr>
          <p:cNvSpPr>
            <a:spLocks xmlns:a="http://schemas.openxmlformats.org/drawingml/2006/main" noGrp="1"/>
          </p:cNvSpPr>
          <p:nvPr/>
        </p:nvSpPr>
        <p:spPr>
          <a:xfrm xmlns:a="http://schemas.openxmlformats.org/drawingml/2006/main">
            <a:off x="609600" y="19335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C28"/>
                </a:solidFill>
                <a:latin typeface="Arial"/>
                <a:ea typeface="Arial"/>
                <a:cs typeface="Arial"/>
              </a:defRPr>
            </a:pPr>
            <a:r>
              <a:rPr sz="2100" b="0">
                <a:solidFill>
                  <a:srgbClr val="152C28"/>
                </a:solidFill>
                <a:latin typeface="Arial"/>
                <a:ea typeface="Arial"/>
                <a:cs typeface="Arial"/>
              </a:rPr>
              <a:t>Compute risk = 1 − P(Safe)</a:t>
            </a:r>
          </a:p>
          <a:p xmlns:a="http://schemas.openxmlformats.org/drawingml/2006/main">
            <a:pPr>
              <a:defRPr sz="2100" b="0">
                <a:solidFill>
                  <a:srgbClr val="152C28"/>
                </a:solidFill>
                <a:latin typeface="Arial"/>
                <a:ea typeface="Arial"/>
                <a:cs typeface="Arial"/>
              </a:defRPr>
            </a:pPr>
            <a:r>
              <a:rPr sz="2100" b="0">
                <a:solidFill>
                  <a:srgbClr val="152C28"/>
                </a:solidFill>
                <a:latin typeface="Arial"/>
                <a:ea typeface="Arial"/>
                <a:cs typeface="Arial"/>
              </a:rPr>
              <a:t>Forward templates above threshold</a:t>
            </a:r>
          </a:p>
        </p:txBody>
      </p:sp>
      <p:sp>
        <p:nvSpPr>
          <p:cNvPr id="6" name="">
            <a:extLst xmlns:a="http://schemas.openxmlformats.org/drawingml/2006/main">
              <a:ext uri="{FF2B5EF4-FFF2-40B4-BE49-F238E27FC236}">
                <a16:creationId xmlns:a16="http://schemas.microsoft.com/office/drawing/2014/main" id="{763918E9-D25A-4040-A16E-082C0B28C327}"/>
              </a:ext>
            </a:extLst>
          </p:cNvPr>
          <p:cNvSpPr>
            <a:spLocks xmlns:a="http://schemas.openxmlformats.org/drawingml/2006/main" noGrp="1"/>
          </p:cNvSpPr>
          <p:nvPr/>
        </p:nvSpPr>
        <p:spPr>
          <a:xfrm xmlns:a="http://schemas.openxmlformats.org/drawingml/2006/main">
            <a:off x="6477000" y="13811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Tier 2: explicit verification</a:t>
            </a:r>
          </a:p>
        </p:txBody>
      </p:sp>
      <p:sp>
        <p:nvSpPr>
          <p:cNvPr id="7" name="">
            <a:extLst xmlns:a="http://schemas.openxmlformats.org/drawingml/2006/main">
              <a:ext uri="{FF2B5EF4-FFF2-40B4-BE49-F238E27FC236}">
                <a16:creationId xmlns:a16="http://schemas.microsoft.com/office/drawing/2014/main" id="{7B4B26CC-DE80-4C7D-A92E-D1E2DE06C174}"/>
              </a:ext>
            </a:extLst>
          </p:cNvPr>
          <p:cNvSpPr>
            <a:spLocks xmlns:a="http://schemas.openxmlformats.org/drawingml/2006/main" noGrp="1"/>
          </p:cNvSpPr>
          <p:nvPr/>
        </p:nvSpPr>
        <p:spPr>
          <a:xfrm xmlns:a="http://schemas.openxmlformats.org/drawingml/2006/main">
            <a:off x="6477000" y="19335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C28"/>
                </a:solidFill>
                <a:latin typeface="Arial"/>
                <a:ea typeface="Arial"/>
                <a:cs typeface="Arial"/>
              </a:defRPr>
            </a:pPr>
            <a:r>
              <a:rPr sz="2100" b="0">
                <a:solidFill>
                  <a:srgbClr val="152C28"/>
                </a:solidFill>
                <a:latin typeface="Arial"/>
                <a:ea typeface="Arial"/>
                <a:cs typeface="Arial"/>
              </a:rPr>
              <a:t>Check effective rights and valid paths</a:t>
            </a:r>
          </a:p>
          <a:p xmlns:a="http://schemas.openxmlformats.org/drawingml/2006/main">
            <a:pPr>
              <a:defRPr sz="2100" b="0">
                <a:solidFill>
                  <a:srgbClr val="152C28"/>
                </a:solidFill>
                <a:latin typeface="Arial"/>
                <a:ea typeface="Arial"/>
                <a:cs typeface="Arial"/>
              </a:defRPr>
            </a:pPr>
            <a:r>
              <a:rPr sz="2100" b="0">
                <a:solidFill>
                  <a:srgbClr val="152C28"/>
                </a:solidFill>
                <a:latin typeface="Arial"/>
                <a:ea typeface="Arial"/>
                <a:cs typeface="Arial"/>
              </a:rPr>
              <a:t>Output a verified trace or suppress the alert</a:t>
            </a:r>
          </a:p>
        </p:txBody>
      </p:sp>
      <p:graphicFrame>
        <p:nvGraphicFramePr>
          <p:cNvPr id="17" name=""/>
          <p:cNvGraphicFramePr/>
          <p:nvPr/>
        </p:nvGraphicFramePr>
        <p:xfrm>
          <a:off xmlns:a="http://schemas.openxmlformats.org/drawingml/2006/main" x="609600" y="3381375"/>
          <a:ext xmlns:a="http://schemas.openxmlformats.org/drawingml/2006/main" cx="10972800" cy="2190750"/>
        </p:xfrm>
        <a:graphic xmlns:a="http://schemas.openxmlformats.org/drawingml/2006/main">
          <a:graphicData uri="http://schemas.openxmlformats.org/drawingml/2006/table">
            <a:tbl>
              <a:tblPr/>
              <a:tblGrid>
                <a:gridCol w="2333625"/>
                <a:gridCol w="2857500"/>
                <a:gridCol w="3143250"/>
                <a:gridCol w="2638425"/>
              </a:tblGrid>
              <a:tr h="438150">
                <a:tc>
                  <a:txBody>
                    <a:bodyPr/>
                    <a:lstStyle/>
                    <a:p>
                      <a:r>
                        <a:rPr sz="1725" b="1">
                          <a:solidFill>
                            <a:srgbClr val="FFFFFF"/>
                          </a:solidFill>
                          <a:latin typeface="Arial"/>
                          <a:ea typeface="Arial"/>
                          <a:cs typeface="Arial"/>
                        </a:rPr>
                        <a:t>Threshold</a:t>
                      </a:r>
                    </a:p>
                  </a:txBody>
                  <a:tcPr marL="91440" marR="91440" marT="45720" marB="45720">
                    <a:solidFill>
                      <a:srgbClr val="187B59"/>
                    </a:solidFill>
                  </a:tcPr>
                </a:tc>
                <a:tc>
                  <a:txBody>
                    <a:bodyPr/>
                    <a:lstStyle/>
                    <a:p>
                      <a:r>
                        <a:rPr sz="1725" b="1">
                          <a:solidFill>
                            <a:srgbClr val="FFFFFF"/>
                          </a:solidFill>
                          <a:latin typeface="Arial"/>
                          <a:ea typeface="Arial"/>
                          <a:cs typeface="Arial"/>
                        </a:rPr>
                        <a:t>Candidates / 600</a:t>
                      </a:r>
                    </a:p>
                  </a:txBody>
                  <a:tcPr marL="91440" marR="91440" marT="45720" marB="45720">
                    <a:solidFill>
                      <a:srgbClr val="187B59"/>
                    </a:solidFill>
                  </a:tcPr>
                </a:tc>
                <a:tc>
                  <a:txBody>
                    <a:bodyPr/>
                    <a:lstStyle/>
                    <a:p>
                      <a:r>
                        <a:rPr sz="1725" b="1">
                          <a:solidFill>
                            <a:srgbClr val="FFFFFF"/>
                          </a:solidFill>
                          <a:latin typeface="Arial"/>
                          <a:ea typeface="Arial"/>
                          <a:cs typeface="Arial"/>
                        </a:rPr>
                        <a:t>True paths retained</a:t>
                      </a:r>
                    </a:p>
                  </a:txBody>
                  <a:tcPr marL="91440" marR="91440" marT="45720" marB="45720">
                    <a:solidFill>
                      <a:srgbClr val="187B59"/>
                    </a:solidFill>
                  </a:tcPr>
                </a:tc>
                <a:tc>
                  <a:txBody>
                    <a:bodyPr/>
                    <a:lstStyle/>
                    <a:p>
                      <a:r>
                        <a:rPr sz="1725" b="1">
                          <a:solidFill>
                            <a:srgbClr val="FFFFFF"/>
                          </a:solidFill>
                          <a:latin typeface="Arial"/>
                          <a:ea typeface="Arial"/>
                          <a:cs typeface="Arial"/>
                        </a:rPr>
                        <a:t>Total latency</a:t>
                      </a:r>
                    </a:p>
                  </a:txBody>
                  <a:tcPr marL="91440" marR="91440" marT="45720" marB="45720">
                    <a:solidFill>
                      <a:srgbClr val="187B59"/>
                    </a:solidFill>
                  </a:tcPr>
                </a:tc>
              </a:tr>
              <a:tr h="438150">
                <a:tc>
                  <a:txBody>
                    <a:bodyPr/>
                    <a:lstStyle/>
                    <a:p>
                      <a:r>
                        <a:rPr sz="1725" b="0">
                          <a:solidFill>
                            <a:srgbClr val="152C28"/>
                          </a:solidFill>
                          <a:latin typeface="Arial"/>
                          <a:ea typeface="Arial"/>
                          <a:cs typeface="Arial"/>
                        </a:rPr>
                        <a:t>0.25</a:t>
                      </a:r>
                    </a:p>
                  </a:txBody>
                  <a:tcPr marL="91440" marR="91440" marT="45720" marB="45720">
                    <a:solidFill>
                      <a:srgbClr val="FFFFFF"/>
                    </a:solidFill>
                  </a:tcPr>
                </a:tc>
                <a:tc>
                  <a:txBody>
                    <a:bodyPr/>
                    <a:lstStyle/>
                    <a:p>
                      <a:r>
                        <a:rPr sz="1725" b="0">
                          <a:solidFill>
                            <a:srgbClr val="152C28"/>
                          </a:solidFill>
                          <a:latin typeface="Arial"/>
                          <a:ea typeface="Arial"/>
                          <a:cs typeface="Arial"/>
                        </a:rPr>
                        <a:t>104 (17.3%)</a:t>
                      </a:r>
                    </a:p>
                  </a:txBody>
                  <a:tcPr marL="91440" marR="91440" marT="45720" marB="45720">
                    <a:solidFill>
                      <a:srgbClr val="FFFFFF"/>
                    </a:solidFill>
                  </a:tcPr>
                </a:tc>
                <a:tc>
                  <a:txBody>
                    <a:bodyPr/>
                    <a:lstStyle/>
                    <a:p>
                      <a:r>
                        <a:rPr sz="1725" b="0">
                          <a:solidFill>
                            <a:srgbClr val="152C28"/>
                          </a:solidFill>
                          <a:latin typeface="Arial"/>
                          <a:ea typeface="Arial"/>
                          <a:cs typeface="Arial"/>
                        </a:rPr>
                        <a:t>60 / 60</a:t>
                      </a:r>
                    </a:p>
                  </a:txBody>
                  <a:tcPr marL="91440" marR="91440" marT="45720" marB="45720">
                    <a:solidFill>
                      <a:srgbClr val="FFFFFF"/>
                    </a:solidFill>
                  </a:tcPr>
                </a:tc>
                <a:tc>
                  <a:txBody>
                    <a:bodyPr/>
                    <a:lstStyle/>
                    <a:p>
                      <a:r>
                        <a:rPr sz="1725" b="0">
                          <a:solidFill>
                            <a:srgbClr val="152C28"/>
                          </a:solidFill>
                          <a:latin typeface="Arial"/>
                          <a:ea typeface="Arial"/>
                          <a:cs typeface="Arial"/>
                        </a:rPr>
                        <a:t>203.5 ms</a:t>
                      </a:r>
                    </a:p>
                  </a:txBody>
                  <a:tcPr marL="91440" marR="91440" marT="45720" marB="45720">
                    <a:solidFill>
                      <a:srgbClr val="FFFFFF"/>
                    </a:solidFill>
                  </a:tcPr>
                </a:tc>
              </a:tr>
              <a:tr h="438150">
                <a:tc>
                  <a:txBody>
                    <a:bodyPr/>
                    <a:lstStyle/>
                    <a:p>
                      <a:r>
                        <a:rPr sz="1725" b="0">
                          <a:solidFill>
                            <a:srgbClr val="152C28"/>
                          </a:solidFill>
                          <a:latin typeface="Arial"/>
                          <a:ea typeface="Arial"/>
                          <a:cs typeface="Arial"/>
                        </a:rPr>
                        <a:t>0.50</a:t>
                      </a:r>
                    </a:p>
                  </a:txBody>
                  <a:tcPr marL="91440" marR="91440" marT="45720" marB="45720">
                    <a:solidFill>
                      <a:srgbClr val="EDF4EF"/>
                    </a:solidFill>
                  </a:tcPr>
                </a:tc>
                <a:tc>
                  <a:txBody>
                    <a:bodyPr/>
                    <a:lstStyle/>
                    <a:p>
                      <a:r>
                        <a:rPr sz="1725" b="0">
                          <a:solidFill>
                            <a:srgbClr val="152C28"/>
                          </a:solidFill>
                          <a:latin typeface="Arial"/>
                          <a:ea typeface="Arial"/>
                          <a:cs typeface="Arial"/>
                        </a:rPr>
                        <a:t>62 (10.3%)</a:t>
                      </a:r>
                    </a:p>
                  </a:txBody>
                  <a:tcPr marL="91440" marR="91440" marT="45720" marB="45720">
                    <a:solidFill>
                      <a:srgbClr val="EDF4EF"/>
                    </a:solidFill>
                  </a:tcPr>
                </a:tc>
                <a:tc>
                  <a:txBody>
                    <a:bodyPr/>
                    <a:lstStyle/>
                    <a:p>
                      <a:r>
                        <a:rPr sz="1725" b="0">
                          <a:solidFill>
                            <a:srgbClr val="152C28"/>
                          </a:solidFill>
                          <a:latin typeface="Arial"/>
                          <a:ea typeface="Arial"/>
                          <a:cs typeface="Arial"/>
                        </a:rPr>
                        <a:t>60 / 60</a:t>
                      </a:r>
                    </a:p>
                  </a:txBody>
                  <a:tcPr marL="91440" marR="91440" marT="45720" marB="45720">
                    <a:solidFill>
                      <a:srgbClr val="EDF4EF"/>
                    </a:solidFill>
                  </a:tcPr>
                </a:tc>
                <a:tc>
                  <a:txBody>
                    <a:bodyPr/>
                    <a:lstStyle/>
                    <a:p>
                      <a:r>
                        <a:rPr sz="1725" b="0">
                          <a:solidFill>
                            <a:srgbClr val="152C28"/>
                          </a:solidFill>
                          <a:latin typeface="Arial"/>
                          <a:ea typeface="Arial"/>
                          <a:cs typeface="Arial"/>
                        </a:rPr>
                        <a:t>128.8 ms</a:t>
                      </a:r>
                    </a:p>
                  </a:txBody>
                  <a:tcPr marL="91440" marR="91440" marT="45720" marB="45720">
                    <a:solidFill>
                      <a:srgbClr val="EDF4EF"/>
                    </a:solidFill>
                  </a:tcPr>
                </a:tc>
              </a:tr>
              <a:tr h="438150">
                <a:tc>
                  <a:txBody>
                    <a:bodyPr/>
                    <a:lstStyle/>
                    <a:p>
                      <a:r>
                        <a:rPr sz="1725" b="0">
                          <a:solidFill>
                            <a:srgbClr val="152C28"/>
                          </a:solidFill>
                          <a:latin typeface="Arial"/>
                          <a:ea typeface="Arial"/>
                          <a:cs typeface="Arial"/>
                        </a:rPr>
                        <a:t>0.75</a:t>
                      </a:r>
                    </a:p>
                  </a:txBody>
                  <a:tcPr marL="91440" marR="91440" marT="45720" marB="45720">
                    <a:solidFill>
                      <a:srgbClr val="FFFFFF"/>
                    </a:solidFill>
                  </a:tcPr>
                </a:tc>
                <a:tc>
                  <a:txBody>
                    <a:bodyPr/>
                    <a:lstStyle/>
                    <a:p>
                      <a:r>
                        <a:rPr sz="1725" b="0">
                          <a:solidFill>
                            <a:srgbClr val="152C28"/>
                          </a:solidFill>
                          <a:latin typeface="Arial"/>
                          <a:ea typeface="Arial"/>
                          <a:cs typeface="Arial"/>
                        </a:rPr>
                        <a:t>58 (9.7%)</a:t>
                      </a:r>
                    </a:p>
                  </a:txBody>
                  <a:tcPr marL="91440" marR="91440" marT="45720" marB="45720">
                    <a:solidFill>
                      <a:srgbClr val="FFFFFF"/>
                    </a:solidFill>
                  </a:tcPr>
                </a:tc>
                <a:tc>
                  <a:txBody>
                    <a:bodyPr/>
                    <a:lstStyle/>
                    <a:p>
                      <a:r>
                        <a:rPr sz="1725" b="0">
                          <a:solidFill>
                            <a:srgbClr val="152C28"/>
                          </a:solidFill>
                          <a:latin typeface="Arial"/>
                          <a:ea typeface="Arial"/>
                          <a:cs typeface="Arial"/>
                        </a:rPr>
                        <a:t>58 / 60</a:t>
                      </a:r>
                    </a:p>
                  </a:txBody>
                  <a:tcPr marL="91440" marR="91440" marT="45720" marB="45720">
                    <a:solidFill>
                      <a:srgbClr val="FFFFFF"/>
                    </a:solidFill>
                  </a:tcPr>
                </a:tc>
                <a:tc>
                  <a:txBody>
                    <a:bodyPr/>
                    <a:lstStyle/>
                    <a:p>
                      <a:r>
                        <a:rPr sz="1725" b="0">
                          <a:solidFill>
                            <a:srgbClr val="152C28"/>
                          </a:solidFill>
                          <a:latin typeface="Arial"/>
                          <a:ea typeface="Arial"/>
                          <a:cs typeface="Arial"/>
                        </a:rPr>
                        <a:t>121.6 ms</a:t>
                      </a:r>
                    </a:p>
                  </a:txBody>
                  <a:tcPr marL="91440" marR="91440" marT="45720" marB="45720">
                    <a:solidFill>
                      <a:srgbClr val="FFFFFF"/>
                    </a:solidFill>
                  </a:tcPr>
                </a:tc>
              </a:tr>
              <a:tr h="438150">
                <a:tc>
                  <a:txBody>
                    <a:bodyPr/>
                    <a:lstStyle/>
                    <a:p>
                      <a:r>
                        <a:rPr sz="1725" b="0">
                          <a:solidFill>
                            <a:srgbClr val="152C28"/>
                          </a:solidFill>
                          <a:latin typeface="Arial"/>
                          <a:ea typeface="Arial"/>
                          <a:cs typeface="Arial"/>
                        </a:rPr>
                        <a:t>0.90</a:t>
                      </a:r>
                    </a:p>
                  </a:txBody>
                  <a:tcPr marL="91440" marR="91440" marT="45720" marB="45720">
                    <a:solidFill>
                      <a:srgbClr val="EDF4EF"/>
                    </a:solidFill>
                  </a:tcPr>
                </a:tc>
                <a:tc>
                  <a:txBody>
                    <a:bodyPr/>
                    <a:lstStyle/>
                    <a:p>
                      <a:r>
                        <a:rPr sz="1725" b="0">
                          <a:solidFill>
                            <a:srgbClr val="152C28"/>
                          </a:solidFill>
                          <a:latin typeface="Arial"/>
                          <a:ea typeface="Arial"/>
                          <a:cs typeface="Arial"/>
                        </a:rPr>
                        <a:t>49 (8.2%)</a:t>
                      </a:r>
                    </a:p>
                  </a:txBody>
                  <a:tcPr marL="91440" marR="91440" marT="45720" marB="45720">
                    <a:solidFill>
                      <a:srgbClr val="EDF4EF"/>
                    </a:solidFill>
                  </a:tcPr>
                </a:tc>
                <a:tc>
                  <a:txBody>
                    <a:bodyPr/>
                    <a:lstStyle/>
                    <a:p>
                      <a:r>
                        <a:rPr sz="1725" b="0">
                          <a:solidFill>
                            <a:srgbClr val="152C28"/>
                          </a:solidFill>
                          <a:latin typeface="Arial"/>
                          <a:ea typeface="Arial"/>
                          <a:cs typeface="Arial"/>
                        </a:rPr>
                        <a:t>49 / 60</a:t>
                      </a:r>
                    </a:p>
                  </a:txBody>
                  <a:tcPr marL="91440" marR="91440" marT="45720" marB="45720">
                    <a:solidFill>
                      <a:srgbClr val="EDF4EF"/>
                    </a:solidFill>
                  </a:tcPr>
                </a:tc>
                <a:tc>
                  <a:txBody>
                    <a:bodyPr/>
                    <a:lstStyle/>
                    <a:p>
                      <a:r>
                        <a:rPr sz="1725" b="0">
                          <a:solidFill>
                            <a:srgbClr val="152C28"/>
                          </a:solidFill>
                          <a:latin typeface="Arial"/>
                          <a:ea typeface="Arial"/>
                          <a:cs typeface="Arial"/>
                        </a:rPr>
                        <a:t>105.4 ms</a:t>
                      </a:r>
                    </a:p>
                  </a:txBody>
                  <a:tcPr marL="91440" marR="91440" marT="45720" marB="45720">
                    <a:solidFill>
                      <a:srgbClr val="EDF4EF"/>
                    </a:solidFill>
                  </a:tcPr>
                </a:tc>
              </a:tr>
            </a:tbl>
          </a:graphicData>
        </a:graphic>
      </p:graphicFrame>
      <p:sp>
        <p:nvSpPr>
          <p:cNvPr id="9" name="">
            <a:extLst xmlns:a="http://schemas.openxmlformats.org/drawingml/2006/main">
              <a:ext uri="{FF2B5EF4-FFF2-40B4-BE49-F238E27FC236}">
                <a16:creationId xmlns:a16="http://schemas.microsoft.com/office/drawing/2014/main" id="{0F210FCA-E037-447E-B2DC-A190571EE6AA}"/>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87B59"/>
                </a:solidFill>
                <a:latin typeface="Arial"/>
                <a:ea typeface="Arial"/>
                <a:cs typeface="Arial"/>
              </a:defRPr>
            </a:pPr>
            <a:r>
              <a:rPr sz="1950" b="1">
                <a:solidFill>
                  <a:srgbClr val="187B59"/>
                </a:solidFill>
                <a:latin typeface="Arial"/>
                <a:ea typeface="Arial"/>
                <a:cs typeface="Arial"/>
              </a:rPr>
              <a:t>A higher threshold saves time but can discard real vulnerabilities.</a:t>
            </a:r>
          </a:p>
        </p:txBody>
      </p:sp>
    </p:spTree>
    <p:extLst>
      <p:ext uri="{BB962C8B-B14F-4D97-AF65-F5344CB8AC3E}">
        <p14:creationId xmlns:p14="http://schemas.microsoft.com/office/powerpoint/2010/main" val="2358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C354DD-4CC5-4C79-84B4-10985C111EC2}"/>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Lab validation, transfer and scale</a:t>
            </a:r>
          </a:p>
        </p:txBody>
      </p:sp>
      <p:sp>
        <p:nvSpPr>
          <p:cNvPr id="2" name="">
            <a:extLst xmlns:a="http://schemas.openxmlformats.org/drawingml/2006/main">
              <a:ext uri="{FF2B5EF4-FFF2-40B4-BE49-F238E27FC236}">
                <a16:creationId xmlns:a16="http://schemas.microsoft.com/office/drawing/2014/main" id="{7781E42C-C15D-4F37-8146-7CFD6CFA8B0A}"/>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Tables 6.1–6.2, 7.1 and 7.3</a:t>
            </a:r>
          </a:p>
        </p:txBody>
      </p:sp>
      <p:sp>
        <p:nvSpPr>
          <p:cNvPr id="3" name="">
            <a:extLst xmlns:a="http://schemas.openxmlformats.org/drawingml/2006/main">
              <a:ext uri="{FF2B5EF4-FFF2-40B4-BE49-F238E27FC236}">
                <a16:creationId xmlns:a16="http://schemas.microsoft.com/office/drawing/2014/main" id="{7B06AAEE-B872-4BDF-8F37-3214AD05FFAF}"/>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13/15</a:t>
            </a:r>
          </a:p>
        </p:txBody>
      </p:sp>
      <p:graphicFrame>
        <p:nvGraphicFramePr>
          <p:cNvPr id="9" name=""/>
          <p:cNvGraphicFramePr/>
          <p:nvPr/>
        </p:nvGraphicFramePr>
        <p:xfrm>
          <a:off xmlns:a="http://schemas.openxmlformats.org/drawingml/2006/main" x="609600" y="1381125"/>
          <a:ext xmlns:a="http://schemas.openxmlformats.org/drawingml/2006/main" cx="10972800" cy="3286125"/>
        </p:xfrm>
        <a:graphic xmlns:a="http://schemas.openxmlformats.org/drawingml/2006/main">
          <a:graphicData uri="http://schemas.openxmlformats.org/drawingml/2006/table">
            <a:tbl>
              <a:tblPr/>
              <a:tblGrid>
                <a:gridCol w="3333750"/>
                <a:gridCol w="7639050"/>
              </a:tblGrid>
              <a:tr h="547688">
                <a:tc>
                  <a:txBody>
                    <a:bodyPr/>
                    <a:lstStyle/>
                    <a:p>
                      <a:r>
                        <a:rPr sz="1800" b="1">
                          <a:solidFill>
                            <a:srgbClr val="FFFFFF"/>
                          </a:solidFill>
                          <a:latin typeface="Arial"/>
                          <a:ea typeface="Arial"/>
                          <a:cs typeface="Arial"/>
                        </a:rPr>
                        <a:t>Evidence</a:t>
                      </a:r>
                    </a:p>
                  </a:txBody>
                  <a:tcPr marL="91440" marR="91440" marT="45720" marB="45720">
                    <a:solidFill>
                      <a:srgbClr val="187B59"/>
                    </a:solidFill>
                  </a:tcPr>
                </a:tc>
                <a:tc>
                  <a:txBody>
                    <a:bodyPr/>
                    <a:lstStyle/>
                    <a:p>
                      <a:r>
                        <a:rPr sz="1800" b="1">
                          <a:solidFill>
                            <a:srgbClr val="FFFFFF"/>
                          </a:solidFill>
                          <a:latin typeface="Arial"/>
                          <a:ea typeface="Arial"/>
                          <a:cs typeface="Arial"/>
                        </a:rPr>
                        <a:t>Reported finding</a:t>
                      </a:r>
                    </a:p>
                  </a:txBody>
                  <a:tcPr marL="91440" marR="91440" marT="45720" marB="45720">
                    <a:solidFill>
                      <a:srgbClr val="187B59"/>
                    </a:solidFill>
                  </a:tcPr>
                </a:tc>
              </a:tr>
              <a:tr h="547688">
                <a:tc>
                  <a:txBody>
                    <a:bodyPr/>
                    <a:lstStyle/>
                    <a:p>
                      <a:r>
                        <a:rPr sz="1800" b="0">
                          <a:solidFill>
                            <a:srgbClr val="152C28"/>
                          </a:solidFill>
                          <a:latin typeface="Arial"/>
                          <a:ea typeface="Arial"/>
                          <a:cs typeface="Arial"/>
                        </a:rPr>
                        <a:t>GOAD case studies</a:t>
                      </a:r>
                    </a:p>
                  </a:txBody>
                  <a:tcPr marL="91440" marR="91440" marT="45720" marB="45720">
                    <a:solidFill>
                      <a:srgbClr val="FFFFFF"/>
                    </a:solidFill>
                  </a:tcPr>
                </a:tc>
                <a:tc>
                  <a:txBody>
                    <a:bodyPr/>
                    <a:lstStyle/>
                    <a:p>
                      <a:r>
                        <a:rPr sz="1800" b="0">
                          <a:solidFill>
                            <a:srgbClr val="152C28"/>
                          </a:solidFill>
                          <a:latin typeface="Arial"/>
                          <a:ea typeface="Arial"/>
                          <a:cs typeface="Arial"/>
                        </a:rPr>
                        <a:t>Hybrid suppresses false alerts on admin-only templates</a:t>
                      </a:r>
                    </a:p>
                  </a:txBody>
                  <a:tcPr marL="91440" marR="91440" marT="45720" marB="45720">
                    <a:solidFill>
                      <a:srgbClr val="FFFFFF"/>
                    </a:solidFill>
                  </a:tcPr>
                </a:tc>
              </a:tr>
              <a:tr h="547688">
                <a:tc>
                  <a:txBody>
                    <a:bodyPr/>
                    <a:lstStyle/>
                    <a:p>
                      <a:r>
                        <a:rPr sz="1800" b="0">
                          <a:solidFill>
                            <a:srgbClr val="152C28"/>
                          </a:solidFill>
                          <a:latin typeface="Arial"/>
                          <a:ea typeface="Arial"/>
                          <a:cs typeface="Arial"/>
                        </a:rPr>
                        <a:t>Temporal validation</a:t>
                      </a:r>
                    </a:p>
                  </a:txBody>
                  <a:tcPr marL="91440" marR="91440" marT="45720" marB="45720">
                    <a:solidFill>
                      <a:srgbClr val="EDF4EF"/>
                    </a:solidFill>
                  </a:tcPr>
                </a:tc>
                <a:tc>
                  <a:txBody>
                    <a:bodyPr/>
                    <a:lstStyle/>
                    <a:p>
                      <a:r>
                        <a:rPr sz="1800" b="0">
                          <a:solidFill>
                            <a:srgbClr val="152C28"/>
                          </a:solidFill>
                          <a:latin typeface="Arial"/>
                          <a:ea typeface="Arial"/>
                          <a:cs typeface="Arial"/>
                        </a:rPr>
                        <a:t>63 / 63 hybrid results across 21 repeated configurations</a:t>
                      </a:r>
                    </a:p>
                  </a:txBody>
                  <a:tcPr marL="91440" marR="91440" marT="45720" marB="45720">
                    <a:solidFill>
                      <a:srgbClr val="EDF4EF"/>
                    </a:solidFill>
                  </a:tcPr>
                </a:tc>
              </a:tr>
              <a:tr h="547688">
                <a:tc>
                  <a:txBody>
                    <a:bodyPr/>
                    <a:lstStyle/>
                    <a:p>
                      <a:r>
                        <a:rPr sz="1800" b="0">
                          <a:solidFill>
                            <a:srgbClr val="152C28"/>
                          </a:solidFill>
                          <a:latin typeface="Arial"/>
                          <a:ea typeface="Arial"/>
                          <a:cs typeface="Arial"/>
                        </a:rPr>
                        <a:t>External community collection</a:t>
                      </a:r>
                    </a:p>
                  </a:txBody>
                  <a:tcPr marL="91440" marR="91440" marT="45720" marB="45720">
                    <a:solidFill>
                      <a:srgbClr val="FFFFFF"/>
                    </a:solidFill>
                  </a:tcPr>
                </a:tc>
                <a:tc>
                  <a:txBody>
                    <a:bodyPr/>
                    <a:lstStyle/>
                    <a:p>
                      <a:r>
                        <a:rPr sz="1800" b="0">
                          <a:solidFill>
                            <a:srgbClr val="152C28"/>
                          </a:solidFill>
                          <a:latin typeface="Arial"/>
                          <a:ea typeface="Arial"/>
                          <a:cs typeface="Arial"/>
                        </a:rPr>
                        <a:t>Hybrid 30 / 30; pure neural 24 / 30</a:t>
                      </a:r>
                    </a:p>
                  </a:txBody>
                  <a:tcPr marL="91440" marR="91440" marT="45720" marB="45720">
                    <a:solidFill>
                      <a:srgbClr val="FFFFFF"/>
                    </a:solidFill>
                  </a:tcPr>
                </a:tc>
              </a:tr>
              <a:tr h="547688">
                <a:tc>
                  <a:txBody>
                    <a:bodyPr/>
                    <a:lstStyle/>
                    <a:p>
                      <a:r>
                        <a:rPr sz="1800" b="0">
                          <a:solidFill>
                            <a:srgbClr val="152C28"/>
                          </a:solidFill>
                          <a:latin typeface="Arial"/>
                          <a:ea typeface="Arial"/>
                          <a:cs typeface="Arial"/>
                        </a:rPr>
                        <a:t>ADSynth transfer</a:t>
                      </a:r>
                    </a:p>
                  </a:txBody>
                  <a:tcPr marL="91440" marR="91440" marT="45720" marB="45720">
                    <a:solidFill>
                      <a:srgbClr val="EDF4EF"/>
                    </a:solidFill>
                  </a:tcPr>
                </a:tc>
                <a:tc>
                  <a:txBody>
                    <a:bodyPr/>
                    <a:lstStyle/>
                    <a:p>
                      <a:r>
                        <a:rPr sz="1800" b="0">
                          <a:solidFill>
                            <a:srgbClr val="152C28"/>
                          </a:solidFill>
                          <a:latin typeface="Arial"/>
                          <a:ea typeface="Arial"/>
                          <a:cs typeface="Arial"/>
                        </a:rPr>
                        <a:t>Synthetic to ADSynth: F1 1.0000; reverse: 0.9347</a:t>
                      </a:r>
                    </a:p>
                  </a:txBody>
                  <a:tcPr marL="91440" marR="91440" marT="45720" marB="45720">
                    <a:solidFill>
                      <a:srgbClr val="EDF4EF"/>
                    </a:solidFill>
                  </a:tcPr>
                </a:tc>
              </a:tr>
              <a:tr h="547688">
                <a:tc>
                  <a:txBody>
                    <a:bodyPr/>
                    <a:lstStyle/>
                    <a:p>
                      <a:r>
                        <a:rPr sz="1800" b="0">
                          <a:solidFill>
                            <a:srgbClr val="152C28"/>
                          </a:solidFill>
                          <a:latin typeface="Arial"/>
                          <a:ea typeface="Arial"/>
                          <a:cs typeface="Arial"/>
                        </a:rPr>
                        <a:t>Forward inference scale</a:t>
                      </a:r>
                    </a:p>
                  </a:txBody>
                  <a:tcPr marL="91440" marR="91440" marT="45720" marB="45720">
                    <a:solidFill>
                      <a:srgbClr val="FFFFFF"/>
                    </a:solidFill>
                  </a:tcPr>
                </a:tc>
                <a:tc>
                  <a:txBody>
                    <a:bodyPr/>
                    <a:lstStyle/>
                    <a:p>
                      <a:r>
                        <a:rPr sz="1800" b="0">
                          <a:solidFill>
                            <a:srgbClr val="152C28"/>
                          </a:solidFill>
                          <a:latin typeface="Arial"/>
                          <a:ea typeface="Arial"/>
                          <a:cs typeface="Arial"/>
                        </a:rPr>
                        <a:t>10,000 nodes, 765,000 edges: 342.99 ms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57D9777-29D7-476B-949C-35BF05C7A21C}"/>
              </a:ext>
            </a:extLst>
          </p:cNvPr>
          <p:cNvSpPr>
            <a:spLocks xmlns:a="http://schemas.openxmlformats.org/drawingml/2006/main" noGrp="1"/>
          </p:cNvSpPr>
          <p:nvPr/>
        </p:nvSpPr>
        <p:spPr>
          <a:xfrm xmlns:a="http://schemas.openxmlformats.org/drawingml/2006/main">
            <a:off x="609600" y="509587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54000" indent="-127000">
              <a:spcAft>
                <a:spcPts val="1500"/>
              </a:spcAft>
              <a:buChar char="•"/>
              <a:defRPr sz="1875" b="0">
                <a:solidFill>
                  <a:srgbClr val="152C28"/>
                </a:solidFill>
                <a:latin typeface="Arial"/>
                <a:ea typeface="Arial"/>
                <a:cs typeface="Arial"/>
              </a:defRPr>
            </a:pPr>
            <a:r>
              <a:t>Lab and replicated topology evidence does not establish production performance.</a:t>
            </a:r>
          </a:p>
          <a:p xmlns:a="http://schemas.openxmlformats.org/drawingml/2006/main">
            <a:pPr marL="254000" indent="-127000">
              <a:spcAft>
                <a:spcPts val="1500"/>
              </a:spcAft>
              <a:buChar char="•"/>
              <a:defRPr sz="1875" b="0">
                <a:solidFill>
                  <a:srgbClr val="152C28"/>
                </a:solidFill>
                <a:latin typeface="Arial"/>
                <a:ea typeface="Arial"/>
                <a:cs typeface="Arial"/>
              </a:defRPr>
            </a:pPr>
            <a:r>
              <a:t>Runtime figures measure inference, excluding collection and verification.</a:t>
            </a:r>
          </a:p>
        </p:txBody>
      </p:sp>
    </p:spTree>
    <p:extLst>
      <p:ext uri="{BB962C8B-B14F-4D97-AF65-F5344CB8AC3E}">
        <p14:creationId xmlns:p14="http://schemas.microsoft.com/office/powerpoint/2010/main" val="1913999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E4CE12-09F2-46C2-9890-A77EC25E9D45}"/>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Defense under an operational budget</a:t>
            </a:r>
          </a:p>
        </p:txBody>
      </p:sp>
      <p:sp>
        <p:nvSpPr>
          <p:cNvPr id="2" name="">
            <a:extLst xmlns:a="http://schemas.openxmlformats.org/drawingml/2006/main">
              <a:ext uri="{FF2B5EF4-FFF2-40B4-BE49-F238E27FC236}">
                <a16:creationId xmlns:a16="http://schemas.microsoft.com/office/drawing/2014/main" id="{667CDF31-0F3A-4D15-B9EB-67C416639A05}"/>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Chapter 9; Table 9.2</a:t>
            </a:r>
          </a:p>
        </p:txBody>
      </p:sp>
      <p:sp>
        <p:nvSpPr>
          <p:cNvPr id="3" name="">
            <a:extLst xmlns:a="http://schemas.openxmlformats.org/drawingml/2006/main">
              <a:ext uri="{FF2B5EF4-FFF2-40B4-BE49-F238E27FC236}">
                <a16:creationId xmlns:a16="http://schemas.microsoft.com/office/drawing/2014/main" id="{28DAD91F-B775-4545-A58F-D786FBC4BE01}"/>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14/15</a:t>
            </a:r>
          </a:p>
        </p:txBody>
      </p:sp>
      <p:graphicFrame>
        <p:nvGraphicFramePr>
          <p:cNvPr id="12" name=""/>
          <p:cNvGraphicFramePr/>
          <p:nvPr/>
        </p:nvGraphicFramePr>
        <p:xfrm>
          <a:off xmlns:a="http://schemas.openxmlformats.org/drawingml/2006/main" x="609600" y="1476375"/>
          <a:ext xmlns:a="http://schemas.openxmlformats.org/drawingml/2006/main" cx="7048500" cy="2857500"/>
        </p:xfrm>
        <a:graphic xmlns:a="http://schemas.openxmlformats.org/drawingml/2006/main">
          <a:graphicData uri="http://schemas.openxmlformats.org/drawingml/2006/table">
            <a:tbl>
              <a:tblPr/>
              <a:tblGrid>
                <a:gridCol w="1428750"/>
                <a:gridCol w="1666875"/>
                <a:gridCol w="1714500"/>
                <a:gridCol w="2238375"/>
              </a:tblGrid>
              <a:tr h="571500">
                <a:tc>
                  <a:txBody>
                    <a:bodyPr/>
                    <a:lstStyle/>
                    <a:p>
                      <a:r>
                        <a:rPr sz="1875" b="1">
                          <a:solidFill>
                            <a:srgbClr val="FFFFFF"/>
                          </a:solidFill>
                          <a:latin typeface="Arial"/>
                          <a:ea typeface="Arial"/>
                          <a:cs typeface="Arial"/>
                        </a:rPr>
                        <a:t>Budget</a:t>
                      </a:r>
                    </a:p>
                  </a:txBody>
                  <a:tcPr marL="91440" marR="91440" marT="45720" marB="45720">
                    <a:solidFill>
                      <a:srgbClr val="187B59"/>
                    </a:solidFill>
                  </a:tcPr>
                </a:tc>
                <a:tc>
                  <a:txBody>
                    <a:bodyPr/>
                    <a:lstStyle/>
                    <a:p>
                      <a:r>
                        <a:rPr sz="1875" b="1">
                          <a:solidFill>
                            <a:srgbClr val="FFFFFF"/>
                          </a:solidFill>
                          <a:latin typeface="Arial"/>
                          <a:ea typeface="Arial"/>
                          <a:cs typeface="Arial"/>
                        </a:rPr>
                        <a:t>Random</a:t>
                      </a:r>
                    </a:p>
                  </a:txBody>
                  <a:tcPr marL="91440" marR="91440" marT="45720" marB="45720">
                    <a:solidFill>
                      <a:srgbClr val="187B59"/>
                    </a:solidFill>
                  </a:tcPr>
                </a:tc>
                <a:tc>
                  <a:txBody>
                    <a:bodyPr/>
                    <a:lstStyle/>
                    <a:p>
                      <a:r>
                        <a:rPr sz="1875" b="1">
                          <a:solidFill>
                            <a:srgbClr val="FFFFFF"/>
                          </a:solidFill>
                          <a:latin typeface="Arial"/>
                          <a:ea typeface="Arial"/>
                          <a:cs typeface="Arial"/>
                        </a:rPr>
                        <a:t>Degree</a:t>
                      </a:r>
                    </a:p>
                    <a:p>
                      <a:r>
                        <a:rPr sz="1875" b="1">
                          <a:solidFill>
                            <a:srgbClr val="FFFFFF"/>
                          </a:solidFill>
                          <a:latin typeface="Arial"/>
                          <a:ea typeface="Arial"/>
                          <a:cs typeface="Arial"/>
                        </a:rPr>
                        <a:t>centrality</a:t>
                      </a:r>
                    </a:p>
                  </a:txBody>
                  <a:tcPr marL="91440" marR="91440" marT="45720" marB="45720">
                    <a:solidFill>
                      <a:srgbClr val="187B59"/>
                    </a:solidFill>
                  </a:tcPr>
                </a:tc>
                <a:tc>
                  <a:txBody>
                    <a:bodyPr/>
                    <a:lstStyle/>
                    <a:p>
                      <a:r>
                        <a:rPr sz="1875" b="1">
                          <a:solidFill>
                            <a:srgbClr val="FFFFFF"/>
                          </a:solidFill>
                          <a:latin typeface="Arial"/>
                          <a:ea typeface="Arial"/>
                          <a:cs typeface="Arial"/>
                        </a:rPr>
                        <a:t>Greedy</a:t>
                      </a:r>
                    </a:p>
                    <a:p>
                      <a:r>
                        <a:rPr sz="1875" b="1">
                          <a:solidFill>
                            <a:srgbClr val="FFFFFF"/>
                          </a:solidFill>
                          <a:latin typeface="Arial"/>
                          <a:ea typeface="Arial"/>
                          <a:cs typeface="Arial"/>
                        </a:rPr>
                        <a:t>path-based</a:t>
                      </a:r>
                    </a:p>
                  </a:txBody>
                  <a:tcPr marL="91440" marR="91440" marT="45720" marB="45720">
                    <a:solidFill>
                      <a:srgbClr val="187B59"/>
                    </a:solidFill>
                  </a:tcPr>
                </a:tc>
              </a:tr>
              <a:tr h="571500">
                <a:tc>
                  <a:txBody>
                    <a:bodyPr/>
                    <a:lstStyle/>
                    <a:p>
                      <a:r>
                        <a:rPr sz="1875" b="0">
                          <a:solidFill>
                            <a:srgbClr val="152C28"/>
                          </a:solidFill>
                          <a:latin typeface="Arial"/>
                          <a:ea typeface="Arial"/>
                          <a:cs typeface="Arial"/>
                        </a:rPr>
                        <a:t>6</a:t>
                      </a:r>
                    </a:p>
                  </a:txBody>
                  <a:tcPr marL="91440" marR="91440" marT="45720" marB="45720">
                    <a:solidFill>
                      <a:srgbClr val="FFFFFF"/>
                    </a:solidFill>
                  </a:tcPr>
                </a:tc>
                <a:tc>
                  <a:txBody>
                    <a:bodyPr/>
                    <a:lstStyle/>
                    <a:p>
                      <a:r>
                        <a:rPr sz="1875" b="0">
                          <a:solidFill>
                            <a:srgbClr val="152C28"/>
                          </a:solidFill>
                          <a:latin typeface="Arial"/>
                          <a:ea typeface="Arial"/>
                          <a:cs typeface="Arial"/>
                        </a:rPr>
                        <a:t>3.9%</a:t>
                      </a:r>
                    </a:p>
                  </a:txBody>
                  <a:tcPr marL="91440" marR="91440" marT="45720" marB="45720">
                    <a:solidFill>
                      <a:srgbClr val="FFFFFF"/>
                    </a:solidFill>
                  </a:tcPr>
                </a:tc>
                <a:tc>
                  <a:txBody>
                    <a:bodyPr/>
                    <a:lstStyle/>
                    <a:p>
                      <a:r>
                        <a:rPr sz="1875" b="0">
                          <a:solidFill>
                            <a:srgbClr val="152C28"/>
                          </a:solidFill>
                          <a:latin typeface="Arial"/>
                          <a:ea typeface="Arial"/>
                          <a:cs typeface="Arial"/>
                        </a:rPr>
                        <a:t>15.7%</a:t>
                      </a:r>
                    </a:p>
                  </a:txBody>
                  <a:tcPr marL="91440" marR="91440" marT="45720" marB="45720">
                    <a:solidFill>
                      <a:srgbClr val="FFFFFF"/>
                    </a:solidFill>
                  </a:tcPr>
                </a:tc>
                <a:tc>
                  <a:txBody>
                    <a:bodyPr/>
                    <a:lstStyle/>
                    <a:p>
                      <a:r>
                        <a:rPr sz="1875" b="0">
                          <a:solidFill>
                            <a:srgbClr val="152C28"/>
                          </a:solidFill>
                          <a:latin typeface="Arial"/>
                          <a:ea typeface="Arial"/>
                          <a:cs typeface="Arial"/>
                        </a:rPr>
                        <a:t>31.2%</a:t>
                      </a:r>
                    </a:p>
                  </a:txBody>
                  <a:tcPr marL="91440" marR="91440" marT="45720" marB="45720">
                    <a:solidFill>
                      <a:srgbClr val="FFFFFF"/>
                    </a:solidFill>
                  </a:tcPr>
                </a:tc>
              </a:tr>
              <a:tr h="571500">
                <a:tc>
                  <a:txBody>
                    <a:bodyPr/>
                    <a:lstStyle/>
                    <a:p>
                      <a:r>
                        <a:rPr sz="1875" b="0">
                          <a:solidFill>
                            <a:srgbClr val="152C28"/>
                          </a:solidFill>
                          <a:latin typeface="Arial"/>
                          <a:ea typeface="Arial"/>
                          <a:cs typeface="Arial"/>
                        </a:rPr>
                        <a:t>12</a:t>
                      </a:r>
                    </a:p>
                  </a:txBody>
                  <a:tcPr marL="91440" marR="91440" marT="45720" marB="45720">
                    <a:solidFill>
                      <a:srgbClr val="EDF4EF"/>
                    </a:solidFill>
                  </a:tcPr>
                </a:tc>
                <a:tc>
                  <a:txBody>
                    <a:bodyPr/>
                    <a:lstStyle/>
                    <a:p>
                      <a:r>
                        <a:rPr sz="1875" b="0">
                          <a:solidFill>
                            <a:srgbClr val="152C28"/>
                          </a:solidFill>
                          <a:latin typeface="Arial"/>
                          <a:ea typeface="Arial"/>
                          <a:cs typeface="Arial"/>
                        </a:rPr>
                        <a:t>7.7%</a:t>
                      </a:r>
                    </a:p>
                  </a:txBody>
                  <a:tcPr marL="91440" marR="91440" marT="45720" marB="45720">
                    <a:solidFill>
                      <a:srgbClr val="EDF4EF"/>
                    </a:solidFill>
                  </a:tcPr>
                </a:tc>
                <a:tc>
                  <a:txBody>
                    <a:bodyPr/>
                    <a:lstStyle/>
                    <a:p>
                      <a:r>
                        <a:rPr sz="1875" b="0">
                          <a:solidFill>
                            <a:srgbClr val="152C28"/>
                          </a:solidFill>
                          <a:latin typeface="Arial"/>
                          <a:ea typeface="Arial"/>
                          <a:cs typeface="Arial"/>
                        </a:rPr>
                        <a:t>22.7%</a:t>
                      </a:r>
                    </a:p>
                  </a:txBody>
                  <a:tcPr marL="91440" marR="91440" marT="45720" marB="45720">
                    <a:solidFill>
                      <a:srgbClr val="EDF4EF"/>
                    </a:solidFill>
                  </a:tcPr>
                </a:tc>
                <a:tc>
                  <a:txBody>
                    <a:bodyPr/>
                    <a:lstStyle/>
                    <a:p>
                      <a:r>
                        <a:rPr sz="1875" b="0">
                          <a:solidFill>
                            <a:srgbClr val="152C28"/>
                          </a:solidFill>
                          <a:latin typeface="Arial"/>
                          <a:ea typeface="Arial"/>
                          <a:cs typeface="Arial"/>
                        </a:rPr>
                        <a:t>43.7%</a:t>
                      </a:r>
                    </a:p>
                  </a:txBody>
                  <a:tcPr marL="91440" marR="91440" marT="45720" marB="45720">
                    <a:solidFill>
                      <a:srgbClr val="EDF4EF"/>
                    </a:solidFill>
                  </a:tcPr>
                </a:tc>
              </a:tr>
              <a:tr h="571500">
                <a:tc>
                  <a:txBody>
                    <a:bodyPr/>
                    <a:lstStyle/>
                    <a:p>
                      <a:r>
                        <a:rPr sz="1875" b="0">
                          <a:solidFill>
                            <a:srgbClr val="152C28"/>
                          </a:solidFill>
                          <a:latin typeface="Arial"/>
                          <a:ea typeface="Arial"/>
                          <a:cs typeface="Arial"/>
                        </a:rPr>
                        <a:t>18</a:t>
                      </a:r>
                    </a:p>
                  </a:txBody>
                  <a:tcPr marL="91440" marR="91440" marT="45720" marB="45720">
                    <a:solidFill>
                      <a:srgbClr val="FFFFFF"/>
                    </a:solidFill>
                  </a:tcPr>
                </a:tc>
                <a:tc>
                  <a:txBody>
                    <a:bodyPr/>
                    <a:lstStyle/>
                    <a:p>
                      <a:r>
                        <a:rPr sz="1875" b="0">
                          <a:solidFill>
                            <a:srgbClr val="152C28"/>
                          </a:solidFill>
                          <a:latin typeface="Arial"/>
                          <a:ea typeface="Arial"/>
                          <a:cs typeface="Arial"/>
                        </a:rPr>
                        <a:t>10.8%</a:t>
                      </a:r>
                    </a:p>
                  </a:txBody>
                  <a:tcPr marL="91440" marR="91440" marT="45720" marB="45720">
                    <a:solidFill>
                      <a:srgbClr val="FFFFFF"/>
                    </a:solidFill>
                  </a:tcPr>
                </a:tc>
                <a:tc>
                  <a:txBody>
                    <a:bodyPr/>
                    <a:lstStyle/>
                    <a:p>
                      <a:r>
                        <a:rPr sz="1875" b="0">
                          <a:solidFill>
                            <a:srgbClr val="152C28"/>
                          </a:solidFill>
                          <a:latin typeface="Arial"/>
                          <a:ea typeface="Arial"/>
                          <a:cs typeface="Arial"/>
                        </a:rPr>
                        <a:t>28.8%</a:t>
                      </a:r>
                    </a:p>
                  </a:txBody>
                  <a:tcPr marL="91440" marR="91440" marT="45720" marB="45720">
                    <a:solidFill>
                      <a:srgbClr val="FFFFFF"/>
                    </a:solidFill>
                  </a:tcPr>
                </a:tc>
                <a:tc>
                  <a:txBody>
                    <a:bodyPr/>
                    <a:lstStyle/>
                    <a:p>
                      <a:r>
                        <a:rPr sz="1875" b="0">
                          <a:solidFill>
                            <a:srgbClr val="152C28"/>
                          </a:solidFill>
                          <a:latin typeface="Arial"/>
                          <a:ea typeface="Arial"/>
                          <a:cs typeface="Arial"/>
                        </a:rPr>
                        <a:t>56.2%</a:t>
                      </a:r>
                    </a:p>
                  </a:txBody>
                  <a:tcPr marL="91440" marR="91440" marT="45720" marB="45720">
                    <a:solidFill>
                      <a:srgbClr val="FFFFFF"/>
                    </a:solidFill>
                  </a:tcPr>
                </a:tc>
              </a:tr>
              <a:tr h="571500">
                <a:tc>
                  <a:txBody>
                    <a:bodyPr/>
                    <a:lstStyle/>
                    <a:p>
                      <a:r>
                        <a:rPr sz="1875" b="0">
                          <a:solidFill>
                            <a:srgbClr val="152C28"/>
                          </a:solidFill>
                          <a:latin typeface="Arial"/>
                          <a:ea typeface="Arial"/>
                          <a:cs typeface="Arial"/>
                        </a:rPr>
                        <a:t>24</a:t>
                      </a:r>
                    </a:p>
                  </a:txBody>
                  <a:tcPr marL="91440" marR="91440" marT="45720" marB="45720">
                    <a:solidFill>
                      <a:srgbClr val="EDF4EF"/>
                    </a:solidFill>
                  </a:tcPr>
                </a:tc>
                <a:tc>
                  <a:txBody>
                    <a:bodyPr/>
                    <a:lstStyle/>
                    <a:p>
                      <a:r>
                        <a:rPr sz="1875" b="0">
                          <a:solidFill>
                            <a:srgbClr val="152C28"/>
                          </a:solidFill>
                          <a:latin typeface="Arial"/>
                          <a:ea typeface="Arial"/>
                          <a:cs typeface="Arial"/>
                        </a:rPr>
                        <a:t>14.2%</a:t>
                      </a:r>
                    </a:p>
                  </a:txBody>
                  <a:tcPr marL="91440" marR="91440" marT="45720" marB="45720">
                    <a:solidFill>
                      <a:srgbClr val="EDF4EF"/>
                    </a:solidFill>
                  </a:tcPr>
                </a:tc>
                <a:tc>
                  <a:txBody>
                    <a:bodyPr/>
                    <a:lstStyle/>
                    <a:p>
                      <a:r>
                        <a:rPr sz="1875" b="0">
                          <a:solidFill>
                            <a:srgbClr val="152C28"/>
                          </a:solidFill>
                          <a:latin typeface="Arial"/>
                          <a:ea typeface="Arial"/>
                          <a:cs typeface="Arial"/>
                        </a:rPr>
                        <a:t>34.9%</a:t>
                      </a:r>
                    </a:p>
                  </a:txBody>
                  <a:tcPr marL="91440" marR="91440" marT="45720" marB="45720">
                    <a:solidFill>
                      <a:srgbClr val="EDF4EF"/>
                    </a:solidFill>
                  </a:tcPr>
                </a:tc>
                <a:tc>
                  <a:txBody>
                    <a:bodyPr/>
                    <a:lstStyle/>
                    <a:p>
                      <a:r>
                        <a:rPr sz="1875" b="0">
                          <a:solidFill>
                            <a:srgbClr val="152C28"/>
                          </a:solidFill>
                          <a:latin typeface="Arial"/>
                          <a:ea typeface="Arial"/>
                          <a:cs typeface="Arial"/>
                        </a:rPr>
                        <a:t>68.6%</a:t>
                      </a:r>
                    </a:p>
                  </a:txBody>
                  <a:tcPr marL="91440" marR="91440" marT="45720" marB="45720">
                    <a:solidFill>
                      <a:srgbClr val="EDF4EF"/>
                    </a:solidFill>
                  </a:tcPr>
                </a:tc>
              </a:tr>
            </a:tbl>
          </a:graphicData>
        </a:graphic>
      </p:graphicFrame>
      <p:sp>
        <p:nvSpPr>
          <p:cNvPr id="5" name="">
            <a:extLst xmlns:a="http://schemas.openxmlformats.org/drawingml/2006/main">
              <a:ext uri="{FF2B5EF4-FFF2-40B4-BE49-F238E27FC236}">
                <a16:creationId xmlns:a16="http://schemas.microsoft.com/office/drawing/2014/main" id="{8578FA31-50E1-4D34-9CAB-199C1BA3700C}"/>
              </a:ext>
            </a:extLst>
          </p:cNvPr>
          <p:cNvSpPr>
            <a:spLocks xmlns:a="http://schemas.openxmlformats.org/drawingml/2006/main" noGrp="1"/>
          </p:cNvSpPr>
          <p:nvPr/>
        </p:nvSpPr>
        <p:spPr>
          <a:xfrm xmlns:a="http://schemas.openxmlformats.org/drawingml/2006/main">
            <a:off x="8096250" y="14763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Measured result</a:t>
            </a:r>
          </a:p>
        </p:txBody>
      </p:sp>
      <p:sp>
        <p:nvSpPr>
          <p:cNvPr id="6" name="">
            <a:extLst xmlns:a="http://schemas.openxmlformats.org/drawingml/2006/main">
              <a:ext uri="{FF2B5EF4-FFF2-40B4-BE49-F238E27FC236}">
                <a16:creationId xmlns:a16="http://schemas.microsoft.com/office/drawing/2014/main" id="{B57EEF46-0198-45CF-A770-4A8765B70A82}"/>
              </a:ext>
            </a:extLst>
          </p:cNvPr>
          <p:cNvSpPr>
            <a:spLocks xmlns:a="http://schemas.openxmlformats.org/drawingml/2006/main" noGrp="1"/>
          </p:cNvSpPr>
          <p:nvPr/>
        </p:nvSpPr>
        <p:spPr>
          <a:xfrm xmlns:a="http://schemas.openxmlformats.org/drawingml/2006/main">
            <a:off x="8096250" y="2047875"/>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52C28"/>
                </a:solidFill>
                <a:latin typeface="Arial"/>
                <a:ea typeface="Arial"/>
                <a:cs typeface="Arial"/>
              </a:defRPr>
            </a:pPr>
            <a:r>
              <a:rPr sz="2400" b="1">
                <a:solidFill>
                  <a:srgbClr val="152C28"/>
                </a:solidFill>
                <a:latin typeface="Arial"/>
                <a:ea typeface="Arial"/>
                <a:cs typeface="Arial"/>
              </a:rPr>
              <a:t>68.6% ± 11.7%</a:t>
            </a:r>
          </a:p>
          <a:p xmlns:a="http://schemas.openxmlformats.org/drawingml/2006/main">
            <a:pPr>
              <a:defRPr sz="2400" b="1">
                <a:solidFill>
                  <a:srgbClr val="152C28"/>
                </a:solidFill>
                <a:latin typeface="Arial"/>
                <a:ea typeface="Arial"/>
                <a:cs typeface="Arial"/>
              </a:defRPr>
            </a:pPr>
            <a:r>
              <a:rPr sz="2400" b="1">
                <a:solidFill>
                  <a:srgbClr val="152C28"/>
                </a:solidFill>
                <a:latin typeface="Arial"/>
                <a:ea typeface="Arial"/>
                <a:cs typeface="Arial"/>
              </a:rPr>
              <a:t>paths severed</a:t>
            </a:r>
          </a:p>
          <a:p xmlns:a="http://schemas.openxmlformats.org/drawingml/2006/main">
            <a:pPr>
              <a:defRPr sz="2400" b="1">
                <a:solidFill>
                  <a:srgbClr val="152C28"/>
                </a:solidFill>
                <a:latin typeface="Arial"/>
                <a:ea typeface="Arial"/>
                <a:cs typeface="Arial"/>
              </a:defRPr>
            </a:pPr>
            <a:r>
              <a:rPr sz="2400" b="1">
                <a:solidFill>
                  <a:srgbClr val="152C28"/>
                </a:solidFill>
                <a:latin typeface="Arial"/>
                <a:ea typeface="Arial"/>
                <a:cs typeface="Arial"/>
              </a:rPr>
              <a:t>at budget 24</a:t>
            </a:r>
          </a:p>
        </p:txBody>
      </p:sp>
      <p:sp>
        <p:nvSpPr>
          <p:cNvPr id="7" name="">
            <a:extLst xmlns:a="http://schemas.openxmlformats.org/drawingml/2006/main">
              <a:ext uri="{FF2B5EF4-FFF2-40B4-BE49-F238E27FC236}">
                <a16:creationId xmlns:a16="http://schemas.microsoft.com/office/drawing/2014/main" id="{5E504EB9-17B9-49C2-ADF6-5755C61978E8}"/>
              </a:ext>
            </a:extLst>
          </p:cNvPr>
          <p:cNvSpPr>
            <a:spLocks xmlns:a="http://schemas.openxmlformats.org/drawingml/2006/main" noGrp="1"/>
          </p:cNvSpPr>
          <p:nvPr/>
        </p:nvSpPr>
        <p:spPr>
          <a:xfrm xmlns:a="http://schemas.openxmlformats.org/drawingml/2006/main">
            <a:off x="8096250" y="3952875"/>
            <a:ext cx="3476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30 synthetic topologies</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NP-hard optimization</a:t>
            </a:r>
          </a:p>
          <a:p xmlns:a="http://schemas.openxmlformats.org/drawingml/2006/main">
            <a:pPr>
              <a:defRPr sz="1950" b="0">
                <a:solidFill>
                  <a:srgbClr val="152C28"/>
                </a:solidFill>
                <a:latin typeface="Arial"/>
                <a:ea typeface="Arial"/>
                <a:cs typeface="Arial"/>
              </a:defRPr>
            </a:pPr>
            <a:r>
              <a:rPr sz="1950" b="0">
                <a:solidFill>
                  <a:srgbClr val="152C28"/>
                </a:solidFill>
                <a:latin typeface="Arial"/>
                <a:ea typeface="Arial"/>
                <a:cs typeface="Arial"/>
              </a:rPr>
              <a:t>Greedy approximation</a:t>
            </a:r>
          </a:p>
        </p:txBody>
      </p:sp>
      <p:sp>
        <p:nvSpPr>
          <p:cNvPr id="8" name="">
            <a:extLst xmlns:a="http://schemas.openxmlformats.org/drawingml/2006/main">
              <a:ext uri="{FF2B5EF4-FFF2-40B4-BE49-F238E27FC236}">
                <a16:creationId xmlns:a16="http://schemas.microsoft.com/office/drawing/2014/main" id="{0B9F8DCC-0CD2-451E-90F8-55FA7C47ABDF}"/>
              </a:ext>
            </a:extLst>
          </p:cNvPr>
          <p:cNvSpPr>
            <a:spLocks xmlns:a="http://schemas.openxmlformats.org/drawingml/2006/main" noGrp="1"/>
          </p:cNvSpPr>
          <p:nvPr/>
        </p:nvSpPr>
        <p:spPr>
          <a:xfrm xmlns:a="http://schemas.openxmlformats.org/drawingml/2006/main">
            <a:off x="609600" y="5572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87B59"/>
                </a:solidFill>
                <a:latin typeface="Arial"/>
                <a:ea typeface="Arial"/>
                <a:cs typeface="Arial"/>
              </a:defRPr>
            </a:pPr>
            <a:r>
              <a:rPr sz="1950" b="1">
                <a:solidFill>
                  <a:srgbClr val="187B59"/>
                </a:solidFill>
                <a:latin typeface="Arial"/>
                <a:ea typeface="Arial"/>
                <a:cs typeface="Arial"/>
              </a:rPr>
              <a:t>Stackelberg reinforcement learning is a notional reference and future work.</a:t>
            </a:r>
          </a:p>
        </p:txBody>
      </p:sp>
    </p:spTree>
    <p:extLst>
      <p:ext uri="{BB962C8B-B14F-4D97-AF65-F5344CB8AC3E}">
        <p14:creationId xmlns:p14="http://schemas.microsoft.com/office/powerpoint/2010/main" val="6724813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845B76-8341-4453-8BC4-168AA2085417}"/>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52C28"/>
                </a:solidFill>
                <a:latin typeface="Arial"/>
                <a:ea typeface="Arial"/>
                <a:cs typeface="Arial"/>
              </a:defRPr>
            </a:pPr>
            <a:r>
              <a:rPr sz="3000" b="1">
                <a:solidFill>
                  <a:srgbClr val="152C28"/>
                </a:solidFill>
                <a:latin typeface="Arial"/>
                <a:ea typeface="Arial"/>
                <a:cs typeface="Arial"/>
              </a:rPr>
              <a:t>Conclusions, limits and next steps</a:t>
            </a:r>
          </a:p>
        </p:txBody>
      </p:sp>
      <p:sp>
        <p:nvSpPr>
          <p:cNvPr id="2" name="">
            <a:extLst xmlns:a="http://schemas.openxmlformats.org/drawingml/2006/main">
              <a:ext uri="{FF2B5EF4-FFF2-40B4-BE49-F238E27FC236}">
                <a16:creationId xmlns:a16="http://schemas.microsoft.com/office/drawing/2014/main" id="{F23905A2-FB36-47CA-A103-E2BE9636EBAA}"/>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0615B"/>
                </a:solidFill>
                <a:latin typeface="Arial"/>
                <a:ea typeface="Arial"/>
                <a:cs typeface="Arial"/>
              </a:defRPr>
            </a:pPr>
            <a:r>
              <a:rPr sz="1125" b="0">
                <a:solidFill>
                  <a:srgbClr val="50615B"/>
                </a:solidFill>
                <a:latin typeface="Arial"/>
                <a:ea typeface="Arial"/>
                <a:cs typeface="Arial"/>
              </a:rPr>
              <a:t>Thesis Chapter 10</a:t>
            </a:r>
          </a:p>
        </p:txBody>
      </p:sp>
      <p:sp>
        <p:nvSpPr>
          <p:cNvPr id="3" name="">
            <a:extLst xmlns:a="http://schemas.openxmlformats.org/drawingml/2006/main">
              <a:ext uri="{FF2B5EF4-FFF2-40B4-BE49-F238E27FC236}">
                <a16:creationId xmlns:a16="http://schemas.microsoft.com/office/drawing/2014/main" id="{9284B4F2-F60E-463B-8370-CEF0806B72E3}"/>
              </a:ext>
            </a:extLst>
          </p:cNvPr>
          <p:cNvSpPr>
            <a:spLocks xmlns:a="http://schemas.openxmlformats.org/drawingml/2006/main" noGrp="1"/>
          </p:cNvSpPr>
          <p:nvPr/>
        </p:nvSpPr>
        <p:spPr>
          <a:xfrm xmlns:a="http://schemas.openxmlformats.org/drawingml/2006/main">
            <a:off x="10763250" y="6381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187B59"/>
                </a:solidFill>
                <a:latin typeface="Arial"/>
                <a:ea typeface="Arial"/>
                <a:cs typeface="Arial"/>
              </a:defRPr>
            </a:pPr>
            <a:r>
              <a:rPr sz="1200" b="0">
                <a:solidFill>
                  <a:srgbClr val="187B59"/>
                </a:solidFill>
                <a:latin typeface="Arial"/>
                <a:ea typeface="Arial"/>
                <a:cs typeface="Arial"/>
              </a:rPr>
              <a:t>15/15</a:t>
            </a:r>
          </a:p>
        </p:txBody>
      </p:sp>
      <p:sp>
        <p:nvSpPr>
          <p:cNvPr id="4" name="">
            <a:extLst xmlns:a="http://schemas.openxmlformats.org/drawingml/2006/main">
              <a:ext uri="{FF2B5EF4-FFF2-40B4-BE49-F238E27FC236}">
                <a16:creationId xmlns:a16="http://schemas.microsoft.com/office/drawing/2014/main" id="{518D7AD5-D2D9-495A-BDD8-4E4F8DB33DEE}"/>
              </a:ext>
            </a:extLst>
          </p:cNvPr>
          <p:cNvSpPr>
            <a:spLocks xmlns:a="http://schemas.openxmlformats.org/drawingml/2006/main" noGrp="1"/>
          </p:cNvSpPr>
          <p:nvPr/>
        </p:nvSpPr>
        <p:spPr>
          <a:xfrm xmlns:a="http://schemas.openxmlformats.org/drawingml/2006/main">
            <a:off x="609600" y="13811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Main contributions</a:t>
            </a:r>
          </a:p>
        </p:txBody>
      </p:sp>
      <p:sp>
        <p:nvSpPr>
          <p:cNvPr id="5" name="">
            <a:extLst xmlns:a="http://schemas.openxmlformats.org/drawingml/2006/main">
              <a:ext uri="{FF2B5EF4-FFF2-40B4-BE49-F238E27FC236}">
                <a16:creationId xmlns:a16="http://schemas.microsoft.com/office/drawing/2014/main" id="{EDFB7A25-D57C-44BE-B82F-2E6735066AD2}"/>
              </a:ext>
            </a:extLst>
          </p:cNvPr>
          <p:cNvSpPr>
            <a:spLocks xmlns:a="http://schemas.openxmlformats.org/drawingml/2006/main" noGrp="1"/>
          </p:cNvSpPr>
          <p:nvPr/>
        </p:nvSpPr>
        <p:spPr>
          <a:xfrm xmlns:a="http://schemas.openxmlformats.org/drawingml/2006/main">
            <a:off x="609600" y="1952625"/>
            <a:ext cx="6477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54000" indent="-127000">
              <a:spcAft>
                <a:spcPts val="1500"/>
              </a:spcAft>
              <a:buChar char="•"/>
              <a:defRPr sz="2025" b="0">
                <a:solidFill>
                  <a:srgbClr val="152C28"/>
                </a:solidFill>
                <a:latin typeface="Arial"/>
                <a:ea typeface="Arial"/>
                <a:cs typeface="Arial"/>
              </a:defRPr>
            </a:pPr>
            <a:r>
              <a:t>Typed graph model with residual feature preservation.</a:t>
            </a:r>
          </a:p>
          <a:p xmlns:a="http://schemas.openxmlformats.org/drawingml/2006/main">
            <a:pPr marL="254000" indent="-127000">
              <a:spcAft>
                <a:spcPts val="1500"/>
              </a:spcAft>
              <a:buChar char="•"/>
              <a:defRPr sz="2025" b="0">
                <a:solidFill>
                  <a:srgbClr val="152C28"/>
                </a:solidFill>
                <a:latin typeface="Arial"/>
                <a:ea typeface="Arial"/>
                <a:cs typeface="Arial"/>
              </a:defRPr>
            </a:pPr>
            <a:r>
              <a:t>Audited benchmark with fair topology-aware baselines.</a:t>
            </a:r>
          </a:p>
          <a:p xmlns:a="http://schemas.openxmlformats.org/drawingml/2006/main">
            <a:pPr marL="254000" indent="-127000">
              <a:spcAft>
                <a:spcPts val="1500"/>
              </a:spcAft>
              <a:buChar char="•"/>
              <a:defRPr sz="2025" b="0">
                <a:solidFill>
                  <a:srgbClr val="152C28"/>
                </a:solidFill>
                <a:latin typeface="Arial"/>
                <a:ea typeface="Arial"/>
                <a:cs typeface="Arial"/>
              </a:defRPr>
            </a:pPr>
            <a:r>
              <a:t>Hard negatives reveal neural shortcut learning.</a:t>
            </a:r>
          </a:p>
          <a:p xmlns:a="http://schemas.openxmlformats.org/drawingml/2006/main">
            <a:pPr marL="254000" indent="-127000">
              <a:spcAft>
                <a:spcPts val="1500"/>
              </a:spcAft>
              <a:buChar char="•"/>
              <a:defRPr sz="2025" b="0">
                <a:solidFill>
                  <a:srgbClr val="152C28"/>
                </a:solidFill>
                <a:latin typeface="Arial"/>
                <a:ea typeface="Arial"/>
                <a:cs typeface="Arial"/>
              </a:defRPr>
            </a:pPr>
            <a:r>
              <a:t>Hybrid verification and budgeted path mitigation.</a:t>
            </a:r>
          </a:p>
        </p:txBody>
      </p:sp>
      <p:sp>
        <p:nvSpPr>
          <p:cNvPr id="6" name="">
            <a:extLst xmlns:a="http://schemas.openxmlformats.org/drawingml/2006/main">
              <a:ext uri="{FF2B5EF4-FFF2-40B4-BE49-F238E27FC236}">
                <a16:creationId xmlns:a16="http://schemas.microsoft.com/office/drawing/2014/main" id="{0E65EDEA-DA14-4859-99B6-2AE7B314EF5B}"/>
              </a:ext>
            </a:extLst>
          </p:cNvPr>
          <p:cNvSpPr>
            <a:spLocks xmlns:a="http://schemas.openxmlformats.org/drawingml/2006/main" noGrp="1"/>
          </p:cNvSpPr>
          <p:nvPr/>
        </p:nvSpPr>
        <p:spPr>
          <a:xfrm xmlns:a="http://schemas.openxmlformats.org/drawingml/2006/main">
            <a:off x="7762875" y="13811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Limits and future work</a:t>
            </a:r>
          </a:p>
        </p:txBody>
      </p:sp>
      <p:sp>
        <p:nvSpPr>
          <p:cNvPr id="7" name="">
            <a:extLst xmlns:a="http://schemas.openxmlformats.org/drawingml/2006/main">
              <a:ext uri="{FF2B5EF4-FFF2-40B4-BE49-F238E27FC236}">
                <a16:creationId xmlns:a16="http://schemas.microsoft.com/office/drawing/2014/main" id="{968011D2-4A6C-4992-81BB-2AE2ACFF7813}"/>
              </a:ext>
            </a:extLst>
          </p:cNvPr>
          <p:cNvSpPr>
            <a:spLocks xmlns:a="http://schemas.openxmlformats.org/drawingml/2006/main" noGrp="1"/>
          </p:cNvSpPr>
          <p:nvPr/>
        </p:nvSpPr>
        <p:spPr>
          <a:xfrm xmlns:a="http://schemas.openxmlformats.org/drawingml/2006/main">
            <a:off x="7762875" y="1952625"/>
            <a:ext cx="3810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Synthetic and lab evidence</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Single-label targets</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Measured scale: 10,000 nodes</a:t>
            </a:r>
          </a:p>
          <a:p xmlns:a="http://schemas.openxmlformats.org/drawingml/2006/main">
            <a:r>
              <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Next: multi-label prediction,</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temporal graphs and live</a:t>
            </a:r>
          </a:p>
          <a:p xmlns:a="http://schemas.openxmlformats.org/drawingml/2006/main">
            <a:pPr>
              <a:defRPr sz="1875" b="0">
                <a:solidFill>
                  <a:srgbClr val="152C28"/>
                </a:solidFill>
                <a:latin typeface="Arial"/>
                <a:ea typeface="Arial"/>
                <a:cs typeface="Arial"/>
              </a:defRPr>
            </a:pPr>
            <a:r>
              <a:rPr sz="1875" b="0">
                <a:solidFill>
                  <a:srgbClr val="152C28"/>
                </a:solidFill>
                <a:latin typeface="Arial"/>
                <a:ea typeface="Arial"/>
                <a:cs typeface="Arial"/>
              </a:rPr>
              <a:t>defense-policy evaluation</a:t>
            </a:r>
          </a:p>
        </p:txBody>
      </p:sp>
      <p:sp>
        <p:nvSpPr>
          <p:cNvPr id="8" name="">
            <a:extLst xmlns:a="http://schemas.openxmlformats.org/drawingml/2006/main">
              <a:ext uri="{FF2B5EF4-FFF2-40B4-BE49-F238E27FC236}">
                <a16:creationId xmlns:a16="http://schemas.microsoft.com/office/drawing/2014/main" id="{82894239-3F64-496A-9CD2-331E4EAE88A2}"/>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7B59"/>
                </a:solidFill>
                <a:latin typeface="Arial"/>
                <a:ea typeface="Arial"/>
                <a:cs typeface="Arial"/>
              </a:defRPr>
            </a:pPr>
            <a:r>
              <a:rPr sz="2025" b="1">
                <a:solidFill>
                  <a:srgbClr val="187B59"/>
                </a:solidFill>
                <a:latin typeface="Arial"/>
                <a:ea typeface="Arial"/>
                <a:cs typeface="Arial"/>
              </a:rPr>
              <a:t>Reliable detection needs both learned screening and verified access conditions.</a:t>
            </a:r>
          </a:p>
        </p:txBody>
      </p:sp>
    </p:spTree>
    <p:extLst>
      <p:ext uri="{BB962C8B-B14F-4D97-AF65-F5344CB8AC3E}">
        <p14:creationId xmlns:p14="http://schemas.microsoft.com/office/powerpoint/2010/main" val="2107902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2026-10-07T18:09:11.5050000Z</dcterms:created>
  <dcterms:modified xsi:type="dcterms:W3CDTF">2026-10-07T18:09:11.5050000Z</dcterms:modified>
</coreProperties>
</file>