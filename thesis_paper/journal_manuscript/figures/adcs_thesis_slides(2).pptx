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1: ingest LDAP objects and DACLs into 5 entity classes and 16 canonical relations; precompute transitive group closures. Phase 2: type-specific projections to 64-D; 2 relational attention layers with 4 heads; O(1) inference per template (attention weights shown are illustrative). Phase 3: Tier-2 symbolic BFS reachability verifier (0 false positives) then Stackelberg game-theoretic edge interdiction.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Universal AD CS identity data model: 5 entity classes (User, Computer, Group, Template, Enterprise CA) and 16 canonical forward/reverse relations.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Metagraph figure extended with the pipeline. Edges into the Certificate Template are drawn with thickness and color proportional to the learned attention weight (values illustrative): the DACL-write edge dominates. Phase 3: Tier-2 symbolic BFS verification, then edge interdiction.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ESC13 is an external, documented vector (SpecterOps / Oliveau 2024) used as the benchmark stress test because it embodies composite multi-hop escalation. Certipy: 0% detection on pure composite paths. BloodHound: state explosion at &gt;100K entities. CertGraph: resolves path closures in 343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Methodological Workflow: The CertGraph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directory ingestion to heterogeneous GNN screening and neuro-symbolic defense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4747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347472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 &amp; Build Metagraph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968496" y="3383280"/>
            <a:ext cx="35204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57116" y="1325880"/>
            <a:ext cx="34747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7116" y="1325880"/>
            <a:ext cx="347472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48556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Relational GNN Screening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68412" y="3383280"/>
            <a:ext cx="35204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57032" y="1325880"/>
            <a:ext cx="34747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1325880"/>
            <a:ext cx="3474720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8472" y="1325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&amp; Defend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V="1">
            <a:off x="1038982" y="2624409"/>
            <a:ext cx="907552" cy="502179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30277" y="3380185"/>
            <a:ext cx="903217" cy="584081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51560" y="4133088"/>
            <a:ext cx="832104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42586" y="2624409"/>
            <a:ext cx="867548" cy="480043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2455626" y="3405012"/>
            <a:ext cx="864825" cy="559254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03120" y="2752344"/>
            <a:ext cx="0" cy="1088136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2286000" y="2752344"/>
            <a:ext cx="0" cy="108813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2057400" y="2029968"/>
            <a:ext cx="0" cy="384048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2029968"/>
            <a:ext cx="3200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029968"/>
            <a:ext cx="0" cy="347472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46888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 (nested)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70917" y="2596899"/>
            <a:ext cx="69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31475" y="3733444"/>
            <a:ext cx="555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30782" y="4178808"/>
            <a:ext cx="555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619602" y="2596899"/>
            <a:ext cx="6986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ManageCA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523382" y="3733444"/>
            <a:ext cx="9125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PublishedTo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84148" y="32004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3200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LinksPolicy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929384" y="2221992"/>
            <a:ext cx="530352" cy="530352"/>
          </a:xfrm>
          <a:prstGeom prst="triangle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929384" y="2276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" y="3922776"/>
            <a:ext cx="420624" cy="420624"/>
          </a:xfrm>
          <a:prstGeom prst="rect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901952" y="3840480"/>
            <a:ext cx="585216" cy="585216"/>
          </a:xfrm>
          <a:prstGeom prst="diamond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901952" y="3840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91840" y="2971800"/>
            <a:ext cx="548640" cy="548640"/>
          </a:xfrm>
          <a:prstGeom prst="hexagon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918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LDAP objects and DACLs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entity classes, 16 relations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Precomputes group closures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4448556" y="1901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α on edges into template T (illustrative)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94476" y="2770632"/>
            <a:ext cx="0" cy="1051560"/>
          </a:xfrm>
          <a:prstGeom prst="line">
            <a:avLst/>
          </a:prstGeom>
          <a:noFill/>
          <a:ln w="635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930193" y="3380185"/>
            <a:ext cx="903217" cy="584081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951476" y="4133088"/>
            <a:ext cx="832104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>
            <a:off x="6355542" y="3405012"/>
            <a:ext cx="864825" cy="55925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6140196" y="32004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0.55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031391" y="3733444"/>
            <a:ext cx="555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0.25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130698" y="4178808"/>
            <a:ext cx="555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0.12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601606" y="3733444"/>
            <a:ext cx="555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0.08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494276" y="3017520"/>
            <a:ext cx="457200" cy="457200"/>
          </a:xfrm>
          <a:prstGeom prst="ellipse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494276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829300" y="2221992"/>
            <a:ext cx="530352" cy="530352"/>
          </a:xfrm>
          <a:prstGeom prst="triangle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29300" y="2276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12564" y="3922776"/>
            <a:ext cx="420624" cy="420624"/>
          </a:xfrm>
          <a:prstGeom prst="rect">
            <a:avLst/>
          </a:prstGeom>
          <a:solidFill>
            <a:srgbClr val="0F766E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12564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191756" y="2971800"/>
            <a:ext cx="548640" cy="548640"/>
          </a:xfrm>
          <a:prstGeom prst="hexagon">
            <a:avLst/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191756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801868" y="3840480"/>
            <a:ext cx="585216" cy="585216"/>
          </a:xfrm>
          <a:prstGeom prst="diamond">
            <a:avLst/>
          </a:prstGeom>
          <a:solidFill>
            <a:srgbClr val="1E3A5F"/>
          </a:solidFill>
          <a:ln w="38100">
            <a:solidFill>
              <a:srgbClr val="C6282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801868" y="3840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4539996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 type-specific projections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attention layers, 4 heads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risk inference per template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8439912" y="1993392"/>
            <a:ext cx="137160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439912" y="1993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Screen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10177272" y="1993392"/>
            <a:ext cx="1371600" cy="365760"/>
          </a:xfrm>
          <a:prstGeom prst="rect">
            <a:avLst/>
          </a:prstGeom>
          <a:solidFill>
            <a:srgbClr val="1E3A5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177272" y="1993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Verify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9829800" y="2176272"/>
            <a:ext cx="329184" cy="0"/>
          </a:xfrm>
          <a:prstGeom prst="line">
            <a:avLst/>
          </a:prstGeom>
          <a:noFill/>
          <a:ln w="3175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997696" y="3017520"/>
            <a:ext cx="393192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9866376" y="3017520"/>
            <a:ext cx="393192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735056" y="3017520"/>
            <a:ext cx="393192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8549640" y="280720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54964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9418320" y="280720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41832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0287000" y="2807208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2870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1155680" y="2807208"/>
            <a:ext cx="420624" cy="420624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115568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8348472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path: proof tree, remediate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8997696" y="3886200"/>
            <a:ext cx="3931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9866376" y="3886200"/>
            <a:ext cx="3931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0735056" y="3886200"/>
            <a:ext cx="3931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8549640" y="3675888"/>
            <a:ext cx="420624" cy="42062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54964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418320" y="3675888"/>
            <a:ext cx="420624" cy="42062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41832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10287000" y="3675888"/>
            <a:ext cx="420624" cy="42062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28700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11155680" y="3675888"/>
            <a:ext cx="420624" cy="42062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11155680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10799064" y="3758184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799064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94" name="Text 92"/>
          <p:cNvSpPr txBox="1"/>
          <p:nvPr/>
        </p:nvSpPr>
        <p:spPr>
          <a:xfrm>
            <a:off x="8348472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path: false alarm dropped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8439912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BFS reachability check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false positives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Stackelberg edge interdiction</a:t>
            </a: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CertGraph unifies neural screening, symbolic verification, and autonomous defense.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Directory Metagraph Schema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entity classes · 16 canonical forward/reverse relations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Principal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84832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user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297680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4297680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4297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Object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736592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computer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645920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45920"/>
            <a:ext cx="3063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6459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084832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group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4297680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4297680"/>
            <a:ext cx="3063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42976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Template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4736592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pKICertificateTemplate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 Vector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(EKU, Flags)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0" y="3017520"/>
            <a:ext cx="3063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0" y="3017520"/>
            <a:ext cx="3063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23960" y="301752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3456432"/>
            <a:ext cx="27889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∈ V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pKIEnrollmentService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-4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∈ ℝ</a:t>
            </a:r>
            <a:pPr indent="0" marL="0">
              <a:spcAft>
                <a:spcPts val="600"/>
              </a:spcAft>
              <a:buNone/>
            </a:pPr>
            <a:r>
              <a:rPr lang="en-US" sz="1300" i="1" baseline="30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d_ca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20440" y="2377440"/>
            <a:ext cx="1051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520440" y="20116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flipV="1">
            <a:off x="5623560" y="1371600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1371600"/>
            <a:ext cx="9601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1371600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720840" y="1207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 (transitive nesting)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20440" y="2834640"/>
            <a:ext cx="5029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4023360" y="2834640"/>
            <a:ext cx="0" cy="19202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</p:sp>
      <p:sp>
        <p:nvSpPr>
          <p:cNvPr id="32" name="Shape 30"/>
          <p:cNvSpPr/>
          <p:nvPr/>
        </p:nvSpPr>
        <p:spPr>
          <a:xfrm>
            <a:off x="4023360" y="4754880"/>
            <a:ext cx="548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114800" y="3474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WriteDacl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520440" y="5349240"/>
            <a:ext cx="1051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566160" y="542239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94960" y="3108960"/>
            <a:ext cx="0" cy="11887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53212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WriteOwner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35240" y="2377440"/>
            <a:ext cx="1874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</a:ln>
        </p:spPr>
      </p:sp>
      <p:sp>
        <p:nvSpPr>
          <p:cNvPr id="39" name="Shape 37"/>
          <p:cNvSpPr/>
          <p:nvPr/>
        </p:nvSpPr>
        <p:spPr>
          <a:xfrm>
            <a:off x="9509760" y="2377440"/>
            <a:ext cx="0" cy="64008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77266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ManageCA / CertManager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635240" y="5029200"/>
            <a:ext cx="26060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0241280" y="4480560"/>
            <a:ext cx="0" cy="54864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772668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PublishedTo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 flipV="1">
            <a:off x="6949440" y="3108960"/>
            <a:ext cx="0" cy="11887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708660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LinksPolicy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603504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6181344"/>
            <a:ext cx="164592" cy="16459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2688" y="60350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objects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167128" y="6181344"/>
            <a:ext cx="164592" cy="16459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414016" y="6035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objects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328416" y="626364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3922776" y="6035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AD relation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pPr indent="0" marL="0">
              <a:buNone/>
            </a:pPr>
            <a:r>
              <a:rPr lang="en-US" sz="1200" baseline="-40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888736" y="626364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ysDot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6483096" y="6035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ACL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pPr indent="0" marL="0">
              <a:buNone/>
            </a:pPr>
            <a:r>
              <a:rPr lang="en-US" sz="1200" baseline="-40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DACL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540496" y="6035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forward + 8 reverse = 16 relations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Directory Metagraph: The CertGraph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entity classes · 16 canonical forward/reverse relations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3063240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91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Principal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user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feature vector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749040"/>
            <a:ext cx="3063240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749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Object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206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computer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526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feature vector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69164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691640"/>
            <a:ext cx="3063240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16916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148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objectClass: group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24688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feature vector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749040"/>
            <a:ext cx="3063240" cy="1143000"/>
          </a:xfrm>
          <a:prstGeom prst="rect">
            <a:avLst/>
          </a:prstGeom>
          <a:solidFill>
            <a:srgbClr val="FFFFFF"/>
          </a:solidFill>
          <a:ln w="4445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749040"/>
            <a:ext cx="306324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374904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Template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749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α-weighted ◂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206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pKICertificateTemplate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5262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 vector (EKU, Flags)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0" y="2743200"/>
            <a:ext cx="3063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0" y="2743200"/>
            <a:ext cx="306324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23960" y="274320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3200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class: pKIEnrollmentService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35204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feature vector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20440" y="2258568"/>
            <a:ext cx="1051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520440" y="1892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5623560" y="1417320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23560" y="1417320"/>
            <a:ext cx="9601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1417320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720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MemberOf (transitive nesting)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35240" y="2258568"/>
            <a:ext cx="187452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509760" y="2258568"/>
            <a:ext cx="0" cy="484632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72668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ManageCA / CertManager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 flipV="1">
            <a:off x="6949440" y="2834640"/>
            <a:ext cx="0" cy="91440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708660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LinksPolicy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20440" y="2606040"/>
            <a:ext cx="502920" cy="0"/>
          </a:xfrm>
          <a:prstGeom prst="line">
            <a:avLst/>
          </a:prstGeom>
          <a:noFill/>
          <a:ln w="50800">
            <a:solidFill>
              <a:srgbClr val="1E3A5F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023360" y="2606040"/>
            <a:ext cx="0" cy="1508760"/>
          </a:xfrm>
          <a:prstGeom prst="line">
            <a:avLst/>
          </a:prstGeom>
          <a:noFill/>
          <a:ln w="50800">
            <a:solidFill>
              <a:srgbClr val="1E3A5F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023360" y="4114800"/>
            <a:ext cx="548640" cy="0"/>
          </a:xfrm>
          <a:prstGeom prst="line">
            <a:avLst/>
          </a:prstGeom>
          <a:noFill/>
          <a:ln w="50800">
            <a:solidFill>
              <a:srgbClr val="1E3A5F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160520" y="2926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WriteDacl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520440" y="4526280"/>
            <a:ext cx="1051560" cy="0"/>
          </a:xfrm>
          <a:prstGeom prst="line">
            <a:avLst/>
          </a:prstGeom>
          <a:noFill/>
          <a:ln w="31750">
            <a:solidFill>
              <a:srgbClr val="3B5B85"/>
            </a:solidFill>
            <a:prstDash val="dash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3538728" y="45902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394960" y="2834640"/>
            <a:ext cx="0" cy="914400"/>
          </a:xfrm>
          <a:prstGeom prst="line">
            <a:avLst/>
          </a:prstGeom>
          <a:noFill/>
          <a:ln w="88900">
            <a:solidFill>
              <a:srgbClr val="C62828"/>
            </a:solidFill>
            <a:prstDash val="dash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5760720" y="2926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GenericAll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WriteOwner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760720" y="34747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security-critical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35240" y="4526280"/>
            <a:ext cx="2606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241280" y="3886200"/>
            <a:ext cx="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8549640" y="4187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PublishedTo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94176" y="3529584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694176" y="352958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0.25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94176" y="437997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3B5B8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694176" y="437997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0.12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065776" y="309981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065776" y="309981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0.55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763256" y="4379976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763256" y="437997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0.08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355080" y="102870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03720" y="868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relation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909560" y="102870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8458200" y="8686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ACL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372600" y="1028700"/>
            <a:ext cx="457200" cy="0"/>
          </a:xfrm>
          <a:prstGeom prst="line">
            <a:avLst/>
          </a:prstGeom>
          <a:noFill/>
          <a:ln w="76200">
            <a:solidFill>
              <a:srgbClr val="C6282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921240" y="868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Thicker = higher attention α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" y="512064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66928" y="5212080"/>
            <a:ext cx="347472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66928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1005840" y="5212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Build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594360" y="56235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+ DACLs into 5 classes and 16 relations; group closures precomputed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08960" y="5120640"/>
            <a:ext cx="57881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218688" y="5212080"/>
            <a:ext cx="347472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218688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3657600" y="5212080"/>
            <a:ext cx="5148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Screening: Relational Attention</a:t>
            </a:r>
            <a:endParaRPr lang="en-US" sz="1600" dirty="0"/>
          </a:p>
        </p:txBody>
      </p:sp>
      <p:sp>
        <p:nvSpPr>
          <p:cNvPr id="76" name="Text 74"/>
          <p:cNvSpPr txBox="1"/>
          <p:nvPr/>
        </p:nvSpPr>
        <p:spPr>
          <a:xfrm>
            <a:off x="3246120" y="5577840"/>
            <a:ext cx="5513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edges into the template · 4 heads · illustrative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3246120" y="585216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→ GenericAll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303520" y="5870448"/>
            <a:ext cx="2743200" cy="128016"/>
          </a:xfrm>
          <a:prstGeom prst="rect">
            <a:avLst/>
          </a:prstGeom>
          <a:solidFill>
            <a:srgbClr val="C62828"/>
          </a:solidFill>
          <a:ln w="3175">
            <a:solidFill>
              <a:srgbClr val="C6282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119872" y="585216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3246120" y="60213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Enroll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303520" y="6039612"/>
            <a:ext cx="1246909" cy="128016"/>
          </a:xfrm>
          <a:prstGeom prst="rect">
            <a:avLst/>
          </a:prstGeom>
          <a:solidFill>
            <a:srgbClr val="1E3A5F"/>
          </a:solidFill>
          <a:ln w="3175">
            <a:solidFill>
              <a:srgbClr val="1E3A5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623581" y="602132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3246120" y="619048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→ Enroll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303520" y="6208776"/>
            <a:ext cx="598516" cy="128016"/>
          </a:xfrm>
          <a:prstGeom prst="rect">
            <a:avLst/>
          </a:prstGeom>
          <a:solidFill>
            <a:srgbClr val="3B5B85"/>
          </a:solidFill>
          <a:ln w="3175">
            <a:solidFill>
              <a:srgbClr val="3B5B85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5975188" y="6190488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3246120" y="635965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→ PublishedTo (reverse)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303520" y="6377940"/>
            <a:ext cx="399011" cy="128016"/>
          </a:xfrm>
          <a:prstGeom prst="rect">
            <a:avLst/>
          </a:prstGeom>
          <a:solidFill>
            <a:srgbClr val="94A3B8"/>
          </a:solidFill>
          <a:ln w="3175">
            <a:solidFill>
              <a:srgbClr val="94A3B8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775683" y="635965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9079992" y="512064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9189720" y="5212080"/>
            <a:ext cx="347472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189720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628632" y="5212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Defend</a:t>
            </a:r>
            <a:endParaRPr lang="en-US" sz="1600" dirty="0"/>
          </a:p>
        </p:txBody>
      </p:sp>
      <p:sp>
        <p:nvSpPr>
          <p:cNvPr id="93" name="Text 91"/>
          <p:cNvSpPr txBox="1"/>
          <p:nvPr/>
        </p:nvSpPr>
        <p:spPr>
          <a:xfrm>
            <a:off x="9217152" y="5623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proof (0 FP), then edge cut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9482328" y="6172200"/>
            <a:ext cx="201168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9939528" y="6172200"/>
            <a:ext cx="201168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10396728" y="6172200"/>
            <a:ext cx="201168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9226296" y="6044184"/>
            <a:ext cx="256032" cy="256032"/>
          </a:xfrm>
          <a:prstGeom prst="ellipse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683496" y="6044184"/>
            <a:ext cx="256032" cy="256032"/>
          </a:xfrm>
          <a:prstGeom prst="ellipse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140696" y="6044184"/>
            <a:ext cx="256032" cy="256032"/>
          </a:xfrm>
          <a:prstGeom prst="ellipse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597896" y="6044184"/>
            <a:ext cx="256032" cy="256032"/>
          </a:xfrm>
          <a:prstGeom prst="ellipse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954512" y="6035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path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Multi-Hop Attack Challenge: ESC13 Case Study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benchmark: why flat scanners fail on composite privilege escalation paths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43584"/>
            <a:ext cx="594360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435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vector: SpecterOps / Oliveau 2024 (Thesis §2.6)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1920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737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Principal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Low-Priv User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58775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foothold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1737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737360"/>
            <a:ext cx="192024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43784" y="1737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43784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Enroller Group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2843784" y="258775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group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1737360"/>
            <a:ext cx="1920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75504" y="1737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Template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75504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ESC13 Template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175504" y="258775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template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52360" y="1737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1737360"/>
            <a:ext cx="192024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07224" y="1737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Policy OID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507224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OID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507224" y="258775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Issuance policy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784080" y="173736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84080" y="1737360"/>
            <a:ext cx="1920240" cy="384048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38944" y="1737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Tier-0 Target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38944" y="221284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Admins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9838944" y="258775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Tier-0 target asset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404872" y="2395728"/>
            <a:ext cx="356616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83180" y="2487168"/>
            <a:ext cx="0" cy="804672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1668780" y="329184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6687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MemberOf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nesting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736592" y="2395728"/>
            <a:ext cx="356616" cy="0"/>
          </a:xfrm>
          <a:prstGeom prst="line">
            <a:avLst/>
          </a:prstGeom>
          <a:noFill/>
          <a:ln w="317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14900" y="2487168"/>
            <a:ext cx="0" cy="804672"/>
          </a:xfrm>
          <a:prstGeom prst="line">
            <a:avLst/>
          </a:prstGeom>
          <a:noFill/>
          <a:ln w="19050">
            <a:solidFill>
              <a:srgbClr val="334155"/>
            </a:solidFill>
            <a:prstDash val="sysDot"/>
          </a:ln>
        </p:spPr>
      </p:sp>
      <p:sp>
        <p:nvSpPr>
          <p:cNvPr id="37" name="Shape 35"/>
          <p:cNvSpPr/>
          <p:nvPr/>
        </p:nvSpPr>
        <p:spPr>
          <a:xfrm>
            <a:off x="4000500" y="329184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00050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Enroll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DACL ACE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068312" y="2395728"/>
            <a:ext cx="356616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246620" y="2487168"/>
            <a:ext cx="0" cy="804672"/>
          </a:xfrm>
          <a:prstGeom prst="line">
            <a:avLst/>
          </a:prstGeom>
          <a:noFill/>
          <a:ln w="19050">
            <a:solidFill>
              <a:srgbClr val="C62828"/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6332220" y="3291840"/>
            <a:ext cx="1828800" cy="640080"/>
          </a:xfrm>
          <a:prstGeom prst="rect">
            <a:avLst/>
          </a:prstGeom>
          <a:solidFill>
            <a:srgbClr val="FDECEA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33222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LinksPolicy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 linkage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9400032" y="2395728"/>
            <a:ext cx="356616" cy="0"/>
          </a:xfrm>
          <a:prstGeom prst="line">
            <a:avLst/>
          </a:prstGeom>
          <a:noFill/>
          <a:ln w="3175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578340" y="2487168"/>
            <a:ext cx="0" cy="804672"/>
          </a:xfrm>
          <a:prstGeom prst="line">
            <a:avLst/>
          </a:prstGeom>
          <a:noFill/>
          <a:ln w="19050">
            <a:solidFill>
              <a:srgbClr val="C62828"/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8663940" y="3291840"/>
            <a:ext cx="1828800" cy="640080"/>
          </a:xfrm>
          <a:prstGeom prst="rect">
            <a:avLst/>
          </a:prstGeom>
          <a:solidFill>
            <a:srgbClr val="FDECEA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866394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PAC Elevate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injection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457200" y="4160520"/>
            <a:ext cx="1124712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050792"/>
            <a:ext cx="0" cy="109728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04320" y="4050792"/>
            <a:ext cx="0" cy="109728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0" y="4014216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818120" y="40142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path closure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 flipV="1">
            <a:off x="2263140" y="4197096"/>
            <a:ext cx="0" cy="539496"/>
          </a:xfrm>
          <a:prstGeom prst="line">
            <a:avLst/>
          </a:prstGeom>
          <a:noFill/>
          <a:ln w="28575">
            <a:solidFill>
              <a:srgbClr val="C62828"/>
            </a:solidFill>
            <a:prstDash val="dash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107692" y="4334256"/>
            <a:ext cx="310896" cy="3108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107692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57200" y="4754880"/>
            <a:ext cx="36118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7200" y="4754880"/>
            <a:ext cx="3611880" cy="347472"/>
          </a:xfrm>
          <a:prstGeom prst="rect">
            <a:avLst/>
          </a:prstGeom>
          <a:solidFill>
            <a:srgbClr val="47556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66928" y="475488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Certipy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Heuristic rule scanner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594360" y="5138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detection</a:t>
            </a:r>
            <a:endParaRPr lang="en-US" sz="2200" dirty="0"/>
          </a:p>
        </p:txBody>
      </p:sp>
      <p:sp>
        <p:nvSpPr>
          <p:cNvPr id="59" name="Text 57"/>
          <p:cNvSpPr txBox="1"/>
          <p:nvPr/>
        </p:nvSpPr>
        <p:spPr>
          <a:xfrm>
            <a:off x="594360" y="552297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objects in isolation; no single object is misconfigured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 flipV="1">
            <a:off x="6094476" y="4197096"/>
            <a:ext cx="0" cy="539496"/>
          </a:xfrm>
          <a:prstGeom prst="line">
            <a:avLst/>
          </a:prstGeom>
          <a:noFill/>
          <a:ln w="28575">
            <a:solidFill>
              <a:srgbClr val="C62828"/>
            </a:solidFill>
            <a:prstDash val="dash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939028" y="4334256"/>
            <a:ext cx="310896" cy="3108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939028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288536" y="4754880"/>
            <a:ext cx="36118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288536" y="4754880"/>
            <a:ext cx="3611880" cy="347472"/>
          </a:xfrm>
          <a:prstGeom prst="rect">
            <a:avLst/>
          </a:prstGeom>
          <a:solidFill>
            <a:srgbClr val="475569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398264" y="475488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BloodHound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Deterministic graph search</a:t>
            </a:r>
            <a:endParaRPr lang="en-US" sz="1500" dirty="0"/>
          </a:p>
        </p:txBody>
      </p:sp>
      <p:sp>
        <p:nvSpPr>
          <p:cNvPr id="66" name="Text 64"/>
          <p:cNvSpPr txBox="1"/>
          <p:nvPr/>
        </p:nvSpPr>
        <p:spPr>
          <a:xfrm>
            <a:off x="4425696" y="5138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explosion</a:t>
            </a:r>
            <a:endParaRPr lang="en-US" sz="2200" dirty="0"/>
          </a:p>
        </p:txBody>
      </p:sp>
      <p:sp>
        <p:nvSpPr>
          <p:cNvPr id="67" name="Text 65"/>
          <p:cNvSpPr txBox="1"/>
          <p:nvPr/>
        </p:nvSpPr>
        <p:spPr>
          <a:xfrm>
            <a:off x="4425696" y="552297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BFS breaks down beyond 100K entities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 flipV="1">
            <a:off x="9925812" y="4197096"/>
            <a:ext cx="0" cy="539496"/>
          </a:xfrm>
          <a:prstGeom prst="line">
            <a:avLst/>
          </a:prstGeom>
          <a:noFill/>
          <a:ln w="28575">
            <a:solidFill>
              <a:srgbClr val="0F766E"/>
            </a:solidFill>
            <a:prstDash val="dash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770364" y="4334256"/>
            <a:ext cx="310896" cy="31089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770364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8119872" y="4754880"/>
            <a:ext cx="36118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8119872" y="4754880"/>
            <a:ext cx="3611880" cy="347472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229600" y="4754880"/>
            <a:ext cx="3392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CertGraph (ours)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Relational GNN</a:t>
            </a:r>
            <a:endParaRPr lang="en-US" sz="1500" dirty="0"/>
          </a:p>
        </p:txBody>
      </p:sp>
      <p:sp>
        <p:nvSpPr>
          <p:cNvPr id="74" name="Text 72"/>
          <p:cNvSpPr txBox="1"/>
          <p:nvPr/>
        </p:nvSpPr>
        <p:spPr>
          <a:xfrm>
            <a:off x="8257032" y="5138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 ms</a:t>
            </a:r>
            <a:endParaRPr lang="en-US" sz="2200" dirty="0"/>
          </a:p>
        </p:txBody>
      </p:sp>
      <p:sp>
        <p:nvSpPr>
          <p:cNvPr id="75" name="Text 73"/>
          <p:cNvSpPr txBox="1"/>
          <p:nvPr/>
        </p:nvSpPr>
        <p:spPr>
          <a:xfrm>
            <a:off x="8257032" y="552297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multi-hop path closures and detects the full chain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57200" y="6144768"/>
            <a:ext cx="11274552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457200" y="6144768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permission is benign in isolation. The threat exists only as a multi-hop path closure.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Hetero-GAT Pipeline for ESC Classification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1234440"/>
            <a:ext cx="23774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48056" y="1234440"/>
            <a:ext cx="23774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9496" y="1234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Graph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843784" y="3771900"/>
            <a:ext cx="19202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54096" y="1234440"/>
            <a:ext cx="2606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54096" y="1234440"/>
            <a:ext cx="2606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45536" y="1234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Hetero-GAT Layer 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78424" y="3771900"/>
            <a:ext cx="19202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88736" y="1234440"/>
            <a:ext cx="26060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88736" y="1234440"/>
            <a:ext cx="260604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0176" y="1234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Layer 2 &amp; Readout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13064" y="3771900"/>
            <a:ext cx="192024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723376" y="1234440"/>
            <a:ext cx="30175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23376" y="1234440"/>
            <a:ext cx="301752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14816" y="1234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Classification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 flipV="1">
            <a:off x="996696" y="2103120"/>
            <a:ext cx="1280160" cy="457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" y="2148840"/>
            <a:ext cx="640080" cy="6858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636776" y="2103120"/>
            <a:ext cx="640080" cy="7315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996696" y="2834640"/>
            <a:ext cx="64008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36776" y="2834640"/>
            <a:ext cx="640080" cy="5943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" y="1897380"/>
            <a:ext cx="502920" cy="502920"/>
          </a:xfrm>
          <a:prstGeom prst="ellipse">
            <a:avLst/>
          </a:prstGeom>
          <a:solidFill>
            <a:srgbClr val="0F766E"/>
          </a:solidFill>
          <a:ln w="22225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5236" y="1897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002536" y="1828800"/>
            <a:ext cx="548640" cy="548640"/>
          </a:xfrm>
          <a:prstGeom prst="triangle">
            <a:avLst/>
          </a:prstGeom>
          <a:solidFill>
            <a:srgbClr val="0F766E"/>
          </a:solidFill>
          <a:ln w="22225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0253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16736" y="2514600"/>
            <a:ext cx="640080" cy="640080"/>
          </a:xfrm>
          <a:prstGeom prst="diamond">
            <a:avLst/>
          </a:prstGeom>
          <a:solidFill>
            <a:srgbClr val="1E3A5F"/>
          </a:solidFill>
          <a:ln w="22225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16736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8096" y="3200400"/>
            <a:ext cx="457200" cy="457200"/>
          </a:xfrm>
          <a:prstGeom prst="rect">
            <a:avLst/>
          </a:prstGeom>
          <a:solidFill>
            <a:srgbClr val="0F766E"/>
          </a:solidFill>
          <a:ln w="22225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8096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93392" y="3145536"/>
            <a:ext cx="566928" cy="566928"/>
          </a:xfrm>
          <a:prstGeom prst="hexagon">
            <a:avLst/>
          </a:prstGeom>
          <a:solidFill>
            <a:srgbClr val="1E3A5F"/>
          </a:solidFill>
          <a:ln w="22225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93392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entity node types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85216" y="4297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Computer, Group, Template, CA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57784" y="5029200"/>
            <a:ext cx="215798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7512" y="510235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548640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node type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163824" y="1920240"/>
            <a:ext cx="2386584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73552" y="199339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attention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3273552" y="2377440"/>
            <a:ext cx="2167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(4 heads) over each relation type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163824" y="3429000"/>
            <a:ext cx="2386584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73552" y="350215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&amp; normalize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3273552" y="3886200"/>
            <a:ext cx="21671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ELU activation + LayerNorm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163824" y="4892040"/>
            <a:ext cx="2386584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73552" y="496519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skip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3273552" y="5349240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source collapse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98464" y="1920240"/>
            <a:ext cx="2386584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08192" y="199339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aggregation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6108192" y="2377440"/>
            <a:ext cx="216712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multi-hop DACLs and policy linkage contexts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998464" y="4023360"/>
            <a:ext cx="2386584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108192" y="4096512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readout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6108192" y="4480560"/>
            <a:ext cx="216712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64-d embedding of each certificate template (isolated vulnerability latent state)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8906256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head</a:t>
            </a:r>
            <a:endParaRPr lang="en-US" sz="1700" dirty="0"/>
          </a:p>
        </p:txBody>
      </p:sp>
      <p:sp>
        <p:nvSpPr>
          <p:cNvPr id="54" name="Text 52"/>
          <p:cNvSpPr txBox="1"/>
          <p:nvPr/>
        </p:nvSpPr>
        <p:spPr>
          <a:xfrm>
            <a:off x="8906256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32 → 7 classes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906256" y="2743200"/>
            <a:ext cx="82296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906256" y="27432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9838944" y="27432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8906256" y="324612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906256" y="3246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9838944" y="32461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Enrollee supplies SAN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906256" y="374904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06256" y="3749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ESC2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9838944" y="37490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Purpose EKU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906256" y="425196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906256" y="42519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ESC3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9838944" y="42519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Request Agent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8906256" y="475488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06256" y="4754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ESC4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9838944" y="475488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DACL / WriteOwner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906256" y="5257800"/>
            <a:ext cx="822960" cy="38404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906256" y="5257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ESC9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9838944" y="52578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Extension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8906256" y="5760720"/>
            <a:ext cx="822960" cy="384048"/>
          </a:xfrm>
          <a:prstGeom prst="rect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906256" y="5760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ESC13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9838944" y="57607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OID linkage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Detection &amp; Remediation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29768" y="1188720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9768" y="1188720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 Graph Ingestion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47288" y="1188720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47288" y="1188720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Tier 1: Screening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64808" y="1188720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188720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Tier 2: Verification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82328" y="1188720"/>
            <a:ext cx="22860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482328" y="1188720"/>
            <a:ext cx="2286000" cy="50292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28048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Remediation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52344" y="3063240"/>
            <a:ext cx="658368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52344" y="2423160"/>
            <a:ext cx="65836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52344" y="24231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9864" y="3063240"/>
            <a:ext cx="658368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69864" y="2423160"/>
            <a:ext cx="658368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9864" y="24231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87384" y="3063240"/>
            <a:ext cx="658368" cy="0"/>
          </a:xfrm>
          <a:prstGeom prst="line">
            <a:avLst/>
          </a:prstGeom>
          <a:noFill/>
          <a:ln w="38100">
            <a:solidFill>
              <a:srgbClr val="C6282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787384" y="2423160"/>
            <a:ext cx="658368" cy="502920"/>
          </a:xfrm>
          <a:prstGeom prst="rect">
            <a:avLst/>
          </a:prstGeom>
          <a:solidFill>
            <a:srgbClr val="FDEC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87384" y="242316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783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extraction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&amp; RPC audits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BloodHound / SharpHound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PKI schema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429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mapping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nodes, 1M+ edges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DACLs &amp; groups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496" y="4846320"/>
            <a:ext cx="206654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" y="484632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sync via LDAP USN tracking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84448" y="1783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CertGraph Hetero-GAT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template's risk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 ms per 1,000 nodes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84448" y="3429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filter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Prunes &gt;95% benign templates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Top-K suspect queue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57016" y="4846320"/>
            <a:ext cx="206654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66744" y="484632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sweep in &lt;2.4 s (linear-time GPU)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601968" y="1783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traversal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2-hop authorization subgraph query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DACLs, OIDs &amp; enroll rights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601968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decision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74536" y="3840480"/>
            <a:ext cx="2066544" cy="914400"/>
          </a:xfrm>
          <a:prstGeom prst="rect">
            <a:avLst/>
          </a:prstGeom>
          <a:solidFill>
            <a:srgbClr val="E3F5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84264" y="38404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 (Safe)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suppressed &amp; logged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74536" y="4846320"/>
            <a:ext cx="2066544" cy="1097280"/>
          </a:xfrm>
          <a:prstGeom prst="rect">
            <a:avLst/>
          </a:prstGeom>
          <a:solidFill>
            <a:srgbClr val="FDECE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84264" y="484632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exploit path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tree triggers auto-remediation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619488" y="1783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optimization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Stackelberg game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Minimal-impact cut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paths removed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619488" y="3429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actuation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Revokes rogue ACEs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Unlinks policy OIDs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disruption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592056" y="4846320"/>
            <a:ext cx="2066544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1784" y="4846320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ACL revocation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625328" y="6080760"/>
            <a:ext cx="0" cy="32004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H="1">
            <a:off x="1572768" y="6400800"/>
            <a:ext cx="90525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V="1">
            <a:off x="1572768" y="6126480"/>
            <a:ext cx="0" cy="27432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017520" y="6199632"/>
            <a:ext cx="6172200" cy="402336"/>
          </a:xfrm>
          <a:prstGeom prst="rect">
            <a:avLst/>
          </a:prstGeom>
          <a:solidFill>
            <a:srgbClr val="FFFFFF"/>
          </a:solidFill>
          <a:ln w="15875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17520" y="6199632"/>
            <a:ext cx="6172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feedback: delta sync after remediation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CS ESC13 Thesis Slides</dc:title>
  <dc:subject>PptxGenJS Presentation</dc:subject>
  <dc:creator>PptxGenJS</dc:creator>
  <cp:lastModifiedBy>PptxGenJS</cp:lastModifiedBy>
  <cp:revision>1</cp:revision>
  <dcterms:created xsi:type="dcterms:W3CDTF">2026-10-10T19:48:31Z</dcterms:created>
  <dcterms:modified xsi:type="dcterms:W3CDTF">2026-10-10T19:48:31Z</dcterms:modified>
</cp:coreProperties>
</file>