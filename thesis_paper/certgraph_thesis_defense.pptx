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0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72" r:id="rId6"/>
    <p:sldId id="274" r:id="rId29"/>
    <p:sldId id="261" r:id="rId7"/>
    <p:sldId id="275" r:id="rId30"/>
    <p:sldId id="262" r:id="rId8"/>
    <p:sldId id="263" r:id="rId9"/>
    <p:sldId id="264" r:id="rId10"/>
    <p:sldId id="265" r:id="rId11"/>
    <p:sldId id="266" r:id="rId12"/>
    <p:sldId id="273" r:id="rId13"/>
    <p:sldId id="268" r:id="rId14"/>
    <p:sldId id="269" r:id="rId15"/>
    <p:sldId id="270" r:id="rId16"/>
  </p:sldIdLst>
  <p:sldSz cx="18288000" cy="10287000"/>
  <p:notesSz cx="6858000" cy="9144000"/>
  <p:embeddedFontLst>
    <p:embeddedFont>
      <p:font typeface="Calibri (MS) Bold" panose="020B0604020202020204" charset="0"/>
      <p:regular r:id="rId18"/>
    </p:embeddedFont>
    <p:embeddedFont>
      <p:font typeface="Cambria" panose="02040503050406030204" pitchFamily="18" charset="0"/>
      <p:regular r:id="rId19"/>
      <p:bold r:id="rId20"/>
      <p:italic r:id="rId21"/>
      <p:boldItalic r:id="rId22"/>
    </p:embeddedFont>
    <p:embeddedFont>
      <p:font typeface="Times New Roman Bold" panose="02020803070505020304" pitchFamily="18" charset="0"/>
      <p:bold r:id="rId23"/>
    </p:embeddedFont>
    <p:embeddedFont>
      <p:font typeface="Times New Roman Italics" panose="020B0604020202020204" charset="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>
        <p:scale>
          <a:sx n="75" d="100"/>
          <a:sy n="75" d="100"/>
        </p:scale>
        <p:origin x="336" y="-58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notesMaster" Target="notesMasters/notesMaster1.xml"/><Relationship Id="rId18" Type="http://schemas.openxmlformats.org/officeDocument/2006/relationships/font" Target="fonts/font1.fntdata"/><Relationship Id="rId19" Type="http://schemas.openxmlformats.org/officeDocument/2006/relationships/font" Target="fonts/font2.fntdata"/><Relationship Id="rId20" Type="http://schemas.openxmlformats.org/officeDocument/2006/relationships/font" Target="fonts/font3.fntdata"/><Relationship Id="rId21" Type="http://schemas.openxmlformats.org/officeDocument/2006/relationships/font" Target="fonts/font4.fntdata"/><Relationship Id="rId22" Type="http://schemas.openxmlformats.org/officeDocument/2006/relationships/font" Target="fonts/font5.fntdata"/><Relationship Id="rId23" Type="http://schemas.openxmlformats.org/officeDocument/2006/relationships/font" Target="fonts/font6.fntdata"/><Relationship Id="rId24" Type="http://schemas.openxmlformats.org/officeDocument/2006/relationships/font" Target="fonts/font7.fntdata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6.xml"/><Relationship Id="rId30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10.10.2026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Introduce the work as a study of Active Directory Certificate Services (ADCS) vulnerability detection, the limits of pure neural reasoning, and disruption-bounded attack-path mitigation.</a:t>
            </a:r>
          </a:p>
          <a:p>
            <a:endParaRPr lang="en-US"/>
          </a:p>
          <a:p>
            <a:r>
              <a:rPr lang="en-US"/>
              <a:t>Title: CertGraph: Heterogeneous Graph Attention Networks for Active Directory Certificate Services Vulnerability Detection and Autonomous Defense.</a:t>
            </a:r>
          </a:p>
          <a:p>
            <a:r>
              <a:rPr lang="en-US"/>
              <a:t>The empirical defense contribution is a greedy graph interdiction algorithm. Reinforcement learning is a notional co-adaptive framework reserved for future live evaluation.</a:t>
            </a:r>
          </a:p>
          <a:p>
            <a:endParaRPr lang="en-US"/>
          </a:p>
          <a:p>
            <a:r>
              <a:rPr lang="en-US"/>
              <a:t>Primary source: supplied thesis.pdf, ECE 452 · Project and Thesis · October 2026.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Active Directory manages accounts, groups, computers, and access rights. ADCS issues certificates from templates, a CA signs them, and Kerberos PKINIT enables certificate-based authentication.</a:t>
            </a:r>
          </a:p>
          <a:p>
            <a:endParaRPr lang="en-US"/>
          </a:p>
          <a:p>
            <a:r>
              <a:rPr lang="en-US"/>
              <a:t>Core Security Principle: Exploitability requires both configuration and effective access. Dangerous template flags alone do not establish vulnerability; an unprivileged principal must possess a valid authorization path to request and use it. ESC13 represents policy-to-group privilege assignment, not inherent SAN spoofing.</a:t>
            </a:r>
          </a:p>
          <a:p>
            <a:endParaRPr lang="en-US"/>
          </a:p>
          <a:p>
            <a:r>
              <a:rPr lang="en-US"/>
              <a:t>Primary source: supplied thesis.pdf, Thesis §§2.4–2.7; SpecterOps ADCS research.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Four central research questions guide the work: relational classification, attribute preservation, out-of-distribution robustness, and verified defense.</a:t>
            </a:r>
          </a:p>
          <a:p>
            <a:endParaRPr lang="en-US"/>
          </a:p>
          <a:p>
            <a:r>
              <a:rPr lang="en-US"/>
              <a:t>Threat Model: Assumes an initial low-privilege domain account compromise and authorized read-only directory telemetry for the defender. Target scope is template-centric across six evaluated escalation classes (ESC1, ESC2, ESC3, ESC4, ESC9, ESC13) plus Safe. CA-wide settings and relay attacks lie outside this classifier.</a:t>
            </a:r>
          </a:p>
          <a:p>
            <a:endParaRPr lang="en-US"/>
          </a:p>
          <a:p>
            <a:r>
              <a:rPr lang="en-US"/>
              <a:t>Primary source: supplied thesis.pdf, Thesis §§1.6, 2.6.1, 2.7.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SpecterOps supplies ADCS attack semantics; Veličković et al. introduce neighborhood attention; Chen et al. provide residual initial-feature preservation; Arp et al. describe evaluation pitfalls in security ML.</a:t>
            </a:r>
          </a:p>
          <a:p>
            <a:endParaRPr lang="en-US"/>
          </a:p>
          <a:p>
            <a:r>
              <a:rPr lang="en-US"/>
              <a:t>Scope clarification: The thesis baselines are simplified heuristic and BFS implementations, rather than full production releases of Certipy or BloodHound. The research gap is combining rapid risk screening with explicit reachability verification.</a:t>
            </a:r>
          </a:p>
          <a:p>
            <a:endParaRPr lang="en-US"/>
          </a:p>
          <a:p>
            <a:r>
              <a:rPr lang="en-US"/>
              <a:t>Primary source: supplied thesis.pdf, Thesis Chapter 2; USENIX Security 'Dos and Don'ts of ML in Security'.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EB787-0B2C-9579-48AF-1F527AC32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A437F8D-44AB-0E02-10D5-05A233BB322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59F69C-349D-73EB-A502-7AE485B41F47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076F87C4-AAEE-5D88-7D6B-C119402B6D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DFD90E44-A32C-4F94-B854-4AA27141AF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Formal Metagraph Definition: Specifies 5 entity node types (User, Computer, Group, Certificate Template, Enterprise CA), 8 forward relation types, and 16 relations including canonical reverse edges. Reverse edges facilitate message passing without conferring reverse authorization.</a:t>
            </a:r>
          </a:p>
          <a:p>
            <a:endParaRPr lang="en-US"/>
          </a:p>
          <a:p>
            <a:r>
              <a:rPr lang="en-US"/>
              <a:t>Ten template flags capture security extensions, enrollment flags, and DACLs. Nested group memberships are expanded via transitive closure preprocessing before learning, which is essential to the claimed 2-hop receptive field.</a:t>
            </a:r>
          </a:p>
          <a:p>
            <a:endParaRPr lang="en-US"/>
          </a:p>
          <a:p>
            <a:r>
              <a:rPr lang="en-US"/>
              <a:t>Primary source: supplied thesis.pdf, Thesis §§3.1–3.2.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034AD3-23E1-13E7-1C43-168677CC54A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5A6D9D-B9E4-DC76-5BBC-5EEF4A2D9E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3329425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ESC13 Walkthrough: An attacker compromises a low-privilege user, discovers an enrollment ACE to an intermediate enroller group, requests a certificate specifying a Target Template linked to a high-privilege policy OID, and obtains a high-privilege TGT via PKINIT.</a:t>
            </a:r>
          </a:p>
          <a:p>
            <a:endParaRPr lang="en-US"/>
          </a:p>
          <a:p>
            <a:r>
              <a:rPr lang="en-US"/>
              <a:t>Takeaway: Single-node inspection fails because every permission appears benign in isolation. Vulnerability emerges solely as a multi-hop path closure across disparate objects.</a:t>
            </a:r>
          </a:p>
          <a:p>
            <a:endParaRPr lang="en-US"/>
          </a:p>
          <a:p>
            <a:r>
              <a:rPr lang="en-US"/>
              <a:t>Primary source: supplied thesis.pdf, Thesis §§3.3–3.6; SpecterOps ESC13 documentation.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Architecture Details: Type-specific linear projections map heterogeneous nodes to 64 dimensions. Two Relational GAT layers use 4 heads (16 dim each), ELU activation, LayerNorm, and residual skip connections.</a:t>
            </a:r>
          </a:p>
          <a:p>
            <a:endParaRPr lang="en-US"/>
          </a:p>
          <a:p>
            <a:r>
              <a:rPr lang="en-US"/>
              <a:t>Readout: Template embeddings feed an MLP (64 -&gt; 32 -&gt; 7) with Softmax. Training uses weighted cross-entropy with L2 regularization (AdamW, lr=0.001, decay=1e-4, dropout=0.2, cosine schedule).</a:t>
            </a:r>
          </a:p>
          <a:p>
            <a:endParaRPr lang="en-US"/>
          </a:p>
          <a:p>
            <a:r>
              <a:rPr lang="en-US"/>
              <a:t>Primary source: supplied thesis.pdf, Thesis §§3.3–3.6; Table 5.1.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Theorem 1: Formal feature-gradient preservation guarantee. By incorporating orthogonal residual skip projections with singular value sigma_min(W_skip) &gt;= c &gt; 0, the Jacobian satisfies ||dh_v^(L) / dx_v|| &gt;= c^L &gt; 0.</a:t>
            </a:r>
          </a:p>
          <a:p>
            <a:endParaRPr lang="en-US"/>
          </a:p>
          <a:p>
            <a:r>
              <a:rPr lang="en-US"/>
              <a:t>This mathematically proves the elimination of oversmoothing collapse across 4 to 8 hop privilege chains, ensuring initial template attributes remain discriminative.</a:t>
            </a:r>
          </a:p>
          <a:p>
            <a:endParaRPr lang="en-US"/>
          </a:p>
          <a:p>
            <a:r>
              <a:rPr lang="en-US"/>
              <a:t>Primary source: supplied thesis.pdf, Thesis §3.5 and Appendix A.1.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/>
              <a:t>Experimental Testbed: Evaluated on Game of Active Directory (GOAD), a realistic multi-forest lab with 5 Domain Controllers, and </a:t>
            </a:r>
            <a:r>
              <a:rPr lang="en-US" dirty="0" err="1"/>
              <a:t>ADSynth</a:t>
            </a:r>
            <a:r>
              <a:rPr lang="en-US" dirty="0"/>
              <a:t>, generating 700 topologies (100 to 100,000 nodes).</a:t>
            </a:r>
          </a:p>
          <a:p>
            <a:endParaRPr lang="en-US" dirty="0"/>
          </a:p>
          <a:p>
            <a:r>
              <a:rPr lang="en-US" dirty="0"/>
              <a:t>Evaluation Setup: Stratified 5-fold cross-validation with non-overlapping forest partitions and Nadeau-Bengio corrected paired tests. Dataset comprises 28,450 nodes and 142,890 multi-relational edges.</a:t>
            </a:r>
          </a:p>
          <a:p>
            <a:endParaRPr lang="en-US" dirty="0"/>
          </a:p>
          <a:p>
            <a:r>
              <a:rPr lang="en-US" dirty="0"/>
              <a:t>Primary source: supplied thesis.pdf, Thesis Chapters 5–7.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Benchmark Results: CertGraph achieves 0.9986 Macro-F1 across 700 topologies, outperforming the heuristic baseline (0.7791) by +21.95 percentage points (+28.2% relative gain, corrected p = 3.12e-4). Graph-augmented MLP reaches 0.9971 (corrected p = 0.7396).</a:t>
            </a:r>
          </a:p>
          <a:p>
            <a:endParaRPr lang="en-US"/>
          </a:p>
          <a:p>
            <a:r>
              <a:rPr lang="en-US"/>
              <a:t>Class Imbalance: Under an authentic 96% Safe template distribution (2,000 templates across 200 forests), CertGraph maintains 0.9941 Macro-F1 and 0.9982 PR-AUC, demonstrating robust calibration.</a:t>
            </a:r>
          </a:p>
          <a:p>
            <a:endParaRPr lang="en-US"/>
          </a:p>
          <a:p>
            <a:r>
              <a:rPr lang="en-US"/>
              <a:t>Primary source: supplied thesis.pdf, Thesis Tables 5.2–5.4.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Ablation Findings: Removing residual skip connections causes catastrophic collapse, dropping Macro-F1 from 0.9986 to 0.4768 (-52.18% drop, corrected p = 6.61e-6), empirically verifying Theorem 1.</a:t>
            </a:r>
          </a:p>
          <a:p>
            <a:endParaRPr lang="en-US"/>
          </a:p>
          <a:p>
            <a:r>
              <a:rPr lang="en-US"/>
              <a:t>Single-Head vs. Multi-Head: Single-head attention achieves 1.0000 Macro-F1 (corrected p = 0.5415), confirming that residual skip pathways, rather than attention head multiplicity, are the primary driver of performance. Attention weights (alpha &gt; 0.85) directly highlight critical escalation edges.</a:t>
            </a:r>
          </a:p>
          <a:p>
            <a:endParaRPr lang="en-US"/>
          </a:p>
          <a:p>
            <a:r>
              <a:rPr lang="en-US"/>
              <a:t>Primary source: supplied thesis.pdf, Thesis Table 5.5; §3.5 and Appendix A.1.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F9DFA-2E69-7CE6-87AB-C425A6611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00E2425-14E8-93E3-5328-3E873BBD7E5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AE2130-02DF-F00C-228C-25A1C08BF513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6EA9924D-9BD6-892F-EB7A-565882C70C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48973191-8497-BD83-7EAD-1C0B209F90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Adversarial Hard Negatives &amp; Shortcut Collapse: 63 test environments contain dangerous flags paired with admin-only DACLs (ground-truth Safe). Pure GNN predicts Safe for only 1/63 (1.59% accuracy) because it memorized template flags!</a:t>
            </a:r>
          </a:p>
          <a:p>
            <a:endParaRPr lang="en-US"/>
          </a:p>
          <a:p>
            <a:r>
              <a:rPr lang="en-US"/>
              <a:t>Two-Tier Neuro-Symbolic Solution: Tier 1 neural screener (threshold tau = 0.5) forwards 62/600 candidates (100% recall on true paths, filtering 89.7% of templates in 18.2 ms). Tier 2 symbolic engine verifies reachability in 110.6 ms. Total latency: 128.8 ms.</a:t>
            </a:r>
          </a:p>
          <a:p>
            <a:endParaRPr lang="en-US"/>
          </a:p>
          <a:p>
            <a:r>
              <a:rPr lang="en-US"/>
              <a:t>Primary source: supplied thesis.pdf, Thesis §§8.3–8.4; Table 8.2.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3CDBE7-2139-CB30-E638-00635113E3CF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FFA495-1E1E-A03F-9AF4-1AB4D7CBCE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3204996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Scalability &amp; Interdiction: Forward inference takes 20 ms on 1,000 nodes, 112.5 ms on 5,000 nodes, and 343 ms on 10,000 nodes (765,000 edges) — 12.4x faster than Dijkstra shortest-path.</a:t>
            </a:r>
          </a:p>
          <a:p>
            <a:endParaRPr lang="en-US"/>
          </a:p>
          <a:p>
            <a:r>
              <a:rPr lang="en-US"/>
              <a:t>Theorem 2 &amp; Remediation: The Minimum Perturbation Attack Interdiction (MPAI) problem is NP-hard (reduced from Directed Multiway Cut). Greedy path interdiction severs 68.6% ± 11.7% of critical attack paths at budget B_ops = 24 across 30 synthetic topologies (paired t(29) = 10.27, p = 3.57e-11 vs degree baseline).</a:t>
            </a:r>
          </a:p>
          <a:p>
            <a:endParaRPr lang="en-US"/>
          </a:p>
          <a:p>
            <a:r>
              <a:rPr lang="en-US"/>
              <a:t>Primary source: supplied thesis.pdf, Thesis Tables 6.1–6.2, 7.1, 7.3, and Chapter 9.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Academic Contributions &amp; Limitations: Formal multigraph schema, Theorem 1 gradient bounds, audited benchmark suite, discovery of neural shortcut learning on hard negatives, two-tier neuro-symbolic verification, and Theorem 2 budgeted remediation.</a:t>
            </a:r>
          </a:p>
          <a:p>
            <a:endParaRPr lang="en-US"/>
          </a:p>
          <a:p>
            <a:r>
              <a:rPr lang="en-US"/>
              <a:t>Limitations &amp; Future Work: Single-label scope, 10,000-node measured monolithic scale, synthetic rule assumptions. Next steps include multi-label prediction, temporal graph evolution, cloud Entra ID sync, and live cyber-range validation.</a:t>
            </a:r>
          </a:p>
          <a:p>
            <a:endParaRPr lang="en-US"/>
          </a:p>
          <a:p>
            <a:r>
              <a:rPr lang="en-US"/>
              <a:t>Primary source: supplied thesis.pdf, Thesis Chapter 10.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Conclusion &amp; Defense Discussion Guide:</a:t>
            </a:r>
          </a:p>
          <a:p>
            <a:r>
              <a:rPr lang="en-US"/>
              <a:t>- Why GNN rather than augmented MLP? HAN provides multi-relational path attention and sub-second zero-shot generalization.</a:t>
            </a:r>
          </a:p>
          <a:p>
            <a:r>
              <a:rPr lang="en-US"/>
              <a:t>- What does hard-negative collapse mean? Proves that neural models learn local heuristic shortcuts, necessitating symbolic verification.</a:t>
            </a:r>
          </a:p>
          <a:p>
            <a:r>
              <a:rPr lang="en-US"/>
              <a:t>- How are nested memberships handled? Preprocessed via transitive closure.</a:t>
            </a:r>
          </a:p>
          <a:p>
            <a:r>
              <a:rPr lang="en-US"/>
              <a:t>- Which defense results were measured? Greedy budgeted interdiction (68.6% severed at budget 24); Stackelberg RL is notional future work.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jpe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5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11.png"/><Relationship Id="rId6" Type="http://schemas.openxmlformats.org/officeDocument/2006/relationships/image" Target="../media/image3.jpeg"/><Relationship Id="rId7" Type="http://schemas.openxmlformats.org/officeDocument/2006/relationships/image" Target="../media/image4.png"/><Relationship Id="rId8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jpeg"/><Relationship Id="rId6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jpeg"/><Relationship Id="rId6" Type="http://schemas.openxmlformats.org/officeDocument/2006/relationships/image" Target="../media/image7.png"/><Relationship Id="rId7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jpeg"/><Relationship Id="rId6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jpeg"/><Relationship Id="rId6" Type="http://schemas.openxmlformats.org/officeDocument/2006/relationships/image" Target="../media/image4.png"/><Relationship Id="rId7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jpe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jpe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jpeg"/><Relationship Id="rId6" Type="http://schemas.openxmlformats.org/officeDocument/2006/relationships/image" Target="../media/image10.png"/><Relationship Id="rId7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3.jpeg"/><Relationship Id="rId8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jpeg"/><Relationship Id="rId6" Type="http://schemas.openxmlformats.org/officeDocument/2006/relationships/image" Target="../media/image4.png"/><Relationship Id="rId7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jpeg"/><Relationship Id="rId6" Type="http://schemas.openxmlformats.org/officeDocument/2006/relationships/image" Target="../media/image8.png"/><Relationship Id="rId7" Type="http://schemas.openxmlformats.org/officeDocument/2006/relationships/image" Target="../media/image10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9.jpeg"/><Relationship Id="rId4" Type="http://schemas.openxmlformats.org/officeDocument/2006/relationships/image" Target="../media/image2.png"/><Relationship Id="rId5" Type="http://schemas.openxmlformats.org/officeDocument/2006/relationships/image" Target="../media/image3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jpeg"/><Relationship Id="rId4" Type="http://schemas.openxmlformats.org/officeDocument/2006/relationships/image" Target="../media/image20.svg"/><Relationship Id="rId5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4076700" y="-4076700"/>
            <a:ext cx="10287000" cy="18440400"/>
            <a:chOff x="0" y="0"/>
            <a:chExt cx="13716000" cy="2458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716000" cy="24587200"/>
            </a:xfrm>
            <a:custGeom>
              <a:avLst/>
              <a:gdLst/>
              <a:ahLst/>
              <a:cxnLst/>
              <a:rect l="l" t="t" r="r" b="b"/>
              <a:pathLst>
                <a:path w="13716000" h="24587200">
                  <a:moveTo>
                    <a:pt x="13716000" y="0"/>
                  </a:moveTo>
                  <a:lnTo>
                    <a:pt x="13716000" y="24587200"/>
                  </a:lnTo>
                  <a:lnTo>
                    <a:pt x="0" y="24587200"/>
                  </a:lnTo>
                  <a:lnTo>
                    <a:pt x="0" y="0"/>
                  </a:lnTo>
                  <a:lnTo>
                    <a:pt x="13716000" y="0"/>
                  </a:lnTo>
                  <a:close/>
                </a:path>
              </a:pathLst>
            </a:custGeom>
            <a:blipFill>
              <a:blip r:embed="rId3"/>
              <a:stretch>
                <a:fillRect l="-13364" r="-13364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3150356" y="7649347"/>
            <a:ext cx="905856" cy="1151753"/>
            <a:chOff x="0" y="0"/>
            <a:chExt cx="1207808" cy="1535671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207770" cy="1535684"/>
            </a:xfrm>
            <a:custGeom>
              <a:avLst/>
              <a:gdLst/>
              <a:ahLst/>
              <a:cxnLst/>
              <a:rect l="l" t="t" r="r" b="b"/>
              <a:pathLst>
                <a:path w="1207770" h="1535684">
                  <a:moveTo>
                    <a:pt x="0" y="0"/>
                  </a:moveTo>
                  <a:lnTo>
                    <a:pt x="1207770" y="0"/>
                  </a:lnTo>
                  <a:lnTo>
                    <a:pt x="1207770" y="1535684"/>
                  </a:lnTo>
                  <a:lnTo>
                    <a:pt x="0" y="15356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50" r="-5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771696" y="931545"/>
            <a:ext cx="16736130" cy="21316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20"/>
              </a:lnSpc>
            </a:pPr>
            <a:r>
              <a:rPr lang="en-US" sz="36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CertGraph: Heterogeneous Graph Attention Networks</a:t>
            </a:r>
          </a:p>
          <a:p>
            <a:pPr algn="ctr">
              <a:lnSpc>
                <a:spcPts val="4320"/>
              </a:lnSpc>
            </a:pPr>
            <a:r>
              <a:rPr lang="en-US" sz="36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for Active Directory Certificate Services Vulnerability</a:t>
            </a:r>
          </a:p>
          <a:p>
            <a:pPr algn="ctr">
              <a:lnSpc>
                <a:spcPts val="4320"/>
              </a:lnSpc>
            </a:pPr>
            <a:r>
              <a:rPr lang="en-US" sz="36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Detection and Autonomous Defense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371845" y="6842217"/>
            <a:ext cx="3535832" cy="401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Date: October 2026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298025" y="3369402"/>
            <a:ext cx="5236312" cy="8985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0"/>
              </a:lnSpc>
            </a:pPr>
            <a:r>
              <a:rPr lang="en-US" sz="26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Course Code: ECE 452</a:t>
            </a:r>
          </a:p>
          <a:p>
            <a:pPr algn="ctr">
              <a:lnSpc>
                <a:spcPts val="3120"/>
              </a:lnSpc>
            </a:pPr>
            <a:r>
              <a:rPr lang="en-US" sz="26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Course Title: Project and Thesis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341862" y="4601308"/>
            <a:ext cx="1595799" cy="4489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 b="1">
                <a:solidFill>
                  <a:srgbClr val="30303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Prepared By-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298025" y="5482009"/>
            <a:ext cx="5589175" cy="1566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Student ID: 2002126 Level:4, Semester:II</a:t>
            </a:r>
          </a:p>
          <a:p>
            <a:pPr algn="ctr">
              <a:lnSpc>
                <a:spcPts val="2879"/>
              </a:lnSpc>
            </a:pPr>
            <a:r>
              <a:rPr lang="en-US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Student ID: 2002138 Level:4, Semester:II</a:t>
            </a:r>
          </a:p>
          <a:p>
            <a:pPr algn="ctr">
              <a:lnSpc>
                <a:spcPts val="2879"/>
              </a:lnSpc>
            </a:pPr>
            <a:r>
              <a:rPr lang="en-US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Student ID: 2102151 Level:4, Semester:II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822279" y="7576909"/>
            <a:ext cx="9272226" cy="8394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 b="1">
                <a:solidFill>
                  <a:srgbClr val="30303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Department of Electronics and Communication Engineering (ECE)</a:t>
            </a:r>
          </a:p>
          <a:p>
            <a:pPr algn="ctr">
              <a:lnSpc>
                <a:spcPts val="3079"/>
              </a:lnSpc>
            </a:pPr>
            <a:endParaRPr lang="en-US" sz="2199" b="1">
              <a:solidFill>
                <a:srgbClr val="30303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4177760" y="8385705"/>
            <a:ext cx="12578048" cy="8394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 b="1">
                <a:solidFill>
                  <a:srgbClr val="30303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Hajee Mohammad Danesh Science and Technology University, Dinajpur-5200, Bangladesh</a:t>
            </a:r>
          </a:p>
          <a:p>
            <a:pPr algn="ctr">
              <a:lnSpc>
                <a:spcPts val="3079"/>
              </a:lnSpc>
            </a:pPr>
            <a:endParaRPr lang="en-US" sz="2199" b="1">
              <a:solidFill>
                <a:srgbClr val="30303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4000500" y="-4000500"/>
            <a:ext cx="10287000" cy="18288000"/>
            <a:chOff x="0" y="0"/>
            <a:chExt cx="13716000" cy="24384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716000" cy="24384000"/>
            </a:xfrm>
            <a:custGeom>
              <a:avLst/>
              <a:gdLst/>
              <a:ahLst/>
              <a:cxnLst/>
              <a:rect l="l" t="t" r="r" b="b"/>
              <a:pathLst>
                <a:path w="13716000" h="24384000">
                  <a:moveTo>
                    <a:pt x="13716000" y="0"/>
                  </a:moveTo>
                  <a:lnTo>
                    <a:pt x="13716000" y="24384000"/>
                  </a:lnTo>
                  <a:lnTo>
                    <a:pt x="0" y="24384000"/>
                  </a:lnTo>
                  <a:lnTo>
                    <a:pt x="0" y="0"/>
                  </a:lnTo>
                  <a:lnTo>
                    <a:pt x="13716000" y="0"/>
                  </a:lnTo>
                  <a:close/>
                </a:path>
              </a:pathLst>
            </a:custGeom>
            <a:blipFill>
              <a:blip r:embed="rId3"/>
              <a:stretch>
                <a:fillRect l="-12840" r="-1284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197864" y="832104"/>
            <a:ext cx="905256" cy="1152144"/>
            <a:chOff x="0" y="0"/>
            <a:chExt cx="1207008" cy="1536192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1207008" cy="1536192"/>
            </a:xfrm>
            <a:custGeom>
              <a:avLst/>
              <a:gdLst/>
              <a:ahLst/>
              <a:cxnLst/>
              <a:rect l="l" t="t" r="r" b="b"/>
              <a:pathLst>
                <a:path w="1207008" h="1536192">
                  <a:moveTo>
                    <a:pt x="0" y="0"/>
                  </a:moveTo>
                  <a:lnTo>
                    <a:pt x="1207008" y="0"/>
                  </a:lnTo>
                  <a:lnTo>
                    <a:pt x="1207008" y="1536192"/>
                  </a:lnTo>
                  <a:lnTo>
                    <a:pt x="0" y="15361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99" r="-9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179195" y="2093595"/>
            <a:ext cx="4408170" cy="613410"/>
            <a:chOff x="0" y="0"/>
            <a:chExt cx="5877560" cy="817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77560" cy="817880"/>
            </a:xfrm>
            <a:custGeom>
              <a:avLst/>
              <a:gdLst/>
              <a:ahLst/>
              <a:cxnLst/>
              <a:rect l="l" t="t" r="r" b="b"/>
              <a:pathLst>
                <a:path w="5877560" h="817880">
                  <a:moveTo>
                    <a:pt x="0" y="0"/>
                  </a:moveTo>
                  <a:lnTo>
                    <a:pt x="5877560" y="0"/>
                  </a:lnTo>
                  <a:lnTo>
                    <a:pt x="5877560" y="817880"/>
                  </a:lnTo>
                  <a:lnTo>
                    <a:pt x="0" y="8178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90026" b="-90026"/>
              </a:stretch>
            </a:blip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9050"/>
              <a:ext cx="5877560" cy="8369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          The Problem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298448" y="2185416"/>
            <a:ext cx="429768" cy="429768"/>
            <a:chOff x="0" y="0"/>
            <a:chExt cx="573024" cy="573024"/>
          </a:xfrm>
        </p:grpSpPr>
        <p:sp>
          <p:nvSpPr>
            <p:cNvPr id="10" name="Freeform 10" descr="image.png"/>
            <p:cNvSpPr/>
            <p:nvPr/>
          </p:nvSpPr>
          <p:spPr>
            <a:xfrm>
              <a:off x="0" y="0"/>
              <a:ext cx="573024" cy="573024"/>
            </a:xfrm>
            <a:custGeom>
              <a:avLst/>
              <a:gdLst/>
              <a:ahLst/>
              <a:cxnLst/>
              <a:rect l="l" t="t" r="r" b="b"/>
              <a:pathLst>
                <a:path w="573024" h="573024">
                  <a:moveTo>
                    <a:pt x="0" y="0"/>
                  </a:moveTo>
                  <a:lnTo>
                    <a:pt x="573024" y="0"/>
                  </a:lnTo>
                  <a:lnTo>
                    <a:pt x="573024" y="573024"/>
                  </a:lnTo>
                  <a:lnTo>
                    <a:pt x="0" y="5730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8823" r="-882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317355" y="2093595"/>
            <a:ext cx="4408170" cy="613410"/>
            <a:chOff x="0" y="0"/>
            <a:chExt cx="5877560" cy="81788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877560" cy="817880"/>
            </a:xfrm>
            <a:custGeom>
              <a:avLst/>
              <a:gdLst/>
              <a:ahLst/>
              <a:cxnLst/>
              <a:rect l="l" t="t" r="r" b="b"/>
              <a:pathLst>
                <a:path w="5877560" h="817880">
                  <a:moveTo>
                    <a:pt x="0" y="0"/>
                  </a:moveTo>
                  <a:lnTo>
                    <a:pt x="5877560" y="0"/>
                  </a:lnTo>
                  <a:lnTo>
                    <a:pt x="5877560" y="817880"/>
                  </a:lnTo>
                  <a:lnTo>
                    <a:pt x="0" y="8178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90026" b="-90026"/>
              </a:stretch>
            </a:blip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19050"/>
              <a:ext cx="5877560" cy="8369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          Our Solution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436608" y="2185416"/>
            <a:ext cx="429768" cy="429768"/>
            <a:chOff x="0" y="0"/>
            <a:chExt cx="573024" cy="573024"/>
          </a:xfrm>
        </p:grpSpPr>
        <p:sp>
          <p:nvSpPr>
            <p:cNvPr id="15" name="Freeform 15" descr="image.png"/>
            <p:cNvSpPr/>
            <p:nvPr/>
          </p:nvSpPr>
          <p:spPr>
            <a:xfrm>
              <a:off x="0" y="0"/>
              <a:ext cx="573024" cy="573024"/>
            </a:xfrm>
            <a:custGeom>
              <a:avLst/>
              <a:gdLst/>
              <a:ahLst/>
              <a:cxnLst/>
              <a:rect l="l" t="t" r="r" b="b"/>
              <a:pathLst>
                <a:path w="573024" h="573024">
                  <a:moveTo>
                    <a:pt x="0" y="0"/>
                  </a:moveTo>
                  <a:lnTo>
                    <a:pt x="573024" y="0"/>
                  </a:lnTo>
                  <a:lnTo>
                    <a:pt x="573024" y="573024"/>
                  </a:lnTo>
                  <a:lnTo>
                    <a:pt x="0" y="5730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4993" b="-499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317355" y="5293995"/>
            <a:ext cx="4408170" cy="613410"/>
            <a:chOff x="0" y="0"/>
            <a:chExt cx="5877560" cy="81788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877560" cy="817880"/>
            </a:xfrm>
            <a:custGeom>
              <a:avLst/>
              <a:gdLst/>
              <a:ahLst/>
              <a:cxnLst/>
              <a:rect l="l" t="t" r="r" b="b"/>
              <a:pathLst>
                <a:path w="5877560" h="817880">
                  <a:moveTo>
                    <a:pt x="0" y="0"/>
                  </a:moveTo>
                  <a:lnTo>
                    <a:pt x="5877560" y="0"/>
                  </a:lnTo>
                  <a:lnTo>
                    <a:pt x="5877560" y="817880"/>
                  </a:lnTo>
                  <a:lnTo>
                    <a:pt x="0" y="8178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90026" b="-90026"/>
              </a:stretch>
            </a:blip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5877560" cy="8369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          Research Gap</a:t>
              </a:r>
            </a:p>
          </p:txBody>
        </p:sp>
      </p:grpSp>
      <p:sp>
        <p:nvSpPr>
          <p:cNvPr id="19" name="Freeform 19"/>
          <p:cNvSpPr/>
          <p:nvPr/>
        </p:nvSpPr>
        <p:spPr>
          <a:xfrm>
            <a:off x="9446133" y="5362956"/>
            <a:ext cx="429768" cy="429768"/>
          </a:xfrm>
          <a:custGeom>
            <a:avLst/>
            <a:gdLst/>
            <a:ahLst/>
            <a:cxnLst/>
            <a:rect l="l" t="t" r="r" b="b"/>
            <a:pathLst>
              <a:path w="429768" h="429768">
                <a:moveTo>
                  <a:pt x="0" y="0"/>
                </a:moveTo>
                <a:lnTo>
                  <a:pt x="429768" y="0"/>
                </a:lnTo>
                <a:lnTo>
                  <a:pt x="429768" y="429768"/>
                </a:lnTo>
                <a:lnTo>
                  <a:pt x="0" y="4297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0" name="TextBox 20"/>
          <p:cNvSpPr txBox="1"/>
          <p:nvPr/>
        </p:nvSpPr>
        <p:spPr>
          <a:xfrm>
            <a:off x="2441448" y="1005078"/>
            <a:ext cx="12801600" cy="7597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PROBLEM STATEMENT &amp; SOLUTION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5672816" y="465582"/>
            <a:ext cx="1600200" cy="320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39"/>
              </a:lnSpc>
            </a:pPr>
            <a:r>
              <a:rPr lang="en-US" sz="21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02/15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035040" y="9225534"/>
            <a:ext cx="6217920" cy="293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9"/>
              </a:lnSpc>
            </a:pPr>
            <a:r>
              <a:rPr lang="en-US" sz="21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Course Title: Project and Thesis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80160" y="2861310"/>
            <a:ext cx="7132320" cy="433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Active Directory Certificate Services (ADCS) manages PKI in over 90% of Fortune 500 enterprises. Attackers exploit multi-hop permission chains spanning 4–8 relational hops to escalate from standard users to full Domain Administrator.</a:t>
            </a:r>
          </a:p>
          <a:p>
            <a:pPr algn="l">
              <a:lnSpc>
                <a:spcPts val="2520"/>
              </a:lnSpc>
            </a:pPr>
            <a:endParaRPr lang="en-US" sz="2100" b="1" dirty="0">
              <a:solidFill>
                <a:srgbClr val="00000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  <a:p>
            <a:pPr algn="l">
              <a:lnSpc>
                <a:spcPts val="24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1. Deep Escalation Chains:</a:t>
            </a:r>
            <a:r>
              <a:rPr lang="en-US" sz="2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Privilege escalation paths span 4–8 relational hops across users, groups, templates, and CAs (ESC1–ESC13).</a:t>
            </a:r>
          </a:p>
          <a:p>
            <a:pPr algn="l">
              <a:lnSpc>
                <a:spcPts val="2400"/>
              </a:lnSpc>
            </a:pPr>
            <a:endParaRPr lang="en-US" sz="20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lnSpc>
                <a:spcPts val="24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2. Identity Spoofing Risk:</a:t>
            </a:r>
            <a:r>
              <a:rPr lang="en-US" sz="2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Low-privilege accounts forge administrative identities via Subject Alternative Name (SAN) abuse.</a:t>
            </a:r>
          </a:p>
          <a:p>
            <a:pPr algn="l">
              <a:lnSpc>
                <a:spcPts val="2400"/>
              </a:lnSpc>
            </a:pPr>
            <a:endParaRPr lang="en-US" sz="20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24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3. Enterprise Takeover:</a:t>
            </a:r>
            <a:r>
              <a:rPr lang="en-US" sz="2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 single valid chain enables full Domain Controller replication (</a:t>
            </a:r>
            <a:r>
              <a:rPr lang="en-US" sz="2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DCSync</a:t>
            </a:r>
            <a:r>
              <a:rPr lang="en-US" sz="2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and credential theft.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418320" y="2861310"/>
            <a:ext cx="7589520" cy="2213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4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1. Graph Neural Modeling:</a:t>
            </a:r>
            <a:r>
              <a:rPr lang="en-US" sz="2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We formalized AD as a typed multigraph and built the first GNN framework for ADCS vulnerability detection.</a:t>
            </a:r>
          </a:p>
          <a:p>
            <a:pPr algn="just">
              <a:lnSpc>
                <a:spcPts val="24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2. Deep-Path Retention:</a:t>
            </a:r>
            <a:r>
              <a:rPr lang="en-US" sz="2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We designed orthogonal residual skip connections that preserve vulnerability signals across deep 4–8 hop chains.</a:t>
            </a:r>
          </a:p>
          <a:p>
            <a:pPr algn="just">
              <a:lnSpc>
                <a:spcPts val="24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3. Neuro-Symbolic Soundness:</a:t>
            </a:r>
            <a:r>
              <a:rPr lang="en-US" sz="2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We coupled neural screening with symbolic verification to deliver zero false negatives with 128 </a:t>
            </a:r>
            <a:r>
              <a:rPr lang="en-US" sz="2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ms</a:t>
            </a:r>
            <a:r>
              <a:rPr lang="en-US" sz="2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latency.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418320" y="6061710"/>
            <a:ext cx="7589520" cy="21544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4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1. Rule-Based Fragility:</a:t>
            </a:r>
            <a:r>
              <a:rPr lang="en-US" sz="2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Signature tools (</a:t>
            </a:r>
            <a:r>
              <a:rPr lang="en-US" sz="2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Certipy</a:t>
            </a:r>
            <a:r>
              <a:rPr lang="en-US" sz="2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rely on static checks, missing novel composite escalation paths.</a:t>
            </a:r>
          </a:p>
          <a:p>
            <a:pPr algn="just">
              <a:lnSpc>
                <a:spcPts val="24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2. Scalability Bottleneck:</a:t>
            </a:r>
            <a:r>
              <a:rPr lang="en-US" sz="2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Graph search tools (</a:t>
            </a:r>
            <a:r>
              <a:rPr lang="en-US" sz="2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BloodHound</a:t>
            </a:r>
            <a:r>
              <a:rPr lang="en-US" sz="2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suffer state explosion on large enterprise topologies exceeding 100k nodes.</a:t>
            </a:r>
          </a:p>
          <a:p>
            <a:pPr algn="just">
              <a:lnSpc>
                <a:spcPts val="24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3. Lack of Autonomous Defense:</a:t>
            </a:r>
            <a:r>
              <a:rPr lang="en-US" sz="2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No existing framework provides automated, disruption-bounded remediation to sever discovered attack paths.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4000500" y="-4000500"/>
            <a:ext cx="10287000" cy="18288000"/>
            <a:chOff x="0" y="0"/>
            <a:chExt cx="13716000" cy="24384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716000" cy="24384000"/>
            </a:xfrm>
            <a:custGeom>
              <a:avLst/>
              <a:gdLst/>
              <a:ahLst/>
              <a:cxnLst/>
              <a:rect l="l" t="t" r="r" b="b"/>
              <a:pathLst>
                <a:path w="13716000" h="24384000">
                  <a:moveTo>
                    <a:pt x="13716000" y="0"/>
                  </a:moveTo>
                  <a:lnTo>
                    <a:pt x="13716000" y="24384000"/>
                  </a:lnTo>
                  <a:lnTo>
                    <a:pt x="0" y="24384000"/>
                  </a:lnTo>
                  <a:lnTo>
                    <a:pt x="0" y="0"/>
                  </a:lnTo>
                  <a:lnTo>
                    <a:pt x="13716000" y="0"/>
                  </a:lnTo>
                  <a:close/>
                </a:path>
              </a:pathLst>
            </a:custGeom>
            <a:blipFill>
              <a:blip r:embed="rId3"/>
              <a:stretch>
                <a:fillRect l="-12840" r="-1284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197864" y="832104"/>
            <a:ext cx="905256" cy="1152144"/>
            <a:chOff x="0" y="0"/>
            <a:chExt cx="1207008" cy="1536192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1207008" cy="1536192"/>
            </a:xfrm>
            <a:custGeom>
              <a:avLst/>
              <a:gdLst/>
              <a:ahLst/>
              <a:cxnLst/>
              <a:rect l="l" t="t" r="r" b="b"/>
              <a:pathLst>
                <a:path w="1207008" h="1536192">
                  <a:moveTo>
                    <a:pt x="0" y="0"/>
                  </a:moveTo>
                  <a:lnTo>
                    <a:pt x="1207008" y="0"/>
                  </a:lnTo>
                  <a:lnTo>
                    <a:pt x="1207008" y="1536192"/>
                  </a:lnTo>
                  <a:lnTo>
                    <a:pt x="0" y="15361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99" r="-9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2441448" y="1005078"/>
            <a:ext cx="12801600" cy="7597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OBJECTIVES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672816" y="465582"/>
            <a:ext cx="1600200" cy="320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39"/>
              </a:lnSpc>
            </a:pPr>
            <a:r>
              <a:rPr lang="en-US" sz="21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03/15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35040" y="9225534"/>
            <a:ext cx="6217920" cy="293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9"/>
              </a:lnSpc>
            </a:pPr>
            <a:r>
              <a:rPr lang="en-US" sz="21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Course Title: Project and Thesis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80160" y="1945005"/>
            <a:ext cx="2743200" cy="478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①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2171700" y="2514600"/>
            <a:ext cx="840105" cy="960120"/>
            <a:chOff x="0" y="0"/>
            <a:chExt cx="1280160" cy="1463040"/>
          </a:xfrm>
        </p:grpSpPr>
        <p:sp>
          <p:nvSpPr>
            <p:cNvPr id="11" name="Freeform 11" descr="image.png"/>
            <p:cNvSpPr/>
            <p:nvPr/>
          </p:nvSpPr>
          <p:spPr>
            <a:xfrm>
              <a:off x="0" y="0"/>
              <a:ext cx="1280160" cy="1463040"/>
            </a:xfrm>
            <a:custGeom>
              <a:avLst/>
              <a:gdLst/>
              <a:ahLst/>
              <a:cxnLst/>
              <a:rect l="l" t="t" r="r" b="b"/>
              <a:pathLst>
                <a:path w="1280160" h="1463040">
                  <a:moveTo>
                    <a:pt x="0" y="0"/>
                  </a:moveTo>
                  <a:lnTo>
                    <a:pt x="1280160" y="0"/>
                  </a:lnTo>
                  <a:lnTo>
                    <a:pt x="1280160" y="1463040"/>
                  </a:lnTo>
                  <a:lnTo>
                    <a:pt x="0" y="14630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144" b="-144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280160" y="3592830"/>
            <a:ext cx="274320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lang="en-US" sz="18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Graph-Based AD Modeling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526280" y="1945005"/>
            <a:ext cx="2743200" cy="478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②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5417820" y="2514600"/>
            <a:ext cx="960120" cy="960120"/>
            <a:chOff x="0" y="0"/>
            <a:chExt cx="1280160" cy="1280160"/>
          </a:xfrm>
        </p:grpSpPr>
        <p:sp>
          <p:nvSpPr>
            <p:cNvPr id="15" name="Freeform 15" descr="image.png"/>
            <p:cNvSpPr/>
            <p:nvPr/>
          </p:nvSpPr>
          <p:spPr>
            <a:xfrm>
              <a:off x="0" y="0"/>
              <a:ext cx="1280160" cy="1280160"/>
            </a:xfrm>
            <a:custGeom>
              <a:avLst/>
              <a:gdLst/>
              <a:ahLst/>
              <a:cxnLst/>
              <a:rect l="l" t="t" r="r" b="b"/>
              <a:pathLst>
                <a:path w="1280160" h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4993" b="-4994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4526280" y="3592830"/>
            <a:ext cx="274320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lang="en-US" sz="18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Deep-Path Retention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772400" y="1945005"/>
            <a:ext cx="2743200" cy="478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③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8663940" y="2514600"/>
            <a:ext cx="960120" cy="960120"/>
            <a:chOff x="0" y="0"/>
            <a:chExt cx="1280160" cy="1280160"/>
          </a:xfrm>
        </p:grpSpPr>
        <p:sp>
          <p:nvSpPr>
            <p:cNvPr id="19" name="Freeform 19" descr="image.png"/>
            <p:cNvSpPr/>
            <p:nvPr/>
          </p:nvSpPr>
          <p:spPr>
            <a:xfrm>
              <a:off x="0" y="0"/>
              <a:ext cx="1280160" cy="1280160"/>
            </a:xfrm>
            <a:custGeom>
              <a:avLst/>
              <a:gdLst/>
              <a:ahLst/>
              <a:cxnLst/>
              <a:rect l="l" t="t" r="r" b="b"/>
              <a:pathLst>
                <a:path w="1280160" h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772400" y="3592830"/>
            <a:ext cx="274320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lang="en-US" sz="18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Topology Generalization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018520" y="1945005"/>
            <a:ext cx="2743200" cy="478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④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11910060" y="2514600"/>
            <a:ext cx="1067117" cy="960120"/>
            <a:chOff x="0" y="0"/>
            <a:chExt cx="1422822" cy="1280160"/>
          </a:xfrm>
        </p:grpSpPr>
        <p:sp>
          <p:nvSpPr>
            <p:cNvPr id="23" name="Freeform 23" descr="image.png"/>
            <p:cNvSpPr/>
            <p:nvPr/>
          </p:nvSpPr>
          <p:spPr>
            <a:xfrm>
              <a:off x="0" y="0"/>
              <a:ext cx="1422822" cy="1280160"/>
            </a:xfrm>
            <a:custGeom>
              <a:avLst/>
              <a:gdLst/>
              <a:ahLst/>
              <a:cxnLst/>
              <a:rect l="l" t="t" r="r" b="b"/>
              <a:pathLst>
                <a:path w="1422822" h="1280160">
                  <a:moveTo>
                    <a:pt x="0" y="0"/>
                  </a:moveTo>
                  <a:lnTo>
                    <a:pt x="1422822" y="0"/>
                  </a:lnTo>
                  <a:lnTo>
                    <a:pt x="1422822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971" r="-97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11018520" y="3592830"/>
            <a:ext cx="274320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lang="en-US" sz="18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Neuro-Symbolic Verification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4264640" y="1945005"/>
            <a:ext cx="2743200" cy="478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⑤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14988043" y="2514600"/>
            <a:ext cx="1128257" cy="960120"/>
            <a:chOff x="0" y="0"/>
            <a:chExt cx="1504343" cy="1280160"/>
          </a:xfrm>
        </p:grpSpPr>
        <p:sp>
          <p:nvSpPr>
            <p:cNvPr id="27" name="Freeform 27" descr="image.png"/>
            <p:cNvSpPr/>
            <p:nvPr/>
          </p:nvSpPr>
          <p:spPr>
            <a:xfrm>
              <a:off x="0" y="0"/>
              <a:ext cx="1504343" cy="1280160"/>
            </a:xfrm>
            <a:custGeom>
              <a:avLst/>
              <a:gdLst/>
              <a:ahLst/>
              <a:cxnLst/>
              <a:rect l="l" t="t" r="r" b="b"/>
              <a:pathLst>
                <a:path w="1504343" h="1280160">
                  <a:moveTo>
                    <a:pt x="0" y="0"/>
                  </a:moveTo>
                  <a:lnTo>
                    <a:pt x="1504343" y="0"/>
                  </a:lnTo>
                  <a:lnTo>
                    <a:pt x="1504343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143" r="-14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4264640" y="3592830"/>
            <a:ext cx="274320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lang="en-US" sz="18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Automated Remediation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80160" y="4415790"/>
            <a:ext cx="15727680" cy="979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Primary Objective: To develop a real-time graph AI and autonomous remediation framework for Active Directory Certificate Services (ADCS) that scales to enterprise networks without sacrificing detection accuracy.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280160" y="5558790"/>
            <a:ext cx="15727680" cy="33108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1. Heterogeneous Graph Formulation: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Represent Active Directory entities, PKI relationships, and transitive group closures as a typed multigraph.</a:t>
            </a:r>
          </a:p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2. Deep Vulnerability Retention: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Engineer a Relational GAT architecture with mathematically proven skip connections that retain features across 4–8 hops.</a:t>
            </a:r>
          </a:p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3. Zero-Shot Topology Transfer: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Demonstrate robust generalization across 700 unseen enterprise topologies without retraining.</a:t>
            </a:r>
          </a:p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4. Two-Tier Verification Engine: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Eliminate neural shortcut false positives by coupling fast GNN screening with formal symbolic reachability checks.</a:t>
            </a:r>
          </a:p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5. Budget-Constrained Remediation: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Develop an automated interdiction algorithm to sever maximum attack paths under enterprise disruption bounds.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4000500" y="-4000500"/>
            <a:ext cx="10287000" cy="18288000"/>
            <a:chOff x="0" y="0"/>
            <a:chExt cx="13716000" cy="24384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716000" cy="24384000"/>
            </a:xfrm>
            <a:custGeom>
              <a:avLst/>
              <a:gdLst/>
              <a:ahLst/>
              <a:cxnLst/>
              <a:rect l="l" t="t" r="r" b="b"/>
              <a:pathLst>
                <a:path w="13716000" h="24384000">
                  <a:moveTo>
                    <a:pt x="13716000" y="0"/>
                  </a:moveTo>
                  <a:lnTo>
                    <a:pt x="13716000" y="24384000"/>
                  </a:lnTo>
                  <a:lnTo>
                    <a:pt x="0" y="24384000"/>
                  </a:lnTo>
                  <a:lnTo>
                    <a:pt x="0" y="0"/>
                  </a:lnTo>
                  <a:lnTo>
                    <a:pt x="13716000" y="0"/>
                  </a:lnTo>
                  <a:close/>
                </a:path>
              </a:pathLst>
            </a:custGeom>
            <a:blipFill>
              <a:blip r:embed="rId3"/>
              <a:stretch>
                <a:fillRect l="-12840" r="-1284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197864" y="832104"/>
            <a:ext cx="905256" cy="1152144"/>
            <a:chOff x="0" y="0"/>
            <a:chExt cx="1207008" cy="1536192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1207008" cy="1536192"/>
            </a:xfrm>
            <a:custGeom>
              <a:avLst/>
              <a:gdLst/>
              <a:ahLst/>
              <a:cxnLst/>
              <a:rect l="l" t="t" r="r" b="b"/>
              <a:pathLst>
                <a:path w="1207008" h="1536192">
                  <a:moveTo>
                    <a:pt x="0" y="0"/>
                  </a:moveTo>
                  <a:lnTo>
                    <a:pt x="1207008" y="0"/>
                  </a:lnTo>
                  <a:lnTo>
                    <a:pt x="1207008" y="1536192"/>
                  </a:lnTo>
                  <a:lnTo>
                    <a:pt x="0" y="15361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99" r="-9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2441448" y="1005078"/>
            <a:ext cx="12801600" cy="7597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LITERATURE SURVEY &amp; SOTA MODELS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672816" y="465582"/>
            <a:ext cx="1600200" cy="320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39"/>
              </a:lnSpc>
            </a:pPr>
            <a:r>
              <a:rPr lang="en-US" sz="21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04/15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35040" y="9225534"/>
            <a:ext cx="6217920" cy="293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9"/>
              </a:lnSpc>
            </a:pPr>
            <a:r>
              <a:rPr lang="en-US" sz="21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Course Title: Project and Thesis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188720" y="2194560"/>
            <a:ext cx="7772400" cy="3904488"/>
            <a:chOff x="0" y="0"/>
            <a:chExt cx="10363200" cy="5205984"/>
          </a:xfrm>
        </p:grpSpPr>
        <p:sp>
          <p:nvSpPr>
            <p:cNvPr id="10" name="Freeform 10" descr="tool_comparison_f1.png"/>
            <p:cNvSpPr/>
            <p:nvPr/>
          </p:nvSpPr>
          <p:spPr>
            <a:xfrm>
              <a:off x="0" y="0"/>
              <a:ext cx="10363200" cy="5205984"/>
            </a:xfrm>
            <a:custGeom>
              <a:avLst/>
              <a:gdLst/>
              <a:ahLst/>
              <a:cxnLst/>
              <a:rect l="l" t="t" r="r" b="b"/>
              <a:pathLst>
                <a:path w="10363200" h="5205984">
                  <a:moveTo>
                    <a:pt x="0" y="0"/>
                  </a:moveTo>
                  <a:lnTo>
                    <a:pt x="10363200" y="0"/>
                  </a:lnTo>
                  <a:lnTo>
                    <a:pt x="10363200" y="5205984"/>
                  </a:lnTo>
                  <a:lnTo>
                    <a:pt x="0" y="52059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10" b="-1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280160" y="6244590"/>
            <a:ext cx="7589520" cy="384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 i="1">
                <a:solidFill>
                  <a:srgbClr val="000000"/>
                </a:solidFill>
                <a:latin typeface="Times New Roman Italics"/>
                <a:ea typeface="Times New Roman Italics"/>
                <a:cs typeface="Times New Roman Italics"/>
                <a:sym typeface="Times New Roman Italics"/>
              </a:rPr>
              <a:t>Figure: Macro-F1 Comparison Across Detection Paradigms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80160" y="6793230"/>
            <a:ext cx="7589520" cy="1939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1. Heuristic Baseline (Certipy):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77.91% Macro-F1 — fails on novel composite escalation paths.</a:t>
            </a:r>
          </a:p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2. Symbolic Baseline (BFS):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90.82% Macro-F1 — accurate but suffers exponential search latency.</a:t>
            </a:r>
          </a:p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3. CertGraph (Our System):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99.86% Macro-F1 — +28.2% relative gain over heuristics (p = 3.12e-4).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9509760" y="2194560"/>
            <a:ext cx="4773930" cy="613410"/>
            <a:chOff x="0" y="0"/>
            <a:chExt cx="6365240" cy="81788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365240" cy="817880"/>
            </a:xfrm>
            <a:custGeom>
              <a:avLst/>
              <a:gdLst/>
              <a:ahLst/>
              <a:cxnLst/>
              <a:rect l="l" t="t" r="r" b="b"/>
              <a:pathLst>
                <a:path w="6365240" h="817880">
                  <a:moveTo>
                    <a:pt x="0" y="0"/>
                  </a:moveTo>
                  <a:lnTo>
                    <a:pt x="6365240" y="0"/>
                  </a:lnTo>
                  <a:lnTo>
                    <a:pt x="6365240" y="817880"/>
                  </a:lnTo>
                  <a:lnTo>
                    <a:pt x="0" y="81788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101644" b="-101644"/>
              </a:stretch>
            </a:blip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365240" cy="8369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          Existing Limitations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528048" y="2276856"/>
            <a:ext cx="429768" cy="429768"/>
            <a:chOff x="0" y="0"/>
            <a:chExt cx="573024" cy="573024"/>
          </a:xfrm>
        </p:grpSpPr>
        <p:sp>
          <p:nvSpPr>
            <p:cNvPr id="17" name="Freeform 17" descr="image.png"/>
            <p:cNvSpPr/>
            <p:nvPr/>
          </p:nvSpPr>
          <p:spPr>
            <a:xfrm>
              <a:off x="0" y="0"/>
              <a:ext cx="573024" cy="573024"/>
            </a:xfrm>
            <a:custGeom>
              <a:avLst/>
              <a:gdLst/>
              <a:ahLst/>
              <a:cxnLst/>
              <a:rect l="l" t="t" r="r" b="b"/>
              <a:pathLst>
                <a:path w="573024" h="573024">
                  <a:moveTo>
                    <a:pt x="0" y="0"/>
                  </a:moveTo>
                  <a:lnTo>
                    <a:pt x="573024" y="0"/>
                  </a:lnTo>
                  <a:lnTo>
                    <a:pt x="573024" y="573024"/>
                  </a:lnTo>
                  <a:lnTo>
                    <a:pt x="0" y="5730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8823" r="-882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9509760" y="2952750"/>
            <a:ext cx="7498080" cy="16649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Current industry tools rely on hardcoded signature checks (Certipy) or unguided shortest-path traversals (BloodHound). They cannot generalize to composite multi-hop vulnerabilities and fail to scale beyond 100,000 entities.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9408795" y="4928235"/>
            <a:ext cx="4773930" cy="613410"/>
            <a:chOff x="0" y="0"/>
            <a:chExt cx="6365240" cy="81788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365240" cy="817880"/>
            </a:xfrm>
            <a:custGeom>
              <a:avLst/>
              <a:gdLst/>
              <a:ahLst/>
              <a:cxnLst/>
              <a:rect l="l" t="t" r="r" b="b"/>
              <a:pathLst>
                <a:path w="6365240" h="817880">
                  <a:moveTo>
                    <a:pt x="0" y="0"/>
                  </a:moveTo>
                  <a:lnTo>
                    <a:pt x="6365240" y="0"/>
                  </a:lnTo>
                  <a:lnTo>
                    <a:pt x="6365240" y="817880"/>
                  </a:lnTo>
                  <a:lnTo>
                    <a:pt x="0" y="81788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101644" b="-101644"/>
              </a:stretch>
            </a:blip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365240" cy="8369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          Our Key Innovations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528048" y="5020056"/>
            <a:ext cx="429768" cy="429768"/>
            <a:chOff x="0" y="0"/>
            <a:chExt cx="573024" cy="573024"/>
          </a:xfrm>
        </p:grpSpPr>
        <p:sp>
          <p:nvSpPr>
            <p:cNvPr id="23" name="Freeform 23" descr="image.png"/>
            <p:cNvSpPr/>
            <p:nvPr/>
          </p:nvSpPr>
          <p:spPr>
            <a:xfrm>
              <a:off x="0" y="0"/>
              <a:ext cx="573024" cy="573024"/>
            </a:xfrm>
            <a:custGeom>
              <a:avLst/>
              <a:gdLst/>
              <a:ahLst/>
              <a:cxnLst/>
              <a:rect l="l" t="t" r="r" b="b"/>
              <a:pathLst>
                <a:path w="573024" h="573024">
                  <a:moveTo>
                    <a:pt x="0" y="0"/>
                  </a:moveTo>
                  <a:lnTo>
                    <a:pt x="573024" y="0"/>
                  </a:lnTo>
                  <a:lnTo>
                    <a:pt x="573024" y="573024"/>
                  </a:lnTo>
                  <a:lnTo>
                    <a:pt x="0" y="5730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4993" b="-499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9509760" y="5695950"/>
            <a:ext cx="7498080" cy="3036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1. Learned Relational Attention: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Dynamically weights security-critical edges (DACLs, enrollment rights) over background relations.</a:t>
            </a:r>
          </a:p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2. Proven Gradient Retention: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Guarantees feature persistence across deep permission paths via residual skip projections.</a:t>
            </a:r>
          </a:p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3. Sub-Second Real-Time Auditing: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Completes enterprise-scale inference in 343 ms (12.4x faster than graph search).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E8078-7C86-FF77-35AC-C1AE6468A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2">
            <a:extLst>
              <a:ext uri="{FF2B5EF4-FFF2-40B4-BE49-F238E27FC236}">
                <a16:creationId xmlns:a16="http://schemas.microsoft.com/office/drawing/2014/main" id="{731B5C17-6BCF-DF78-A580-7FBB95A3DFB6}"/>
              </a:ext>
            </a:extLst>
          </p:cNvPr>
          <p:cNvGrpSpPr/>
          <p:nvPr/>
        </p:nvGrpSpPr>
        <p:grpSpPr>
          <a:xfrm rot="-5400000">
            <a:off x="4000500" y="-4000500"/>
            <a:ext cx="10287000" cy="18288000"/>
            <a:chOff x="0" y="0"/>
            <a:chExt cx="13716000" cy="24384000"/>
          </a:xfrm>
        </p:grpSpPr>
        <p:sp>
          <p:nvSpPr>
            <p:cNvPr id="17" name="Freeform 3">
              <a:extLst>
                <a:ext uri="{FF2B5EF4-FFF2-40B4-BE49-F238E27FC236}">
                  <a16:creationId xmlns:a16="http://schemas.microsoft.com/office/drawing/2014/main" id="{97CCE7FF-484B-9FE4-884C-935926E60133}"/>
                </a:ext>
              </a:extLst>
            </p:cNvPr>
            <p:cNvSpPr/>
            <p:nvPr/>
          </p:nvSpPr>
          <p:spPr>
            <a:xfrm>
              <a:off x="0" y="0"/>
              <a:ext cx="13716000" cy="24384000"/>
            </a:xfrm>
            <a:custGeom>
              <a:avLst/>
              <a:gdLst/>
              <a:ahLst/>
              <a:cxnLst/>
              <a:rect l="l" t="t" r="r" b="b"/>
              <a:pathLst>
                <a:path w="13716000" h="24384000">
                  <a:moveTo>
                    <a:pt x="13716000" y="0"/>
                  </a:moveTo>
                  <a:lnTo>
                    <a:pt x="13716000" y="24384000"/>
                  </a:lnTo>
                  <a:lnTo>
                    <a:pt x="0" y="24384000"/>
                  </a:lnTo>
                  <a:lnTo>
                    <a:pt x="0" y="0"/>
                  </a:lnTo>
                  <a:lnTo>
                    <a:pt x="13716000" y="0"/>
                  </a:lnTo>
                  <a:close/>
                </a:path>
              </a:pathLst>
            </a:custGeom>
            <a:blipFill>
              <a:blip r:embed="rId3"/>
              <a:stretch>
                <a:fillRect l="-12840" r="-1284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4539B572-46E7-A34B-ED85-FE6518A220FC}"/>
              </a:ext>
            </a:extLst>
          </p:cNvPr>
          <p:cNvGrpSpPr/>
          <p:nvPr/>
        </p:nvGrpSpPr>
        <p:grpSpPr>
          <a:xfrm>
            <a:off x="1197864" y="832104"/>
            <a:ext cx="905256" cy="1152144"/>
            <a:chOff x="0" y="0"/>
            <a:chExt cx="1207008" cy="1536192"/>
          </a:xfrm>
        </p:grpSpPr>
        <p:sp>
          <p:nvSpPr>
            <p:cNvPr id="5" name="Freeform 5" descr="image.png">
              <a:extLst>
                <a:ext uri="{FF2B5EF4-FFF2-40B4-BE49-F238E27FC236}">
                  <a16:creationId xmlns:a16="http://schemas.microsoft.com/office/drawing/2014/main" id="{C3500A97-ABFC-7ABF-E8FA-FFD7C3BEB050}"/>
                </a:ext>
              </a:extLst>
            </p:cNvPr>
            <p:cNvSpPr/>
            <p:nvPr/>
          </p:nvSpPr>
          <p:spPr>
            <a:xfrm>
              <a:off x="0" y="0"/>
              <a:ext cx="1207008" cy="1536192"/>
            </a:xfrm>
            <a:custGeom>
              <a:avLst/>
              <a:gdLst/>
              <a:ahLst/>
              <a:cxnLst/>
              <a:rect l="l" t="t" r="r" b="b"/>
              <a:pathLst>
                <a:path w="1207008" h="1536192">
                  <a:moveTo>
                    <a:pt x="0" y="0"/>
                  </a:moveTo>
                  <a:lnTo>
                    <a:pt x="1207008" y="0"/>
                  </a:lnTo>
                  <a:lnTo>
                    <a:pt x="1207008" y="1536192"/>
                  </a:lnTo>
                  <a:lnTo>
                    <a:pt x="0" y="15361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99" r="-9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2A880468-52A2-9E34-C874-8555B05ECE58}"/>
              </a:ext>
            </a:extLst>
          </p:cNvPr>
          <p:cNvSpPr txBox="1"/>
          <p:nvPr/>
        </p:nvSpPr>
        <p:spPr>
          <a:xfrm>
            <a:off x="2441448" y="1005078"/>
            <a:ext cx="12801600" cy="7597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METHODOLOGICAL WORKFLOW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C532096A-E3F2-F423-8441-07E60EFB4AC8}"/>
              </a:ext>
            </a:extLst>
          </p:cNvPr>
          <p:cNvSpPr txBox="1"/>
          <p:nvPr/>
        </p:nvSpPr>
        <p:spPr>
          <a:xfrm>
            <a:off x="15672816" y="465582"/>
            <a:ext cx="1600200" cy="320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39"/>
              </a:lnSpc>
            </a:pPr>
            <a:r>
              <a:rPr lang="en-US" sz="21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05/15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996BA7D6-7D37-C0B4-C713-C75230B30D88}"/>
              </a:ext>
            </a:extLst>
          </p:cNvPr>
          <p:cNvSpPr txBox="1"/>
          <p:nvPr/>
        </p:nvSpPr>
        <p:spPr>
          <a:xfrm>
            <a:off x="6035040" y="9225534"/>
            <a:ext cx="6217920" cy="293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9"/>
              </a:lnSpc>
            </a:pPr>
            <a:r>
              <a:rPr lang="en-US" sz="21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Course Title: Project and Thesis</a:t>
            </a:r>
          </a:p>
        </p:txBody>
      </p:sp>
      <p:grpSp>
        <p:nvGrpSpPr>
          <p:cNvPr id="9" name="Group 9">
            <a:extLst>
              <a:ext uri="{FF2B5EF4-FFF2-40B4-BE49-F238E27FC236}">
                <a16:creationId xmlns:a16="http://schemas.microsoft.com/office/drawing/2014/main" id="{1B81F291-8C80-55C2-AC3D-B11AF8839AD8}"/>
              </a:ext>
            </a:extLst>
          </p:cNvPr>
          <p:cNvGrpSpPr/>
          <p:nvPr/>
        </p:nvGrpSpPr>
        <p:grpSpPr>
          <a:xfrm>
            <a:off x="1179195" y="2185035"/>
            <a:ext cx="4773930" cy="613410"/>
            <a:chOff x="0" y="0"/>
            <a:chExt cx="6365240" cy="817880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5FE51E8B-D8FD-4D01-1A59-0BDB76FDEA4E}"/>
                </a:ext>
              </a:extLst>
            </p:cNvPr>
            <p:cNvSpPr/>
            <p:nvPr/>
          </p:nvSpPr>
          <p:spPr>
            <a:xfrm>
              <a:off x="0" y="0"/>
              <a:ext cx="6365240" cy="817880"/>
            </a:xfrm>
            <a:custGeom>
              <a:avLst/>
              <a:gdLst/>
              <a:ahLst/>
              <a:cxnLst/>
              <a:rect l="l" t="t" r="r" b="b"/>
              <a:pathLst>
                <a:path w="6365240" h="817880">
                  <a:moveTo>
                    <a:pt x="0" y="0"/>
                  </a:moveTo>
                  <a:lnTo>
                    <a:pt x="6365240" y="0"/>
                  </a:lnTo>
                  <a:lnTo>
                    <a:pt x="6365240" y="817880"/>
                  </a:lnTo>
                  <a:lnTo>
                    <a:pt x="0" y="8178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101644" b="-101644"/>
              </a:stretch>
            </a:blip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E396804C-271F-B180-8CA4-472D3CF7047F}"/>
                </a:ext>
              </a:extLst>
            </p:cNvPr>
            <p:cNvSpPr txBox="1"/>
            <p:nvPr/>
          </p:nvSpPr>
          <p:spPr>
            <a:xfrm>
              <a:off x="0" y="-19050"/>
              <a:ext cx="6365240" cy="8369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          Methodology Overview</a:t>
              </a:r>
            </a:p>
          </p:txBody>
        </p:sp>
      </p:grpSp>
      <p:grpSp>
        <p:nvGrpSpPr>
          <p:cNvPr id="12" name="Group 12">
            <a:extLst>
              <a:ext uri="{FF2B5EF4-FFF2-40B4-BE49-F238E27FC236}">
                <a16:creationId xmlns:a16="http://schemas.microsoft.com/office/drawing/2014/main" id="{B5A252F2-7716-2E30-F8A4-85BADE5FAA0F}"/>
              </a:ext>
            </a:extLst>
          </p:cNvPr>
          <p:cNvGrpSpPr/>
          <p:nvPr/>
        </p:nvGrpSpPr>
        <p:grpSpPr>
          <a:xfrm>
            <a:off x="1298448" y="2276856"/>
            <a:ext cx="429768" cy="429768"/>
            <a:chOff x="0" y="0"/>
            <a:chExt cx="573024" cy="573024"/>
          </a:xfrm>
        </p:grpSpPr>
        <p:sp>
          <p:nvSpPr>
            <p:cNvPr id="13" name="Freeform 13" descr="image.png">
              <a:extLst>
                <a:ext uri="{FF2B5EF4-FFF2-40B4-BE49-F238E27FC236}">
                  <a16:creationId xmlns:a16="http://schemas.microsoft.com/office/drawing/2014/main" id="{1DF7214A-6D10-12AD-98F2-22448D47897D}"/>
                </a:ext>
              </a:extLst>
            </p:cNvPr>
            <p:cNvSpPr/>
            <p:nvPr/>
          </p:nvSpPr>
          <p:spPr>
            <a:xfrm>
              <a:off x="0" y="0"/>
              <a:ext cx="573024" cy="573024"/>
            </a:xfrm>
            <a:custGeom>
              <a:avLst/>
              <a:gdLst/>
              <a:ahLst/>
              <a:cxnLst/>
              <a:rect l="l" t="t" r="r" b="b"/>
              <a:pathLst>
                <a:path w="573024" h="573024">
                  <a:moveTo>
                    <a:pt x="0" y="0"/>
                  </a:moveTo>
                  <a:lnTo>
                    <a:pt x="573024" y="0"/>
                  </a:lnTo>
                  <a:lnTo>
                    <a:pt x="573024" y="573024"/>
                  </a:lnTo>
                  <a:lnTo>
                    <a:pt x="0" y="5730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7309" b="-730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E45D35C6-B848-DDEE-BC3F-AEFE0F3F2238}"/>
              </a:ext>
            </a:extLst>
          </p:cNvPr>
          <p:cNvSpPr txBox="1"/>
          <p:nvPr/>
        </p:nvSpPr>
        <p:spPr>
          <a:xfrm>
            <a:off x="1280160" y="2952750"/>
            <a:ext cx="9799320" cy="641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We engineered an end-to-end framework combining heterogeneous graph neural screening with symbolic reachability verification and automated policy remediation.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6D9ACA87-AE35-3618-4749-4E47CF1D285C}"/>
              </a:ext>
            </a:extLst>
          </p:cNvPr>
          <p:cNvSpPr txBox="1"/>
          <p:nvPr/>
        </p:nvSpPr>
        <p:spPr>
          <a:xfrm>
            <a:off x="2545080" y="8512301"/>
            <a:ext cx="7772400" cy="384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 i="1" dirty="0">
                <a:solidFill>
                  <a:srgbClr val="000000"/>
                </a:solidFill>
                <a:latin typeface="Times New Roman Italics"/>
                <a:ea typeface="Times New Roman Italics"/>
                <a:cs typeface="Times New Roman Italics"/>
                <a:sym typeface="Times New Roman Italics"/>
              </a:rPr>
              <a:t>Figure: Active Directory Heterogeneous </a:t>
            </a:r>
            <a:r>
              <a:rPr lang="en-US" sz="2000" i="1" dirty="0" err="1">
                <a:solidFill>
                  <a:srgbClr val="000000"/>
                </a:solidFill>
                <a:latin typeface="Times New Roman Italics"/>
                <a:ea typeface="Times New Roman Italics"/>
                <a:cs typeface="Times New Roman Italics"/>
                <a:sym typeface="Times New Roman Italics"/>
              </a:rPr>
              <a:t>Metagraph</a:t>
            </a:r>
            <a:r>
              <a:rPr lang="en-US" sz="2000" i="1" dirty="0">
                <a:solidFill>
                  <a:srgbClr val="000000"/>
                </a:solidFill>
                <a:latin typeface="Times New Roman Italics"/>
                <a:ea typeface="Times New Roman Italics"/>
                <a:cs typeface="Times New Roman Italics"/>
                <a:sym typeface="Times New Roman Italics"/>
              </a:rPr>
              <a:t> Schema</a:t>
            </a:r>
          </a:p>
        </p:txBody>
      </p:sp>
      <p:sp>
        <p:nvSpPr>
          <p:cNvPr id="23" name="Shape 1">
            <a:extLst>
              <a:ext uri="{FF2B5EF4-FFF2-40B4-BE49-F238E27FC236}">
                <a16:creationId xmlns:a16="http://schemas.microsoft.com/office/drawing/2014/main" id="{93FFB263-4DB2-F5AB-9985-009ACA8CEC21}"/>
              </a:ext>
            </a:extLst>
          </p:cNvPr>
          <p:cNvSpPr/>
          <p:nvPr/>
        </p:nvSpPr>
        <p:spPr>
          <a:xfrm>
            <a:off x="1295400" y="4205478"/>
            <a:ext cx="30632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">
            <a:extLst>
              <a:ext uri="{FF2B5EF4-FFF2-40B4-BE49-F238E27FC236}">
                <a16:creationId xmlns:a16="http://schemas.microsoft.com/office/drawing/2014/main" id="{73B38138-6487-3184-06B3-B646B1B01599}"/>
              </a:ext>
            </a:extLst>
          </p:cNvPr>
          <p:cNvSpPr/>
          <p:nvPr/>
        </p:nvSpPr>
        <p:spPr>
          <a:xfrm>
            <a:off x="1295400" y="4205478"/>
            <a:ext cx="3063240" cy="384048"/>
          </a:xfrm>
          <a:prstGeom prst="rect">
            <a:avLst/>
          </a:prstGeom>
          <a:solidFill>
            <a:srgbClr val="0F766E"/>
          </a:solidFill>
          <a:ln w="635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3">
            <a:extLst>
              <a:ext uri="{FF2B5EF4-FFF2-40B4-BE49-F238E27FC236}">
                <a16:creationId xmlns:a16="http://schemas.microsoft.com/office/drawing/2014/main" id="{1C6D5CCB-541B-4A43-A97B-8071C2B06217}"/>
              </a:ext>
            </a:extLst>
          </p:cNvPr>
          <p:cNvSpPr txBox="1"/>
          <p:nvPr/>
        </p:nvSpPr>
        <p:spPr>
          <a:xfrm>
            <a:off x="1432560" y="4205478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Principal</a:t>
            </a:r>
            <a:endParaRPr lang="en-US" sz="1600" dirty="0"/>
          </a:p>
        </p:txBody>
      </p:sp>
      <p:sp>
        <p:nvSpPr>
          <p:cNvPr id="29" name="Text 4">
            <a:extLst>
              <a:ext uri="{FF2B5EF4-FFF2-40B4-BE49-F238E27FC236}">
                <a16:creationId xmlns:a16="http://schemas.microsoft.com/office/drawing/2014/main" id="{9DD78B50-ED76-2490-379E-72D8B50A21FB}"/>
              </a:ext>
            </a:extLst>
          </p:cNvPr>
          <p:cNvSpPr txBox="1"/>
          <p:nvPr/>
        </p:nvSpPr>
        <p:spPr>
          <a:xfrm>
            <a:off x="1432560" y="4644390"/>
            <a:ext cx="27889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 ∈ V</a:t>
            </a:r>
            <a:r>
              <a:rPr lang="en-US" sz="1400" baseline="-40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objectClass: user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Vector  </a:t>
            </a:r>
            <a:r>
              <a:rPr lang="en-US" sz="1300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r>
              <a:rPr lang="en-US" sz="1300" i="1" baseline="-40000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r>
              <a:rPr lang="en-US" sz="1300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∈ ℝ</a:t>
            </a:r>
            <a:r>
              <a:rPr lang="en-US" sz="1300" i="1" baseline="30000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d_u</a:t>
            </a:r>
            <a:endParaRPr lang="en-US" sz="1400" dirty="0"/>
          </a:p>
        </p:txBody>
      </p:sp>
      <p:sp>
        <p:nvSpPr>
          <p:cNvPr id="31" name="Shape 5">
            <a:extLst>
              <a:ext uri="{FF2B5EF4-FFF2-40B4-BE49-F238E27FC236}">
                <a16:creationId xmlns:a16="http://schemas.microsoft.com/office/drawing/2014/main" id="{522BCCC1-2036-EE17-08DE-CF750D2975B5}"/>
              </a:ext>
            </a:extLst>
          </p:cNvPr>
          <p:cNvSpPr/>
          <p:nvPr/>
        </p:nvSpPr>
        <p:spPr>
          <a:xfrm>
            <a:off x="1295400" y="6857238"/>
            <a:ext cx="30632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6">
            <a:extLst>
              <a:ext uri="{FF2B5EF4-FFF2-40B4-BE49-F238E27FC236}">
                <a16:creationId xmlns:a16="http://schemas.microsoft.com/office/drawing/2014/main" id="{A7006FE3-34BD-86BE-BA67-039EF1433931}"/>
              </a:ext>
            </a:extLst>
          </p:cNvPr>
          <p:cNvSpPr/>
          <p:nvPr/>
        </p:nvSpPr>
        <p:spPr>
          <a:xfrm>
            <a:off x="1295400" y="6857238"/>
            <a:ext cx="3063240" cy="384048"/>
          </a:xfrm>
          <a:prstGeom prst="rect">
            <a:avLst/>
          </a:prstGeom>
          <a:solidFill>
            <a:srgbClr val="0F766E"/>
          </a:solidFill>
          <a:ln w="635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7">
            <a:extLst>
              <a:ext uri="{FF2B5EF4-FFF2-40B4-BE49-F238E27FC236}">
                <a16:creationId xmlns:a16="http://schemas.microsoft.com/office/drawing/2014/main" id="{19FFA948-3118-3B04-DC0C-055786FCE130}"/>
              </a:ext>
            </a:extLst>
          </p:cNvPr>
          <p:cNvSpPr txBox="1"/>
          <p:nvPr/>
        </p:nvSpPr>
        <p:spPr>
          <a:xfrm>
            <a:off x="1432560" y="6857238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Object</a:t>
            </a:r>
            <a:endParaRPr lang="en-US" sz="1600" dirty="0"/>
          </a:p>
        </p:txBody>
      </p:sp>
      <p:sp>
        <p:nvSpPr>
          <p:cNvPr id="37" name="Text 8">
            <a:extLst>
              <a:ext uri="{FF2B5EF4-FFF2-40B4-BE49-F238E27FC236}">
                <a16:creationId xmlns:a16="http://schemas.microsoft.com/office/drawing/2014/main" id="{00EDCF03-046C-9FB5-A5EF-247C1140C4F1}"/>
              </a:ext>
            </a:extLst>
          </p:cNvPr>
          <p:cNvSpPr txBox="1"/>
          <p:nvPr/>
        </p:nvSpPr>
        <p:spPr>
          <a:xfrm>
            <a:off x="1432560" y="7296150"/>
            <a:ext cx="27889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 ∈ V</a:t>
            </a:r>
            <a:r>
              <a:rPr lang="en-US" sz="1400" baseline="-40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objectClass: computer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Vector  </a:t>
            </a:r>
            <a:r>
              <a:rPr lang="en-US" sz="1300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r>
              <a:rPr lang="en-US" sz="1300" i="1" baseline="-40000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r>
              <a:rPr lang="en-US" sz="1300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∈ ℝ</a:t>
            </a:r>
            <a:r>
              <a:rPr lang="en-US" sz="1300" i="1" baseline="30000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d_c</a:t>
            </a:r>
            <a:endParaRPr lang="en-US" sz="1400" dirty="0"/>
          </a:p>
        </p:txBody>
      </p:sp>
      <p:sp>
        <p:nvSpPr>
          <p:cNvPr id="39" name="Shape 9">
            <a:extLst>
              <a:ext uri="{FF2B5EF4-FFF2-40B4-BE49-F238E27FC236}">
                <a16:creationId xmlns:a16="http://schemas.microsoft.com/office/drawing/2014/main" id="{166BA348-14DB-E180-B2D4-472F21045419}"/>
              </a:ext>
            </a:extLst>
          </p:cNvPr>
          <p:cNvSpPr/>
          <p:nvPr/>
        </p:nvSpPr>
        <p:spPr>
          <a:xfrm>
            <a:off x="5410200" y="4205478"/>
            <a:ext cx="30632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10">
            <a:extLst>
              <a:ext uri="{FF2B5EF4-FFF2-40B4-BE49-F238E27FC236}">
                <a16:creationId xmlns:a16="http://schemas.microsoft.com/office/drawing/2014/main" id="{64CACDD9-ADDD-E21E-B8D9-FB0E1B0D4FE7}"/>
              </a:ext>
            </a:extLst>
          </p:cNvPr>
          <p:cNvSpPr/>
          <p:nvPr/>
        </p:nvSpPr>
        <p:spPr>
          <a:xfrm>
            <a:off x="5410200" y="4205478"/>
            <a:ext cx="3063240" cy="384048"/>
          </a:xfrm>
          <a:prstGeom prst="rect">
            <a:avLst/>
          </a:prstGeom>
          <a:solidFill>
            <a:srgbClr val="0F766E"/>
          </a:solidFill>
          <a:ln w="635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11">
            <a:extLst>
              <a:ext uri="{FF2B5EF4-FFF2-40B4-BE49-F238E27FC236}">
                <a16:creationId xmlns:a16="http://schemas.microsoft.com/office/drawing/2014/main" id="{FD98DF78-870E-EC0A-6704-3B703A919517}"/>
              </a:ext>
            </a:extLst>
          </p:cNvPr>
          <p:cNvSpPr txBox="1"/>
          <p:nvPr/>
        </p:nvSpPr>
        <p:spPr>
          <a:xfrm>
            <a:off x="5547360" y="4205478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Group</a:t>
            </a:r>
            <a:endParaRPr lang="en-US" sz="1600" dirty="0"/>
          </a:p>
        </p:txBody>
      </p:sp>
      <p:sp>
        <p:nvSpPr>
          <p:cNvPr id="45" name="Text 12">
            <a:extLst>
              <a:ext uri="{FF2B5EF4-FFF2-40B4-BE49-F238E27FC236}">
                <a16:creationId xmlns:a16="http://schemas.microsoft.com/office/drawing/2014/main" id="{B9E05BED-D622-05EA-D1B0-CC10A368A82E}"/>
              </a:ext>
            </a:extLst>
          </p:cNvPr>
          <p:cNvSpPr txBox="1"/>
          <p:nvPr/>
        </p:nvSpPr>
        <p:spPr>
          <a:xfrm>
            <a:off x="5547360" y="4644390"/>
            <a:ext cx="27889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 ∈ V</a:t>
            </a:r>
            <a:r>
              <a:rPr lang="en-US" sz="1400" baseline="-40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objectClass: group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Vector  </a:t>
            </a:r>
            <a:r>
              <a:rPr lang="en-US" sz="1300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r>
              <a:rPr lang="en-US" sz="1300" i="1" baseline="-40000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r>
              <a:rPr lang="en-US" sz="1300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∈ ℝ</a:t>
            </a:r>
            <a:r>
              <a:rPr lang="en-US" sz="1300" i="1" baseline="30000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d_g</a:t>
            </a:r>
            <a:endParaRPr lang="en-US" sz="1400" dirty="0"/>
          </a:p>
        </p:txBody>
      </p:sp>
      <p:sp>
        <p:nvSpPr>
          <p:cNvPr id="47" name="Shape 13">
            <a:extLst>
              <a:ext uri="{FF2B5EF4-FFF2-40B4-BE49-F238E27FC236}">
                <a16:creationId xmlns:a16="http://schemas.microsoft.com/office/drawing/2014/main" id="{22DCDB1E-4973-5EA1-8D03-76B79AF98BFE}"/>
              </a:ext>
            </a:extLst>
          </p:cNvPr>
          <p:cNvSpPr/>
          <p:nvPr/>
        </p:nvSpPr>
        <p:spPr>
          <a:xfrm>
            <a:off x="5410200" y="6857238"/>
            <a:ext cx="30632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9" name="Shape 14">
            <a:extLst>
              <a:ext uri="{FF2B5EF4-FFF2-40B4-BE49-F238E27FC236}">
                <a16:creationId xmlns:a16="http://schemas.microsoft.com/office/drawing/2014/main" id="{7922D5EE-E0C0-FCF9-BB64-6189D605A454}"/>
              </a:ext>
            </a:extLst>
          </p:cNvPr>
          <p:cNvSpPr/>
          <p:nvPr/>
        </p:nvSpPr>
        <p:spPr>
          <a:xfrm>
            <a:off x="5410200" y="6857238"/>
            <a:ext cx="3063240" cy="384048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15">
            <a:extLst>
              <a:ext uri="{FF2B5EF4-FFF2-40B4-BE49-F238E27FC236}">
                <a16:creationId xmlns:a16="http://schemas.microsoft.com/office/drawing/2014/main" id="{B5309C83-E202-B8D4-1663-2846F2F5DC5A}"/>
              </a:ext>
            </a:extLst>
          </p:cNvPr>
          <p:cNvSpPr txBox="1"/>
          <p:nvPr/>
        </p:nvSpPr>
        <p:spPr>
          <a:xfrm>
            <a:off x="5547360" y="6857238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Template</a:t>
            </a:r>
            <a:endParaRPr lang="en-US" sz="1600" dirty="0"/>
          </a:p>
        </p:txBody>
      </p:sp>
      <p:sp>
        <p:nvSpPr>
          <p:cNvPr id="53" name="Text 16">
            <a:extLst>
              <a:ext uri="{FF2B5EF4-FFF2-40B4-BE49-F238E27FC236}">
                <a16:creationId xmlns:a16="http://schemas.microsoft.com/office/drawing/2014/main" id="{0BB8DFDE-A09A-374A-FAB8-B4699F73D2E0}"/>
              </a:ext>
            </a:extLst>
          </p:cNvPr>
          <p:cNvSpPr txBox="1"/>
          <p:nvPr/>
        </p:nvSpPr>
        <p:spPr>
          <a:xfrm>
            <a:off x="5547360" y="7296150"/>
            <a:ext cx="27889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 ∈ V</a:t>
            </a:r>
            <a:r>
              <a:rPr lang="en-US" sz="1400" baseline="-40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Tmpl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class: pKICertificateTemplate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 Vector  </a:t>
            </a:r>
            <a:r>
              <a:rPr lang="en-US" sz="1300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r>
              <a:rPr lang="en-US" sz="1300" i="1" baseline="-40000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r>
              <a:rPr lang="en-US" sz="1300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∈ ℝ</a:t>
            </a:r>
            <a:r>
              <a:rPr lang="en-US" sz="1300" i="1" baseline="30000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(EKU, Flags)</a:t>
            </a:r>
            <a:endParaRPr lang="en-US" sz="1400" dirty="0"/>
          </a:p>
        </p:txBody>
      </p:sp>
      <p:sp>
        <p:nvSpPr>
          <p:cNvPr id="55" name="Shape 17">
            <a:extLst>
              <a:ext uri="{FF2B5EF4-FFF2-40B4-BE49-F238E27FC236}">
                <a16:creationId xmlns:a16="http://schemas.microsoft.com/office/drawing/2014/main" id="{C681E4B2-9A50-8AF1-68EF-A61F1AB46E6A}"/>
              </a:ext>
            </a:extLst>
          </p:cNvPr>
          <p:cNvSpPr/>
          <p:nvPr/>
        </p:nvSpPr>
        <p:spPr>
          <a:xfrm>
            <a:off x="9479279" y="5679053"/>
            <a:ext cx="3063240" cy="125299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7" name="Shape 18">
            <a:extLst>
              <a:ext uri="{FF2B5EF4-FFF2-40B4-BE49-F238E27FC236}">
                <a16:creationId xmlns:a16="http://schemas.microsoft.com/office/drawing/2014/main" id="{4649DF3A-429C-21AB-9CE5-83FCB07F3914}"/>
              </a:ext>
            </a:extLst>
          </p:cNvPr>
          <p:cNvSpPr/>
          <p:nvPr/>
        </p:nvSpPr>
        <p:spPr>
          <a:xfrm>
            <a:off x="9479279" y="5598414"/>
            <a:ext cx="3063240" cy="384048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19">
            <a:extLst>
              <a:ext uri="{FF2B5EF4-FFF2-40B4-BE49-F238E27FC236}">
                <a16:creationId xmlns:a16="http://schemas.microsoft.com/office/drawing/2014/main" id="{520E2E7C-70AA-4408-2A80-18DA0470AEF6}"/>
              </a:ext>
            </a:extLst>
          </p:cNvPr>
          <p:cNvSpPr txBox="1"/>
          <p:nvPr/>
        </p:nvSpPr>
        <p:spPr>
          <a:xfrm>
            <a:off x="9662160" y="5604647"/>
            <a:ext cx="2788920" cy="328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CA</a:t>
            </a:r>
            <a:endParaRPr lang="en-US" sz="1600" dirty="0"/>
          </a:p>
        </p:txBody>
      </p:sp>
      <p:sp>
        <p:nvSpPr>
          <p:cNvPr id="61" name="Text 20">
            <a:extLst>
              <a:ext uri="{FF2B5EF4-FFF2-40B4-BE49-F238E27FC236}">
                <a16:creationId xmlns:a16="http://schemas.microsoft.com/office/drawing/2014/main" id="{550AFF8E-8B1F-26BF-D8AF-AA541D42D35F}"/>
              </a:ext>
            </a:extLst>
          </p:cNvPr>
          <p:cNvSpPr txBox="1"/>
          <p:nvPr/>
        </p:nvSpPr>
        <p:spPr>
          <a:xfrm>
            <a:off x="9662160" y="6085568"/>
            <a:ext cx="2788920" cy="830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 ∈ V</a:t>
            </a:r>
            <a:r>
              <a:rPr lang="en-US" sz="1400" baseline="-40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class: pKIEnrollmentService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Vector  </a:t>
            </a:r>
            <a:r>
              <a:rPr lang="en-US" sz="1300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r>
              <a:rPr lang="en-US" sz="1300" i="1" baseline="-40000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r>
              <a:rPr lang="en-US" sz="1300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∈ ℝ</a:t>
            </a:r>
            <a:r>
              <a:rPr lang="en-US" sz="1300" i="1" baseline="30000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d_ca</a:t>
            </a:r>
            <a:endParaRPr lang="en-US" sz="1400" dirty="0"/>
          </a:p>
        </p:txBody>
      </p:sp>
      <p:sp>
        <p:nvSpPr>
          <p:cNvPr id="63" name="Shape 21">
            <a:extLst>
              <a:ext uri="{FF2B5EF4-FFF2-40B4-BE49-F238E27FC236}">
                <a16:creationId xmlns:a16="http://schemas.microsoft.com/office/drawing/2014/main" id="{89011F34-3412-871E-414C-212489D96FCC}"/>
              </a:ext>
            </a:extLst>
          </p:cNvPr>
          <p:cNvSpPr/>
          <p:nvPr/>
        </p:nvSpPr>
        <p:spPr>
          <a:xfrm>
            <a:off x="4358640" y="4936998"/>
            <a:ext cx="1051560" cy="0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22">
            <a:extLst>
              <a:ext uri="{FF2B5EF4-FFF2-40B4-BE49-F238E27FC236}">
                <a16:creationId xmlns:a16="http://schemas.microsoft.com/office/drawing/2014/main" id="{7E2A88D9-0D19-DD01-F867-B19FBD63E4A9}"/>
              </a:ext>
            </a:extLst>
          </p:cNvPr>
          <p:cNvSpPr txBox="1"/>
          <p:nvPr/>
        </p:nvSpPr>
        <p:spPr>
          <a:xfrm>
            <a:off x="4358640" y="4571238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MemberOf</a:t>
            </a:r>
            <a:endParaRPr lang="en-US" sz="1200" dirty="0"/>
          </a:p>
        </p:txBody>
      </p:sp>
      <p:sp>
        <p:nvSpPr>
          <p:cNvPr id="67" name="Shape 23">
            <a:extLst>
              <a:ext uri="{FF2B5EF4-FFF2-40B4-BE49-F238E27FC236}">
                <a16:creationId xmlns:a16="http://schemas.microsoft.com/office/drawing/2014/main" id="{0F3216C4-BDEC-EF30-E81E-6F8FDF6ACEBF}"/>
              </a:ext>
            </a:extLst>
          </p:cNvPr>
          <p:cNvSpPr/>
          <p:nvPr/>
        </p:nvSpPr>
        <p:spPr>
          <a:xfrm flipV="1">
            <a:off x="6461760" y="3931158"/>
            <a:ext cx="0" cy="274320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24">
            <a:extLst>
              <a:ext uri="{FF2B5EF4-FFF2-40B4-BE49-F238E27FC236}">
                <a16:creationId xmlns:a16="http://schemas.microsoft.com/office/drawing/2014/main" id="{1AEC9796-B581-F5C5-846E-73B693422F71}"/>
              </a:ext>
            </a:extLst>
          </p:cNvPr>
          <p:cNvSpPr/>
          <p:nvPr/>
        </p:nvSpPr>
        <p:spPr>
          <a:xfrm>
            <a:off x="6461760" y="3931158"/>
            <a:ext cx="960120" cy="0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25">
            <a:extLst>
              <a:ext uri="{FF2B5EF4-FFF2-40B4-BE49-F238E27FC236}">
                <a16:creationId xmlns:a16="http://schemas.microsoft.com/office/drawing/2014/main" id="{B7F575E9-8536-68D7-B77B-61102E43C998}"/>
              </a:ext>
            </a:extLst>
          </p:cNvPr>
          <p:cNvSpPr/>
          <p:nvPr/>
        </p:nvSpPr>
        <p:spPr>
          <a:xfrm>
            <a:off x="7421880" y="3931158"/>
            <a:ext cx="0" cy="274320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26">
            <a:extLst>
              <a:ext uri="{FF2B5EF4-FFF2-40B4-BE49-F238E27FC236}">
                <a16:creationId xmlns:a16="http://schemas.microsoft.com/office/drawing/2014/main" id="{24877373-2BF0-D9BE-9B80-AA37BD656AEC}"/>
              </a:ext>
            </a:extLst>
          </p:cNvPr>
          <p:cNvSpPr txBox="1"/>
          <p:nvPr/>
        </p:nvSpPr>
        <p:spPr>
          <a:xfrm>
            <a:off x="7559040" y="376656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MemberOf (transitive nesting)</a:t>
            </a:r>
            <a:endParaRPr lang="en-US" sz="1200" dirty="0"/>
          </a:p>
        </p:txBody>
      </p:sp>
      <p:sp>
        <p:nvSpPr>
          <p:cNvPr id="75" name="Shape 27">
            <a:extLst>
              <a:ext uri="{FF2B5EF4-FFF2-40B4-BE49-F238E27FC236}">
                <a16:creationId xmlns:a16="http://schemas.microsoft.com/office/drawing/2014/main" id="{EA65C0ED-9822-A2DE-7414-88DE0265D950}"/>
              </a:ext>
            </a:extLst>
          </p:cNvPr>
          <p:cNvSpPr/>
          <p:nvPr/>
        </p:nvSpPr>
        <p:spPr>
          <a:xfrm>
            <a:off x="4358640" y="5394198"/>
            <a:ext cx="502920" cy="0"/>
          </a:xfrm>
          <a:prstGeom prst="line">
            <a:avLst/>
          </a:prstGeom>
          <a:noFill/>
          <a:ln w="25400">
            <a:solidFill>
              <a:srgbClr val="334155"/>
            </a:solidFill>
            <a:prstDash val="sysDot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28">
            <a:extLst>
              <a:ext uri="{FF2B5EF4-FFF2-40B4-BE49-F238E27FC236}">
                <a16:creationId xmlns:a16="http://schemas.microsoft.com/office/drawing/2014/main" id="{BDFF366F-34F2-EA63-FD6B-A50D952BF602}"/>
              </a:ext>
            </a:extLst>
          </p:cNvPr>
          <p:cNvSpPr/>
          <p:nvPr/>
        </p:nvSpPr>
        <p:spPr>
          <a:xfrm>
            <a:off x="4861560" y="5394198"/>
            <a:ext cx="0" cy="1920240"/>
          </a:xfrm>
          <a:prstGeom prst="line">
            <a:avLst/>
          </a:prstGeom>
          <a:noFill/>
          <a:ln w="25400">
            <a:solidFill>
              <a:srgbClr val="334155"/>
            </a:solidFill>
            <a:prstDash val="sysDot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29">
            <a:extLst>
              <a:ext uri="{FF2B5EF4-FFF2-40B4-BE49-F238E27FC236}">
                <a16:creationId xmlns:a16="http://schemas.microsoft.com/office/drawing/2014/main" id="{3C8116DA-5A7C-A9AD-6985-CD75460CB7CF}"/>
              </a:ext>
            </a:extLst>
          </p:cNvPr>
          <p:cNvSpPr/>
          <p:nvPr/>
        </p:nvSpPr>
        <p:spPr>
          <a:xfrm>
            <a:off x="4861560" y="7314438"/>
            <a:ext cx="548640" cy="0"/>
          </a:xfrm>
          <a:prstGeom prst="line">
            <a:avLst/>
          </a:prstGeom>
          <a:noFill/>
          <a:ln w="25400">
            <a:solidFill>
              <a:srgbClr val="334155"/>
            </a:solidFill>
            <a:prstDash val="sysDot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30">
            <a:extLst>
              <a:ext uri="{FF2B5EF4-FFF2-40B4-BE49-F238E27FC236}">
                <a16:creationId xmlns:a16="http://schemas.microsoft.com/office/drawing/2014/main" id="{E7469F93-9178-7B61-4A41-814D8E068AC7}"/>
              </a:ext>
            </a:extLst>
          </p:cNvPr>
          <p:cNvSpPr txBox="1"/>
          <p:nvPr/>
        </p:nvSpPr>
        <p:spPr>
          <a:xfrm>
            <a:off x="4953000" y="603427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 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WriteDacl</a:t>
            </a:r>
            <a:endParaRPr lang="en-US" sz="1200" dirty="0"/>
          </a:p>
        </p:txBody>
      </p:sp>
      <p:sp>
        <p:nvSpPr>
          <p:cNvPr id="83" name="Shape 31">
            <a:extLst>
              <a:ext uri="{FF2B5EF4-FFF2-40B4-BE49-F238E27FC236}">
                <a16:creationId xmlns:a16="http://schemas.microsoft.com/office/drawing/2014/main" id="{52895FD1-82F9-031B-AFCA-EB7A48FBF5D2}"/>
              </a:ext>
            </a:extLst>
          </p:cNvPr>
          <p:cNvSpPr/>
          <p:nvPr/>
        </p:nvSpPr>
        <p:spPr>
          <a:xfrm>
            <a:off x="4358640" y="7908798"/>
            <a:ext cx="1051560" cy="0"/>
          </a:xfrm>
          <a:prstGeom prst="line">
            <a:avLst/>
          </a:prstGeom>
          <a:noFill/>
          <a:ln w="25400">
            <a:solidFill>
              <a:srgbClr val="334155"/>
            </a:solidFill>
            <a:prstDash val="sysDot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32">
            <a:extLst>
              <a:ext uri="{FF2B5EF4-FFF2-40B4-BE49-F238E27FC236}">
                <a16:creationId xmlns:a16="http://schemas.microsoft.com/office/drawing/2014/main" id="{70150F56-18C4-67D3-93ED-08925E2F5DD3}"/>
              </a:ext>
            </a:extLst>
          </p:cNvPr>
          <p:cNvSpPr txBox="1"/>
          <p:nvPr/>
        </p:nvSpPr>
        <p:spPr>
          <a:xfrm>
            <a:off x="4404360" y="798195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 /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GenericAll</a:t>
            </a:r>
            <a:endParaRPr lang="en-US" sz="1200" dirty="0"/>
          </a:p>
        </p:txBody>
      </p:sp>
      <p:sp>
        <p:nvSpPr>
          <p:cNvPr id="87" name="Shape 33">
            <a:extLst>
              <a:ext uri="{FF2B5EF4-FFF2-40B4-BE49-F238E27FC236}">
                <a16:creationId xmlns:a16="http://schemas.microsoft.com/office/drawing/2014/main" id="{5102FA8B-4636-A8F2-DCC3-3A4997E22A12}"/>
              </a:ext>
            </a:extLst>
          </p:cNvPr>
          <p:cNvSpPr/>
          <p:nvPr/>
        </p:nvSpPr>
        <p:spPr>
          <a:xfrm>
            <a:off x="6233160" y="5668518"/>
            <a:ext cx="0" cy="1188720"/>
          </a:xfrm>
          <a:prstGeom prst="line">
            <a:avLst/>
          </a:prstGeom>
          <a:noFill/>
          <a:ln w="25400">
            <a:solidFill>
              <a:srgbClr val="334155"/>
            </a:solidFill>
            <a:prstDash val="sysDot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35">
            <a:extLst>
              <a:ext uri="{FF2B5EF4-FFF2-40B4-BE49-F238E27FC236}">
                <a16:creationId xmlns:a16="http://schemas.microsoft.com/office/drawing/2014/main" id="{B773FDDE-5742-03CB-48A7-DB256C4D8C5C}"/>
              </a:ext>
            </a:extLst>
          </p:cNvPr>
          <p:cNvSpPr/>
          <p:nvPr/>
        </p:nvSpPr>
        <p:spPr>
          <a:xfrm>
            <a:off x="8473440" y="4936998"/>
            <a:ext cx="1874520" cy="0"/>
          </a:xfrm>
          <a:prstGeom prst="line">
            <a:avLst/>
          </a:prstGeom>
          <a:noFill/>
          <a:ln w="25400">
            <a:solidFill>
              <a:srgbClr val="334155"/>
            </a:solidFill>
            <a:prstDash val="sysDot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36">
            <a:extLst>
              <a:ext uri="{FF2B5EF4-FFF2-40B4-BE49-F238E27FC236}">
                <a16:creationId xmlns:a16="http://schemas.microsoft.com/office/drawing/2014/main" id="{E468B324-F94E-8E9C-82A0-0E2A56314CA8}"/>
              </a:ext>
            </a:extLst>
          </p:cNvPr>
          <p:cNvSpPr/>
          <p:nvPr/>
        </p:nvSpPr>
        <p:spPr>
          <a:xfrm>
            <a:off x="10347960" y="4936998"/>
            <a:ext cx="0" cy="640080"/>
          </a:xfrm>
          <a:prstGeom prst="line">
            <a:avLst/>
          </a:prstGeom>
          <a:noFill/>
          <a:ln w="25400">
            <a:solidFill>
              <a:srgbClr val="334155"/>
            </a:solidFill>
            <a:prstDash val="sysDot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37">
            <a:extLst>
              <a:ext uri="{FF2B5EF4-FFF2-40B4-BE49-F238E27FC236}">
                <a16:creationId xmlns:a16="http://schemas.microsoft.com/office/drawing/2014/main" id="{084985E0-8905-A73C-0696-BC3B9520F2A7}"/>
              </a:ext>
            </a:extLst>
          </p:cNvPr>
          <p:cNvSpPr txBox="1"/>
          <p:nvPr/>
        </p:nvSpPr>
        <p:spPr>
          <a:xfrm>
            <a:off x="8564880" y="4491231"/>
            <a:ext cx="2011680" cy="400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ManageCA / CertManager</a:t>
            </a:r>
            <a:endParaRPr lang="en-US" sz="1200" dirty="0"/>
          </a:p>
        </p:txBody>
      </p:sp>
      <p:sp>
        <p:nvSpPr>
          <p:cNvPr id="97" name="Shape 38">
            <a:extLst>
              <a:ext uri="{FF2B5EF4-FFF2-40B4-BE49-F238E27FC236}">
                <a16:creationId xmlns:a16="http://schemas.microsoft.com/office/drawing/2014/main" id="{66673AB3-FBD6-E766-8D8F-1A78533E4E17}"/>
              </a:ext>
            </a:extLst>
          </p:cNvPr>
          <p:cNvSpPr/>
          <p:nvPr/>
        </p:nvSpPr>
        <p:spPr>
          <a:xfrm>
            <a:off x="8473440" y="7588758"/>
            <a:ext cx="2606040" cy="0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39">
            <a:extLst>
              <a:ext uri="{FF2B5EF4-FFF2-40B4-BE49-F238E27FC236}">
                <a16:creationId xmlns:a16="http://schemas.microsoft.com/office/drawing/2014/main" id="{D31BF97A-992F-C586-D6A3-C74DB0C70D5C}"/>
              </a:ext>
            </a:extLst>
          </p:cNvPr>
          <p:cNvSpPr/>
          <p:nvPr/>
        </p:nvSpPr>
        <p:spPr>
          <a:xfrm flipV="1">
            <a:off x="11079480" y="7079502"/>
            <a:ext cx="0" cy="469872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1" name="Text 40">
            <a:extLst>
              <a:ext uri="{FF2B5EF4-FFF2-40B4-BE49-F238E27FC236}">
                <a16:creationId xmlns:a16="http://schemas.microsoft.com/office/drawing/2014/main" id="{C8538E45-56F3-7002-EA60-C3B546414FAB}"/>
              </a:ext>
            </a:extLst>
          </p:cNvPr>
          <p:cNvSpPr txBox="1"/>
          <p:nvPr/>
        </p:nvSpPr>
        <p:spPr>
          <a:xfrm>
            <a:off x="8564880" y="7245972"/>
            <a:ext cx="1828800" cy="274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PublishedTo</a:t>
            </a:r>
            <a:endParaRPr lang="en-US" sz="1200" dirty="0"/>
          </a:p>
        </p:txBody>
      </p:sp>
      <p:sp>
        <p:nvSpPr>
          <p:cNvPr id="103" name="Shape 41">
            <a:extLst>
              <a:ext uri="{FF2B5EF4-FFF2-40B4-BE49-F238E27FC236}">
                <a16:creationId xmlns:a16="http://schemas.microsoft.com/office/drawing/2014/main" id="{05C46013-25AE-C97B-3AC7-8944A1641DC0}"/>
              </a:ext>
            </a:extLst>
          </p:cNvPr>
          <p:cNvSpPr/>
          <p:nvPr/>
        </p:nvSpPr>
        <p:spPr>
          <a:xfrm flipV="1">
            <a:off x="7787640" y="5668518"/>
            <a:ext cx="0" cy="1188720"/>
          </a:xfrm>
          <a:prstGeom prst="line">
            <a:avLst/>
          </a:prstGeom>
          <a:noFill/>
          <a:ln w="44450">
            <a:solidFill>
              <a:srgbClr val="C6282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42">
            <a:extLst>
              <a:ext uri="{FF2B5EF4-FFF2-40B4-BE49-F238E27FC236}">
                <a16:creationId xmlns:a16="http://schemas.microsoft.com/office/drawing/2014/main" id="{7E4C1EE7-5A98-82AF-E93B-9A03B1AB8483}"/>
              </a:ext>
            </a:extLst>
          </p:cNvPr>
          <p:cNvSpPr/>
          <p:nvPr/>
        </p:nvSpPr>
        <p:spPr>
          <a:xfrm>
            <a:off x="7764782" y="6015990"/>
            <a:ext cx="1737356" cy="594360"/>
          </a:xfrm>
          <a:prstGeom prst="roundRect">
            <a:avLst>
              <a:gd name="adj" fmla="val 15385"/>
            </a:avLst>
          </a:prstGeom>
          <a:solidFill>
            <a:srgbClr val="FDECEA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Text 43">
            <a:extLst>
              <a:ext uri="{FF2B5EF4-FFF2-40B4-BE49-F238E27FC236}">
                <a16:creationId xmlns:a16="http://schemas.microsoft.com/office/drawing/2014/main" id="{EF3748A5-495A-E86A-285D-EACBB9E6574E}"/>
              </a:ext>
            </a:extLst>
          </p:cNvPr>
          <p:cNvSpPr txBox="1"/>
          <p:nvPr/>
        </p:nvSpPr>
        <p:spPr>
          <a:xfrm>
            <a:off x="7559042" y="6061710"/>
            <a:ext cx="17373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LinksPolicy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(ESC13)</a:t>
            </a:r>
            <a:endParaRPr lang="en-US" sz="1200" dirty="0"/>
          </a:p>
        </p:txBody>
      </p:sp>
      <p:sp>
        <p:nvSpPr>
          <p:cNvPr id="24" name="TextBox 20">
            <a:extLst>
              <a:ext uri="{FF2B5EF4-FFF2-40B4-BE49-F238E27FC236}">
                <a16:creationId xmlns:a16="http://schemas.microsoft.com/office/drawing/2014/main" id="{FAA03C53-2D98-7E3B-1F65-0DB68CE0CCF7}"/>
              </a:ext>
            </a:extLst>
          </p:cNvPr>
          <p:cNvSpPr txBox="1"/>
          <p:nvPr/>
        </p:nvSpPr>
        <p:spPr>
          <a:xfrm>
            <a:off x="12954000" y="2899172"/>
            <a:ext cx="4648198" cy="55399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 b="1" u="sng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Phase 1 — Ingestion &amp; Graph Construction:</a:t>
            </a:r>
          </a:p>
          <a:p>
            <a:pPr algn="r">
              <a:lnSpc>
                <a:spcPts val="2400"/>
              </a:lnSpc>
            </a:pPr>
            <a:r>
              <a:rPr lang="en-US" sz="2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Ingests AD directory objects, extracts 5 entity classes and 8 relation types, and expands nested group memberships via transitive closure.</a:t>
            </a:r>
          </a:p>
          <a:p>
            <a:pPr algn="just">
              <a:lnSpc>
                <a:spcPts val="2400"/>
              </a:lnSpc>
            </a:pPr>
            <a:endParaRPr lang="en-US" sz="20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r">
              <a:lnSpc>
                <a:spcPts val="2400"/>
              </a:lnSpc>
            </a:pPr>
            <a:r>
              <a:rPr lang="en-US" sz="2000" b="1" u="sng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Phase 2 — Relational GNN Classification:</a:t>
            </a:r>
            <a:r>
              <a:rPr lang="en-US" sz="2000" u="sng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Projects heterogeneous features into a 64-dim space and applies 2 Relational GAT layers to classify templates into 7 escalation categories.</a:t>
            </a:r>
          </a:p>
          <a:p>
            <a:pPr algn="just">
              <a:lnSpc>
                <a:spcPts val="2400"/>
              </a:lnSpc>
            </a:pPr>
            <a:endParaRPr lang="en-US" sz="20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r">
              <a:lnSpc>
                <a:spcPts val="2400"/>
              </a:lnSpc>
            </a:pPr>
            <a:r>
              <a:rPr lang="en-US" sz="2000" b="1" u="sng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Phase 3 — Hybrid Verification &amp; Remediation:</a:t>
            </a:r>
          </a:p>
          <a:p>
            <a:pPr algn="r">
              <a:lnSpc>
                <a:spcPts val="2400"/>
              </a:lnSpc>
            </a:pPr>
            <a:r>
              <a:rPr lang="en-US" sz="2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Filters suspect templates through a symbolic engine to eliminate false alarms, then outputs optimal ACL remediation actions.</a:t>
            </a:r>
          </a:p>
        </p:txBody>
      </p:sp>
    </p:spTree>
    <p:extLst>
      <p:ext uri="{BB962C8B-B14F-4D97-AF65-F5344CB8AC3E}">
        <p14:creationId xmlns:p14="http://schemas.microsoft.com/office/powerpoint/2010/main" val="1142589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3" grpId="0" animBg="1"/>
      <p:bldP spid="25" grpId="0" animBg="1"/>
      <p:bldP spid="27" grpId="0" animBg="1"/>
      <p:bldP spid="29" grpId="0" animBg="1"/>
      <p:bldP spid="31" grpId="0" animBg="1"/>
      <p:bldP spid="33" grpId="0" animBg="1"/>
      <p:bldP spid="35" grpId="0" animBg="1"/>
      <p:bldP spid="37" grpId="0" animBg="1"/>
      <p:bldP spid="39" grpId="0" animBg="1"/>
      <p:bldP spid="41" grpId="0" animBg="1"/>
      <p:bldP spid="43" grpId="0" animBg="1"/>
      <p:bldP spid="45" grpId="0" animBg="1"/>
      <p:bldP spid="47" grpId="0" animBg="1"/>
      <p:bldP spid="49" grpId="0" animBg="1"/>
      <p:bldP spid="51" grpId="0" animBg="1"/>
      <p:bldP spid="53" grpId="0" animBg="1"/>
      <p:bldP spid="55" grpId="0" animBg="1"/>
      <p:bldP spid="57" grpId="0" animBg="1"/>
      <p:bldP spid="59" grpId="0" animBg="1"/>
      <p:bldP spid="61" grpId="0" animBg="1"/>
      <p:bldP spid="63" grpId="0" animBg="1"/>
      <p:bldP spid="65" grpId="0" animBg="1"/>
      <p:bldP spid="67" grpId="0" animBg="1"/>
      <p:bldP spid="69" grpId="0" animBg="1"/>
      <p:bldP spid="71" grpId="0" animBg="1"/>
      <p:bldP spid="73" grpId="0" animBg="1"/>
      <p:bldP spid="75" grpId="0" animBg="1"/>
      <p:bldP spid="77" grpId="0" animBg="1"/>
      <p:bldP spid="79" grpId="0" animBg="1"/>
      <p:bldP spid="81" grpId="0" animBg="1"/>
      <p:bldP spid="83" grpId="0" animBg="1"/>
      <p:bldP spid="85" grpId="0" animBg="1"/>
      <p:bldP spid="87" grpId="0" animBg="1"/>
      <p:bldP spid="91" grpId="0" animBg="1"/>
      <p:bldP spid="93" grpId="0" animBg="1"/>
      <p:bldP spid="95" grpId="0" animBg="1"/>
      <p:bldP spid="97" grpId="0" animBg="1"/>
      <p:bldP spid="99" grpId="0" animBg="1"/>
      <p:bldP spid="101" grpId="0" animBg="1"/>
      <p:bldP spid="103" grpId="0" animBg="1"/>
      <p:bldP spid="105" grpId="0" animBg="1"/>
      <p:bldP spid="107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6" name="Group 2">
            <a:extLst>
              <a:ext uri="{FF2B5EF4-FFF2-40B4-BE49-F238E27FC236}">
                <a16:creationId xmlns:a16="http://schemas.microsoft.com/office/drawing/2014/main" id="{731B5C17-6BCF-DF78-A580-7FBB95A3DFB6}"/>
              </a:ext>
            </a:extLst>
          </p:cNvPr>
          <p:cNvGrpSpPr/>
          <p:nvPr/>
        </p:nvGrpSpPr>
        <p:grpSpPr>
          <a:xfrm rot="-5400000">
            <a:off x="4000500" y="-4000500"/>
            <a:ext cx="10287000" cy="18288000"/>
            <a:chOff x="0" y="0"/>
            <a:chExt cx="13716000" cy="24384000"/>
          </a:xfrm>
        </p:grpSpPr>
        <p:sp>
          <p:nvSpPr>
            <p:cNvPr id="17" name="Freeform 3">
              <a:extLst>
                <a:ext uri="{FF2B5EF4-FFF2-40B4-BE49-F238E27FC236}">
                  <a16:creationId xmlns:a16="http://schemas.microsoft.com/office/drawing/2014/main" id="{97CCE7FF-484B-9FE4-884C-935926E60133}"/>
                </a:ext>
              </a:extLst>
            </p:cNvPr>
            <p:cNvSpPr/>
            <p:nvPr/>
          </p:nvSpPr>
          <p:spPr>
            <a:xfrm>
              <a:off x="0" y="0"/>
              <a:ext cx="13716000" cy="24384000"/>
            </a:xfrm>
            <a:custGeom>
              <a:avLst/>
              <a:gdLst/>
              <a:ahLst/>
              <a:cxnLst/>
              <a:rect l="l" t="t" r="r" b="b"/>
              <a:pathLst>
                <a:path w="13716000" h="24384000">
                  <a:moveTo>
                    <a:pt x="13716000" y="0"/>
                  </a:moveTo>
                  <a:lnTo>
                    <a:pt x="13716000" y="24384000"/>
                  </a:lnTo>
                  <a:lnTo>
                    <a:pt x="0" y="24384000"/>
                  </a:lnTo>
                  <a:lnTo>
                    <a:pt x="0" y="0"/>
                  </a:lnTo>
                  <a:lnTo>
                    <a:pt x="13716000" y="0"/>
                  </a:lnTo>
                  <a:close/>
                </a:path>
              </a:pathLst>
            </a:custGeom>
            <a:blipFill>
              <a:blip r:embed="rId3"/>
              <a:stretch>
                <a:fillRect l="-12840" r="-1284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4539B572-46E7-A34B-ED85-FE6518A220FC}"/>
              </a:ext>
            </a:extLst>
          </p:cNvPr>
          <p:cNvGrpSpPr/>
          <p:nvPr/>
        </p:nvGrpSpPr>
        <p:grpSpPr>
          <a:xfrm>
            <a:off x="1197864" y="832104"/>
            <a:ext cx="905256" cy="1152144"/>
            <a:chOff x="0" y="0"/>
            <a:chExt cx="1207008" cy="1536192"/>
          </a:xfrm>
        </p:grpSpPr>
        <p:sp>
          <p:nvSpPr>
            <p:cNvPr id="5" name="Freeform 5" descr="image.png">
              <a:extLst>
                <a:ext uri="{FF2B5EF4-FFF2-40B4-BE49-F238E27FC236}">
                  <a16:creationId xmlns:a16="http://schemas.microsoft.com/office/drawing/2014/main" id="{C3500A97-ABFC-7ABF-E8FA-FFD7C3BEB050}"/>
                </a:ext>
              </a:extLst>
            </p:cNvPr>
            <p:cNvSpPr/>
            <p:nvPr/>
          </p:nvSpPr>
          <p:spPr>
            <a:xfrm>
              <a:off x="0" y="0"/>
              <a:ext cx="1207008" cy="1536192"/>
            </a:xfrm>
            <a:custGeom>
              <a:avLst/>
              <a:gdLst/>
              <a:ahLst/>
              <a:cxnLst/>
              <a:rect l="l" t="t" r="r" b="b"/>
              <a:pathLst>
                <a:path w="1207008" h="1536192">
                  <a:moveTo>
                    <a:pt x="0" y="0"/>
                  </a:moveTo>
                  <a:lnTo>
                    <a:pt x="1207008" y="0"/>
                  </a:lnTo>
                  <a:lnTo>
                    <a:pt x="1207008" y="1536192"/>
                  </a:lnTo>
                  <a:lnTo>
                    <a:pt x="0" y="15361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99" r="-9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2A880468-52A2-9E34-C874-8555B05ECE58}"/>
              </a:ext>
            </a:extLst>
          </p:cNvPr>
          <p:cNvSpPr txBox="1"/>
          <p:nvPr/>
        </p:nvSpPr>
        <p:spPr>
          <a:xfrm>
            <a:off x="2441448" y="1005078"/>
            <a:ext cx="12801600" cy="7597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  <a:defRPr sz="3100" b="1">
                <a:solidFill>
                  <a:srgbClr val="000000"/>
                </a:solidFill>
                <a:latin typeface="Times New Roman"/>
              </a:defRPr>
            </a:pPr>
            <a:r>
              <a:t>PROPOSED METHODOLOGY: GRAPH FORMULATION &amp; PIPELINE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C532096A-E3F2-F423-8441-07E60EFB4AC8}"/>
              </a:ext>
            </a:extLst>
          </p:cNvPr>
          <p:cNvSpPr txBox="1"/>
          <p:nvPr/>
        </p:nvSpPr>
        <p:spPr>
          <a:xfrm>
            <a:off x="15672816" y="465582"/>
            <a:ext cx="1600200" cy="320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39"/>
              </a:lnSpc>
              <a:defRPr sz="2200">
                <a:solidFill>
                  <a:srgbClr val="000000"/>
                </a:solidFill>
                <a:latin typeface="Times New Roman"/>
              </a:defRPr>
            </a:pPr>
            <a:r>
              <a:t>05b/15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996BA7D6-7D37-C0B4-C713-C75230B30D88}"/>
              </a:ext>
            </a:extLst>
          </p:cNvPr>
          <p:cNvSpPr txBox="1"/>
          <p:nvPr/>
        </p:nvSpPr>
        <p:spPr>
          <a:xfrm>
            <a:off x="6035040" y="9225534"/>
            <a:ext cx="6217920" cy="293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9"/>
              </a:lnSpc>
            </a:pPr>
            <a:r>
              <a:rPr lang="en-US" sz="21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Course Title: Project and Thesis</a:t>
            </a:r>
          </a:p>
        </p:txBody>
      </p:sp>
      <p:grpSp>
        <p:nvGrpSpPr>
          <p:cNvPr id="9" name="Group 9">
            <a:extLst>
              <a:ext uri="{FF2B5EF4-FFF2-40B4-BE49-F238E27FC236}">
                <a16:creationId xmlns:a16="http://schemas.microsoft.com/office/drawing/2014/main" id="{1B81F291-8C80-55C2-AC3D-B11AF8839AD8}"/>
              </a:ext>
            </a:extLst>
          </p:cNvPr>
          <p:cNvGrpSpPr/>
          <p:nvPr/>
        </p:nvGrpSpPr>
        <p:grpSpPr>
          <a:xfrm>
            <a:off x="1179195" y="2185035"/>
            <a:ext cx="4773930" cy="613410"/>
            <a:chOff x="0" y="0"/>
            <a:chExt cx="6365240" cy="817880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5FE51E8B-D8FD-4D01-1A59-0BDB76FDEA4E}"/>
                </a:ext>
              </a:extLst>
            </p:cNvPr>
            <p:cNvSpPr/>
            <p:nvPr/>
          </p:nvSpPr>
          <p:spPr>
            <a:xfrm>
              <a:off x="0" y="0"/>
              <a:ext cx="6365240" cy="817880"/>
            </a:xfrm>
            <a:custGeom>
              <a:avLst/>
              <a:gdLst/>
              <a:ahLst/>
              <a:cxnLst/>
              <a:rect l="l" t="t" r="r" b="b"/>
              <a:pathLst>
                <a:path w="6365240" h="817880">
                  <a:moveTo>
                    <a:pt x="0" y="0"/>
                  </a:moveTo>
                  <a:lnTo>
                    <a:pt x="6365240" y="0"/>
                  </a:lnTo>
                  <a:lnTo>
                    <a:pt x="6365240" y="817880"/>
                  </a:lnTo>
                  <a:lnTo>
                    <a:pt x="0" y="8178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101644" b="-101644"/>
              </a:stretch>
            </a:blip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E396804C-271F-B180-8CA4-472D3CF7047F}"/>
                </a:ext>
              </a:extLst>
            </p:cNvPr>
            <p:cNvSpPr txBox="1"/>
            <p:nvPr/>
          </p:nvSpPr>
          <p:spPr>
            <a:xfrm>
              <a:off x="0" y="-19050"/>
              <a:ext cx="6365240" cy="8369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520"/>
                </a:lnSpc>
                <a:defRPr sz="2000" b="1">
                  <a:solidFill>
                    <a:srgbClr val="000000"/>
                  </a:solidFill>
                  <a:latin typeface="Times New Roman"/>
                </a:defRPr>
              </a:pPr>
              <a:r>
                <a:t>          CertGraph GNN Pipeline</a:t>
              </a:r>
            </a:p>
          </p:txBody>
        </p:sp>
      </p:grpSp>
      <p:grpSp>
        <p:nvGrpSpPr>
          <p:cNvPr id="12" name="Group 12">
            <a:extLst>
              <a:ext uri="{FF2B5EF4-FFF2-40B4-BE49-F238E27FC236}">
                <a16:creationId xmlns:a16="http://schemas.microsoft.com/office/drawing/2014/main" id="{B5A252F2-7716-2E30-F8A4-85BADE5FAA0F}"/>
              </a:ext>
            </a:extLst>
          </p:cNvPr>
          <p:cNvGrpSpPr/>
          <p:nvPr/>
        </p:nvGrpSpPr>
        <p:grpSpPr>
          <a:xfrm>
            <a:off x="1298448" y="2276856"/>
            <a:ext cx="429768" cy="429768"/>
            <a:chOff x="0" y="0"/>
            <a:chExt cx="573024" cy="573024"/>
          </a:xfrm>
        </p:grpSpPr>
        <p:sp>
          <p:nvSpPr>
            <p:cNvPr id="13" name="Freeform 13" descr="image.png">
              <a:extLst>
                <a:ext uri="{FF2B5EF4-FFF2-40B4-BE49-F238E27FC236}">
                  <a16:creationId xmlns:a16="http://schemas.microsoft.com/office/drawing/2014/main" id="{1DF7214A-6D10-12AD-98F2-22448D47897D}"/>
                </a:ext>
              </a:extLst>
            </p:cNvPr>
            <p:cNvSpPr/>
            <p:nvPr/>
          </p:nvSpPr>
          <p:spPr>
            <a:xfrm>
              <a:off x="0" y="0"/>
              <a:ext cx="573024" cy="573024"/>
            </a:xfrm>
            <a:custGeom>
              <a:avLst/>
              <a:gdLst/>
              <a:ahLst/>
              <a:cxnLst/>
              <a:rect l="l" t="t" r="r" b="b"/>
              <a:pathLst>
                <a:path w="573024" h="573024">
                  <a:moveTo>
                    <a:pt x="0" y="0"/>
                  </a:moveTo>
                  <a:lnTo>
                    <a:pt x="573024" y="0"/>
                  </a:lnTo>
                  <a:lnTo>
                    <a:pt x="573024" y="573024"/>
                  </a:lnTo>
                  <a:lnTo>
                    <a:pt x="0" y="5730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7309" b="-730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E45D35C6-B848-DDEE-BC3F-AEFE0F3F2238}"/>
              </a:ext>
            </a:extLst>
          </p:cNvPr>
          <p:cNvSpPr txBox="1"/>
          <p:nvPr/>
        </p:nvSpPr>
        <p:spPr>
          <a:xfrm>
            <a:off x="1280160" y="2952750"/>
            <a:ext cx="9799320" cy="641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defRPr sz="2000" b="1">
                <a:solidFill>
                  <a:srgbClr val="000000"/>
                </a:solidFill>
                <a:latin typeface="Times New Roman"/>
              </a:defRPr>
            </a:pPr>
            <a:r>
              <a:t>Our methodology formalizes Active Directory as a typed heterogeneous multigraph, enabling inductive GNN reasoning over complex multi-hop delegation chains.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6D9ACA87-AE35-3618-4749-4E47CF1D285C}"/>
              </a:ext>
            </a:extLst>
          </p:cNvPr>
          <p:cNvSpPr txBox="1"/>
          <p:nvPr/>
        </p:nvSpPr>
        <p:spPr>
          <a:xfrm>
            <a:off x="1463040" y="7909560"/>
            <a:ext cx="15361920" cy="384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defRPr sz="1700" i="1">
                <a:solidFill>
                  <a:srgbClr val="334155"/>
                </a:solidFill>
                <a:latin typeface="Times New Roman"/>
              </a:defRPr>
            </a:pPr>
            <a:r>
              <a:t>Figure: End-to-End Proposed Methodology — Heterogeneous Multigraph Formalization, Inductive Hetero-GAT Engine, and Neuro-Symbolic Verification</a:t>
            </a:r>
          </a:p>
        </p:txBody>
      </p:sp>
      <p:pic>
        <p:nvPicPr>
          <p:cNvPr id="22" name="Picture 21" descr="methodology_gnn_grap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63040" y="3493008"/>
            <a:ext cx="1536192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0" name="Group 2">
            <a:extLst>
              <a:ext uri="{FF2B5EF4-FFF2-40B4-BE49-F238E27FC236}">
                <a16:creationId xmlns:a16="http://schemas.microsoft.com/office/drawing/2014/main" id="{585D0058-B91E-A8AE-DC6B-B3118B0F36B7}"/>
              </a:ext>
            </a:extLst>
          </p:cNvPr>
          <p:cNvGrpSpPr/>
          <p:nvPr/>
        </p:nvGrpSpPr>
        <p:grpSpPr>
          <a:xfrm rot="-5400000">
            <a:off x="4000500" y="-4000500"/>
            <a:ext cx="10287000" cy="18288000"/>
            <a:chOff x="0" y="0"/>
            <a:chExt cx="13716000" cy="24384000"/>
          </a:xfrm>
        </p:grpSpPr>
        <p:sp>
          <p:nvSpPr>
            <p:cNvPr id="131" name="Freeform 3">
              <a:extLst>
                <a:ext uri="{FF2B5EF4-FFF2-40B4-BE49-F238E27FC236}">
                  <a16:creationId xmlns:a16="http://schemas.microsoft.com/office/drawing/2014/main" id="{FF8E988A-2B5E-8ABC-75C8-E577819FBECD}"/>
                </a:ext>
              </a:extLst>
            </p:cNvPr>
            <p:cNvSpPr/>
            <p:nvPr/>
          </p:nvSpPr>
          <p:spPr>
            <a:xfrm>
              <a:off x="0" y="0"/>
              <a:ext cx="13716000" cy="24384000"/>
            </a:xfrm>
            <a:custGeom>
              <a:avLst/>
              <a:gdLst/>
              <a:ahLst/>
              <a:cxnLst/>
              <a:rect l="l" t="t" r="r" b="b"/>
              <a:pathLst>
                <a:path w="13716000" h="24384000">
                  <a:moveTo>
                    <a:pt x="13716000" y="0"/>
                  </a:moveTo>
                  <a:lnTo>
                    <a:pt x="13716000" y="24384000"/>
                  </a:lnTo>
                  <a:lnTo>
                    <a:pt x="0" y="24384000"/>
                  </a:lnTo>
                  <a:lnTo>
                    <a:pt x="0" y="0"/>
                  </a:lnTo>
                  <a:lnTo>
                    <a:pt x="13716000" y="0"/>
                  </a:lnTo>
                  <a:close/>
                </a:path>
              </a:pathLst>
            </a:custGeom>
            <a:blipFill>
              <a:blip r:embed="rId3"/>
              <a:stretch>
                <a:fillRect l="-12840" r="-1284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197864" y="832104"/>
            <a:ext cx="905256" cy="1152144"/>
            <a:chOff x="0" y="0"/>
            <a:chExt cx="1207008" cy="1536192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1207008" cy="1536192"/>
            </a:xfrm>
            <a:custGeom>
              <a:avLst/>
              <a:gdLst/>
              <a:ahLst/>
              <a:cxnLst/>
              <a:rect l="l" t="t" r="r" b="b"/>
              <a:pathLst>
                <a:path w="1207008" h="1536192">
                  <a:moveTo>
                    <a:pt x="0" y="0"/>
                  </a:moveTo>
                  <a:lnTo>
                    <a:pt x="1207008" y="0"/>
                  </a:lnTo>
                  <a:lnTo>
                    <a:pt x="1207008" y="1536192"/>
                  </a:lnTo>
                  <a:lnTo>
                    <a:pt x="0" y="15361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99" r="-9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2441448" y="995553"/>
            <a:ext cx="12801600" cy="7692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ADCS ATTACK MECHANICS: ESC13 CASE STUDY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672816" y="465582"/>
            <a:ext cx="1600200" cy="320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39"/>
              </a:lnSpc>
            </a:pPr>
            <a:r>
              <a:rPr lang="en-US" sz="21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06/15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35040" y="9574530"/>
            <a:ext cx="6217920" cy="293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9"/>
              </a:lnSpc>
            </a:pPr>
            <a:r>
              <a:rPr lang="en-US" sz="21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Course Title: Project and Thesis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179195" y="2185035"/>
            <a:ext cx="4773930" cy="613410"/>
            <a:chOff x="0" y="0"/>
            <a:chExt cx="6365240" cy="81788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365240" cy="817880"/>
            </a:xfrm>
            <a:custGeom>
              <a:avLst/>
              <a:gdLst/>
              <a:ahLst/>
              <a:cxnLst/>
              <a:rect l="l" t="t" r="r" b="b"/>
              <a:pathLst>
                <a:path w="6365240" h="817880">
                  <a:moveTo>
                    <a:pt x="0" y="0"/>
                  </a:moveTo>
                  <a:lnTo>
                    <a:pt x="6365240" y="0"/>
                  </a:lnTo>
                  <a:lnTo>
                    <a:pt x="6365240" y="817880"/>
                  </a:lnTo>
                  <a:lnTo>
                    <a:pt x="0" y="8178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101644" b="-101644"/>
              </a:stretch>
            </a:blip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19050"/>
              <a:ext cx="6365240" cy="8369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          ESC13 Attack Progression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98448" y="2276856"/>
            <a:ext cx="429768" cy="429768"/>
            <a:chOff x="0" y="0"/>
            <a:chExt cx="573024" cy="573024"/>
          </a:xfrm>
        </p:grpSpPr>
        <p:sp>
          <p:nvSpPr>
            <p:cNvPr id="13" name="Freeform 13" descr="image.png"/>
            <p:cNvSpPr/>
            <p:nvPr/>
          </p:nvSpPr>
          <p:spPr>
            <a:xfrm>
              <a:off x="0" y="0"/>
              <a:ext cx="573024" cy="573024"/>
            </a:xfrm>
            <a:custGeom>
              <a:avLst/>
              <a:gdLst/>
              <a:ahLst/>
              <a:cxnLst/>
              <a:rect l="l" t="t" r="r" b="b"/>
              <a:pathLst>
                <a:path w="573024" h="573024">
                  <a:moveTo>
                    <a:pt x="0" y="0"/>
                  </a:moveTo>
                  <a:lnTo>
                    <a:pt x="573024" y="0"/>
                  </a:lnTo>
                  <a:lnTo>
                    <a:pt x="573024" y="573024"/>
                  </a:lnTo>
                  <a:lnTo>
                    <a:pt x="0" y="5730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8823" r="-882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455105" y="1771650"/>
            <a:ext cx="7315200" cy="2762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4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Step 1 — Target Discovery:</a:t>
            </a:r>
            <a:r>
              <a:rPr lang="en-US" sz="2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Attacker discovers a certificate template linked to an issuance policy OID granting administrative rights.</a:t>
            </a:r>
          </a:p>
          <a:p>
            <a:pPr algn="just">
              <a:lnSpc>
                <a:spcPts val="24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Step 2 — Intermediate Enrollment:</a:t>
            </a:r>
            <a:r>
              <a:rPr lang="en-US" sz="2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Low-privilege account enrolls via an intermediate security group with valid enrollment permissions.</a:t>
            </a:r>
          </a:p>
          <a:p>
            <a:pPr algn="just">
              <a:lnSpc>
                <a:spcPts val="24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Step 3 — PKINIT Authentication:</a:t>
            </a:r>
            <a:r>
              <a:rPr lang="en-US" sz="2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The issued certificate is authenticated via Kerberos PKINIT, issuing a high-privilege Ticket Granting Ticket (TGT).</a:t>
            </a:r>
          </a:p>
          <a:p>
            <a:pPr algn="just">
              <a:lnSpc>
                <a:spcPts val="24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Step 4 — Enterprise Compromise:</a:t>
            </a:r>
            <a:r>
              <a:rPr lang="en-US" sz="2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Attacker executes </a:t>
            </a:r>
            <a:r>
              <a:rPr lang="en-US" sz="2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DCSync</a:t>
            </a:r>
            <a:r>
              <a:rPr lang="en-US" sz="2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replication to extract all domain credentials.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179195" y="2827001"/>
            <a:ext cx="7946137" cy="1800182"/>
            <a:chOff x="0" y="-19049"/>
            <a:chExt cx="8800023" cy="240024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800023" cy="2381194"/>
            </a:xfrm>
            <a:custGeom>
              <a:avLst/>
              <a:gdLst/>
              <a:ahLst/>
              <a:cxnLst/>
              <a:rect l="l" t="t" r="r" b="b"/>
              <a:pathLst>
                <a:path w="8800023" h="2381194">
                  <a:moveTo>
                    <a:pt x="0" y="0"/>
                  </a:moveTo>
                  <a:lnTo>
                    <a:pt x="8800023" y="0"/>
                  </a:lnTo>
                  <a:lnTo>
                    <a:pt x="8800023" y="2381194"/>
                  </a:lnTo>
                  <a:lnTo>
                    <a:pt x="0" y="238119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22601" r="-13895" b="-41430"/>
              </a:stretch>
            </a:blip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" y="-19049"/>
              <a:ext cx="8574506" cy="24002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2520"/>
                </a:lnSpc>
              </a:pPr>
              <a:r>
                <a:rPr lang="en-US" sz="2100" b="1" dirty="0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Why Single-Node Inspection Fails:</a:t>
              </a:r>
            </a:p>
            <a:p>
              <a:pPr algn="just">
                <a:lnSpc>
                  <a:spcPts val="2400"/>
                </a:lnSpc>
              </a:pPr>
              <a:r>
                <a:rPr lang="en-US" sz="2000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Vulnerabilities exist solely as multi-hop path closures across separate objects. Every permission appears benign in isolation. </a:t>
              </a:r>
              <a:r>
                <a:rPr lang="en-US" sz="2000" dirty="0" err="1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CertGraph</a:t>
              </a:r>
              <a:r>
                <a:rPr lang="en-US" sz="2000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 captures these multi-hop relational chains that individual rule scanners miss.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5638800" y="8877300"/>
            <a:ext cx="7772400" cy="384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 i="1" dirty="0">
                <a:solidFill>
                  <a:srgbClr val="000000"/>
                </a:solidFill>
                <a:latin typeface="Times New Roman Italics"/>
                <a:ea typeface="Times New Roman Italics"/>
                <a:cs typeface="Times New Roman Italics"/>
                <a:sym typeface="Times New Roman Italics"/>
              </a:rPr>
              <a:t>Figure: Two-Hop ESC13 Privilege Escalation Attack Chain</a:t>
            </a:r>
          </a:p>
        </p:txBody>
      </p:sp>
      <p:sp>
        <p:nvSpPr>
          <p:cNvPr id="21" name="Shape 1">
            <a:extLst>
              <a:ext uri="{FF2B5EF4-FFF2-40B4-BE49-F238E27FC236}">
                <a16:creationId xmlns:a16="http://schemas.microsoft.com/office/drawing/2014/main" id="{1C445FA6-764A-0176-888B-4B904367EB02}"/>
              </a:ext>
            </a:extLst>
          </p:cNvPr>
          <p:cNvSpPr/>
          <p:nvPr/>
        </p:nvSpPr>
        <p:spPr>
          <a:xfrm>
            <a:off x="3810000" y="4855683"/>
            <a:ext cx="2049780" cy="2073073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F06C5A95-8B06-F92F-D9A7-D0C8C3278B9D}"/>
              </a:ext>
            </a:extLst>
          </p:cNvPr>
          <p:cNvSpPr/>
          <p:nvPr/>
        </p:nvSpPr>
        <p:spPr>
          <a:xfrm>
            <a:off x="3810000" y="4855683"/>
            <a:ext cx="2049780" cy="450668"/>
          </a:xfrm>
          <a:prstGeom prst="rect">
            <a:avLst/>
          </a:prstGeom>
          <a:solidFill>
            <a:srgbClr val="0F766E"/>
          </a:solidFill>
          <a:ln w="635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3">
            <a:extLst>
              <a:ext uri="{FF2B5EF4-FFF2-40B4-BE49-F238E27FC236}">
                <a16:creationId xmlns:a16="http://schemas.microsoft.com/office/drawing/2014/main" id="{4D0E0774-1976-C988-D94C-FDC85EC2285D}"/>
              </a:ext>
            </a:extLst>
          </p:cNvPr>
          <p:cNvSpPr txBox="1"/>
          <p:nvPr/>
        </p:nvSpPr>
        <p:spPr>
          <a:xfrm>
            <a:off x="4021110" y="4855683"/>
            <a:ext cx="1617690" cy="450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Principal</a:t>
            </a:r>
            <a:endParaRPr lang="en-US" sz="1300" dirty="0"/>
          </a:p>
        </p:txBody>
      </p:sp>
      <p:sp>
        <p:nvSpPr>
          <p:cNvPr id="27" name="Text 4">
            <a:extLst>
              <a:ext uri="{FF2B5EF4-FFF2-40B4-BE49-F238E27FC236}">
                <a16:creationId xmlns:a16="http://schemas.microsoft.com/office/drawing/2014/main" id="{AA7B3755-0886-5A56-AC0D-0FD706F51260}"/>
              </a:ext>
            </a:extLst>
          </p:cNvPr>
          <p:cNvSpPr txBox="1"/>
          <p:nvPr/>
        </p:nvSpPr>
        <p:spPr>
          <a:xfrm>
            <a:off x="3883152" y="5422611"/>
            <a:ext cx="1893606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Low-Priv User</a:t>
            </a:r>
            <a:endParaRPr lang="en-US" sz="1900" dirty="0"/>
          </a:p>
        </p:txBody>
      </p:sp>
      <p:sp>
        <p:nvSpPr>
          <p:cNvPr id="29" name="Text 5">
            <a:extLst>
              <a:ext uri="{FF2B5EF4-FFF2-40B4-BE49-F238E27FC236}">
                <a16:creationId xmlns:a16="http://schemas.microsoft.com/office/drawing/2014/main" id="{3BB7066B-C7E3-2EAF-A7D8-AF289F6689E4}"/>
              </a:ext>
            </a:extLst>
          </p:cNvPr>
          <p:cNvSpPr txBox="1"/>
          <p:nvPr/>
        </p:nvSpPr>
        <p:spPr>
          <a:xfrm>
            <a:off x="3883152" y="5815803"/>
            <a:ext cx="189360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Compromised foothold</a:t>
            </a:r>
            <a:endParaRPr lang="en-US" sz="1400" dirty="0"/>
          </a:p>
        </p:txBody>
      </p:sp>
      <p:sp>
        <p:nvSpPr>
          <p:cNvPr id="31" name="Text 6">
            <a:extLst>
              <a:ext uri="{FF2B5EF4-FFF2-40B4-BE49-F238E27FC236}">
                <a16:creationId xmlns:a16="http://schemas.microsoft.com/office/drawing/2014/main" id="{24CA4E4B-8587-95B1-0E65-22AAC199D61D}"/>
              </a:ext>
            </a:extLst>
          </p:cNvPr>
          <p:cNvSpPr txBox="1"/>
          <p:nvPr/>
        </p:nvSpPr>
        <p:spPr>
          <a:xfrm>
            <a:off x="3901439" y="6227284"/>
            <a:ext cx="1854563" cy="54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Users group</a:t>
            </a:r>
            <a:endParaRPr lang="en-US" sz="1400" dirty="0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1CE1E261-5040-5A3F-901D-7D2EBDA3096C}"/>
              </a:ext>
            </a:extLst>
          </p:cNvPr>
          <p:cNvSpPr/>
          <p:nvPr/>
        </p:nvSpPr>
        <p:spPr>
          <a:xfrm>
            <a:off x="6141720" y="4855683"/>
            <a:ext cx="2049780" cy="2073073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8">
            <a:extLst>
              <a:ext uri="{FF2B5EF4-FFF2-40B4-BE49-F238E27FC236}">
                <a16:creationId xmlns:a16="http://schemas.microsoft.com/office/drawing/2014/main" id="{32E82865-D54F-1E30-69B3-0F0A0E635FAD}"/>
              </a:ext>
            </a:extLst>
          </p:cNvPr>
          <p:cNvSpPr/>
          <p:nvPr/>
        </p:nvSpPr>
        <p:spPr>
          <a:xfrm>
            <a:off x="6141720" y="4855683"/>
            <a:ext cx="2049780" cy="450668"/>
          </a:xfrm>
          <a:prstGeom prst="rect">
            <a:avLst/>
          </a:prstGeom>
          <a:solidFill>
            <a:srgbClr val="0F766E"/>
          </a:solidFill>
          <a:ln w="635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6CEE9804-E85B-875A-AD72-F1DB76342CB0}"/>
              </a:ext>
            </a:extLst>
          </p:cNvPr>
          <p:cNvSpPr txBox="1"/>
          <p:nvPr/>
        </p:nvSpPr>
        <p:spPr>
          <a:xfrm>
            <a:off x="6214872" y="4855683"/>
            <a:ext cx="1872850" cy="450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Group</a:t>
            </a:r>
            <a:endParaRPr lang="en-US" sz="1300" dirty="0"/>
          </a:p>
        </p:txBody>
      </p:sp>
      <p:sp>
        <p:nvSpPr>
          <p:cNvPr id="39" name="Text 10">
            <a:extLst>
              <a:ext uri="{FF2B5EF4-FFF2-40B4-BE49-F238E27FC236}">
                <a16:creationId xmlns:a16="http://schemas.microsoft.com/office/drawing/2014/main" id="{1A42755D-908C-DC58-3A03-9B32395A4336}"/>
              </a:ext>
            </a:extLst>
          </p:cNvPr>
          <p:cNvSpPr txBox="1"/>
          <p:nvPr/>
        </p:nvSpPr>
        <p:spPr>
          <a:xfrm>
            <a:off x="6214872" y="5422611"/>
            <a:ext cx="1893606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Enroller Group</a:t>
            </a:r>
            <a:endParaRPr lang="en-US" sz="1900" dirty="0"/>
          </a:p>
        </p:txBody>
      </p:sp>
      <p:sp>
        <p:nvSpPr>
          <p:cNvPr id="41" name="Text 11">
            <a:extLst>
              <a:ext uri="{FF2B5EF4-FFF2-40B4-BE49-F238E27FC236}">
                <a16:creationId xmlns:a16="http://schemas.microsoft.com/office/drawing/2014/main" id="{E51EB3B6-4EE5-9A93-E5A0-1B75F1B361F3}"/>
              </a:ext>
            </a:extLst>
          </p:cNvPr>
          <p:cNvSpPr txBox="1"/>
          <p:nvPr/>
        </p:nvSpPr>
        <p:spPr>
          <a:xfrm>
            <a:off x="6214872" y="5815803"/>
            <a:ext cx="189360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group</a:t>
            </a:r>
            <a:endParaRPr lang="en-US" sz="1400" dirty="0"/>
          </a:p>
        </p:txBody>
      </p:sp>
      <p:sp>
        <p:nvSpPr>
          <p:cNvPr id="43" name="Text 12">
            <a:extLst>
              <a:ext uri="{FF2B5EF4-FFF2-40B4-BE49-F238E27FC236}">
                <a16:creationId xmlns:a16="http://schemas.microsoft.com/office/drawing/2014/main" id="{E1FAAA89-6841-0566-3516-BB128599F21A}"/>
              </a:ext>
            </a:extLst>
          </p:cNvPr>
          <p:cNvSpPr txBox="1"/>
          <p:nvPr/>
        </p:nvSpPr>
        <p:spPr>
          <a:xfrm>
            <a:off x="6233159" y="6227284"/>
            <a:ext cx="1854563" cy="54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template DACL</a:t>
            </a:r>
            <a:endParaRPr lang="en-US" sz="1400" dirty="0"/>
          </a:p>
        </p:txBody>
      </p:sp>
      <p:sp>
        <p:nvSpPr>
          <p:cNvPr id="45" name="Shape 13">
            <a:extLst>
              <a:ext uri="{FF2B5EF4-FFF2-40B4-BE49-F238E27FC236}">
                <a16:creationId xmlns:a16="http://schemas.microsoft.com/office/drawing/2014/main" id="{5B300EBE-1FEB-CE31-75FD-CE52DA5BD772}"/>
              </a:ext>
            </a:extLst>
          </p:cNvPr>
          <p:cNvSpPr/>
          <p:nvPr/>
        </p:nvSpPr>
        <p:spPr>
          <a:xfrm>
            <a:off x="8473440" y="4855683"/>
            <a:ext cx="2049780" cy="2073073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14">
            <a:extLst>
              <a:ext uri="{FF2B5EF4-FFF2-40B4-BE49-F238E27FC236}">
                <a16:creationId xmlns:a16="http://schemas.microsoft.com/office/drawing/2014/main" id="{BD1CD55E-11B5-BE57-FFA4-4A71C72A94FB}"/>
              </a:ext>
            </a:extLst>
          </p:cNvPr>
          <p:cNvSpPr/>
          <p:nvPr/>
        </p:nvSpPr>
        <p:spPr>
          <a:xfrm>
            <a:off x="8473440" y="4855683"/>
            <a:ext cx="2049780" cy="450668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15">
            <a:extLst>
              <a:ext uri="{FF2B5EF4-FFF2-40B4-BE49-F238E27FC236}">
                <a16:creationId xmlns:a16="http://schemas.microsoft.com/office/drawing/2014/main" id="{61BCA4C1-3E28-C1E4-B506-513E81E72980}"/>
              </a:ext>
            </a:extLst>
          </p:cNvPr>
          <p:cNvSpPr txBox="1"/>
          <p:nvPr/>
        </p:nvSpPr>
        <p:spPr>
          <a:xfrm>
            <a:off x="8546592" y="4855683"/>
            <a:ext cx="1740408" cy="450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Template</a:t>
            </a:r>
            <a:endParaRPr lang="en-US" sz="1300" dirty="0"/>
          </a:p>
        </p:txBody>
      </p:sp>
      <p:sp>
        <p:nvSpPr>
          <p:cNvPr id="51" name="Text 16">
            <a:extLst>
              <a:ext uri="{FF2B5EF4-FFF2-40B4-BE49-F238E27FC236}">
                <a16:creationId xmlns:a16="http://schemas.microsoft.com/office/drawing/2014/main" id="{52832739-9D27-0012-CEF0-D9BF0309C758}"/>
              </a:ext>
            </a:extLst>
          </p:cNvPr>
          <p:cNvSpPr txBox="1"/>
          <p:nvPr/>
        </p:nvSpPr>
        <p:spPr>
          <a:xfrm>
            <a:off x="8546592" y="5422611"/>
            <a:ext cx="1893606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ESC13 Template</a:t>
            </a:r>
            <a:endParaRPr lang="en-US" sz="1900" dirty="0"/>
          </a:p>
        </p:txBody>
      </p:sp>
      <p:sp>
        <p:nvSpPr>
          <p:cNvPr id="53" name="Text 17">
            <a:extLst>
              <a:ext uri="{FF2B5EF4-FFF2-40B4-BE49-F238E27FC236}">
                <a16:creationId xmlns:a16="http://schemas.microsoft.com/office/drawing/2014/main" id="{89E71141-1FE4-C824-D6D1-3D121073BE38}"/>
              </a:ext>
            </a:extLst>
          </p:cNvPr>
          <p:cNvSpPr txBox="1"/>
          <p:nvPr/>
        </p:nvSpPr>
        <p:spPr>
          <a:xfrm>
            <a:off x="8546592" y="5815803"/>
            <a:ext cx="189360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template</a:t>
            </a:r>
            <a:endParaRPr lang="en-US" sz="1400" dirty="0"/>
          </a:p>
        </p:txBody>
      </p:sp>
      <p:sp>
        <p:nvSpPr>
          <p:cNvPr id="55" name="Text 18">
            <a:extLst>
              <a:ext uri="{FF2B5EF4-FFF2-40B4-BE49-F238E27FC236}">
                <a16:creationId xmlns:a16="http://schemas.microsoft.com/office/drawing/2014/main" id="{ADBFEF48-2BA6-37F8-677D-4562382E0604}"/>
              </a:ext>
            </a:extLst>
          </p:cNvPr>
          <p:cNvSpPr txBox="1"/>
          <p:nvPr/>
        </p:nvSpPr>
        <p:spPr>
          <a:xfrm>
            <a:off x="8564879" y="6227284"/>
            <a:ext cx="1854563" cy="54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OID extension</a:t>
            </a:r>
            <a:endParaRPr lang="en-US" sz="1400" dirty="0"/>
          </a:p>
        </p:txBody>
      </p:sp>
      <p:sp>
        <p:nvSpPr>
          <p:cNvPr id="57" name="Shape 19">
            <a:extLst>
              <a:ext uri="{FF2B5EF4-FFF2-40B4-BE49-F238E27FC236}">
                <a16:creationId xmlns:a16="http://schemas.microsoft.com/office/drawing/2014/main" id="{B3FA8C83-8F2C-E1F7-7B9F-D4458127CBE1}"/>
              </a:ext>
            </a:extLst>
          </p:cNvPr>
          <p:cNvSpPr/>
          <p:nvPr/>
        </p:nvSpPr>
        <p:spPr>
          <a:xfrm>
            <a:off x="10805160" y="4855683"/>
            <a:ext cx="2049780" cy="2073073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Shape 20">
            <a:extLst>
              <a:ext uri="{FF2B5EF4-FFF2-40B4-BE49-F238E27FC236}">
                <a16:creationId xmlns:a16="http://schemas.microsoft.com/office/drawing/2014/main" id="{3DD80969-4BE8-D2FA-342F-0E0A27EA4593}"/>
              </a:ext>
            </a:extLst>
          </p:cNvPr>
          <p:cNvSpPr/>
          <p:nvPr/>
        </p:nvSpPr>
        <p:spPr>
          <a:xfrm>
            <a:off x="10805160" y="4855683"/>
            <a:ext cx="2049780" cy="450668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21">
            <a:extLst>
              <a:ext uri="{FF2B5EF4-FFF2-40B4-BE49-F238E27FC236}">
                <a16:creationId xmlns:a16="http://schemas.microsoft.com/office/drawing/2014/main" id="{A3FAA2F2-7835-7241-DCCB-A5F62DA306C0}"/>
              </a:ext>
            </a:extLst>
          </p:cNvPr>
          <p:cNvSpPr txBox="1"/>
          <p:nvPr/>
        </p:nvSpPr>
        <p:spPr>
          <a:xfrm>
            <a:off x="10878312" y="4855683"/>
            <a:ext cx="1770888" cy="450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Issuance Policy OID</a:t>
            </a:r>
            <a:endParaRPr lang="en-US" sz="1300" dirty="0"/>
          </a:p>
        </p:txBody>
      </p:sp>
      <p:sp>
        <p:nvSpPr>
          <p:cNvPr id="63" name="Text 22">
            <a:extLst>
              <a:ext uri="{FF2B5EF4-FFF2-40B4-BE49-F238E27FC236}">
                <a16:creationId xmlns:a16="http://schemas.microsoft.com/office/drawing/2014/main" id="{9DA3B034-423A-F4F4-D2C9-4F06C4E0BC42}"/>
              </a:ext>
            </a:extLst>
          </p:cNvPr>
          <p:cNvSpPr txBox="1"/>
          <p:nvPr/>
        </p:nvSpPr>
        <p:spPr>
          <a:xfrm>
            <a:off x="10878312" y="5422611"/>
            <a:ext cx="1893606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OID</a:t>
            </a:r>
            <a:endParaRPr lang="en-US" sz="1900" dirty="0"/>
          </a:p>
        </p:txBody>
      </p:sp>
      <p:sp>
        <p:nvSpPr>
          <p:cNvPr id="65" name="Text 23">
            <a:extLst>
              <a:ext uri="{FF2B5EF4-FFF2-40B4-BE49-F238E27FC236}">
                <a16:creationId xmlns:a16="http://schemas.microsoft.com/office/drawing/2014/main" id="{C539E89D-5557-0504-0C18-DE7317AF17E3}"/>
              </a:ext>
            </a:extLst>
          </p:cNvPr>
          <p:cNvSpPr txBox="1"/>
          <p:nvPr/>
        </p:nvSpPr>
        <p:spPr>
          <a:xfrm>
            <a:off x="10878312" y="5815803"/>
            <a:ext cx="189360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Issuance policy</a:t>
            </a:r>
            <a:endParaRPr lang="en-US" sz="1400" dirty="0"/>
          </a:p>
        </p:txBody>
      </p:sp>
      <p:sp>
        <p:nvSpPr>
          <p:cNvPr id="67" name="Text 24">
            <a:extLst>
              <a:ext uri="{FF2B5EF4-FFF2-40B4-BE49-F238E27FC236}">
                <a16:creationId xmlns:a16="http://schemas.microsoft.com/office/drawing/2014/main" id="{F56E6060-05C9-61ED-250B-5696AEF8F94C}"/>
              </a:ext>
            </a:extLst>
          </p:cNvPr>
          <p:cNvSpPr txBox="1"/>
          <p:nvPr/>
        </p:nvSpPr>
        <p:spPr>
          <a:xfrm>
            <a:off x="10896599" y="6227284"/>
            <a:ext cx="1854563" cy="54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target SID</a:t>
            </a:r>
            <a:endParaRPr lang="en-US" sz="1400" dirty="0"/>
          </a:p>
        </p:txBody>
      </p:sp>
      <p:sp>
        <p:nvSpPr>
          <p:cNvPr id="69" name="Shape 25">
            <a:extLst>
              <a:ext uri="{FF2B5EF4-FFF2-40B4-BE49-F238E27FC236}">
                <a16:creationId xmlns:a16="http://schemas.microsoft.com/office/drawing/2014/main" id="{0743E3F4-7874-6697-0B0A-B24ED713765D}"/>
              </a:ext>
            </a:extLst>
          </p:cNvPr>
          <p:cNvSpPr/>
          <p:nvPr/>
        </p:nvSpPr>
        <p:spPr>
          <a:xfrm>
            <a:off x="13136880" y="4855683"/>
            <a:ext cx="2049780" cy="2073073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1" name="Shape 26">
            <a:extLst>
              <a:ext uri="{FF2B5EF4-FFF2-40B4-BE49-F238E27FC236}">
                <a16:creationId xmlns:a16="http://schemas.microsoft.com/office/drawing/2014/main" id="{8E23BEAD-C285-5405-B9CE-389CD06D22A0}"/>
              </a:ext>
            </a:extLst>
          </p:cNvPr>
          <p:cNvSpPr/>
          <p:nvPr/>
        </p:nvSpPr>
        <p:spPr>
          <a:xfrm>
            <a:off x="13136880" y="4855683"/>
            <a:ext cx="2049780" cy="450668"/>
          </a:xfrm>
          <a:prstGeom prst="rect">
            <a:avLst/>
          </a:prstGeom>
          <a:solidFill>
            <a:srgbClr val="C62828"/>
          </a:solidFill>
          <a:ln w="63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27">
            <a:extLst>
              <a:ext uri="{FF2B5EF4-FFF2-40B4-BE49-F238E27FC236}">
                <a16:creationId xmlns:a16="http://schemas.microsoft.com/office/drawing/2014/main" id="{BE22B94E-488C-EF6E-1521-9E17735490A1}"/>
              </a:ext>
            </a:extLst>
          </p:cNvPr>
          <p:cNvSpPr txBox="1"/>
          <p:nvPr/>
        </p:nvSpPr>
        <p:spPr>
          <a:xfrm>
            <a:off x="13210032" y="4855683"/>
            <a:ext cx="1872850" cy="450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Tier-0 Crown Jewel</a:t>
            </a:r>
            <a:endParaRPr lang="en-US" sz="1300" dirty="0"/>
          </a:p>
        </p:txBody>
      </p:sp>
      <p:sp>
        <p:nvSpPr>
          <p:cNvPr id="75" name="Text 28">
            <a:extLst>
              <a:ext uri="{FF2B5EF4-FFF2-40B4-BE49-F238E27FC236}">
                <a16:creationId xmlns:a16="http://schemas.microsoft.com/office/drawing/2014/main" id="{6D62A92E-7559-D653-A2AD-1A837143B8C2}"/>
              </a:ext>
            </a:extLst>
          </p:cNvPr>
          <p:cNvSpPr txBox="1"/>
          <p:nvPr/>
        </p:nvSpPr>
        <p:spPr>
          <a:xfrm>
            <a:off x="13210032" y="5422611"/>
            <a:ext cx="1893606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Admins</a:t>
            </a:r>
            <a:endParaRPr lang="en-US" sz="1900" dirty="0"/>
          </a:p>
        </p:txBody>
      </p:sp>
      <p:sp>
        <p:nvSpPr>
          <p:cNvPr id="77" name="Text 29">
            <a:extLst>
              <a:ext uri="{FF2B5EF4-FFF2-40B4-BE49-F238E27FC236}">
                <a16:creationId xmlns:a16="http://schemas.microsoft.com/office/drawing/2014/main" id="{6A532992-1734-8568-01C9-565879538CB4}"/>
              </a:ext>
            </a:extLst>
          </p:cNvPr>
          <p:cNvSpPr txBox="1"/>
          <p:nvPr/>
        </p:nvSpPr>
        <p:spPr>
          <a:xfrm>
            <a:off x="13210032" y="5815803"/>
            <a:ext cx="189360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Tier-0 target asset</a:t>
            </a:r>
            <a:endParaRPr lang="en-US" sz="1400" dirty="0"/>
          </a:p>
        </p:txBody>
      </p:sp>
      <p:sp>
        <p:nvSpPr>
          <p:cNvPr id="79" name="Text 30">
            <a:extLst>
              <a:ext uri="{FF2B5EF4-FFF2-40B4-BE49-F238E27FC236}">
                <a16:creationId xmlns:a16="http://schemas.microsoft.com/office/drawing/2014/main" id="{86459444-F4B8-85B9-5E7B-6C55C9687DB6}"/>
              </a:ext>
            </a:extLst>
          </p:cNvPr>
          <p:cNvSpPr txBox="1"/>
          <p:nvPr/>
        </p:nvSpPr>
        <p:spPr>
          <a:xfrm>
            <a:off x="13228319" y="6227284"/>
            <a:ext cx="1854563" cy="54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forest takeover</a:t>
            </a:r>
            <a:endParaRPr lang="en-US" sz="1400" dirty="0"/>
          </a:p>
        </p:txBody>
      </p:sp>
      <p:sp>
        <p:nvSpPr>
          <p:cNvPr id="81" name="Shape 31">
            <a:extLst>
              <a:ext uri="{FF2B5EF4-FFF2-40B4-BE49-F238E27FC236}">
                <a16:creationId xmlns:a16="http://schemas.microsoft.com/office/drawing/2014/main" id="{827AE6E0-65E1-7C7E-53B1-4DC33A0A7E7C}"/>
              </a:ext>
            </a:extLst>
          </p:cNvPr>
          <p:cNvSpPr/>
          <p:nvPr/>
        </p:nvSpPr>
        <p:spPr>
          <a:xfrm>
            <a:off x="5757671" y="5998683"/>
            <a:ext cx="380673" cy="0"/>
          </a:xfrm>
          <a:prstGeom prst="line">
            <a:avLst/>
          </a:prstGeom>
          <a:noFill/>
          <a:ln w="31750">
            <a:solidFill>
              <a:srgbClr val="334155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32">
            <a:extLst>
              <a:ext uri="{FF2B5EF4-FFF2-40B4-BE49-F238E27FC236}">
                <a16:creationId xmlns:a16="http://schemas.microsoft.com/office/drawing/2014/main" id="{473209EE-9064-1F7B-EEB2-81CA419219E1}"/>
              </a:ext>
            </a:extLst>
          </p:cNvPr>
          <p:cNvSpPr/>
          <p:nvPr/>
        </p:nvSpPr>
        <p:spPr>
          <a:xfrm>
            <a:off x="5935980" y="6090123"/>
            <a:ext cx="0" cy="1442137"/>
          </a:xfrm>
          <a:prstGeom prst="line">
            <a:avLst/>
          </a:prstGeom>
          <a:noFill/>
          <a:ln w="22225">
            <a:solidFill>
              <a:srgbClr val="334155"/>
            </a:solidFill>
            <a:prstDash val="sysDot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33">
            <a:extLst>
              <a:ext uri="{FF2B5EF4-FFF2-40B4-BE49-F238E27FC236}">
                <a16:creationId xmlns:a16="http://schemas.microsoft.com/office/drawing/2014/main" id="{5A695F69-C6A2-A793-D187-DB881444A80E}"/>
              </a:ext>
            </a:extLst>
          </p:cNvPr>
          <p:cNvSpPr/>
          <p:nvPr/>
        </p:nvSpPr>
        <p:spPr>
          <a:xfrm>
            <a:off x="4975860" y="7553163"/>
            <a:ext cx="2049780" cy="1171737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7" name="Text 34">
            <a:extLst>
              <a:ext uri="{FF2B5EF4-FFF2-40B4-BE49-F238E27FC236}">
                <a16:creationId xmlns:a16="http://schemas.microsoft.com/office/drawing/2014/main" id="{E89793B4-7D92-79CD-B493-4C1842297C40}"/>
              </a:ext>
            </a:extLst>
          </p:cNvPr>
          <p:cNvSpPr txBox="1"/>
          <p:nvPr/>
        </p:nvSpPr>
        <p:spPr>
          <a:xfrm>
            <a:off x="4975860" y="7617171"/>
            <a:ext cx="2049780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200" dirty="0"/>
          </a:p>
        </p:txBody>
      </p:sp>
      <p:sp>
        <p:nvSpPr>
          <p:cNvPr id="89" name="Text 35">
            <a:extLst>
              <a:ext uri="{FF2B5EF4-FFF2-40B4-BE49-F238E27FC236}">
                <a16:creationId xmlns:a16="http://schemas.microsoft.com/office/drawing/2014/main" id="{BBB4BB7C-9110-ECA4-8B2D-E08521DE4D53}"/>
              </a:ext>
            </a:extLst>
          </p:cNvPr>
          <p:cNvSpPr txBox="1"/>
          <p:nvPr/>
        </p:nvSpPr>
        <p:spPr>
          <a:xfrm>
            <a:off x="4975860" y="7891491"/>
            <a:ext cx="2049780" cy="4056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MemberOf</a:t>
            </a:r>
            <a:endParaRPr lang="en-US" sz="2200" dirty="0"/>
          </a:p>
        </p:txBody>
      </p:sp>
      <p:sp>
        <p:nvSpPr>
          <p:cNvPr id="91" name="Text 36">
            <a:extLst>
              <a:ext uri="{FF2B5EF4-FFF2-40B4-BE49-F238E27FC236}">
                <a16:creationId xmlns:a16="http://schemas.microsoft.com/office/drawing/2014/main" id="{BE839FF2-3353-67A2-1736-D544BDF5C51B}"/>
              </a:ext>
            </a:extLst>
          </p:cNvPr>
          <p:cNvSpPr txBox="1"/>
          <p:nvPr/>
        </p:nvSpPr>
        <p:spPr>
          <a:xfrm>
            <a:off x="4975860" y="8312115"/>
            <a:ext cx="20497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nesting</a:t>
            </a:r>
            <a:endParaRPr lang="en-US" sz="1400" dirty="0"/>
          </a:p>
        </p:txBody>
      </p:sp>
      <p:sp>
        <p:nvSpPr>
          <p:cNvPr id="93" name="Shape 37">
            <a:extLst>
              <a:ext uri="{FF2B5EF4-FFF2-40B4-BE49-F238E27FC236}">
                <a16:creationId xmlns:a16="http://schemas.microsoft.com/office/drawing/2014/main" id="{1C10002E-50FE-9660-62F9-A8731DC65D7A}"/>
              </a:ext>
            </a:extLst>
          </p:cNvPr>
          <p:cNvSpPr/>
          <p:nvPr/>
        </p:nvSpPr>
        <p:spPr>
          <a:xfrm>
            <a:off x="8089391" y="5998683"/>
            <a:ext cx="380673" cy="0"/>
          </a:xfrm>
          <a:prstGeom prst="line">
            <a:avLst/>
          </a:prstGeom>
          <a:noFill/>
          <a:ln w="31750">
            <a:solidFill>
              <a:srgbClr val="334155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38">
            <a:extLst>
              <a:ext uri="{FF2B5EF4-FFF2-40B4-BE49-F238E27FC236}">
                <a16:creationId xmlns:a16="http://schemas.microsoft.com/office/drawing/2014/main" id="{F0559774-A50D-FF2A-5FF8-8AC2A44EB890}"/>
              </a:ext>
            </a:extLst>
          </p:cNvPr>
          <p:cNvSpPr/>
          <p:nvPr/>
        </p:nvSpPr>
        <p:spPr>
          <a:xfrm>
            <a:off x="8267700" y="6090123"/>
            <a:ext cx="0" cy="1442137"/>
          </a:xfrm>
          <a:prstGeom prst="line">
            <a:avLst/>
          </a:prstGeom>
          <a:noFill/>
          <a:ln w="22225">
            <a:solidFill>
              <a:srgbClr val="334155"/>
            </a:solidFill>
            <a:prstDash val="sysDot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39">
            <a:extLst>
              <a:ext uri="{FF2B5EF4-FFF2-40B4-BE49-F238E27FC236}">
                <a16:creationId xmlns:a16="http://schemas.microsoft.com/office/drawing/2014/main" id="{10820B0E-C37F-6190-4554-5F469E6148F1}"/>
              </a:ext>
            </a:extLst>
          </p:cNvPr>
          <p:cNvSpPr/>
          <p:nvPr/>
        </p:nvSpPr>
        <p:spPr>
          <a:xfrm>
            <a:off x="7307580" y="7553163"/>
            <a:ext cx="2049780" cy="1171737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9" name="Text 40">
            <a:extLst>
              <a:ext uri="{FF2B5EF4-FFF2-40B4-BE49-F238E27FC236}">
                <a16:creationId xmlns:a16="http://schemas.microsoft.com/office/drawing/2014/main" id="{F8245951-79DC-9087-5EB2-695B7D65FAF6}"/>
              </a:ext>
            </a:extLst>
          </p:cNvPr>
          <p:cNvSpPr txBox="1"/>
          <p:nvPr/>
        </p:nvSpPr>
        <p:spPr>
          <a:xfrm>
            <a:off x="7307580" y="7617171"/>
            <a:ext cx="2049780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200" dirty="0"/>
          </a:p>
        </p:txBody>
      </p:sp>
      <p:sp>
        <p:nvSpPr>
          <p:cNvPr id="101" name="Text 41">
            <a:extLst>
              <a:ext uri="{FF2B5EF4-FFF2-40B4-BE49-F238E27FC236}">
                <a16:creationId xmlns:a16="http://schemas.microsoft.com/office/drawing/2014/main" id="{2ADE2C09-CC7B-17BB-7993-92BDC804CB75}"/>
              </a:ext>
            </a:extLst>
          </p:cNvPr>
          <p:cNvSpPr txBox="1"/>
          <p:nvPr/>
        </p:nvSpPr>
        <p:spPr>
          <a:xfrm>
            <a:off x="7307580" y="7891491"/>
            <a:ext cx="2049780" cy="4056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</a:t>
            </a:r>
            <a:endParaRPr lang="en-US" sz="2200" dirty="0"/>
          </a:p>
        </p:txBody>
      </p:sp>
      <p:sp>
        <p:nvSpPr>
          <p:cNvPr id="103" name="Text 42">
            <a:extLst>
              <a:ext uri="{FF2B5EF4-FFF2-40B4-BE49-F238E27FC236}">
                <a16:creationId xmlns:a16="http://schemas.microsoft.com/office/drawing/2014/main" id="{787AFFBA-B19B-D190-D262-B8FAFBD56029}"/>
              </a:ext>
            </a:extLst>
          </p:cNvPr>
          <p:cNvSpPr txBox="1"/>
          <p:nvPr/>
        </p:nvSpPr>
        <p:spPr>
          <a:xfrm>
            <a:off x="7307580" y="8312115"/>
            <a:ext cx="20497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DACL ACE</a:t>
            </a:r>
            <a:endParaRPr lang="en-US" sz="1400" dirty="0"/>
          </a:p>
        </p:txBody>
      </p:sp>
      <p:sp>
        <p:nvSpPr>
          <p:cNvPr id="105" name="Shape 43">
            <a:extLst>
              <a:ext uri="{FF2B5EF4-FFF2-40B4-BE49-F238E27FC236}">
                <a16:creationId xmlns:a16="http://schemas.microsoft.com/office/drawing/2014/main" id="{9C2AC6EB-CE02-E5B8-9227-3EFBEA1C4B90}"/>
              </a:ext>
            </a:extLst>
          </p:cNvPr>
          <p:cNvSpPr/>
          <p:nvPr/>
        </p:nvSpPr>
        <p:spPr>
          <a:xfrm>
            <a:off x="10421111" y="5998683"/>
            <a:ext cx="380673" cy="0"/>
          </a:xfrm>
          <a:prstGeom prst="line">
            <a:avLst/>
          </a:prstGeom>
          <a:noFill/>
          <a:ln w="31750">
            <a:solidFill>
              <a:srgbClr val="C6282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44">
            <a:extLst>
              <a:ext uri="{FF2B5EF4-FFF2-40B4-BE49-F238E27FC236}">
                <a16:creationId xmlns:a16="http://schemas.microsoft.com/office/drawing/2014/main" id="{0A0FBE47-3823-84E9-4F1D-A230E87EAEA6}"/>
              </a:ext>
            </a:extLst>
          </p:cNvPr>
          <p:cNvSpPr/>
          <p:nvPr/>
        </p:nvSpPr>
        <p:spPr>
          <a:xfrm>
            <a:off x="10599420" y="6090123"/>
            <a:ext cx="0" cy="1442137"/>
          </a:xfrm>
          <a:prstGeom prst="line">
            <a:avLst/>
          </a:prstGeom>
          <a:noFill/>
          <a:ln w="22225">
            <a:solidFill>
              <a:srgbClr val="C62828"/>
            </a:solidFill>
            <a:prstDash val="sysDot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45">
            <a:extLst>
              <a:ext uri="{FF2B5EF4-FFF2-40B4-BE49-F238E27FC236}">
                <a16:creationId xmlns:a16="http://schemas.microsoft.com/office/drawing/2014/main" id="{D02CC9BA-D620-CCB4-1399-39A746F55D04}"/>
              </a:ext>
            </a:extLst>
          </p:cNvPr>
          <p:cNvSpPr/>
          <p:nvPr/>
        </p:nvSpPr>
        <p:spPr>
          <a:xfrm>
            <a:off x="9639300" y="7553163"/>
            <a:ext cx="2049780" cy="1171737"/>
          </a:xfrm>
          <a:prstGeom prst="rect">
            <a:avLst/>
          </a:prstGeom>
          <a:solidFill>
            <a:srgbClr val="FDECEA"/>
          </a:solidFill>
          <a:ln w="19050">
            <a:solidFill>
              <a:srgbClr val="C6282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1" name="Text 46">
            <a:extLst>
              <a:ext uri="{FF2B5EF4-FFF2-40B4-BE49-F238E27FC236}">
                <a16:creationId xmlns:a16="http://schemas.microsoft.com/office/drawing/2014/main" id="{2F3B3EEA-7609-A0DC-DEB0-201340DDE0DD}"/>
              </a:ext>
            </a:extLst>
          </p:cNvPr>
          <p:cNvSpPr txBox="1"/>
          <p:nvPr/>
        </p:nvSpPr>
        <p:spPr>
          <a:xfrm>
            <a:off x="9639300" y="7617171"/>
            <a:ext cx="2049780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200" dirty="0"/>
          </a:p>
        </p:txBody>
      </p:sp>
      <p:sp>
        <p:nvSpPr>
          <p:cNvPr id="113" name="Text 47">
            <a:extLst>
              <a:ext uri="{FF2B5EF4-FFF2-40B4-BE49-F238E27FC236}">
                <a16:creationId xmlns:a16="http://schemas.microsoft.com/office/drawing/2014/main" id="{189D3D08-05DD-BE06-01BB-C9D62B43FA5A}"/>
              </a:ext>
            </a:extLst>
          </p:cNvPr>
          <p:cNvSpPr txBox="1"/>
          <p:nvPr/>
        </p:nvSpPr>
        <p:spPr>
          <a:xfrm>
            <a:off x="9639300" y="7891491"/>
            <a:ext cx="2049780" cy="4056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LinksPolicy</a:t>
            </a:r>
            <a:endParaRPr lang="en-US" sz="2200" dirty="0"/>
          </a:p>
        </p:txBody>
      </p:sp>
      <p:sp>
        <p:nvSpPr>
          <p:cNvPr id="115" name="Text 48">
            <a:extLst>
              <a:ext uri="{FF2B5EF4-FFF2-40B4-BE49-F238E27FC236}">
                <a16:creationId xmlns:a16="http://schemas.microsoft.com/office/drawing/2014/main" id="{461F6E17-48BC-803B-9A2F-467FAB25909D}"/>
              </a:ext>
            </a:extLst>
          </p:cNvPr>
          <p:cNvSpPr txBox="1"/>
          <p:nvPr/>
        </p:nvSpPr>
        <p:spPr>
          <a:xfrm>
            <a:off x="9639300" y="8312115"/>
            <a:ext cx="20497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 linkage (ESC13)</a:t>
            </a:r>
            <a:endParaRPr lang="en-US" sz="1400" dirty="0"/>
          </a:p>
        </p:txBody>
      </p:sp>
      <p:sp>
        <p:nvSpPr>
          <p:cNvPr id="117" name="Shape 49">
            <a:extLst>
              <a:ext uri="{FF2B5EF4-FFF2-40B4-BE49-F238E27FC236}">
                <a16:creationId xmlns:a16="http://schemas.microsoft.com/office/drawing/2014/main" id="{171F7552-F97D-C51C-5949-31FAC02EF0EF}"/>
              </a:ext>
            </a:extLst>
          </p:cNvPr>
          <p:cNvSpPr/>
          <p:nvPr/>
        </p:nvSpPr>
        <p:spPr>
          <a:xfrm>
            <a:off x="12752831" y="5998683"/>
            <a:ext cx="380673" cy="0"/>
          </a:xfrm>
          <a:prstGeom prst="line">
            <a:avLst/>
          </a:prstGeom>
          <a:noFill/>
          <a:ln w="31750">
            <a:solidFill>
              <a:srgbClr val="C6282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50">
            <a:extLst>
              <a:ext uri="{FF2B5EF4-FFF2-40B4-BE49-F238E27FC236}">
                <a16:creationId xmlns:a16="http://schemas.microsoft.com/office/drawing/2014/main" id="{1C691F93-B1CB-5F45-0757-117C9E434FE9}"/>
              </a:ext>
            </a:extLst>
          </p:cNvPr>
          <p:cNvSpPr/>
          <p:nvPr/>
        </p:nvSpPr>
        <p:spPr>
          <a:xfrm>
            <a:off x="12931140" y="6090123"/>
            <a:ext cx="0" cy="1442137"/>
          </a:xfrm>
          <a:prstGeom prst="line">
            <a:avLst/>
          </a:prstGeom>
          <a:noFill/>
          <a:ln w="22225">
            <a:solidFill>
              <a:srgbClr val="C62828"/>
            </a:solidFill>
            <a:prstDash val="sysDot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51">
            <a:extLst>
              <a:ext uri="{FF2B5EF4-FFF2-40B4-BE49-F238E27FC236}">
                <a16:creationId xmlns:a16="http://schemas.microsoft.com/office/drawing/2014/main" id="{3E58D0FE-23FB-539B-A335-697759D6BC84}"/>
              </a:ext>
            </a:extLst>
          </p:cNvPr>
          <p:cNvSpPr/>
          <p:nvPr/>
        </p:nvSpPr>
        <p:spPr>
          <a:xfrm>
            <a:off x="11971020" y="7553163"/>
            <a:ext cx="2049780" cy="1171737"/>
          </a:xfrm>
          <a:prstGeom prst="rect">
            <a:avLst/>
          </a:prstGeom>
          <a:solidFill>
            <a:srgbClr val="FDECEA"/>
          </a:solidFill>
          <a:ln w="19050">
            <a:solidFill>
              <a:srgbClr val="C6282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3" name="Text 52">
            <a:extLst>
              <a:ext uri="{FF2B5EF4-FFF2-40B4-BE49-F238E27FC236}">
                <a16:creationId xmlns:a16="http://schemas.microsoft.com/office/drawing/2014/main" id="{A341D4F1-DC24-5D95-6804-67D7B64D149C}"/>
              </a:ext>
            </a:extLst>
          </p:cNvPr>
          <p:cNvSpPr txBox="1"/>
          <p:nvPr/>
        </p:nvSpPr>
        <p:spPr>
          <a:xfrm>
            <a:off x="11971020" y="7617171"/>
            <a:ext cx="2049780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200" dirty="0"/>
          </a:p>
        </p:txBody>
      </p:sp>
      <p:sp>
        <p:nvSpPr>
          <p:cNvPr id="125" name="Text 53">
            <a:extLst>
              <a:ext uri="{FF2B5EF4-FFF2-40B4-BE49-F238E27FC236}">
                <a16:creationId xmlns:a16="http://schemas.microsoft.com/office/drawing/2014/main" id="{9D9E8649-B516-C01F-0D28-70E3B9F4D83C}"/>
              </a:ext>
            </a:extLst>
          </p:cNvPr>
          <p:cNvSpPr txBox="1"/>
          <p:nvPr/>
        </p:nvSpPr>
        <p:spPr>
          <a:xfrm>
            <a:off x="11971020" y="7891491"/>
            <a:ext cx="2049780" cy="4056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 Elevate</a:t>
            </a:r>
            <a:endParaRPr lang="en-US" sz="2200" dirty="0"/>
          </a:p>
        </p:txBody>
      </p:sp>
      <p:sp>
        <p:nvSpPr>
          <p:cNvPr id="127" name="Text 54">
            <a:extLst>
              <a:ext uri="{FF2B5EF4-FFF2-40B4-BE49-F238E27FC236}">
                <a16:creationId xmlns:a16="http://schemas.microsoft.com/office/drawing/2014/main" id="{496656C8-9B74-9E69-2F53-71E0428BEE5E}"/>
              </a:ext>
            </a:extLst>
          </p:cNvPr>
          <p:cNvSpPr txBox="1"/>
          <p:nvPr/>
        </p:nvSpPr>
        <p:spPr>
          <a:xfrm>
            <a:off x="11971020" y="8312115"/>
            <a:ext cx="20497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 injection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1" grpId="0" animBg="1"/>
      <p:bldP spid="23" grpId="0" animBg="1"/>
      <p:bldP spid="25" grpId="0" animBg="1"/>
      <p:bldP spid="27" grpId="0" animBg="1"/>
      <p:bldP spid="29" grpId="0" animBg="1"/>
      <p:bldP spid="31" grpId="0" animBg="1"/>
      <p:bldP spid="33" grpId="0" animBg="1"/>
      <p:bldP spid="35" grpId="0" animBg="1"/>
      <p:bldP spid="37" grpId="0" animBg="1"/>
      <p:bldP spid="39" grpId="0" animBg="1"/>
      <p:bldP spid="41" grpId="0" animBg="1"/>
      <p:bldP spid="43" grpId="0" animBg="1"/>
      <p:bldP spid="45" grpId="0" animBg="1"/>
      <p:bldP spid="47" grpId="0" animBg="1"/>
      <p:bldP spid="49" grpId="0" animBg="1"/>
      <p:bldP spid="51" grpId="0" animBg="1"/>
      <p:bldP spid="53" grpId="0" animBg="1"/>
      <p:bldP spid="55" grpId="0" animBg="1"/>
      <p:bldP spid="57" grpId="0" animBg="1"/>
      <p:bldP spid="59" grpId="0" animBg="1"/>
      <p:bldP spid="61" grpId="0" animBg="1"/>
      <p:bldP spid="63" grpId="0" animBg="1"/>
      <p:bldP spid="65" grpId="0" animBg="1"/>
      <p:bldP spid="67" grpId="0" animBg="1"/>
      <p:bldP spid="69" grpId="0" animBg="1"/>
      <p:bldP spid="71" grpId="0" animBg="1"/>
      <p:bldP spid="73" grpId="0" animBg="1"/>
      <p:bldP spid="75" grpId="0" animBg="1"/>
      <p:bldP spid="77" grpId="0" animBg="1"/>
      <p:bldP spid="79" grpId="0" animBg="1"/>
      <p:bldP spid="81" grpId="0" animBg="1"/>
      <p:bldP spid="83" grpId="0" animBg="1"/>
      <p:bldP spid="85" grpId="0" animBg="1"/>
      <p:bldP spid="87" grpId="0" animBg="1"/>
      <p:bldP spid="89" grpId="0" animBg="1"/>
      <p:bldP spid="91" grpId="0" animBg="1"/>
      <p:bldP spid="93" grpId="0" animBg="1"/>
      <p:bldP spid="95" grpId="0" animBg="1"/>
      <p:bldP spid="97" grpId="0" animBg="1"/>
      <p:bldP spid="99" grpId="0" animBg="1"/>
      <p:bldP spid="101" grpId="0" animBg="1"/>
      <p:bldP spid="103" grpId="0" animBg="1"/>
      <p:bldP spid="105" grpId="0" animBg="1"/>
      <p:bldP spid="107" grpId="0" animBg="1"/>
      <p:bldP spid="109" grpId="0" animBg="1"/>
      <p:bldP spid="111" grpId="0" animBg="1"/>
      <p:bldP spid="113" grpId="0" animBg="1"/>
      <p:bldP spid="115" grpId="0" animBg="1"/>
      <p:bldP spid="117" grpId="0" animBg="1"/>
      <p:bldP spid="119" grpId="0" animBg="1"/>
      <p:bldP spid="121" grpId="0" animBg="1"/>
      <p:bldP spid="123" grpId="0" animBg="1"/>
      <p:bldP spid="125" grpId="0" animBg="1"/>
      <p:bldP spid="127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30" name="Group 2">
            <a:extLst>
              <a:ext uri="{FF2B5EF4-FFF2-40B4-BE49-F238E27FC236}">
                <a16:creationId xmlns:a16="http://schemas.microsoft.com/office/drawing/2014/main" id="{585D0058-B91E-A8AE-DC6B-B3118B0F36B7}"/>
              </a:ext>
            </a:extLst>
          </p:cNvPr>
          <p:cNvGrpSpPr/>
          <p:nvPr/>
        </p:nvGrpSpPr>
        <p:grpSpPr>
          <a:xfrm rot="-5400000">
            <a:off x="4000500" y="-4000500"/>
            <a:ext cx="10287000" cy="18288000"/>
            <a:chOff x="0" y="0"/>
            <a:chExt cx="13716000" cy="24384000"/>
          </a:xfrm>
        </p:grpSpPr>
        <p:sp>
          <p:nvSpPr>
            <p:cNvPr id="131" name="Freeform 3">
              <a:extLst>
                <a:ext uri="{FF2B5EF4-FFF2-40B4-BE49-F238E27FC236}">
                  <a16:creationId xmlns:a16="http://schemas.microsoft.com/office/drawing/2014/main" id="{FF8E988A-2B5E-8ABC-75C8-E577819FBECD}"/>
                </a:ext>
              </a:extLst>
            </p:cNvPr>
            <p:cNvSpPr/>
            <p:nvPr/>
          </p:nvSpPr>
          <p:spPr>
            <a:xfrm>
              <a:off x="0" y="0"/>
              <a:ext cx="13716000" cy="24384000"/>
            </a:xfrm>
            <a:custGeom>
              <a:avLst/>
              <a:gdLst/>
              <a:ahLst/>
              <a:cxnLst/>
              <a:rect l="l" t="t" r="r" b="b"/>
              <a:pathLst>
                <a:path w="13716000" h="24384000">
                  <a:moveTo>
                    <a:pt x="13716000" y="0"/>
                  </a:moveTo>
                  <a:lnTo>
                    <a:pt x="13716000" y="24384000"/>
                  </a:lnTo>
                  <a:lnTo>
                    <a:pt x="0" y="24384000"/>
                  </a:lnTo>
                  <a:lnTo>
                    <a:pt x="0" y="0"/>
                  </a:lnTo>
                  <a:lnTo>
                    <a:pt x="13716000" y="0"/>
                  </a:lnTo>
                  <a:close/>
                </a:path>
              </a:pathLst>
            </a:custGeom>
            <a:blipFill>
              <a:blip r:embed="rId3"/>
              <a:stretch>
                <a:fillRect l="-12840" r="-1284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197864" y="832104"/>
            <a:ext cx="905256" cy="1152144"/>
            <a:chOff x="0" y="0"/>
            <a:chExt cx="1207008" cy="1536192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1207008" cy="1536192"/>
            </a:xfrm>
            <a:custGeom>
              <a:avLst/>
              <a:gdLst/>
              <a:ahLst/>
              <a:cxnLst/>
              <a:rect l="l" t="t" r="r" b="b"/>
              <a:pathLst>
                <a:path w="1207008" h="1536192">
                  <a:moveTo>
                    <a:pt x="0" y="0"/>
                  </a:moveTo>
                  <a:lnTo>
                    <a:pt x="1207008" y="0"/>
                  </a:lnTo>
                  <a:lnTo>
                    <a:pt x="1207008" y="1536192"/>
                  </a:lnTo>
                  <a:lnTo>
                    <a:pt x="0" y="15361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99" r="-9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2441448" y="995553"/>
            <a:ext cx="12801600" cy="7692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  <a:defRPr sz="3500" b="1">
                <a:solidFill>
                  <a:srgbClr val="000000"/>
                </a:solidFill>
                <a:latin typeface="Times New Roman"/>
              </a:defRPr>
            </a:pPr>
            <a:r>
              <a:t>BENCHMARK THREAT &amp; PRIOR LIMITATIONS: ESC13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672816" y="465582"/>
            <a:ext cx="1600200" cy="320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39"/>
              </a:lnSpc>
              <a:defRPr sz="2200">
                <a:solidFill>
                  <a:srgbClr val="000000"/>
                </a:solidFill>
                <a:latin typeface="Times New Roman"/>
              </a:defRPr>
            </a:pPr>
            <a:r>
              <a:t>06b/15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35040" y="9574530"/>
            <a:ext cx="6217920" cy="293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9"/>
              </a:lnSpc>
            </a:pPr>
            <a:r>
              <a:rPr lang="en-US" sz="21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Course Title: Project and Thesis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463040" y="8001000"/>
            <a:ext cx="15361920" cy="384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defRPr sz="1700" i="1">
                <a:solidFill>
                  <a:srgbClr val="334155"/>
                </a:solidFill>
                <a:latin typeface="Times New Roman"/>
              </a:defRPr>
            </a:pPr>
            <a:r>
              <a:t>Figure: Two-Hop ESC13 Attack Chain Evaluated as Our Core Benchmark — Tool Limitations vs. Proposed GNN Detection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231136" y="1645920"/>
            <a:ext cx="1371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1E293B"/>
                </a:solidFill>
                <a:latin typeface="Times New Roman"/>
              </a:defRPr>
            </a:pPr>
            <a:r>
              <a:t>Evaluating state-of-the-art vulnerability auditing tools against composite multi-hop Active Directory attack paths.</a:t>
            </a:r>
          </a:p>
        </p:txBody>
      </p:sp>
      <p:pic>
        <p:nvPicPr>
          <p:cNvPr id="133" name="Picture 132" descr="esc13_benchmark_grap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63040" y="2148840"/>
            <a:ext cx="15361920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5" name="Group 2">
            <a:extLst>
              <a:ext uri="{FF2B5EF4-FFF2-40B4-BE49-F238E27FC236}">
                <a16:creationId xmlns:a16="http://schemas.microsoft.com/office/drawing/2014/main" id="{200A860D-0A69-A44B-0465-A40C756FC3C9}"/>
              </a:ext>
            </a:extLst>
          </p:cNvPr>
          <p:cNvGrpSpPr/>
          <p:nvPr/>
        </p:nvGrpSpPr>
        <p:grpSpPr>
          <a:xfrm rot="-5400000">
            <a:off x="4000500" y="-4000500"/>
            <a:ext cx="10287000" cy="18288000"/>
            <a:chOff x="0" y="0"/>
            <a:chExt cx="13716000" cy="24384000"/>
          </a:xfrm>
        </p:grpSpPr>
        <p:sp>
          <p:nvSpPr>
            <p:cNvPr id="316" name="Freeform 3">
              <a:extLst>
                <a:ext uri="{FF2B5EF4-FFF2-40B4-BE49-F238E27FC236}">
                  <a16:creationId xmlns:a16="http://schemas.microsoft.com/office/drawing/2014/main" id="{66312209-9520-FE57-2DE1-74ACB517D970}"/>
                </a:ext>
              </a:extLst>
            </p:cNvPr>
            <p:cNvSpPr/>
            <p:nvPr/>
          </p:nvSpPr>
          <p:spPr>
            <a:xfrm>
              <a:off x="0" y="0"/>
              <a:ext cx="13716000" cy="24384000"/>
            </a:xfrm>
            <a:custGeom>
              <a:avLst/>
              <a:gdLst/>
              <a:ahLst/>
              <a:cxnLst/>
              <a:rect l="l" t="t" r="r" b="b"/>
              <a:pathLst>
                <a:path w="13716000" h="24384000">
                  <a:moveTo>
                    <a:pt x="13716000" y="0"/>
                  </a:moveTo>
                  <a:lnTo>
                    <a:pt x="13716000" y="24384000"/>
                  </a:lnTo>
                  <a:lnTo>
                    <a:pt x="0" y="24384000"/>
                  </a:lnTo>
                  <a:lnTo>
                    <a:pt x="0" y="0"/>
                  </a:lnTo>
                  <a:lnTo>
                    <a:pt x="13716000" y="0"/>
                  </a:lnTo>
                  <a:close/>
                </a:path>
              </a:pathLst>
            </a:custGeom>
            <a:blipFill>
              <a:blip r:embed="rId3"/>
              <a:stretch>
                <a:fillRect l="-12840" r="-1284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197864" y="723900"/>
            <a:ext cx="905256" cy="1152144"/>
            <a:chOff x="0" y="0"/>
            <a:chExt cx="1207008" cy="1536192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1207008" cy="1536192"/>
            </a:xfrm>
            <a:custGeom>
              <a:avLst/>
              <a:gdLst/>
              <a:ahLst/>
              <a:cxnLst/>
              <a:rect l="l" t="t" r="r" b="b"/>
              <a:pathLst>
                <a:path w="1207008" h="1536192">
                  <a:moveTo>
                    <a:pt x="0" y="0"/>
                  </a:moveTo>
                  <a:lnTo>
                    <a:pt x="1207008" y="0"/>
                  </a:lnTo>
                  <a:lnTo>
                    <a:pt x="1207008" y="1536192"/>
                  </a:lnTo>
                  <a:lnTo>
                    <a:pt x="0" y="15361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99" r="-9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2441448" y="876300"/>
            <a:ext cx="12801600" cy="7597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SYSTEM ARCHITECTURE: CERTGRAPH GNN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672816" y="465582"/>
            <a:ext cx="1600200" cy="320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39"/>
              </a:lnSpc>
            </a:pPr>
            <a:r>
              <a:rPr lang="en-US" sz="21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07/15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35040" y="9225534"/>
            <a:ext cx="6217920" cy="293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9"/>
              </a:lnSpc>
            </a:pPr>
            <a:r>
              <a:rPr lang="en-US" sz="21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Course Title: Project and Thesis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636395" y="7429500"/>
            <a:ext cx="4773930" cy="1664970"/>
            <a:chOff x="0" y="0"/>
            <a:chExt cx="6365240" cy="22199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365240" cy="2219960"/>
            </a:xfrm>
            <a:custGeom>
              <a:avLst/>
              <a:gdLst/>
              <a:ahLst/>
              <a:cxnLst/>
              <a:rect l="l" t="t" r="r" b="b"/>
              <a:pathLst>
                <a:path w="6365240" h="2219960">
                  <a:moveTo>
                    <a:pt x="0" y="0"/>
                  </a:moveTo>
                  <a:lnTo>
                    <a:pt x="6365240" y="0"/>
                  </a:lnTo>
                  <a:lnTo>
                    <a:pt x="6365240" y="2219960"/>
                  </a:lnTo>
                  <a:lnTo>
                    <a:pt x="0" y="221996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5868" b="-5868"/>
              </a:stretch>
            </a:blip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19050"/>
              <a:ext cx="6365240" cy="22390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1. Heterogeneous Projections</a:t>
              </a:r>
            </a:p>
            <a:p>
              <a:pPr algn="l">
                <a:lnSpc>
                  <a:spcPts val="2160"/>
                </a:lnSpc>
              </a:pPr>
              <a:r>
                <a:rPr lang="en-US" sz="1800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5 entity node types projected into unified 64-dim space. Transitive group closures resolved during preprocessing.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757035" y="7429500"/>
            <a:ext cx="4773930" cy="1664970"/>
            <a:chOff x="0" y="0"/>
            <a:chExt cx="6365240" cy="221996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365240" cy="2219960"/>
            </a:xfrm>
            <a:custGeom>
              <a:avLst/>
              <a:gdLst/>
              <a:ahLst/>
              <a:cxnLst/>
              <a:rect l="l" t="t" r="r" b="b"/>
              <a:pathLst>
                <a:path w="6365240" h="2219960">
                  <a:moveTo>
                    <a:pt x="0" y="0"/>
                  </a:moveTo>
                  <a:lnTo>
                    <a:pt x="6365240" y="0"/>
                  </a:lnTo>
                  <a:lnTo>
                    <a:pt x="6365240" y="2219960"/>
                  </a:lnTo>
                  <a:lnTo>
                    <a:pt x="0" y="221996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5868" b="-5868"/>
              </a:stretch>
            </a:blip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6365240" cy="22390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2. Relational Attention &amp; Skips</a:t>
              </a:r>
            </a:p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4 attention heads per relation with orthogonal residual skip connections to preserve features across deep hops.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1877675" y="7429500"/>
            <a:ext cx="4773930" cy="1664970"/>
            <a:chOff x="0" y="0"/>
            <a:chExt cx="6365240" cy="221996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365240" cy="2219960"/>
            </a:xfrm>
            <a:custGeom>
              <a:avLst/>
              <a:gdLst/>
              <a:ahLst/>
              <a:cxnLst/>
              <a:rect l="l" t="t" r="r" b="b"/>
              <a:pathLst>
                <a:path w="6365240" h="2219960">
                  <a:moveTo>
                    <a:pt x="0" y="0"/>
                  </a:moveTo>
                  <a:lnTo>
                    <a:pt x="6365240" y="0"/>
                  </a:lnTo>
                  <a:lnTo>
                    <a:pt x="6365240" y="2219960"/>
                  </a:lnTo>
                  <a:lnTo>
                    <a:pt x="0" y="221996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5868" b="-5868"/>
              </a:stretch>
            </a:blip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6365240" cy="22390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3. Readout &amp; Classification</a:t>
              </a:r>
            </a:p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Template embeddings passed to a 2-layer MLP classifier predicting Safe and 6 escalation classes (ESC1–ESC13).</a:t>
              </a:r>
            </a:p>
          </p:txBody>
        </p:sp>
      </p:grpSp>
      <p:sp>
        <p:nvSpPr>
          <p:cNvPr id="167" name="Shape 1">
            <a:extLst>
              <a:ext uri="{FF2B5EF4-FFF2-40B4-BE49-F238E27FC236}">
                <a16:creationId xmlns:a16="http://schemas.microsoft.com/office/drawing/2014/main" id="{0F47F2B9-B256-71B5-B21F-89615710D177}"/>
              </a:ext>
            </a:extLst>
          </p:cNvPr>
          <p:cNvSpPr/>
          <p:nvPr/>
        </p:nvSpPr>
        <p:spPr>
          <a:xfrm>
            <a:off x="3484245" y="1714500"/>
            <a:ext cx="237744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9" name="Shape 2">
            <a:extLst>
              <a:ext uri="{FF2B5EF4-FFF2-40B4-BE49-F238E27FC236}">
                <a16:creationId xmlns:a16="http://schemas.microsoft.com/office/drawing/2014/main" id="{B4DE6584-C327-2CE3-5B59-4149292F655C}"/>
              </a:ext>
            </a:extLst>
          </p:cNvPr>
          <p:cNvSpPr/>
          <p:nvPr/>
        </p:nvSpPr>
        <p:spPr>
          <a:xfrm>
            <a:off x="3484245" y="1714500"/>
            <a:ext cx="2377440" cy="502920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1" name="Text 3">
            <a:extLst>
              <a:ext uri="{FF2B5EF4-FFF2-40B4-BE49-F238E27FC236}">
                <a16:creationId xmlns:a16="http://schemas.microsoft.com/office/drawing/2014/main" id="{AA23C3BB-EF07-5E5E-F6D7-8EC2CA017D1E}"/>
              </a:ext>
            </a:extLst>
          </p:cNvPr>
          <p:cNvSpPr txBox="1"/>
          <p:nvPr/>
        </p:nvSpPr>
        <p:spPr>
          <a:xfrm>
            <a:off x="3575685" y="17145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Input Graph</a:t>
            </a:r>
            <a:endParaRPr lang="en-US" sz="1700" dirty="0"/>
          </a:p>
        </p:txBody>
      </p:sp>
      <p:sp>
        <p:nvSpPr>
          <p:cNvPr id="173" name="Shape 4">
            <a:extLst>
              <a:ext uri="{FF2B5EF4-FFF2-40B4-BE49-F238E27FC236}">
                <a16:creationId xmlns:a16="http://schemas.microsoft.com/office/drawing/2014/main" id="{6AE9F842-732B-9AD7-C67E-4CA9BFF45150}"/>
              </a:ext>
            </a:extLst>
          </p:cNvPr>
          <p:cNvSpPr/>
          <p:nvPr/>
        </p:nvSpPr>
        <p:spPr>
          <a:xfrm>
            <a:off x="5879973" y="4251960"/>
            <a:ext cx="192024" cy="0"/>
          </a:xfrm>
          <a:prstGeom prst="line">
            <a:avLst/>
          </a:prstGeom>
          <a:noFill/>
          <a:ln w="38100">
            <a:solidFill>
              <a:srgbClr val="1E3A5F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75" name="Shape 5">
            <a:extLst>
              <a:ext uri="{FF2B5EF4-FFF2-40B4-BE49-F238E27FC236}">
                <a16:creationId xmlns:a16="http://schemas.microsoft.com/office/drawing/2014/main" id="{E3A7795D-7C07-C3E7-194F-551D906F2DAD}"/>
              </a:ext>
            </a:extLst>
          </p:cNvPr>
          <p:cNvSpPr/>
          <p:nvPr/>
        </p:nvSpPr>
        <p:spPr>
          <a:xfrm>
            <a:off x="6090285" y="1714500"/>
            <a:ext cx="260604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7" name="Shape 6">
            <a:extLst>
              <a:ext uri="{FF2B5EF4-FFF2-40B4-BE49-F238E27FC236}">
                <a16:creationId xmlns:a16="http://schemas.microsoft.com/office/drawing/2014/main" id="{0947AE55-B74F-8260-20BB-26F4290A7092}"/>
              </a:ext>
            </a:extLst>
          </p:cNvPr>
          <p:cNvSpPr/>
          <p:nvPr/>
        </p:nvSpPr>
        <p:spPr>
          <a:xfrm>
            <a:off x="6090285" y="1714500"/>
            <a:ext cx="2606040" cy="502920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9" name="Text 7">
            <a:extLst>
              <a:ext uri="{FF2B5EF4-FFF2-40B4-BE49-F238E27FC236}">
                <a16:creationId xmlns:a16="http://schemas.microsoft.com/office/drawing/2014/main" id="{E03B19AE-1B59-1753-9E3B-0E0F3F49682D}"/>
              </a:ext>
            </a:extLst>
          </p:cNvPr>
          <p:cNvSpPr txBox="1"/>
          <p:nvPr/>
        </p:nvSpPr>
        <p:spPr>
          <a:xfrm>
            <a:off x="6181725" y="171450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Hetero-GAT Layer 1</a:t>
            </a:r>
            <a:endParaRPr lang="en-US" sz="1700" dirty="0"/>
          </a:p>
        </p:txBody>
      </p:sp>
      <p:sp>
        <p:nvSpPr>
          <p:cNvPr id="181" name="Shape 8">
            <a:extLst>
              <a:ext uri="{FF2B5EF4-FFF2-40B4-BE49-F238E27FC236}">
                <a16:creationId xmlns:a16="http://schemas.microsoft.com/office/drawing/2014/main" id="{7E163715-5421-E1B1-B756-EF8DCC2318EE}"/>
              </a:ext>
            </a:extLst>
          </p:cNvPr>
          <p:cNvSpPr/>
          <p:nvPr/>
        </p:nvSpPr>
        <p:spPr>
          <a:xfrm>
            <a:off x="8714613" y="4251960"/>
            <a:ext cx="192024" cy="0"/>
          </a:xfrm>
          <a:prstGeom prst="line">
            <a:avLst/>
          </a:prstGeom>
          <a:noFill/>
          <a:ln w="38100">
            <a:solidFill>
              <a:srgbClr val="1E3A5F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3" name="Shape 9">
            <a:extLst>
              <a:ext uri="{FF2B5EF4-FFF2-40B4-BE49-F238E27FC236}">
                <a16:creationId xmlns:a16="http://schemas.microsoft.com/office/drawing/2014/main" id="{C84F9A43-3386-5024-894D-7EC3B9EA3762}"/>
              </a:ext>
            </a:extLst>
          </p:cNvPr>
          <p:cNvSpPr/>
          <p:nvPr/>
        </p:nvSpPr>
        <p:spPr>
          <a:xfrm>
            <a:off x="8924925" y="1714500"/>
            <a:ext cx="260604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5" name="Shape 10">
            <a:extLst>
              <a:ext uri="{FF2B5EF4-FFF2-40B4-BE49-F238E27FC236}">
                <a16:creationId xmlns:a16="http://schemas.microsoft.com/office/drawing/2014/main" id="{C1C39095-1DDE-F3CB-24D5-6D7B0841B8D7}"/>
              </a:ext>
            </a:extLst>
          </p:cNvPr>
          <p:cNvSpPr/>
          <p:nvPr/>
        </p:nvSpPr>
        <p:spPr>
          <a:xfrm>
            <a:off x="8924925" y="1714500"/>
            <a:ext cx="2606040" cy="502920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7" name="Text 11">
            <a:extLst>
              <a:ext uri="{FF2B5EF4-FFF2-40B4-BE49-F238E27FC236}">
                <a16:creationId xmlns:a16="http://schemas.microsoft.com/office/drawing/2014/main" id="{5D3B6E48-10B2-6FD2-B22C-D98032C0ED51}"/>
              </a:ext>
            </a:extLst>
          </p:cNvPr>
          <p:cNvSpPr txBox="1"/>
          <p:nvPr/>
        </p:nvSpPr>
        <p:spPr>
          <a:xfrm>
            <a:off x="9016365" y="171450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Layer 2 &amp; Readout</a:t>
            </a:r>
            <a:endParaRPr lang="en-US" sz="1700" dirty="0"/>
          </a:p>
        </p:txBody>
      </p:sp>
      <p:sp>
        <p:nvSpPr>
          <p:cNvPr id="189" name="Shape 12">
            <a:extLst>
              <a:ext uri="{FF2B5EF4-FFF2-40B4-BE49-F238E27FC236}">
                <a16:creationId xmlns:a16="http://schemas.microsoft.com/office/drawing/2014/main" id="{FB2239A4-6E08-80F2-D754-7407D8488919}"/>
              </a:ext>
            </a:extLst>
          </p:cNvPr>
          <p:cNvSpPr/>
          <p:nvPr/>
        </p:nvSpPr>
        <p:spPr>
          <a:xfrm>
            <a:off x="11549253" y="4251960"/>
            <a:ext cx="192024" cy="0"/>
          </a:xfrm>
          <a:prstGeom prst="line">
            <a:avLst/>
          </a:prstGeom>
          <a:noFill/>
          <a:ln w="38100">
            <a:solidFill>
              <a:srgbClr val="1E3A5F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91" name="Shape 13">
            <a:extLst>
              <a:ext uri="{FF2B5EF4-FFF2-40B4-BE49-F238E27FC236}">
                <a16:creationId xmlns:a16="http://schemas.microsoft.com/office/drawing/2014/main" id="{269EE786-699F-723D-6FF7-08046F4466BA}"/>
              </a:ext>
            </a:extLst>
          </p:cNvPr>
          <p:cNvSpPr/>
          <p:nvPr/>
        </p:nvSpPr>
        <p:spPr>
          <a:xfrm>
            <a:off x="11759565" y="1714500"/>
            <a:ext cx="301752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3" name="Shape 14">
            <a:extLst>
              <a:ext uri="{FF2B5EF4-FFF2-40B4-BE49-F238E27FC236}">
                <a16:creationId xmlns:a16="http://schemas.microsoft.com/office/drawing/2014/main" id="{F3E3F332-305F-262F-6893-A3252AD6F8DF}"/>
              </a:ext>
            </a:extLst>
          </p:cNvPr>
          <p:cNvSpPr/>
          <p:nvPr/>
        </p:nvSpPr>
        <p:spPr>
          <a:xfrm>
            <a:off x="11759565" y="1714500"/>
            <a:ext cx="3017520" cy="502920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5" name="Text 15">
            <a:extLst>
              <a:ext uri="{FF2B5EF4-FFF2-40B4-BE49-F238E27FC236}">
                <a16:creationId xmlns:a16="http://schemas.microsoft.com/office/drawing/2014/main" id="{B33F6A06-547C-8AFC-8BEE-B5DDC3C70343}"/>
              </a:ext>
            </a:extLst>
          </p:cNvPr>
          <p:cNvSpPr txBox="1"/>
          <p:nvPr/>
        </p:nvSpPr>
        <p:spPr>
          <a:xfrm>
            <a:off x="11851005" y="17145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Classification</a:t>
            </a:r>
            <a:endParaRPr lang="en-US" sz="1700" dirty="0"/>
          </a:p>
        </p:txBody>
      </p:sp>
      <p:sp>
        <p:nvSpPr>
          <p:cNvPr id="197" name="Shape 16">
            <a:extLst>
              <a:ext uri="{FF2B5EF4-FFF2-40B4-BE49-F238E27FC236}">
                <a16:creationId xmlns:a16="http://schemas.microsoft.com/office/drawing/2014/main" id="{BD820FE9-5C67-5A75-43F8-0F7098DA617D}"/>
              </a:ext>
            </a:extLst>
          </p:cNvPr>
          <p:cNvSpPr/>
          <p:nvPr/>
        </p:nvSpPr>
        <p:spPr>
          <a:xfrm flipV="1">
            <a:off x="4032885" y="2583180"/>
            <a:ext cx="1280160" cy="4572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9" name="Shape 17">
            <a:extLst>
              <a:ext uri="{FF2B5EF4-FFF2-40B4-BE49-F238E27FC236}">
                <a16:creationId xmlns:a16="http://schemas.microsoft.com/office/drawing/2014/main" id="{90F6A1C4-C4F0-804F-95DE-E1AE7FF6411F}"/>
              </a:ext>
            </a:extLst>
          </p:cNvPr>
          <p:cNvSpPr/>
          <p:nvPr/>
        </p:nvSpPr>
        <p:spPr>
          <a:xfrm>
            <a:off x="4032885" y="2628900"/>
            <a:ext cx="640080" cy="68580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1" name="Shape 18">
            <a:extLst>
              <a:ext uri="{FF2B5EF4-FFF2-40B4-BE49-F238E27FC236}">
                <a16:creationId xmlns:a16="http://schemas.microsoft.com/office/drawing/2014/main" id="{45ADBB3B-04E5-E71A-976E-3BEAF0380853}"/>
              </a:ext>
            </a:extLst>
          </p:cNvPr>
          <p:cNvSpPr/>
          <p:nvPr/>
        </p:nvSpPr>
        <p:spPr>
          <a:xfrm flipV="1">
            <a:off x="4672965" y="2583180"/>
            <a:ext cx="640080" cy="73152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3" name="Shape 19">
            <a:extLst>
              <a:ext uri="{FF2B5EF4-FFF2-40B4-BE49-F238E27FC236}">
                <a16:creationId xmlns:a16="http://schemas.microsoft.com/office/drawing/2014/main" id="{DCBC42A0-F202-9A71-F42D-6EA4554AF5AF}"/>
              </a:ext>
            </a:extLst>
          </p:cNvPr>
          <p:cNvSpPr/>
          <p:nvPr/>
        </p:nvSpPr>
        <p:spPr>
          <a:xfrm flipV="1">
            <a:off x="4032885" y="3314700"/>
            <a:ext cx="640080" cy="59436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5" name="Shape 20">
            <a:extLst>
              <a:ext uri="{FF2B5EF4-FFF2-40B4-BE49-F238E27FC236}">
                <a16:creationId xmlns:a16="http://schemas.microsoft.com/office/drawing/2014/main" id="{4613A3F5-601F-68E7-0945-63CE2F8FB87F}"/>
              </a:ext>
            </a:extLst>
          </p:cNvPr>
          <p:cNvSpPr/>
          <p:nvPr/>
        </p:nvSpPr>
        <p:spPr>
          <a:xfrm>
            <a:off x="4672965" y="3314700"/>
            <a:ext cx="640080" cy="59436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7" name="Shape 21">
            <a:extLst>
              <a:ext uri="{FF2B5EF4-FFF2-40B4-BE49-F238E27FC236}">
                <a16:creationId xmlns:a16="http://schemas.microsoft.com/office/drawing/2014/main" id="{ED0F3AE4-C546-623E-D234-B2EF23E7D0B9}"/>
              </a:ext>
            </a:extLst>
          </p:cNvPr>
          <p:cNvSpPr/>
          <p:nvPr/>
        </p:nvSpPr>
        <p:spPr>
          <a:xfrm>
            <a:off x="3781425" y="2377440"/>
            <a:ext cx="502920" cy="502920"/>
          </a:xfrm>
          <a:prstGeom prst="ellipse">
            <a:avLst/>
          </a:prstGeom>
          <a:solidFill>
            <a:srgbClr val="0F766E"/>
          </a:solidFill>
          <a:ln w="22225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9" name="Text 22">
            <a:extLst>
              <a:ext uri="{FF2B5EF4-FFF2-40B4-BE49-F238E27FC236}">
                <a16:creationId xmlns:a16="http://schemas.microsoft.com/office/drawing/2014/main" id="{DC7F2D9E-D705-D729-40D1-1691A4FDB3FE}"/>
              </a:ext>
            </a:extLst>
          </p:cNvPr>
          <p:cNvSpPr txBox="1"/>
          <p:nvPr/>
        </p:nvSpPr>
        <p:spPr>
          <a:xfrm>
            <a:off x="3781425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400" dirty="0"/>
          </a:p>
        </p:txBody>
      </p:sp>
      <p:sp>
        <p:nvSpPr>
          <p:cNvPr id="211" name="Shape 23">
            <a:extLst>
              <a:ext uri="{FF2B5EF4-FFF2-40B4-BE49-F238E27FC236}">
                <a16:creationId xmlns:a16="http://schemas.microsoft.com/office/drawing/2014/main" id="{C2BE036D-BDCF-1C28-BCFF-EB993C5381D1}"/>
              </a:ext>
            </a:extLst>
          </p:cNvPr>
          <p:cNvSpPr/>
          <p:nvPr/>
        </p:nvSpPr>
        <p:spPr>
          <a:xfrm>
            <a:off x="5038725" y="2308860"/>
            <a:ext cx="548640" cy="548640"/>
          </a:xfrm>
          <a:prstGeom prst="triangle">
            <a:avLst/>
          </a:prstGeom>
          <a:solidFill>
            <a:srgbClr val="0F766E"/>
          </a:solidFill>
          <a:ln w="22225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3" name="Text 24">
            <a:extLst>
              <a:ext uri="{FF2B5EF4-FFF2-40B4-BE49-F238E27FC236}">
                <a16:creationId xmlns:a16="http://schemas.microsoft.com/office/drawing/2014/main" id="{197256F3-1E6C-EFD7-8F8D-D0263158999E}"/>
              </a:ext>
            </a:extLst>
          </p:cNvPr>
          <p:cNvSpPr txBox="1"/>
          <p:nvPr/>
        </p:nvSpPr>
        <p:spPr>
          <a:xfrm>
            <a:off x="5038725" y="23088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400" dirty="0"/>
          </a:p>
        </p:txBody>
      </p:sp>
      <p:sp>
        <p:nvSpPr>
          <p:cNvPr id="215" name="Shape 25">
            <a:extLst>
              <a:ext uri="{FF2B5EF4-FFF2-40B4-BE49-F238E27FC236}">
                <a16:creationId xmlns:a16="http://schemas.microsoft.com/office/drawing/2014/main" id="{65F7BFCE-AAAD-FD20-0B79-467AB73AA20E}"/>
              </a:ext>
            </a:extLst>
          </p:cNvPr>
          <p:cNvSpPr/>
          <p:nvPr/>
        </p:nvSpPr>
        <p:spPr>
          <a:xfrm>
            <a:off x="4352925" y="2994660"/>
            <a:ext cx="640080" cy="640080"/>
          </a:xfrm>
          <a:prstGeom prst="diamond">
            <a:avLst/>
          </a:prstGeom>
          <a:solidFill>
            <a:srgbClr val="1E3A5F"/>
          </a:solidFill>
          <a:ln w="22225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7" name="Text 26">
            <a:extLst>
              <a:ext uri="{FF2B5EF4-FFF2-40B4-BE49-F238E27FC236}">
                <a16:creationId xmlns:a16="http://schemas.microsoft.com/office/drawing/2014/main" id="{F06D8A2C-D190-E665-496F-C2FCA1ABD9D5}"/>
              </a:ext>
            </a:extLst>
          </p:cNvPr>
          <p:cNvSpPr txBox="1"/>
          <p:nvPr/>
        </p:nvSpPr>
        <p:spPr>
          <a:xfrm>
            <a:off x="4352925" y="29946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400" dirty="0"/>
          </a:p>
        </p:txBody>
      </p:sp>
      <p:sp>
        <p:nvSpPr>
          <p:cNvPr id="219" name="Shape 27">
            <a:extLst>
              <a:ext uri="{FF2B5EF4-FFF2-40B4-BE49-F238E27FC236}">
                <a16:creationId xmlns:a16="http://schemas.microsoft.com/office/drawing/2014/main" id="{FE140A6A-AE87-F904-0D62-024F99FF481A}"/>
              </a:ext>
            </a:extLst>
          </p:cNvPr>
          <p:cNvSpPr/>
          <p:nvPr/>
        </p:nvSpPr>
        <p:spPr>
          <a:xfrm>
            <a:off x="3804285" y="3680460"/>
            <a:ext cx="457200" cy="457200"/>
          </a:xfrm>
          <a:prstGeom prst="rect">
            <a:avLst/>
          </a:prstGeom>
          <a:solidFill>
            <a:srgbClr val="0F766E"/>
          </a:solidFill>
          <a:ln w="22225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1" name="Text 28">
            <a:extLst>
              <a:ext uri="{FF2B5EF4-FFF2-40B4-BE49-F238E27FC236}">
                <a16:creationId xmlns:a16="http://schemas.microsoft.com/office/drawing/2014/main" id="{AF5775E8-0034-674D-9633-660BE4A6D606}"/>
              </a:ext>
            </a:extLst>
          </p:cNvPr>
          <p:cNvSpPr txBox="1"/>
          <p:nvPr/>
        </p:nvSpPr>
        <p:spPr>
          <a:xfrm>
            <a:off x="3804285" y="3680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223" name="Shape 29">
            <a:extLst>
              <a:ext uri="{FF2B5EF4-FFF2-40B4-BE49-F238E27FC236}">
                <a16:creationId xmlns:a16="http://schemas.microsoft.com/office/drawing/2014/main" id="{B7E8A99A-EFB4-1106-2154-FFDCD4E63F34}"/>
              </a:ext>
            </a:extLst>
          </p:cNvPr>
          <p:cNvSpPr/>
          <p:nvPr/>
        </p:nvSpPr>
        <p:spPr>
          <a:xfrm>
            <a:off x="5029581" y="3625596"/>
            <a:ext cx="566928" cy="566928"/>
          </a:xfrm>
          <a:prstGeom prst="hexagon">
            <a:avLst/>
          </a:prstGeom>
          <a:solidFill>
            <a:srgbClr val="1E3A5F"/>
          </a:solidFill>
          <a:ln w="22225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5" name="Text 30">
            <a:extLst>
              <a:ext uri="{FF2B5EF4-FFF2-40B4-BE49-F238E27FC236}">
                <a16:creationId xmlns:a16="http://schemas.microsoft.com/office/drawing/2014/main" id="{749DBAA2-6231-FBF8-ADD9-D3578EA9A796}"/>
              </a:ext>
            </a:extLst>
          </p:cNvPr>
          <p:cNvSpPr txBox="1"/>
          <p:nvPr/>
        </p:nvSpPr>
        <p:spPr>
          <a:xfrm>
            <a:off x="5029581" y="36255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</a:t>
            </a:r>
            <a:endParaRPr lang="en-US" sz="1200" dirty="0"/>
          </a:p>
        </p:txBody>
      </p:sp>
      <p:sp>
        <p:nvSpPr>
          <p:cNvPr id="227" name="Text 31">
            <a:extLst>
              <a:ext uri="{FF2B5EF4-FFF2-40B4-BE49-F238E27FC236}">
                <a16:creationId xmlns:a16="http://schemas.microsoft.com/office/drawing/2014/main" id="{FBAE019B-937C-96DB-53A0-6593E3C43AB2}"/>
              </a:ext>
            </a:extLst>
          </p:cNvPr>
          <p:cNvSpPr txBox="1"/>
          <p:nvPr/>
        </p:nvSpPr>
        <p:spPr>
          <a:xfrm>
            <a:off x="3575685" y="44119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entity node types</a:t>
            </a:r>
            <a:endParaRPr lang="en-US" sz="1600" dirty="0"/>
          </a:p>
        </p:txBody>
      </p:sp>
      <p:sp>
        <p:nvSpPr>
          <p:cNvPr id="229" name="Text 32">
            <a:extLst>
              <a:ext uri="{FF2B5EF4-FFF2-40B4-BE49-F238E27FC236}">
                <a16:creationId xmlns:a16="http://schemas.microsoft.com/office/drawing/2014/main" id="{D3477B15-5CDB-061B-AEE1-61E6FBADA6B7}"/>
              </a:ext>
            </a:extLst>
          </p:cNvPr>
          <p:cNvSpPr txBox="1"/>
          <p:nvPr/>
        </p:nvSpPr>
        <p:spPr>
          <a:xfrm>
            <a:off x="3621405" y="47777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User, Computer, Group, Template, CA</a:t>
            </a:r>
            <a:endParaRPr lang="en-US" sz="1400" dirty="0"/>
          </a:p>
        </p:txBody>
      </p:sp>
      <p:sp>
        <p:nvSpPr>
          <p:cNvPr id="231" name="Shape 33">
            <a:extLst>
              <a:ext uri="{FF2B5EF4-FFF2-40B4-BE49-F238E27FC236}">
                <a16:creationId xmlns:a16="http://schemas.microsoft.com/office/drawing/2014/main" id="{8A7951D2-704B-C23F-8674-AE95BC78ADDA}"/>
              </a:ext>
            </a:extLst>
          </p:cNvPr>
          <p:cNvSpPr/>
          <p:nvPr/>
        </p:nvSpPr>
        <p:spPr>
          <a:xfrm>
            <a:off x="3593973" y="5509260"/>
            <a:ext cx="2157984" cy="109728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3" name="Text 34">
            <a:extLst>
              <a:ext uri="{FF2B5EF4-FFF2-40B4-BE49-F238E27FC236}">
                <a16:creationId xmlns:a16="http://schemas.microsoft.com/office/drawing/2014/main" id="{AAC7C17A-175E-A3AA-592A-E47325881A70}"/>
              </a:ext>
            </a:extLst>
          </p:cNvPr>
          <p:cNvSpPr txBox="1"/>
          <p:nvPr/>
        </p:nvSpPr>
        <p:spPr>
          <a:xfrm>
            <a:off x="3703701" y="558241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projection</a:t>
            </a:r>
            <a:endParaRPr lang="en-US" sz="1800" dirty="0"/>
          </a:p>
        </p:txBody>
      </p:sp>
      <p:sp>
        <p:nvSpPr>
          <p:cNvPr id="235" name="Text 35">
            <a:extLst>
              <a:ext uri="{FF2B5EF4-FFF2-40B4-BE49-F238E27FC236}">
                <a16:creationId xmlns:a16="http://schemas.microsoft.com/office/drawing/2014/main" id="{3913BCDA-31A1-7708-28E4-7B13AC312E6F}"/>
              </a:ext>
            </a:extLst>
          </p:cNvPr>
          <p:cNvSpPr txBox="1"/>
          <p:nvPr/>
        </p:nvSpPr>
        <p:spPr>
          <a:xfrm>
            <a:off x="3703701" y="5966460"/>
            <a:ext cx="193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node type</a:t>
            </a:r>
            <a:endParaRPr lang="en-US" sz="1600" dirty="0"/>
          </a:p>
        </p:txBody>
      </p:sp>
      <p:sp>
        <p:nvSpPr>
          <p:cNvPr id="237" name="Shape 36">
            <a:extLst>
              <a:ext uri="{FF2B5EF4-FFF2-40B4-BE49-F238E27FC236}">
                <a16:creationId xmlns:a16="http://schemas.microsoft.com/office/drawing/2014/main" id="{F62F6F7D-EDC2-FA1E-8388-D33222261353}"/>
              </a:ext>
            </a:extLst>
          </p:cNvPr>
          <p:cNvSpPr/>
          <p:nvPr/>
        </p:nvSpPr>
        <p:spPr>
          <a:xfrm>
            <a:off x="6200013" y="2400300"/>
            <a:ext cx="2386584" cy="13716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9" name="Text 37">
            <a:extLst>
              <a:ext uri="{FF2B5EF4-FFF2-40B4-BE49-F238E27FC236}">
                <a16:creationId xmlns:a16="http://schemas.microsoft.com/office/drawing/2014/main" id="{9BF3EC28-4E16-071C-61AE-896B90500E80}"/>
              </a:ext>
            </a:extLst>
          </p:cNvPr>
          <p:cNvSpPr txBox="1"/>
          <p:nvPr/>
        </p:nvSpPr>
        <p:spPr>
          <a:xfrm>
            <a:off x="6309741" y="2473452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attention</a:t>
            </a:r>
            <a:endParaRPr lang="en-US" sz="1800" dirty="0"/>
          </a:p>
        </p:txBody>
      </p:sp>
      <p:sp>
        <p:nvSpPr>
          <p:cNvPr id="241" name="Text 38">
            <a:extLst>
              <a:ext uri="{FF2B5EF4-FFF2-40B4-BE49-F238E27FC236}">
                <a16:creationId xmlns:a16="http://schemas.microsoft.com/office/drawing/2014/main" id="{236C0576-7064-23AD-6B6A-CC2B52C6EB4C}"/>
              </a:ext>
            </a:extLst>
          </p:cNvPr>
          <p:cNvSpPr txBox="1"/>
          <p:nvPr/>
        </p:nvSpPr>
        <p:spPr>
          <a:xfrm>
            <a:off x="6309741" y="2857500"/>
            <a:ext cx="21671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Multi-head (4 heads) over each relation type</a:t>
            </a:r>
            <a:endParaRPr lang="en-US" sz="1600" dirty="0"/>
          </a:p>
        </p:txBody>
      </p:sp>
      <p:sp>
        <p:nvSpPr>
          <p:cNvPr id="243" name="Shape 39">
            <a:extLst>
              <a:ext uri="{FF2B5EF4-FFF2-40B4-BE49-F238E27FC236}">
                <a16:creationId xmlns:a16="http://schemas.microsoft.com/office/drawing/2014/main" id="{FAF8260D-3064-B8DE-F19B-5E1B0C6DA36F}"/>
              </a:ext>
            </a:extLst>
          </p:cNvPr>
          <p:cNvSpPr/>
          <p:nvPr/>
        </p:nvSpPr>
        <p:spPr>
          <a:xfrm>
            <a:off x="6200013" y="3909060"/>
            <a:ext cx="2386584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5" name="Text 40">
            <a:extLst>
              <a:ext uri="{FF2B5EF4-FFF2-40B4-BE49-F238E27FC236}">
                <a16:creationId xmlns:a16="http://schemas.microsoft.com/office/drawing/2014/main" id="{5D068457-560A-87F6-2CDB-9BBFEACF4EE5}"/>
              </a:ext>
            </a:extLst>
          </p:cNvPr>
          <p:cNvSpPr txBox="1"/>
          <p:nvPr/>
        </p:nvSpPr>
        <p:spPr>
          <a:xfrm>
            <a:off x="6309741" y="3982212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&amp; normalize</a:t>
            </a:r>
            <a:endParaRPr lang="en-US" sz="1800" dirty="0"/>
          </a:p>
        </p:txBody>
      </p:sp>
      <p:sp>
        <p:nvSpPr>
          <p:cNvPr id="247" name="Text 41">
            <a:extLst>
              <a:ext uri="{FF2B5EF4-FFF2-40B4-BE49-F238E27FC236}">
                <a16:creationId xmlns:a16="http://schemas.microsoft.com/office/drawing/2014/main" id="{6F475131-5B5B-8E7E-54B5-7B36569C3FF7}"/>
              </a:ext>
            </a:extLst>
          </p:cNvPr>
          <p:cNvSpPr txBox="1"/>
          <p:nvPr/>
        </p:nvSpPr>
        <p:spPr>
          <a:xfrm>
            <a:off x="6309741" y="4366260"/>
            <a:ext cx="216712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ELU activation + LayerNorm</a:t>
            </a:r>
            <a:endParaRPr lang="en-US" sz="1600" dirty="0"/>
          </a:p>
        </p:txBody>
      </p:sp>
      <p:sp>
        <p:nvSpPr>
          <p:cNvPr id="249" name="Shape 42">
            <a:extLst>
              <a:ext uri="{FF2B5EF4-FFF2-40B4-BE49-F238E27FC236}">
                <a16:creationId xmlns:a16="http://schemas.microsoft.com/office/drawing/2014/main" id="{CF3D2F4D-BFC0-9EC9-0C70-B6C49B20E769}"/>
              </a:ext>
            </a:extLst>
          </p:cNvPr>
          <p:cNvSpPr/>
          <p:nvPr/>
        </p:nvSpPr>
        <p:spPr>
          <a:xfrm>
            <a:off x="6200013" y="5372100"/>
            <a:ext cx="2386584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1" name="Text 43">
            <a:extLst>
              <a:ext uri="{FF2B5EF4-FFF2-40B4-BE49-F238E27FC236}">
                <a16:creationId xmlns:a16="http://schemas.microsoft.com/office/drawing/2014/main" id="{1BC0BF3C-856D-596A-67C0-BA7A4A1529A8}"/>
              </a:ext>
            </a:extLst>
          </p:cNvPr>
          <p:cNvSpPr txBox="1"/>
          <p:nvPr/>
        </p:nvSpPr>
        <p:spPr>
          <a:xfrm>
            <a:off x="6309741" y="5445252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skip</a:t>
            </a:r>
            <a:endParaRPr lang="en-US" sz="1800" dirty="0"/>
          </a:p>
        </p:txBody>
      </p:sp>
      <p:sp>
        <p:nvSpPr>
          <p:cNvPr id="253" name="Text 44">
            <a:extLst>
              <a:ext uri="{FF2B5EF4-FFF2-40B4-BE49-F238E27FC236}">
                <a16:creationId xmlns:a16="http://schemas.microsoft.com/office/drawing/2014/main" id="{3B0086E2-445F-1E6D-B1C1-4EAD76FD68B7}"/>
              </a:ext>
            </a:extLst>
          </p:cNvPr>
          <p:cNvSpPr txBox="1"/>
          <p:nvPr/>
        </p:nvSpPr>
        <p:spPr>
          <a:xfrm>
            <a:off x="6309741" y="5829300"/>
            <a:ext cx="21671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Avoids source collapse</a:t>
            </a:r>
            <a:endParaRPr lang="en-US" sz="1600" dirty="0"/>
          </a:p>
        </p:txBody>
      </p:sp>
      <p:sp>
        <p:nvSpPr>
          <p:cNvPr id="255" name="Shape 45">
            <a:extLst>
              <a:ext uri="{FF2B5EF4-FFF2-40B4-BE49-F238E27FC236}">
                <a16:creationId xmlns:a16="http://schemas.microsoft.com/office/drawing/2014/main" id="{09E72036-0C56-EC93-0E21-45223B952DD9}"/>
              </a:ext>
            </a:extLst>
          </p:cNvPr>
          <p:cNvSpPr/>
          <p:nvPr/>
        </p:nvSpPr>
        <p:spPr>
          <a:xfrm>
            <a:off x="9034653" y="2400300"/>
            <a:ext cx="2386584" cy="196596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7" name="Text 46">
            <a:extLst>
              <a:ext uri="{FF2B5EF4-FFF2-40B4-BE49-F238E27FC236}">
                <a16:creationId xmlns:a16="http://schemas.microsoft.com/office/drawing/2014/main" id="{FC15C4A5-9E28-5DFB-C0B6-F38BFABDB993}"/>
              </a:ext>
            </a:extLst>
          </p:cNvPr>
          <p:cNvSpPr txBox="1"/>
          <p:nvPr/>
        </p:nvSpPr>
        <p:spPr>
          <a:xfrm>
            <a:off x="9144381" y="2473452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2-hop aggregation</a:t>
            </a:r>
            <a:endParaRPr lang="en-US" sz="1800" dirty="0"/>
          </a:p>
        </p:txBody>
      </p:sp>
      <p:sp>
        <p:nvSpPr>
          <p:cNvPr id="259" name="Text 47">
            <a:extLst>
              <a:ext uri="{FF2B5EF4-FFF2-40B4-BE49-F238E27FC236}">
                <a16:creationId xmlns:a16="http://schemas.microsoft.com/office/drawing/2014/main" id="{5496A9AD-EDCC-03EF-E883-3B1935E49718}"/>
              </a:ext>
            </a:extLst>
          </p:cNvPr>
          <p:cNvSpPr txBox="1"/>
          <p:nvPr/>
        </p:nvSpPr>
        <p:spPr>
          <a:xfrm>
            <a:off x="9144381" y="2857500"/>
            <a:ext cx="2167128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Aggregates multi-hop DACLs and policy linkage contexts</a:t>
            </a:r>
            <a:endParaRPr lang="en-US" sz="1600" dirty="0"/>
          </a:p>
        </p:txBody>
      </p:sp>
      <p:sp>
        <p:nvSpPr>
          <p:cNvPr id="261" name="Shape 48">
            <a:extLst>
              <a:ext uri="{FF2B5EF4-FFF2-40B4-BE49-F238E27FC236}">
                <a16:creationId xmlns:a16="http://schemas.microsoft.com/office/drawing/2014/main" id="{795AAE28-392B-D134-9816-1D803C988DD3}"/>
              </a:ext>
            </a:extLst>
          </p:cNvPr>
          <p:cNvSpPr/>
          <p:nvPr/>
        </p:nvSpPr>
        <p:spPr>
          <a:xfrm>
            <a:off x="9034653" y="4503420"/>
            <a:ext cx="2386584" cy="21488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3" name="Text 49">
            <a:extLst>
              <a:ext uri="{FF2B5EF4-FFF2-40B4-BE49-F238E27FC236}">
                <a16:creationId xmlns:a16="http://schemas.microsoft.com/office/drawing/2014/main" id="{5E7B2C03-6DB0-6EB6-587E-C5F19B824FFA}"/>
              </a:ext>
            </a:extLst>
          </p:cNvPr>
          <p:cNvSpPr txBox="1"/>
          <p:nvPr/>
        </p:nvSpPr>
        <p:spPr>
          <a:xfrm>
            <a:off x="9144381" y="4576572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readout</a:t>
            </a:r>
            <a:endParaRPr lang="en-US" sz="1800" dirty="0"/>
          </a:p>
        </p:txBody>
      </p:sp>
      <p:sp>
        <p:nvSpPr>
          <p:cNvPr id="265" name="Text 50">
            <a:extLst>
              <a:ext uri="{FF2B5EF4-FFF2-40B4-BE49-F238E27FC236}">
                <a16:creationId xmlns:a16="http://schemas.microsoft.com/office/drawing/2014/main" id="{BE3DE745-F378-927C-A719-89C3DAF5457E}"/>
              </a:ext>
            </a:extLst>
          </p:cNvPr>
          <p:cNvSpPr txBox="1"/>
          <p:nvPr/>
        </p:nvSpPr>
        <p:spPr>
          <a:xfrm>
            <a:off x="9144381" y="4960620"/>
            <a:ext cx="2167128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64-d embedding of each certificate template (isolated vulnerability latent state)</a:t>
            </a:r>
            <a:endParaRPr lang="en-US" sz="1600" dirty="0"/>
          </a:p>
        </p:txBody>
      </p:sp>
      <p:sp>
        <p:nvSpPr>
          <p:cNvPr id="267" name="Text 51">
            <a:extLst>
              <a:ext uri="{FF2B5EF4-FFF2-40B4-BE49-F238E27FC236}">
                <a16:creationId xmlns:a16="http://schemas.microsoft.com/office/drawing/2014/main" id="{B49D131C-5552-3049-CDEA-F97C85DCC72F}"/>
              </a:ext>
            </a:extLst>
          </p:cNvPr>
          <p:cNvSpPr txBox="1"/>
          <p:nvPr/>
        </p:nvSpPr>
        <p:spPr>
          <a:xfrm>
            <a:off x="11942445" y="23545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head</a:t>
            </a:r>
            <a:endParaRPr lang="en-US" sz="1700" dirty="0"/>
          </a:p>
        </p:txBody>
      </p:sp>
      <p:sp>
        <p:nvSpPr>
          <p:cNvPr id="269" name="Text 52">
            <a:extLst>
              <a:ext uri="{FF2B5EF4-FFF2-40B4-BE49-F238E27FC236}">
                <a16:creationId xmlns:a16="http://schemas.microsoft.com/office/drawing/2014/main" id="{497107F9-25EE-8B29-A14B-8A3FDC39608F}"/>
              </a:ext>
            </a:extLst>
          </p:cNvPr>
          <p:cNvSpPr txBox="1"/>
          <p:nvPr/>
        </p:nvSpPr>
        <p:spPr>
          <a:xfrm>
            <a:off x="11942445" y="27203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→ 32 → 7 classes</a:t>
            </a:r>
            <a:endParaRPr lang="en-US" sz="1400" dirty="0"/>
          </a:p>
        </p:txBody>
      </p:sp>
      <p:sp>
        <p:nvSpPr>
          <p:cNvPr id="271" name="Shape 53">
            <a:extLst>
              <a:ext uri="{FF2B5EF4-FFF2-40B4-BE49-F238E27FC236}">
                <a16:creationId xmlns:a16="http://schemas.microsoft.com/office/drawing/2014/main" id="{479FE9B5-C7A2-CA50-C8E3-76B19F817F55}"/>
              </a:ext>
            </a:extLst>
          </p:cNvPr>
          <p:cNvSpPr/>
          <p:nvPr/>
        </p:nvSpPr>
        <p:spPr>
          <a:xfrm>
            <a:off x="11942445" y="3223260"/>
            <a:ext cx="822960" cy="384048"/>
          </a:xfrm>
          <a:prstGeom prst="rect">
            <a:avLst/>
          </a:prstGeom>
          <a:solidFill>
            <a:srgbClr val="0F766E"/>
          </a:solidFill>
          <a:ln w="635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3" name="Text 54">
            <a:extLst>
              <a:ext uri="{FF2B5EF4-FFF2-40B4-BE49-F238E27FC236}">
                <a16:creationId xmlns:a16="http://schemas.microsoft.com/office/drawing/2014/main" id="{11C77337-2426-382B-0588-49FC0B02F357}"/>
              </a:ext>
            </a:extLst>
          </p:cNvPr>
          <p:cNvSpPr txBox="1"/>
          <p:nvPr/>
        </p:nvSpPr>
        <p:spPr>
          <a:xfrm>
            <a:off x="11942445" y="322326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</a:t>
            </a:r>
            <a:endParaRPr lang="en-US" sz="1400" dirty="0"/>
          </a:p>
        </p:txBody>
      </p:sp>
      <p:sp>
        <p:nvSpPr>
          <p:cNvPr id="275" name="Text 55">
            <a:extLst>
              <a:ext uri="{FF2B5EF4-FFF2-40B4-BE49-F238E27FC236}">
                <a16:creationId xmlns:a16="http://schemas.microsoft.com/office/drawing/2014/main" id="{E65185B5-18A2-7D95-EFC7-5CE070212ED3}"/>
              </a:ext>
            </a:extLst>
          </p:cNvPr>
          <p:cNvSpPr txBox="1"/>
          <p:nvPr/>
        </p:nvSpPr>
        <p:spPr>
          <a:xfrm>
            <a:off x="12875133" y="3223260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</a:t>
            </a:r>
            <a:endParaRPr lang="en-US" sz="1400" dirty="0"/>
          </a:p>
        </p:txBody>
      </p:sp>
      <p:sp>
        <p:nvSpPr>
          <p:cNvPr id="277" name="Shape 56">
            <a:extLst>
              <a:ext uri="{FF2B5EF4-FFF2-40B4-BE49-F238E27FC236}">
                <a16:creationId xmlns:a16="http://schemas.microsoft.com/office/drawing/2014/main" id="{789209D6-89D5-F2D9-2439-880EA9CD34A5}"/>
              </a:ext>
            </a:extLst>
          </p:cNvPr>
          <p:cNvSpPr/>
          <p:nvPr/>
        </p:nvSpPr>
        <p:spPr>
          <a:xfrm>
            <a:off x="11942445" y="3726180"/>
            <a:ext cx="822960" cy="384048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9" name="Text 57">
            <a:extLst>
              <a:ext uri="{FF2B5EF4-FFF2-40B4-BE49-F238E27FC236}">
                <a16:creationId xmlns:a16="http://schemas.microsoft.com/office/drawing/2014/main" id="{39A753E9-E068-BB17-D985-294BE9B124DB}"/>
              </a:ext>
            </a:extLst>
          </p:cNvPr>
          <p:cNvSpPr txBox="1"/>
          <p:nvPr/>
        </p:nvSpPr>
        <p:spPr>
          <a:xfrm>
            <a:off x="11942445" y="37261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ESC1</a:t>
            </a:r>
            <a:endParaRPr lang="en-US" sz="1400" dirty="0"/>
          </a:p>
        </p:txBody>
      </p:sp>
      <p:sp>
        <p:nvSpPr>
          <p:cNvPr id="281" name="Text 58">
            <a:extLst>
              <a:ext uri="{FF2B5EF4-FFF2-40B4-BE49-F238E27FC236}">
                <a16:creationId xmlns:a16="http://schemas.microsoft.com/office/drawing/2014/main" id="{CFF3443B-C834-C7B2-391D-EF6B04CA5B3C}"/>
              </a:ext>
            </a:extLst>
          </p:cNvPr>
          <p:cNvSpPr txBox="1"/>
          <p:nvPr/>
        </p:nvSpPr>
        <p:spPr>
          <a:xfrm>
            <a:off x="12875133" y="3726180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Enrollee supplies SAN</a:t>
            </a:r>
            <a:endParaRPr lang="en-US" sz="1400" dirty="0"/>
          </a:p>
        </p:txBody>
      </p:sp>
      <p:sp>
        <p:nvSpPr>
          <p:cNvPr id="283" name="Shape 59">
            <a:extLst>
              <a:ext uri="{FF2B5EF4-FFF2-40B4-BE49-F238E27FC236}">
                <a16:creationId xmlns:a16="http://schemas.microsoft.com/office/drawing/2014/main" id="{5DC8DD03-03D8-C480-DFAA-EAE84E14E448}"/>
              </a:ext>
            </a:extLst>
          </p:cNvPr>
          <p:cNvSpPr/>
          <p:nvPr/>
        </p:nvSpPr>
        <p:spPr>
          <a:xfrm>
            <a:off x="11942445" y="4229100"/>
            <a:ext cx="822960" cy="384048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5" name="Text 60">
            <a:extLst>
              <a:ext uri="{FF2B5EF4-FFF2-40B4-BE49-F238E27FC236}">
                <a16:creationId xmlns:a16="http://schemas.microsoft.com/office/drawing/2014/main" id="{C654EAF8-DA57-6B2D-39D1-811332C024BF}"/>
              </a:ext>
            </a:extLst>
          </p:cNvPr>
          <p:cNvSpPr txBox="1"/>
          <p:nvPr/>
        </p:nvSpPr>
        <p:spPr>
          <a:xfrm>
            <a:off x="11942445" y="42291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ESC2</a:t>
            </a:r>
            <a:endParaRPr lang="en-US" sz="1400" dirty="0"/>
          </a:p>
        </p:txBody>
      </p:sp>
      <p:sp>
        <p:nvSpPr>
          <p:cNvPr id="287" name="Text 61">
            <a:extLst>
              <a:ext uri="{FF2B5EF4-FFF2-40B4-BE49-F238E27FC236}">
                <a16:creationId xmlns:a16="http://schemas.microsoft.com/office/drawing/2014/main" id="{93B7C213-C5E2-7CE1-8FB6-20092F994683}"/>
              </a:ext>
            </a:extLst>
          </p:cNvPr>
          <p:cNvSpPr txBox="1"/>
          <p:nvPr/>
        </p:nvSpPr>
        <p:spPr>
          <a:xfrm>
            <a:off x="12875133" y="4229100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Purpose EKU</a:t>
            </a:r>
            <a:endParaRPr lang="en-US" sz="1400" dirty="0"/>
          </a:p>
        </p:txBody>
      </p:sp>
      <p:sp>
        <p:nvSpPr>
          <p:cNvPr id="289" name="Shape 62">
            <a:extLst>
              <a:ext uri="{FF2B5EF4-FFF2-40B4-BE49-F238E27FC236}">
                <a16:creationId xmlns:a16="http://schemas.microsoft.com/office/drawing/2014/main" id="{A02F0181-B39C-5793-F4B3-0341C7EEFF48}"/>
              </a:ext>
            </a:extLst>
          </p:cNvPr>
          <p:cNvSpPr/>
          <p:nvPr/>
        </p:nvSpPr>
        <p:spPr>
          <a:xfrm>
            <a:off x="11942445" y="4732020"/>
            <a:ext cx="822960" cy="384048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1" name="Text 63">
            <a:extLst>
              <a:ext uri="{FF2B5EF4-FFF2-40B4-BE49-F238E27FC236}">
                <a16:creationId xmlns:a16="http://schemas.microsoft.com/office/drawing/2014/main" id="{8FF04EA0-4BB8-DFEB-C43F-EDF253A7614C}"/>
              </a:ext>
            </a:extLst>
          </p:cNvPr>
          <p:cNvSpPr txBox="1"/>
          <p:nvPr/>
        </p:nvSpPr>
        <p:spPr>
          <a:xfrm>
            <a:off x="11942445" y="473202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ESC3</a:t>
            </a:r>
            <a:endParaRPr lang="en-US" sz="1400" dirty="0"/>
          </a:p>
        </p:txBody>
      </p:sp>
      <p:sp>
        <p:nvSpPr>
          <p:cNvPr id="293" name="Text 64">
            <a:extLst>
              <a:ext uri="{FF2B5EF4-FFF2-40B4-BE49-F238E27FC236}">
                <a16:creationId xmlns:a16="http://schemas.microsoft.com/office/drawing/2014/main" id="{5A7FD138-0C42-8248-FD97-DB5562238459}"/>
              </a:ext>
            </a:extLst>
          </p:cNvPr>
          <p:cNvSpPr txBox="1"/>
          <p:nvPr/>
        </p:nvSpPr>
        <p:spPr>
          <a:xfrm>
            <a:off x="12875133" y="4732020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 Request Agent</a:t>
            </a:r>
            <a:endParaRPr lang="en-US" sz="1400" dirty="0"/>
          </a:p>
        </p:txBody>
      </p:sp>
      <p:sp>
        <p:nvSpPr>
          <p:cNvPr id="295" name="Shape 65">
            <a:extLst>
              <a:ext uri="{FF2B5EF4-FFF2-40B4-BE49-F238E27FC236}">
                <a16:creationId xmlns:a16="http://schemas.microsoft.com/office/drawing/2014/main" id="{58AB9776-9ED2-4D11-AF82-A53DA245F822}"/>
              </a:ext>
            </a:extLst>
          </p:cNvPr>
          <p:cNvSpPr/>
          <p:nvPr/>
        </p:nvSpPr>
        <p:spPr>
          <a:xfrm>
            <a:off x="11942445" y="5234940"/>
            <a:ext cx="822960" cy="384048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7" name="Text 66">
            <a:extLst>
              <a:ext uri="{FF2B5EF4-FFF2-40B4-BE49-F238E27FC236}">
                <a16:creationId xmlns:a16="http://schemas.microsoft.com/office/drawing/2014/main" id="{ACD97B05-2323-8C3A-D9ED-CB4998D66012}"/>
              </a:ext>
            </a:extLst>
          </p:cNvPr>
          <p:cNvSpPr txBox="1"/>
          <p:nvPr/>
        </p:nvSpPr>
        <p:spPr>
          <a:xfrm>
            <a:off x="11942445" y="523494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ESC4</a:t>
            </a:r>
            <a:endParaRPr lang="en-US" sz="1400" dirty="0"/>
          </a:p>
        </p:txBody>
      </p:sp>
      <p:sp>
        <p:nvSpPr>
          <p:cNvPr id="299" name="Text 67">
            <a:extLst>
              <a:ext uri="{FF2B5EF4-FFF2-40B4-BE49-F238E27FC236}">
                <a16:creationId xmlns:a16="http://schemas.microsoft.com/office/drawing/2014/main" id="{31A91306-2768-D416-B2B8-A5A60FC00D28}"/>
              </a:ext>
            </a:extLst>
          </p:cNvPr>
          <p:cNvSpPr txBox="1"/>
          <p:nvPr/>
        </p:nvSpPr>
        <p:spPr>
          <a:xfrm>
            <a:off x="12875133" y="5234940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DACL / WriteOwner</a:t>
            </a:r>
            <a:endParaRPr lang="en-US" sz="1400" dirty="0"/>
          </a:p>
        </p:txBody>
      </p:sp>
      <p:sp>
        <p:nvSpPr>
          <p:cNvPr id="301" name="Shape 68">
            <a:extLst>
              <a:ext uri="{FF2B5EF4-FFF2-40B4-BE49-F238E27FC236}">
                <a16:creationId xmlns:a16="http://schemas.microsoft.com/office/drawing/2014/main" id="{4E5E74DE-1585-E251-E65A-CCD70560E88E}"/>
              </a:ext>
            </a:extLst>
          </p:cNvPr>
          <p:cNvSpPr/>
          <p:nvPr/>
        </p:nvSpPr>
        <p:spPr>
          <a:xfrm>
            <a:off x="11942445" y="5737860"/>
            <a:ext cx="822960" cy="384048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3" name="Text 69">
            <a:extLst>
              <a:ext uri="{FF2B5EF4-FFF2-40B4-BE49-F238E27FC236}">
                <a16:creationId xmlns:a16="http://schemas.microsoft.com/office/drawing/2014/main" id="{89BC2602-5CC1-3EB6-A26F-94B977ED98D7}"/>
              </a:ext>
            </a:extLst>
          </p:cNvPr>
          <p:cNvSpPr txBox="1"/>
          <p:nvPr/>
        </p:nvSpPr>
        <p:spPr>
          <a:xfrm>
            <a:off x="11942445" y="573786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ESC9</a:t>
            </a:r>
            <a:endParaRPr lang="en-US" sz="1400" dirty="0"/>
          </a:p>
        </p:txBody>
      </p:sp>
      <p:sp>
        <p:nvSpPr>
          <p:cNvPr id="305" name="Text 70">
            <a:extLst>
              <a:ext uri="{FF2B5EF4-FFF2-40B4-BE49-F238E27FC236}">
                <a16:creationId xmlns:a16="http://schemas.microsoft.com/office/drawing/2014/main" id="{37C7F929-9944-61E4-85A0-34BB67CEA564}"/>
              </a:ext>
            </a:extLst>
          </p:cNvPr>
          <p:cNvSpPr txBox="1"/>
          <p:nvPr/>
        </p:nvSpPr>
        <p:spPr>
          <a:xfrm>
            <a:off x="12875133" y="5737860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Security Extension</a:t>
            </a:r>
            <a:endParaRPr lang="en-US" sz="1400" dirty="0"/>
          </a:p>
        </p:txBody>
      </p:sp>
      <p:sp>
        <p:nvSpPr>
          <p:cNvPr id="307" name="Shape 71">
            <a:extLst>
              <a:ext uri="{FF2B5EF4-FFF2-40B4-BE49-F238E27FC236}">
                <a16:creationId xmlns:a16="http://schemas.microsoft.com/office/drawing/2014/main" id="{48EE9567-5215-8408-E70B-6C10B847031A}"/>
              </a:ext>
            </a:extLst>
          </p:cNvPr>
          <p:cNvSpPr/>
          <p:nvPr/>
        </p:nvSpPr>
        <p:spPr>
          <a:xfrm>
            <a:off x="11942445" y="6240780"/>
            <a:ext cx="822960" cy="384048"/>
          </a:xfrm>
          <a:prstGeom prst="rect">
            <a:avLst/>
          </a:prstGeom>
          <a:solidFill>
            <a:srgbClr val="C62828"/>
          </a:solidFill>
          <a:ln w="63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9" name="Text 72">
            <a:extLst>
              <a:ext uri="{FF2B5EF4-FFF2-40B4-BE49-F238E27FC236}">
                <a16:creationId xmlns:a16="http://schemas.microsoft.com/office/drawing/2014/main" id="{10BDCE49-8E3B-181D-1D22-D189201CB448}"/>
              </a:ext>
            </a:extLst>
          </p:cNvPr>
          <p:cNvSpPr txBox="1"/>
          <p:nvPr/>
        </p:nvSpPr>
        <p:spPr>
          <a:xfrm>
            <a:off x="11942445" y="62407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ESC13</a:t>
            </a:r>
            <a:endParaRPr lang="en-US" sz="1400" dirty="0"/>
          </a:p>
        </p:txBody>
      </p:sp>
      <p:sp>
        <p:nvSpPr>
          <p:cNvPr id="311" name="Text 73">
            <a:extLst>
              <a:ext uri="{FF2B5EF4-FFF2-40B4-BE49-F238E27FC236}">
                <a16:creationId xmlns:a16="http://schemas.microsoft.com/office/drawing/2014/main" id="{59F592E7-C2B9-76B3-2F66-94FFF2E72E29}"/>
              </a:ext>
            </a:extLst>
          </p:cNvPr>
          <p:cNvSpPr txBox="1"/>
          <p:nvPr/>
        </p:nvSpPr>
        <p:spPr>
          <a:xfrm>
            <a:off x="12875133" y="6240780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OID linkage</a:t>
            </a:r>
            <a:endParaRPr lang="en-US" sz="1400" dirty="0"/>
          </a:p>
        </p:txBody>
      </p:sp>
      <p:sp>
        <p:nvSpPr>
          <p:cNvPr id="314" name="TextBox 18">
            <a:extLst>
              <a:ext uri="{FF2B5EF4-FFF2-40B4-BE49-F238E27FC236}">
                <a16:creationId xmlns:a16="http://schemas.microsoft.com/office/drawing/2014/main" id="{27C10180-41C5-7CA4-FD49-CA859C254497}"/>
              </a:ext>
            </a:extLst>
          </p:cNvPr>
          <p:cNvSpPr txBox="1"/>
          <p:nvPr/>
        </p:nvSpPr>
        <p:spPr>
          <a:xfrm>
            <a:off x="5257800" y="6893123"/>
            <a:ext cx="7772400" cy="307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 i="1" dirty="0">
                <a:solidFill>
                  <a:srgbClr val="000000"/>
                </a:solidFill>
                <a:latin typeface="Times New Roman Italics"/>
                <a:ea typeface="Times New Roman Italics"/>
                <a:cs typeface="Times New Roman Italics"/>
                <a:sym typeface="Times New Roman Italics"/>
              </a:rPr>
              <a:t>Figure: </a:t>
            </a:r>
            <a:r>
              <a:rPr lang="en-US" sz="2000" i="1" dirty="0" err="1">
                <a:solidFill>
                  <a:srgbClr val="000000"/>
                </a:solidFill>
                <a:latin typeface="Times New Roman Italics"/>
                <a:ea typeface="Times New Roman Italics"/>
                <a:cs typeface="Times New Roman Italics"/>
                <a:sym typeface="Times New Roman Italics"/>
              </a:rPr>
              <a:t>Certgraph</a:t>
            </a:r>
            <a:r>
              <a:rPr lang="en-US" sz="2000" i="1" dirty="0">
                <a:solidFill>
                  <a:srgbClr val="000000"/>
                </a:solidFill>
                <a:latin typeface="Times New Roman Italics"/>
                <a:ea typeface="Times New Roman Italics"/>
                <a:cs typeface="Times New Roman Italics"/>
                <a:sym typeface="Times New Roman Italics"/>
              </a:rPr>
              <a:t> GNN System Architecture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500"/>
                                        <p:tgtEl>
                                          <p:spTgt spid="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00"/>
                                        <p:tgtEl>
                                          <p:spTgt spid="2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500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500"/>
                                        <p:tgtEl>
                                          <p:spTgt spid="2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500"/>
                                        <p:tgtEl>
                                          <p:spTgt spid="2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500"/>
                                        <p:tgtEl>
                                          <p:spTgt spid="2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500"/>
                                        <p:tgtEl>
                                          <p:spTgt spid="2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500"/>
                                        <p:tgtEl>
                                          <p:spTgt spid="2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500"/>
                                        <p:tgtEl>
                                          <p:spTgt spid="2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500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500"/>
                                        <p:tgtEl>
                                          <p:spTgt spid="3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500"/>
                                        <p:tgtEl>
                                          <p:spTgt spid="3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500"/>
                                        <p:tgtEl>
                                          <p:spTgt spid="3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500"/>
                                        <p:tgtEl>
                                          <p:spTgt spid="3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50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5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9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5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7" grpId="0" animBg="1"/>
      <p:bldP spid="169" grpId="0" animBg="1"/>
      <p:bldP spid="171" grpId="0" animBg="1"/>
      <p:bldP spid="173" grpId="0" animBg="1"/>
      <p:bldP spid="175" grpId="0" animBg="1"/>
      <p:bldP spid="177" grpId="0" animBg="1"/>
      <p:bldP spid="179" grpId="0" animBg="1"/>
      <p:bldP spid="181" grpId="0" animBg="1"/>
      <p:bldP spid="183" grpId="0" animBg="1"/>
      <p:bldP spid="185" grpId="0" animBg="1"/>
      <p:bldP spid="187" grpId="0" animBg="1"/>
      <p:bldP spid="189" grpId="0" animBg="1"/>
      <p:bldP spid="191" grpId="0" animBg="1"/>
      <p:bldP spid="193" grpId="0" animBg="1"/>
      <p:bldP spid="195" grpId="0" animBg="1"/>
      <p:bldP spid="197" grpId="0" animBg="1"/>
      <p:bldP spid="199" grpId="0" animBg="1"/>
      <p:bldP spid="201" grpId="0" animBg="1"/>
      <p:bldP spid="203" grpId="0" animBg="1"/>
      <p:bldP spid="205" grpId="0" animBg="1"/>
      <p:bldP spid="207" grpId="0" animBg="1"/>
      <p:bldP spid="209" grpId="0" animBg="1"/>
      <p:bldP spid="211" grpId="0" animBg="1"/>
      <p:bldP spid="213" grpId="0" animBg="1"/>
      <p:bldP spid="215" grpId="0" animBg="1"/>
      <p:bldP spid="217" grpId="0" animBg="1"/>
      <p:bldP spid="219" grpId="0" animBg="1"/>
      <p:bldP spid="221" grpId="0" animBg="1"/>
      <p:bldP spid="223" grpId="0" animBg="1"/>
      <p:bldP spid="225" grpId="0" animBg="1"/>
      <p:bldP spid="227" grpId="0" animBg="1"/>
      <p:bldP spid="229" grpId="0" animBg="1"/>
      <p:bldP spid="231" grpId="0" animBg="1"/>
      <p:bldP spid="233" grpId="0" animBg="1"/>
      <p:bldP spid="235" grpId="0" animBg="1"/>
      <p:bldP spid="237" grpId="0" animBg="1"/>
      <p:bldP spid="239" grpId="0" animBg="1"/>
      <p:bldP spid="241" grpId="0" animBg="1"/>
      <p:bldP spid="243" grpId="0" animBg="1"/>
      <p:bldP spid="245" grpId="0" animBg="1"/>
      <p:bldP spid="247" grpId="0" animBg="1"/>
      <p:bldP spid="249" grpId="0" animBg="1"/>
      <p:bldP spid="251" grpId="0" animBg="1"/>
      <p:bldP spid="253" grpId="0" animBg="1"/>
      <p:bldP spid="255" grpId="0" animBg="1"/>
      <p:bldP spid="257" grpId="0" animBg="1"/>
      <p:bldP spid="259" grpId="0" animBg="1"/>
      <p:bldP spid="261" grpId="0" animBg="1"/>
      <p:bldP spid="263" grpId="0" animBg="1"/>
      <p:bldP spid="265" grpId="0" animBg="1"/>
      <p:bldP spid="267" grpId="0" animBg="1"/>
      <p:bldP spid="269" grpId="0" animBg="1"/>
      <p:bldP spid="271" grpId="0" animBg="1"/>
      <p:bldP spid="273" grpId="0" animBg="1"/>
      <p:bldP spid="275" grpId="0" animBg="1"/>
      <p:bldP spid="277" grpId="0" animBg="1"/>
      <p:bldP spid="279" grpId="0" animBg="1"/>
      <p:bldP spid="281" grpId="0" animBg="1"/>
      <p:bldP spid="283" grpId="0" animBg="1"/>
      <p:bldP spid="285" grpId="0" animBg="1"/>
      <p:bldP spid="287" grpId="0" animBg="1"/>
      <p:bldP spid="289" grpId="0" animBg="1"/>
      <p:bldP spid="291" grpId="0" animBg="1"/>
      <p:bldP spid="293" grpId="0" animBg="1"/>
      <p:bldP spid="295" grpId="0" animBg="1"/>
      <p:bldP spid="297" grpId="0" animBg="1"/>
      <p:bldP spid="299" grpId="0" animBg="1"/>
      <p:bldP spid="301" grpId="0" animBg="1"/>
      <p:bldP spid="303" grpId="0" animBg="1"/>
      <p:bldP spid="305" grpId="0" animBg="1"/>
      <p:bldP spid="307" grpId="0" animBg="1"/>
      <p:bldP spid="309" grpId="0" animBg="1"/>
      <p:bldP spid="311" grpId="0" animBg="1"/>
      <p:bldP spid="3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4057650" y="-4057650"/>
            <a:ext cx="10477500" cy="18592800"/>
            <a:chOff x="0" y="0"/>
            <a:chExt cx="13970000" cy="24790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970000" cy="24790400"/>
            </a:xfrm>
            <a:custGeom>
              <a:avLst/>
              <a:gdLst/>
              <a:ahLst/>
              <a:cxnLst/>
              <a:rect l="l" t="t" r="r" b="b"/>
              <a:pathLst>
                <a:path w="13970000" h="24790400">
                  <a:moveTo>
                    <a:pt x="13970000" y="0"/>
                  </a:moveTo>
                  <a:lnTo>
                    <a:pt x="13970000" y="24790400"/>
                  </a:lnTo>
                  <a:lnTo>
                    <a:pt x="0" y="24790400"/>
                  </a:lnTo>
                  <a:lnTo>
                    <a:pt x="0" y="0"/>
                  </a:lnTo>
                  <a:lnTo>
                    <a:pt x="13970000" y="0"/>
                  </a:lnTo>
                  <a:close/>
                </a:path>
              </a:pathLst>
            </a:custGeom>
            <a:blipFill>
              <a:blip r:embed="rId3"/>
              <a:stretch>
                <a:fillRect l="-12726" r="-1272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197864" y="832104"/>
            <a:ext cx="905256" cy="1152144"/>
            <a:chOff x="0" y="0"/>
            <a:chExt cx="1207008" cy="1536192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1207008" cy="1536192"/>
            </a:xfrm>
            <a:custGeom>
              <a:avLst/>
              <a:gdLst/>
              <a:ahLst/>
              <a:cxnLst/>
              <a:rect l="l" t="t" r="r" b="b"/>
              <a:pathLst>
                <a:path w="1207008" h="1536192">
                  <a:moveTo>
                    <a:pt x="0" y="0"/>
                  </a:moveTo>
                  <a:lnTo>
                    <a:pt x="1207008" y="0"/>
                  </a:lnTo>
                  <a:lnTo>
                    <a:pt x="1207008" y="1536192"/>
                  </a:lnTo>
                  <a:lnTo>
                    <a:pt x="0" y="15361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99" r="-9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2441448" y="1005078"/>
            <a:ext cx="12801600" cy="7597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THEORETICAL FOUNDATION: THEOREM 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672816" y="465582"/>
            <a:ext cx="1600200" cy="320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39"/>
              </a:lnSpc>
            </a:pPr>
            <a:r>
              <a:rPr lang="en-US" sz="21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08/15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35040" y="9225534"/>
            <a:ext cx="6217920" cy="293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9"/>
              </a:lnSpc>
            </a:pPr>
            <a:r>
              <a:rPr lang="en-US" sz="21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Course Title: Project and Thesis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179195" y="2185035"/>
            <a:ext cx="5048250" cy="613410"/>
            <a:chOff x="0" y="0"/>
            <a:chExt cx="6731000" cy="81788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731000" cy="817880"/>
            </a:xfrm>
            <a:custGeom>
              <a:avLst/>
              <a:gdLst/>
              <a:ahLst/>
              <a:cxnLst/>
              <a:rect l="l" t="t" r="r" b="b"/>
              <a:pathLst>
                <a:path w="6731000" h="817880">
                  <a:moveTo>
                    <a:pt x="0" y="0"/>
                  </a:moveTo>
                  <a:lnTo>
                    <a:pt x="6731000" y="0"/>
                  </a:lnTo>
                  <a:lnTo>
                    <a:pt x="6731000" y="817880"/>
                  </a:lnTo>
                  <a:lnTo>
                    <a:pt x="0" y="8178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110358" b="-110358"/>
              </a:stretch>
            </a:blip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19050"/>
              <a:ext cx="6731000" cy="8369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          The Deep-Path Challenge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98448" y="2276856"/>
            <a:ext cx="429768" cy="429768"/>
            <a:chOff x="0" y="0"/>
            <a:chExt cx="573024" cy="573024"/>
          </a:xfrm>
        </p:grpSpPr>
        <p:sp>
          <p:nvSpPr>
            <p:cNvPr id="13" name="Freeform 13" descr="image.png"/>
            <p:cNvSpPr/>
            <p:nvPr/>
          </p:nvSpPr>
          <p:spPr>
            <a:xfrm>
              <a:off x="0" y="0"/>
              <a:ext cx="573024" cy="573024"/>
            </a:xfrm>
            <a:custGeom>
              <a:avLst/>
              <a:gdLst/>
              <a:ahLst/>
              <a:cxnLst/>
              <a:rect l="l" t="t" r="r" b="b"/>
              <a:pathLst>
                <a:path w="573024" h="573024">
                  <a:moveTo>
                    <a:pt x="0" y="0"/>
                  </a:moveTo>
                  <a:lnTo>
                    <a:pt x="573024" y="0"/>
                  </a:lnTo>
                  <a:lnTo>
                    <a:pt x="573024" y="573024"/>
                  </a:lnTo>
                  <a:lnTo>
                    <a:pt x="0" y="5730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8823" r="-882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280160" y="2952750"/>
            <a:ext cx="7406640" cy="5871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1. Multi-Hop Privilege Paths: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ADCS escalation chains span 4 to 8 relational hops across users, groups, templates, and CAs.</a:t>
            </a:r>
          </a:p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2. The Oversmoothing Bottleneck: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In standard GNNs, repeated message passing causes node representations to converge, erasing localized template attributes.</a:t>
            </a:r>
          </a:p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3. Failure of Classical GNNs: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Without architectural preservation, deep models collapse, confusing vulnerable certificate templates with benign configurations.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317355" y="2185035"/>
            <a:ext cx="5048250" cy="613410"/>
            <a:chOff x="0" y="0"/>
            <a:chExt cx="6731000" cy="81788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6731000" cy="817880"/>
            </a:xfrm>
            <a:custGeom>
              <a:avLst/>
              <a:gdLst/>
              <a:ahLst/>
              <a:cxnLst/>
              <a:rect l="l" t="t" r="r" b="b"/>
              <a:pathLst>
                <a:path w="6731000" h="817880">
                  <a:moveTo>
                    <a:pt x="0" y="0"/>
                  </a:moveTo>
                  <a:lnTo>
                    <a:pt x="6731000" y="0"/>
                  </a:lnTo>
                  <a:lnTo>
                    <a:pt x="6731000" y="817880"/>
                  </a:lnTo>
                  <a:lnTo>
                    <a:pt x="0" y="8178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110358" b="-110358"/>
              </a:stretch>
            </a:blip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19050"/>
              <a:ext cx="6731000" cy="8369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          Our Architecture &amp; Theorem 1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436608" y="2276856"/>
            <a:ext cx="429768" cy="429768"/>
            <a:chOff x="0" y="0"/>
            <a:chExt cx="573024" cy="573024"/>
          </a:xfrm>
        </p:grpSpPr>
        <p:sp>
          <p:nvSpPr>
            <p:cNvPr id="19" name="Freeform 19" descr="image.png"/>
            <p:cNvSpPr/>
            <p:nvPr/>
          </p:nvSpPr>
          <p:spPr>
            <a:xfrm>
              <a:off x="0" y="0"/>
              <a:ext cx="573024" cy="573024"/>
            </a:xfrm>
            <a:custGeom>
              <a:avLst/>
              <a:gdLst/>
              <a:ahLst/>
              <a:cxnLst/>
              <a:rect l="l" t="t" r="r" b="b"/>
              <a:pathLst>
                <a:path w="573024" h="573024">
                  <a:moveTo>
                    <a:pt x="0" y="0"/>
                  </a:moveTo>
                  <a:lnTo>
                    <a:pt x="573024" y="0"/>
                  </a:lnTo>
                  <a:lnTo>
                    <a:pt x="573024" y="573024"/>
                  </a:lnTo>
                  <a:lnTo>
                    <a:pt x="0" y="5730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4993" b="-499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9418320" y="2952750"/>
            <a:ext cx="7589520" cy="5871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1. Architectural Intervention: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We engineered orthogonal residual skip connections that preserve each node's initial feature identity across all layers.</a:t>
            </a:r>
          </a:p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2. Mathematical Proof (Theorem 1):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We proved that the gradient magnitude remains strictly positive across all layers (||dh_v^(L) / dx_v|| &gt;= c^L &gt; 0), eliminating feature collapse.</a:t>
            </a:r>
          </a:p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3. Concrete Significance: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Mathematically guarantees that initial template configuration flags remain discriminative even over 8-hop delegation chains, verified by our 99.86% Macro-F1.</a:t>
            </a: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4000500" y="-4000500"/>
            <a:ext cx="10287000" cy="18288000"/>
            <a:chOff x="0" y="0"/>
            <a:chExt cx="13716000" cy="24384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716000" cy="24384000"/>
            </a:xfrm>
            <a:custGeom>
              <a:avLst/>
              <a:gdLst/>
              <a:ahLst/>
              <a:cxnLst/>
              <a:rect l="l" t="t" r="r" b="b"/>
              <a:pathLst>
                <a:path w="13716000" h="24384000">
                  <a:moveTo>
                    <a:pt x="13716000" y="0"/>
                  </a:moveTo>
                  <a:lnTo>
                    <a:pt x="13716000" y="24384000"/>
                  </a:lnTo>
                  <a:lnTo>
                    <a:pt x="0" y="24384000"/>
                  </a:lnTo>
                  <a:lnTo>
                    <a:pt x="0" y="0"/>
                  </a:lnTo>
                  <a:lnTo>
                    <a:pt x="13716000" y="0"/>
                  </a:lnTo>
                  <a:close/>
                </a:path>
              </a:pathLst>
            </a:custGeom>
            <a:blipFill>
              <a:blip r:embed="rId3"/>
              <a:stretch>
                <a:fillRect l="-12840" r="-1284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197864" y="832104"/>
            <a:ext cx="905256" cy="1152144"/>
            <a:chOff x="0" y="0"/>
            <a:chExt cx="1207008" cy="1536192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1207008" cy="1536192"/>
            </a:xfrm>
            <a:custGeom>
              <a:avLst/>
              <a:gdLst/>
              <a:ahLst/>
              <a:cxnLst/>
              <a:rect l="l" t="t" r="r" b="b"/>
              <a:pathLst>
                <a:path w="1207008" h="1536192">
                  <a:moveTo>
                    <a:pt x="0" y="0"/>
                  </a:moveTo>
                  <a:lnTo>
                    <a:pt x="1207008" y="0"/>
                  </a:lnTo>
                  <a:lnTo>
                    <a:pt x="1207008" y="1536192"/>
                  </a:lnTo>
                  <a:lnTo>
                    <a:pt x="0" y="15361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99" r="-9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2441448" y="995553"/>
            <a:ext cx="12801600" cy="7692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EXPERIMENTAL TESTBED (GOAD &amp; ADSYNTH)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672816" y="465582"/>
            <a:ext cx="1600200" cy="320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39"/>
              </a:lnSpc>
            </a:pPr>
            <a:r>
              <a:rPr lang="en-US" sz="21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09/15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35040" y="9225534"/>
            <a:ext cx="6217920" cy="293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9"/>
              </a:lnSpc>
            </a:pPr>
            <a:r>
              <a:rPr lang="en-US" sz="21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Course Title: Project and Thesis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179195" y="2185035"/>
            <a:ext cx="4773930" cy="613410"/>
            <a:chOff x="0" y="0"/>
            <a:chExt cx="6365240" cy="81788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365240" cy="817880"/>
            </a:xfrm>
            <a:custGeom>
              <a:avLst/>
              <a:gdLst/>
              <a:ahLst/>
              <a:cxnLst/>
              <a:rect l="l" t="t" r="r" b="b"/>
              <a:pathLst>
                <a:path w="6365240" h="817880">
                  <a:moveTo>
                    <a:pt x="0" y="0"/>
                  </a:moveTo>
                  <a:lnTo>
                    <a:pt x="6365240" y="0"/>
                  </a:lnTo>
                  <a:lnTo>
                    <a:pt x="6365240" y="817880"/>
                  </a:lnTo>
                  <a:lnTo>
                    <a:pt x="0" y="8178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101644" b="-101644"/>
              </a:stretch>
            </a:blip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19050"/>
              <a:ext cx="6365240" cy="8369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          Dual Evaluation Testbeds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98448" y="2276856"/>
            <a:ext cx="429768" cy="429768"/>
            <a:chOff x="0" y="0"/>
            <a:chExt cx="573024" cy="573024"/>
          </a:xfrm>
        </p:grpSpPr>
        <p:sp>
          <p:nvSpPr>
            <p:cNvPr id="13" name="Freeform 13" descr="image.png"/>
            <p:cNvSpPr/>
            <p:nvPr/>
          </p:nvSpPr>
          <p:spPr>
            <a:xfrm>
              <a:off x="0" y="0"/>
              <a:ext cx="573024" cy="573024"/>
            </a:xfrm>
            <a:custGeom>
              <a:avLst/>
              <a:gdLst/>
              <a:ahLst/>
              <a:cxnLst/>
              <a:rect l="l" t="t" r="r" b="b"/>
              <a:pathLst>
                <a:path w="573024" h="573024">
                  <a:moveTo>
                    <a:pt x="0" y="0"/>
                  </a:moveTo>
                  <a:lnTo>
                    <a:pt x="573024" y="0"/>
                  </a:lnTo>
                  <a:lnTo>
                    <a:pt x="573024" y="573024"/>
                  </a:lnTo>
                  <a:lnTo>
                    <a:pt x="0" y="5730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7309" b="-730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280160" y="2952750"/>
            <a:ext cx="7589520" cy="2122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1. GOAD Enterprise Cyber-Range:</a:t>
            </a:r>
            <a:r>
              <a:rPr lang="en-US" sz="2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Realistic multi-forest Active Directory lab with 5 Domain Controllers, complex trusts, and live ADCS misconfigurations.</a:t>
            </a:r>
          </a:p>
          <a:p>
            <a:pPr algn="l">
              <a:lnSpc>
                <a:spcPts val="24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2. </a:t>
            </a:r>
            <a:r>
              <a:rPr lang="en-US" sz="20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ADSynth</a:t>
            </a:r>
            <a:r>
              <a:rPr lang="en-US" sz="20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Topology Generator:</a:t>
            </a:r>
            <a:r>
              <a:rPr lang="en-US" sz="2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Synthesizes 700 diverse enterprise topologies (100 to 100,000 nodes) for rigorous scalability and stress testing.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179195" y="5293995"/>
            <a:ext cx="4773930" cy="613410"/>
            <a:chOff x="0" y="0"/>
            <a:chExt cx="6365240" cy="81788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6365240" cy="817880"/>
            </a:xfrm>
            <a:custGeom>
              <a:avLst/>
              <a:gdLst/>
              <a:ahLst/>
              <a:cxnLst/>
              <a:rect l="l" t="t" r="r" b="b"/>
              <a:pathLst>
                <a:path w="6365240" h="817880">
                  <a:moveTo>
                    <a:pt x="0" y="0"/>
                  </a:moveTo>
                  <a:lnTo>
                    <a:pt x="6365240" y="0"/>
                  </a:lnTo>
                  <a:lnTo>
                    <a:pt x="6365240" y="817880"/>
                  </a:lnTo>
                  <a:lnTo>
                    <a:pt x="0" y="8178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101644" b="-101644"/>
              </a:stretch>
            </a:blip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19050"/>
              <a:ext cx="6365240" cy="8369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          Dataset &amp; Validation Protocol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298448" y="5385816"/>
            <a:ext cx="429768" cy="429768"/>
            <a:chOff x="0" y="0"/>
            <a:chExt cx="573024" cy="573024"/>
          </a:xfrm>
        </p:grpSpPr>
        <p:sp>
          <p:nvSpPr>
            <p:cNvPr id="19" name="Freeform 19" descr="image.png"/>
            <p:cNvSpPr/>
            <p:nvPr/>
          </p:nvSpPr>
          <p:spPr>
            <a:xfrm>
              <a:off x="0" y="0"/>
              <a:ext cx="573024" cy="573024"/>
            </a:xfrm>
            <a:custGeom>
              <a:avLst/>
              <a:gdLst/>
              <a:ahLst/>
              <a:cxnLst/>
              <a:rect l="l" t="t" r="r" b="b"/>
              <a:pathLst>
                <a:path w="573024" h="573024">
                  <a:moveTo>
                    <a:pt x="0" y="0"/>
                  </a:moveTo>
                  <a:lnTo>
                    <a:pt x="573024" y="0"/>
                  </a:lnTo>
                  <a:lnTo>
                    <a:pt x="573024" y="573024"/>
                  </a:lnTo>
                  <a:lnTo>
                    <a:pt x="0" y="5730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280160" y="6061710"/>
            <a:ext cx="7589520" cy="2670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1. Scale: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28,450 nodes and 142,890 multi-relational edges across 5 entity types.</a:t>
            </a:r>
          </a:p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2. Protocol: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Stratified 5-fold cross-validation with non-overlapping forest splits.</a:t>
            </a:r>
          </a:p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3. Statistical Rigor: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Evaluated using Nadeau-Bengio corrected paired t-tests to ensure valid significance.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509760" y="6793230"/>
            <a:ext cx="7498080" cy="384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 i="1" dirty="0">
                <a:solidFill>
                  <a:srgbClr val="000000"/>
                </a:solidFill>
                <a:latin typeface="Times New Roman Italics"/>
                <a:ea typeface="Times New Roman Italics"/>
                <a:cs typeface="Times New Roman Italics"/>
                <a:sym typeface="Times New Roman Italics"/>
              </a:rPr>
              <a:t>Figure: GOAD Multi-Forest Enterprise Topology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509760" y="7341870"/>
            <a:ext cx="7498080" cy="1299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Captures cross-domain trust relationships, group Managed Service Accounts (</a:t>
            </a:r>
            <a:r>
              <a:rPr lang="en-US" sz="2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gMSA</a:t>
            </a:r>
            <a:r>
              <a:rPr lang="en-US" sz="2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), and cross-forest PKI issuance policies.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8E79132-691E-29F9-8292-3E1EF044867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5080" y="2059152"/>
            <a:ext cx="8882362" cy="473407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4000500" y="-4000500"/>
            <a:ext cx="10287000" cy="18288000"/>
            <a:chOff x="0" y="0"/>
            <a:chExt cx="13716000" cy="24384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716000" cy="24384000"/>
            </a:xfrm>
            <a:custGeom>
              <a:avLst/>
              <a:gdLst/>
              <a:ahLst/>
              <a:cxnLst/>
              <a:rect l="l" t="t" r="r" b="b"/>
              <a:pathLst>
                <a:path w="13716000" h="24384000">
                  <a:moveTo>
                    <a:pt x="13716000" y="0"/>
                  </a:moveTo>
                  <a:lnTo>
                    <a:pt x="13716000" y="24384000"/>
                  </a:lnTo>
                  <a:lnTo>
                    <a:pt x="0" y="24384000"/>
                  </a:lnTo>
                  <a:lnTo>
                    <a:pt x="0" y="0"/>
                  </a:lnTo>
                  <a:lnTo>
                    <a:pt x="13716000" y="0"/>
                  </a:lnTo>
                  <a:close/>
                </a:path>
              </a:pathLst>
            </a:custGeom>
            <a:blipFill>
              <a:blip r:embed="rId3"/>
              <a:stretch>
                <a:fillRect l="-12840" r="-1284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197864" y="832104"/>
            <a:ext cx="905256" cy="1152144"/>
            <a:chOff x="0" y="0"/>
            <a:chExt cx="1207008" cy="1536192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1207008" cy="1536192"/>
            </a:xfrm>
            <a:custGeom>
              <a:avLst/>
              <a:gdLst/>
              <a:ahLst/>
              <a:cxnLst/>
              <a:rect l="l" t="t" r="r" b="b"/>
              <a:pathLst>
                <a:path w="1207008" h="1536192">
                  <a:moveTo>
                    <a:pt x="0" y="0"/>
                  </a:moveTo>
                  <a:lnTo>
                    <a:pt x="1207008" y="0"/>
                  </a:lnTo>
                  <a:lnTo>
                    <a:pt x="1207008" y="1536192"/>
                  </a:lnTo>
                  <a:lnTo>
                    <a:pt x="0" y="15361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99" r="-9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2441448" y="1005078"/>
            <a:ext cx="12801600" cy="7597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RESULTS: BENCHMARK EVALUATION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672816" y="465582"/>
            <a:ext cx="1600200" cy="320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39"/>
              </a:lnSpc>
            </a:pPr>
            <a:r>
              <a:rPr lang="en-US" sz="21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10/15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35040" y="9225534"/>
            <a:ext cx="6217920" cy="293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9"/>
              </a:lnSpc>
            </a:pPr>
            <a:r>
              <a:rPr lang="en-US" sz="21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Course Title: Project and Thesis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179195" y="2185035"/>
            <a:ext cx="5048250" cy="613410"/>
            <a:chOff x="0" y="0"/>
            <a:chExt cx="6731000" cy="81788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731000" cy="817880"/>
            </a:xfrm>
            <a:custGeom>
              <a:avLst/>
              <a:gdLst/>
              <a:ahLst/>
              <a:cxnLst/>
              <a:rect l="l" t="t" r="r" b="b"/>
              <a:pathLst>
                <a:path w="6731000" h="817880">
                  <a:moveTo>
                    <a:pt x="0" y="0"/>
                  </a:moveTo>
                  <a:lnTo>
                    <a:pt x="6731000" y="0"/>
                  </a:lnTo>
                  <a:lnTo>
                    <a:pt x="6731000" y="817880"/>
                  </a:lnTo>
                  <a:lnTo>
                    <a:pt x="0" y="8178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110358" b="-110358"/>
              </a:stretch>
            </a:blip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19050"/>
              <a:ext cx="6731000" cy="8369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          Quantitative Performance Summary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98448" y="2276856"/>
            <a:ext cx="429768" cy="429768"/>
            <a:chOff x="0" y="0"/>
            <a:chExt cx="573024" cy="573024"/>
          </a:xfrm>
        </p:grpSpPr>
        <p:sp>
          <p:nvSpPr>
            <p:cNvPr id="13" name="Freeform 13" descr="image.png"/>
            <p:cNvSpPr/>
            <p:nvPr/>
          </p:nvSpPr>
          <p:spPr>
            <a:xfrm>
              <a:off x="0" y="0"/>
              <a:ext cx="573024" cy="573024"/>
            </a:xfrm>
            <a:custGeom>
              <a:avLst/>
              <a:gdLst/>
              <a:ahLst/>
              <a:cxnLst/>
              <a:rect l="l" t="t" r="r" b="b"/>
              <a:pathLst>
                <a:path w="573024" h="573024">
                  <a:moveTo>
                    <a:pt x="0" y="0"/>
                  </a:moveTo>
                  <a:lnTo>
                    <a:pt x="573024" y="0"/>
                  </a:lnTo>
                  <a:lnTo>
                    <a:pt x="573024" y="573024"/>
                  </a:lnTo>
                  <a:lnTo>
                    <a:pt x="0" y="5730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8925" r="-892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1188720" y="2926080"/>
          <a:ext cx="8382000" cy="4030980"/>
        </p:xfrm>
        <a:graphic>
          <a:graphicData uri="http://schemas.openxmlformats.org/drawingml/2006/table">
            <a:tbl>
              <a:tblPr/>
              <a:tblGrid>
                <a:gridCol w="21844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65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Metric</a:t>
                      </a:r>
                      <a:endParaRPr lang="en-US" sz="1100"/>
                    </a:p>
                  </a:txBody>
                  <a:tcPr marT="91440" marB="91440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Certipy (Heuristic)</a:t>
                      </a:r>
                      <a:endParaRPr lang="en-US" sz="1100"/>
                    </a:p>
                  </a:txBody>
                  <a:tcPr marT="91440" marB="91440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Symbolic BFS</a:t>
                      </a:r>
                      <a:endParaRPr lang="en-US" sz="1100"/>
                    </a:p>
                  </a:txBody>
                  <a:tcPr marT="91440" marB="91440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CertGraph (Ours)</a:t>
                      </a:r>
                      <a:endParaRPr lang="en-US" sz="1100"/>
                    </a:p>
                  </a:txBody>
                  <a:tcPr marT="91440" marB="91440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Precision</a:t>
                      </a:r>
                      <a:endParaRPr lang="en-US" sz="1100"/>
                    </a:p>
                  </a:txBody>
                  <a:tcPr marT="91440" marB="91440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74.20%</a:t>
                      </a:r>
                      <a:endParaRPr lang="en-US" sz="1100"/>
                    </a:p>
                  </a:txBody>
                  <a:tcPr marT="91440" marB="91440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89.15%</a:t>
                      </a:r>
                      <a:endParaRPr lang="en-US" sz="1100"/>
                    </a:p>
                  </a:txBody>
                  <a:tcPr marT="91440" marB="91440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102C57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99.88%</a:t>
                      </a:r>
                      <a:endParaRPr lang="en-US" sz="1100"/>
                    </a:p>
                  </a:txBody>
                  <a:tcPr marT="91440" marB="91440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Recall</a:t>
                      </a:r>
                      <a:endParaRPr lang="en-US" sz="1100"/>
                    </a:p>
                  </a:txBody>
                  <a:tcPr marT="91440" marB="91440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69.21%</a:t>
                      </a:r>
                      <a:endParaRPr lang="en-US" sz="1100"/>
                    </a:p>
                  </a:txBody>
                  <a:tcPr marT="91440" marB="91440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92.55%</a:t>
                      </a:r>
                      <a:endParaRPr lang="en-US" sz="1100"/>
                    </a:p>
                  </a:txBody>
                  <a:tcPr marT="91440" marB="91440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102C57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99.84%</a:t>
                      </a:r>
                      <a:endParaRPr lang="en-US" sz="1100"/>
                    </a:p>
                  </a:txBody>
                  <a:tcPr marT="91440" marB="91440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Macro-F1</a:t>
                      </a:r>
                      <a:endParaRPr lang="en-US" sz="1100"/>
                    </a:p>
                  </a:txBody>
                  <a:tcPr marT="91440" marB="91440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77.91%</a:t>
                      </a:r>
                      <a:endParaRPr lang="en-US" sz="1100"/>
                    </a:p>
                  </a:txBody>
                  <a:tcPr marT="91440" marB="91440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90.82%</a:t>
                      </a:r>
                      <a:endParaRPr lang="en-US" sz="1100"/>
                    </a:p>
                  </a:txBody>
                  <a:tcPr marT="91440" marB="91440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102C57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99.86%</a:t>
                      </a:r>
                      <a:endParaRPr lang="en-US" sz="1100"/>
                    </a:p>
                  </a:txBody>
                  <a:tcPr marT="91440" marB="91440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ROC / PR-AUC</a:t>
                      </a:r>
                      <a:endParaRPr lang="en-US" sz="1100"/>
                    </a:p>
                  </a:txBody>
                  <a:tcPr marT="91440" marB="91440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0.8410</a:t>
                      </a:r>
                      <a:endParaRPr lang="en-US" sz="1100"/>
                    </a:p>
                  </a:txBody>
                  <a:tcPr marT="91440" marB="91440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0.9120</a:t>
                      </a:r>
                      <a:endParaRPr lang="en-US" sz="1100"/>
                    </a:p>
                  </a:txBody>
                  <a:tcPr marT="91440" marB="91440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102C57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0.9998</a:t>
                      </a:r>
                      <a:endParaRPr lang="en-US" sz="1100"/>
                    </a:p>
                  </a:txBody>
                  <a:tcPr marT="91440" marB="91440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Zero-Shot F1</a:t>
                      </a:r>
                      <a:endParaRPr lang="en-US" sz="1100"/>
                    </a:p>
                  </a:txBody>
                  <a:tcPr marT="91440" marB="91440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Fails (0%)</a:t>
                      </a:r>
                      <a:endParaRPr lang="en-US" sz="1100"/>
                    </a:p>
                  </a:txBody>
                  <a:tcPr marT="91440" marB="91440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64.12%</a:t>
                      </a:r>
                      <a:endParaRPr lang="en-US" sz="1100"/>
                    </a:p>
                  </a:txBody>
                  <a:tcPr marT="91440" marB="91440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102C57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100.00%</a:t>
                      </a:r>
                      <a:endParaRPr lang="en-US" sz="1100"/>
                    </a:p>
                  </a:txBody>
                  <a:tcPr marT="91440" marB="91440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TextBox 15"/>
          <p:cNvSpPr txBox="1"/>
          <p:nvPr/>
        </p:nvSpPr>
        <p:spPr>
          <a:xfrm>
            <a:off x="1280160" y="7158990"/>
            <a:ext cx="8229600" cy="1573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Key Result: CertGraph achieves 99.86% Macro-F1 across 700 topologies (+21.95 F1 / +28.2% relative gain over heuristics, p = 3.12e-4). Under authentic 96% Safe template imbalance, CertGraph maintains 99.41% Macro-F1 and 0.9982 PR-AUC.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0241280" y="2194560"/>
            <a:ext cx="6858000" cy="6053328"/>
            <a:chOff x="0" y="0"/>
            <a:chExt cx="9144000" cy="8071104"/>
          </a:xfrm>
        </p:grpSpPr>
        <p:sp>
          <p:nvSpPr>
            <p:cNvPr id="17" name="Freeform 17" descr="confusion_matrix.png"/>
            <p:cNvSpPr/>
            <p:nvPr/>
          </p:nvSpPr>
          <p:spPr>
            <a:xfrm>
              <a:off x="0" y="0"/>
              <a:ext cx="9144000" cy="8071104"/>
            </a:xfrm>
            <a:custGeom>
              <a:avLst/>
              <a:gdLst/>
              <a:ahLst/>
              <a:cxnLst/>
              <a:rect l="l" t="t" r="r" b="b"/>
              <a:pathLst>
                <a:path w="9144000" h="8071104">
                  <a:moveTo>
                    <a:pt x="0" y="0"/>
                  </a:moveTo>
                  <a:lnTo>
                    <a:pt x="9144000" y="0"/>
                  </a:lnTo>
                  <a:lnTo>
                    <a:pt x="9144000" y="8071104"/>
                  </a:lnTo>
                  <a:lnTo>
                    <a:pt x="0" y="80711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327" b="-32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0332720" y="8347710"/>
            <a:ext cx="6675120" cy="293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lang="en-US" sz="1899" i="1">
                <a:solidFill>
                  <a:srgbClr val="000000"/>
                </a:solidFill>
                <a:latin typeface="Times New Roman Italics"/>
                <a:ea typeface="Times New Roman Italics"/>
                <a:cs typeface="Times New Roman Italics"/>
                <a:sym typeface="Times New Roman Italics"/>
              </a:rPr>
              <a:t>Figure: Multi-Class Confusion Matrix (Test Set, N=200)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4000500" y="-4000500"/>
            <a:ext cx="10287000" cy="18288000"/>
            <a:chOff x="0" y="0"/>
            <a:chExt cx="13716000" cy="24384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716000" cy="24384000"/>
            </a:xfrm>
            <a:custGeom>
              <a:avLst/>
              <a:gdLst/>
              <a:ahLst/>
              <a:cxnLst/>
              <a:rect l="l" t="t" r="r" b="b"/>
              <a:pathLst>
                <a:path w="13716000" h="24384000">
                  <a:moveTo>
                    <a:pt x="13716000" y="0"/>
                  </a:moveTo>
                  <a:lnTo>
                    <a:pt x="13716000" y="24384000"/>
                  </a:lnTo>
                  <a:lnTo>
                    <a:pt x="0" y="24384000"/>
                  </a:lnTo>
                  <a:lnTo>
                    <a:pt x="0" y="0"/>
                  </a:lnTo>
                  <a:lnTo>
                    <a:pt x="13716000" y="0"/>
                  </a:lnTo>
                  <a:close/>
                </a:path>
              </a:pathLst>
            </a:custGeom>
            <a:blipFill>
              <a:blip r:embed="rId3"/>
              <a:stretch>
                <a:fillRect l="-12840" r="-1284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197864" y="832104"/>
            <a:ext cx="905256" cy="1152144"/>
            <a:chOff x="0" y="0"/>
            <a:chExt cx="1207008" cy="1536192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1207008" cy="1536192"/>
            </a:xfrm>
            <a:custGeom>
              <a:avLst/>
              <a:gdLst/>
              <a:ahLst/>
              <a:cxnLst/>
              <a:rect l="l" t="t" r="r" b="b"/>
              <a:pathLst>
                <a:path w="1207008" h="1536192">
                  <a:moveTo>
                    <a:pt x="0" y="0"/>
                  </a:moveTo>
                  <a:lnTo>
                    <a:pt x="1207008" y="0"/>
                  </a:lnTo>
                  <a:lnTo>
                    <a:pt x="1207008" y="1536192"/>
                  </a:lnTo>
                  <a:lnTo>
                    <a:pt x="0" y="15361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99" r="-9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2441448" y="995553"/>
            <a:ext cx="12801600" cy="7692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ABLATION STUDY &amp; MODEL INTERPRETABILITY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672816" y="465582"/>
            <a:ext cx="1600200" cy="320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39"/>
              </a:lnSpc>
            </a:pPr>
            <a:r>
              <a:rPr lang="en-US" sz="21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11/15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35040" y="9225534"/>
            <a:ext cx="6217920" cy="293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9"/>
              </a:lnSpc>
            </a:pPr>
            <a:r>
              <a:rPr lang="en-US" sz="21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Course Title: Project and Thesis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188720" y="2194560"/>
            <a:ext cx="7680960" cy="3822192"/>
            <a:chOff x="0" y="0"/>
            <a:chExt cx="10241280" cy="5096256"/>
          </a:xfrm>
        </p:grpSpPr>
        <p:sp>
          <p:nvSpPr>
            <p:cNvPr id="10" name="Freeform 10" descr="ablation_comparison.png"/>
            <p:cNvSpPr/>
            <p:nvPr/>
          </p:nvSpPr>
          <p:spPr>
            <a:xfrm>
              <a:off x="0" y="0"/>
              <a:ext cx="10241280" cy="5096256"/>
            </a:xfrm>
            <a:custGeom>
              <a:avLst/>
              <a:gdLst/>
              <a:ahLst/>
              <a:cxnLst/>
              <a:rect l="l" t="t" r="r" b="b"/>
              <a:pathLst>
                <a:path w="10241280" h="5096256">
                  <a:moveTo>
                    <a:pt x="0" y="0"/>
                  </a:moveTo>
                  <a:lnTo>
                    <a:pt x="10241280" y="0"/>
                  </a:lnTo>
                  <a:lnTo>
                    <a:pt x="10241280" y="5096256"/>
                  </a:lnTo>
                  <a:lnTo>
                    <a:pt x="0" y="5096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32" b="-3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280160" y="6107430"/>
            <a:ext cx="7498080" cy="293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lang="en-US" sz="1899" i="1" dirty="0">
                <a:solidFill>
                  <a:srgbClr val="000000"/>
                </a:solidFill>
                <a:latin typeface="Times New Roman Italics"/>
                <a:ea typeface="Times New Roman Italics"/>
                <a:cs typeface="Times New Roman Italics"/>
                <a:sym typeface="Times New Roman Italics"/>
              </a:rPr>
              <a:t>Figure: Architectural Ablation Study (5-Fold CV)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9418320" y="2194560"/>
            <a:ext cx="7680960" cy="3822192"/>
            <a:chOff x="0" y="0"/>
            <a:chExt cx="10241280" cy="5096256"/>
          </a:xfrm>
        </p:grpSpPr>
        <p:sp>
          <p:nvSpPr>
            <p:cNvPr id="13" name="Freeform 13" descr="attention_explainability.png"/>
            <p:cNvSpPr/>
            <p:nvPr/>
          </p:nvSpPr>
          <p:spPr>
            <a:xfrm>
              <a:off x="0" y="0"/>
              <a:ext cx="10241280" cy="5096256"/>
            </a:xfrm>
            <a:custGeom>
              <a:avLst/>
              <a:gdLst/>
              <a:ahLst/>
              <a:cxnLst/>
              <a:rect l="l" t="t" r="r" b="b"/>
              <a:pathLst>
                <a:path w="10241280" h="5096256">
                  <a:moveTo>
                    <a:pt x="0" y="0"/>
                  </a:moveTo>
                  <a:lnTo>
                    <a:pt x="10241280" y="0"/>
                  </a:lnTo>
                  <a:lnTo>
                    <a:pt x="10241280" y="5096256"/>
                  </a:lnTo>
                  <a:lnTo>
                    <a:pt x="0" y="5096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3653" r="-365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509760" y="6107430"/>
            <a:ext cx="7498080" cy="293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lang="en-US" sz="1899" i="1">
                <a:solidFill>
                  <a:srgbClr val="000000"/>
                </a:solidFill>
                <a:latin typeface="Times New Roman Italics"/>
                <a:ea typeface="Times New Roman Italics"/>
                <a:cs typeface="Times New Roman Italics"/>
                <a:sym typeface="Times New Roman Italics"/>
              </a:rPr>
              <a:t>Figure: Relational Attention Weights in ESC13 Chain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179195" y="6528435"/>
            <a:ext cx="15929610" cy="530851"/>
            <a:chOff x="0" y="0"/>
            <a:chExt cx="21239480" cy="707802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1239480" cy="707802"/>
            </a:xfrm>
            <a:custGeom>
              <a:avLst/>
              <a:gdLst/>
              <a:ahLst/>
              <a:cxnLst/>
              <a:rect l="l" t="t" r="r" b="b"/>
              <a:pathLst>
                <a:path w="21239480" h="707802">
                  <a:moveTo>
                    <a:pt x="0" y="0"/>
                  </a:moveTo>
                  <a:lnTo>
                    <a:pt x="21239480" y="0"/>
                  </a:lnTo>
                  <a:lnTo>
                    <a:pt x="21239480" y="707802"/>
                  </a:lnTo>
                  <a:lnTo>
                    <a:pt x="0" y="707802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t="-535537" b="-533864"/>
              </a:stretch>
            </a:blip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19050"/>
              <a:ext cx="21239480" cy="7268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          Key Empirical Takeaways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298448" y="6620256"/>
            <a:ext cx="338328" cy="338328"/>
            <a:chOff x="0" y="0"/>
            <a:chExt cx="451104" cy="451104"/>
          </a:xfrm>
        </p:grpSpPr>
        <p:sp>
          <p:nvSpPr>
            <p:cNvPr id="19" name="Freeform 19" descr="image.png"/>
            <p:cNvSpPr/>
            <p:nvPr/>
          </p:nvSpPr>
          <p:spPr>
            <a:xfrm>
              <a:off x="0" y="0"/>
              <a:ext cx="451104" cy="451104"/>
            </a:xfrm>
            <a:custGeom>
              <a:avLst/>
              <a:gdLst/>
              <a:ahLst/>
              <a:cxnLst/>
              <a:rect l="l" t="t" r="r" b="b"/>
              <a:pathLst>
                <a:path w="451104" h="451104">
                  <a:moveTo>
                    <a:pt x="0" y="0"/>
                  </a:moveTo>
                  <a:lnTo>
                    <a:pt x="451104" y="0"/>
                  </a:lnTo>
                  <a:lnTo>
                    <a:pt x="451104" y="451104"/>
                  </a:lnTo>
                  <a:lnTo>
                    <a:pt x="0" y="4511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4994" b="-499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280160" y="7158990"/>
            <a:ext cx="15727680" cy="1756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1. Residual Skip Connections are Vital: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Removing skip pathways drops Macro-F1 from 99.86% to 47.68% (a 52.18% collapse), empirically validating Theorem 1.</a:t>
            </a:r>
          </a:p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2. Attention Multiplicity is Secondary: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 single-head variant matches multi-head performance (100% vs 99.86%), proving residual feature retention drives the gains.</a:t>
            </a:r>
          </a:p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3. Inherent Path Explainability: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Attention weights directly isolate attack edges (alpha &gt; 0.85 on critical hops), providing security analysts with instant visual proof traces.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C1B4C-3AC6-0D87-4841-C49E450E0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2">
            <a:extLst>
              <a:ext uri="{FF2B5EF4-FFF2-40B4-BE49-F238E27FC236}">
                <a16:creationId xmlns:a16="http://schemas.microsoft.com/office/drawing/2014/main" id="{A094FF13-4D51-AC2C-857B-97B0BDE4D175}"/>
              </a:ext>
            </a:extLst>
          </p:cNvPr>
          <p:cNvGrpSpPr/>
          <p:nvPr/>
        </p:nvGrpSpPr>
        <p:grpSpPr>
          <a:xfrm rot="-5400000">
            <a:off x="4000500" y="-4000500"/>
            <a:ext cx="10287000" cy="18288000"/>
            <a:chOff x="0" y="0"/>
            <a:chExt cx="13716000" cy="24384000"/>
          </a:xfrm>
        </p:grpSpPr>
        <p:sp>
          <p:nvSpPr>
            <p:cNvPr id="114" name="Freeform 3">
              <a:extLst>
                <a:ext uri="{FF2B5EF4-FFF2-40B4-BE49-F238E27FC236}">
                  <a16:creationId xmlns:a16="http://schemas.microsoft.com/office/drawing/2014/main" id="{1E9C5304-EE5E-64C4-46FB-0AA9BA6E2BD6}"/>
                </a:ext>
              </a:extLst>
            </p:cNvPr>
            <p:cNvSpPr/>
            <p:nvPr/>
          </p:nvSpPr>
          <p:spPr>
            <a:xfrm>
              <a:off x="0" y="0"/>
              <a:ext cx="13716000" cy="24384000"/>
            </a:xfrm>
            <a:custGeom>
              <a:avLst/>
              <a:gdLst/>
              <a:ahLst/>
              <a:cxnLst/>
              <a:rect l="l" t="t" r="r" b="b"/>
              <a:pathLst>
                <a:path w="13716000" h="24384000">
                  <a:moveTo>
                    <a:pt x="13716000" y="0"/>
                  </a:moveTo>
                  <a:lnTo>
                    <a:pt x="13716000" y="24384000"/>
                  </a:lnTo>
                  <a:lnTo>
                    <a:pt x="0" y="24384000"/>
                  </a:lnTo>
                  <a:lnTo>
                    <a:pt x="0" y="0"/>
                  </a:lnTo>
                  <a:lnTo>
                    <a:pt x="13716000" y="0"/>
                  </a:lnTo>
                  <a:close/>
                </a:path>
              </a:pathLst>
            </a:custGeom>
            <a:blipFill>
              <a:blip r:embed="rId3"/>
              <a:stretch>
                <a:fillRect l="-12840" r="-1284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A856A984-D2F5-6B21-5E9E-9E81CC5626AB}"/>
              </a:ext>
            </a:extLst>
          </p:cNvPr>
          <p:cNvGrpSpPr/>
          <p:nvPr/>
        </p:nvGrpSpPr>
        <p:grpSpPr>
          <a:xfrm>
            <a:off x="1197864" y="832104"/>
            <a:ext cx="905256" cy="1152144"/>
            <a:chOff x="0" y="0"/>
            <a:chExt cx="1207008" cy="1536192"/>
          </a:xfrm>
        </p:grpSpPr>
        <p:sp>
          <p:nvSpPr>
            <p:cNvPr id="5" name="Freeform 5" descr="image.png">
              <a:extLst>
                <a:ext uri="{FF2B5EF4-FFF2-40B4-BE49-F238E27FC236}">
                  <a16:creationId xmlns:a16="http://schemas.microsoft.com/office/drawing/2014/main" id="{F6C32E7C-2D3E-E452-9B38-251D92571C95}"/>
                </a:ext>
              </a:extLst>
            </p:cNvPr>
            <p:cNvSpPr/>
            <p:nvPr/>
          </p:nvSpPr>
          <p:spPr>
            <a:xfrm>
              <a:off x="0" y="0"/>
              <a:ext cx="1207008" cy="1536192"/>
            </a:xfrm>
            <a:custGeom>
              <a:avLst/>
              <a:gdLst/>
              <a:ahLst/>
              <a:cxnLst/>
              <a:rect l="l" t="t" r="r" b="b"/>
              <a:pathLst>
                <a:path w="1207008" h="1536192">
                  <a:moveTo>
                    <a:pt x="0" y="0"/>
                  </a:moveTo>
                  <a:lnTo>
                    <a:pt x="1207008" y="0"/>
                  </a:lnTo>
                  <a:lnTo>
                    <a:pt x="1207008" y="1536192"/>
                  </a:lnTo>
                  <a:lnTo>
                    <a:pt x="0" y="15361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99" r="-9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9041FB78-E9E1-E1B0-0638-1CD01C07A501}"/>
              </a:ext>
            </a:extLst>
          </p:cNvPr>
          <p:cNvSpPr txBox="1"/>
          <p:nvPr/>
        </p:nvSpPr>
        <p:spPr>
          <a:xfrm>
            <a:off x="2441448" y="1005078"/>
            <a:ext cx="12801600" cy="7597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NEURO-SYMBOLIC HYBRID VERIFICATION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320987DB-7B1A-FCDA-6DCA-25E108D273F4}"/>
              </a:ext>
            </a:extLst>
          </p:cNvPr>
          <p:cNvSpPr txBox="1"/>
          <p:nvPr/>
        </p:nvSpPr>
        <p:spPr>
          <a:xfrm>
            <a:off x="15672816" y="465582"/>
            <a:ext cx="1600200" cy="320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39"/>
              </a:lnSpc>
            </a:pPr>
            <a:r>
              <a:rPr lang="en-US" sz="21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12/15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1468ACD-6036-13F2-EDA5-286D9D73FFFB}"/>
              </a:ext>
            </a:extLst>
          </p:cNvPr>
          <p:cNvSpPr txBox="1"/>
          <p:nvPr/>
        </p:nvSpPr>
        <p:spPr>
          <a:xfrm>
            <a:off x="6035040" y="9225534"/>
            <a:ext cx="6217920" cy="293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9"/>
              </a:lnSpc>
            </a:pPr>
            <a:r>
              <a:rPr lang="en-US" sz="21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Course Title: Project and Thesis</a:t>
            </a:r>
          </a:p>
        </p:txBody>
      </p:sp>
      <p:grpSp>
        <p:nvGrpSpPr>
          <p:cNvPr id="9" name="Group 9">
            <a:extLst>
              <a:ext uri="{FF2B5EF4-FFF2-40B4-BE49-F238E27FC236}">
                <a16:creationId xmlns:a16="http://schemas.microsoft.com/office/drawing/2014/main" id="{AF86EEBF-9ED9-79F5-6742-63ED761A02DC}"/>
              </a:ext>
            </a:extLst>
          </p:cNvPr>
          <p:cNvGrpSpPr/>
          <p:nvPr/>
        </p:nvGrpSpPr>
        <p:grpSpPr>
          <a:xfrm>
            <a:off x="1179195" y="2185035"/>
            <a:ext cx="4773930" cy="613410"/>
            <a:chOff x="0" y="0"/>
            <a:chExt cx="6365240" cy="817880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8C2BBB0C-3C34-1369-9671-8D244A5DE973}"/>
                </a:ext>
              </a:extLst>
            </p:cNvPr>
            <p:cNvSpPr/>
            <p:nvPr/>
          </p:nvSpPr>
          <p:spPr>
            <a:xfrm>
              <a:off x="0" y="0"/>
              <a:ext cx="6365240" cy="817880"/>
            </a:xfrm>
            <a:custGeom>
              <a:avLst/>
              <a:gdLst/>
              <a:ahLst/>
              <a:cxnLst/>
              <a:rect l="l" t="t" r="r" b="b"/>
              <a:pathLst>
                <a:path w="6365240" h="817880">
                  <a:moveTo>
                    <a:pt x="0" y="0"/>
                  </a:moveTo>
                  <a:lnTo>
                    <a:pt x="6365240" y="0"/>
                  </a:lnTo>
                  <a:lnTo>
                    <a:pt x="6365240" y="817880"/>
                  </a:lnTo>
                  <a:lnTo>
                    <a:pt x="0" y="8178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101644" b="-101644"/>
              </a:stretch>
            </a:blip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436A2EBF-6D5D-865A-ECA3-11ED1FCC5E6B}"/>
                </a:ext>
              </a:extLst>
            </p:cNvPr>
            <p:cNvSpPr txBox="1"/>
            <p:nvPr/>
          </p:nvSpPr>
          <p:spPr>
            <a:xfrm>
              <a:off x="0" y="-19050"/>
              <a:ext cx="6365240" cy="8369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          Neural Shortcut Vulnerability</a:t>
              </a:r>
            </a:p>
          </p:txBody>
        </p:sp>
      </p:grpSp>
      <p:grpSp>
        <p:nvGrpSpPr>
          <p:cNvPr id="12" name="Group 12">
            <a:extLst>
              <a:ext uri="{FF2B5EF4-FFF2-40B4-BE49-F238E27FC236}">
                <a16:creationId xmlns:a16="http://schemas.microsoft.com/office/drawing/2014/main" id="{1E3FEADF-74B2-FE49-98EE-E1C3803F19B8}"/>
              </a:ext>
            </a:extLst>
          </p:cNvPr>
          <p:cNvGrpSpPr/>
          <p:nvPr/>
        </p:nvGrpSpPr>
        <p:grpSpPr>
          <a:xfrm>
            <a:off x="1298448" y="2276856"/>
            <a:ext cx="429768" cy="429768"/>
            <a:chOff x="0" y="0"/>
            <a:chExt cx="573024" cy="573024"/>
          </a:xfrm>
        </p:grpSpPr>
        <p:sp>
          <p:nvSpPr>
            <p:cNvPr id="13" name="Freeform 13" descr="image.png">
              <a:extLst>
                <a:ext uri="{FF2B5EF4-FFF2-40B4-BE49-F238E27FC236}">
                  <a16:creationId xmlns:a16="http://schemas.microsoft.com/office/drawing/2014/main" id="{4DBE83B9-7074-D42C-E6ED-676704C1DD3E}"/>
                </a:ext>
              </a:extLst>
            </p:cNvPr>
            <p:cNvSpPr/>
            <p:nvPr/>
          </p:nvSpPr>
          <p:spPr>
            <a:xfrm>
              <a:off x="0" y="0"/>
              <a:ext cx="573024" cy="573024"/>
            </a:xfrm>
            <a:custGeom>
              <a:avLst/>
              <a:gdLst/>
              <a:ahLst/>
              <a:cxnLst/>
              <a:rect l="l" t="t" r="r" b="b"/>
              <a:pathLst>
                <a:path w="573024" h="573024">
                  <a:moveTo>
                    <a:pt x="0" y="0"/>
                  </a:moveTo>
                  <a:lnTo>
                    <a:pt x="573024" y="0"/>
                  </a:lnTo>
                  <a:lnTo>
                    <a:pt x="573024" y="573024"/>
                  </a:lnTo>
                  <a:lnTo>
                    <a:pt x="0" y="5730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8823" r="-882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DF02C3A3-1EED-34E5-D365-10D1B3F70FC5}"/>
              </a:ext>
            </a:extLst>
          </p:cNvPr>
          <p:cNvSpPr txBox="1"/>
          <p:nvPr/>
        </p:nvSpPr>
        <p:spPr>
          <a:xfrm>
            <a:off x="1280160" y="2952750"/>
            <a:ext cx="7315200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algn="l">
              <a:lnSpc>
                <a:spcPts val="2400"/>
              </a:lnSpc>
              <a:buAutoNum type="arabicPeriod"/>
            </a:pPr>
            <a:r>
              <a:rPr lang="en-US" sz="20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The Adversarial Testbed.</a:t>
            </a:r>
          </a:p>
          <a:p>
            <a:pPr marL="457200" indent="-457200" algn="l">
              <a:lnSpc>
                <a:spcPts val="2400"/>
              </a:lnSpc>
              <a:buAutoNum type="arabicPeriod"/>
            </a:pPr>
            <a:r>
              <a:rPr lang="en-US" sz="20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Neural Shortcut Collapse.</a:t>
            </a:r>
            <a:endParaRPr lang="en-US" sz="20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CAA4D20-E924-B32D-DEA6-6B14E3196553}"/>
              </a:ext>
            </a:extLst>
          </p:cNvPr>
          <p:cNvSpPr/>
          <p:nvPr/>
        </p:nvSpPr>
        <p:spPr>
          <a:xfrm>
            <a:off x="6162677" y="2150791"/>
            <a:ext cx="228600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">
            <a:extLst>
              <a:ext uri="{FF2B5EF4-FFF2-40B4-BE49-F238E27FC236}">
                <a16:creationId xmlns:a16="http://schemas.microsoft.com/office/drawing/2014/main" id="{C22C7840-18FA-F578-7E66-CE7A2F35B558}"/>
              </a:ext>
            </a:extLst>
          </p:cNvPr>
          <p:cNvSpPr/>
          <p:nvPr/>
        </p:nvSpPr>
        <p:spPr>
          <a:xfrm>
            <a:off x="6162677" y="2150791"/>
            <a:ext cx="2286000" cy="502920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3">
            <a:extLst>
              <a:ext uri="{FF2B5EF4-FFF2-40B4-BE49-F238E27FC236}">
                <a16:creationId xmlns:a16="http://schemas.microsoft.com/office/drawing/2014/main" id="{5D4C21C5-A149-313C-8B82-84C8632BCBE9}"/>
              </a:ext>
            </a:extLst>
          </p:cNvPr>
          <p:cNvSpPr txBox="1"/>
          <p:nvPr/>
        </p:nvSpPr>
        <p:spPr>
          <a:xfrm>
            <a:off x="6208397" y="2150791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AD Graph Ingestion</a:t>
            </a:r>
            <a:endParaRPr lang="en-US" sz="1500" dirty="0"/>
          </a:p>
        </p:txBody>
      </p:sp>
      <p:sp>
        <p:nvSpPr>
          <p:cNvPr id="28" name="Shape 4">
            <a:extLst>
              <a:ext uri="{FF2B5EF4-FFF2-40B4-BE49-F238E27FC236}">
                <a16:creationId xmlns:a16="http://schemas.microsoft.com/office/drawing/2014/main" id="{B6E533B4-28BC-2A4A-0317-C2C43CF241B5}"/>
              </a:ext>
            </a:extLst>
          </p:cNvPr>
          <p:cNvSpPr/>
          <p:nvPr/>
        </p:nvSpPr>
        <p:spPr>
          <a:xfrm>
            <a:off x="9180197" y="2150791"/>
            <a:ext cx="228600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5">
            <a:extLst>
              <a:ext uri="{FF2B5EF4-FFF2-40B4-BE49-F238E27FC236}">
                <a16:creationId xmlns:a16="http://schemas.microsoft.com/office/drawing/2014/main" id="{0CDD05B5-3241-5024-D9D2-423F8214E537}"/>
              </a:ext>
            </a:extLst>
          </p:cNvPr>
          <p:cNvSpPr/>
          <p:nvPr/>
        </p:nvSpPr>
        <p:spPr>
          <a:xfrm>
            <a:off x="9180197" y="2150791"/>
            <a:ext cx="2286000" cy="502920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6">
            <a:extLst>
              <a:ext uri="{FF2B5EF4-FFF2-40B4-BE49-F238E27FC236}">
                <a16:creationId xmlns:a16="http://schemas.microsoft.com/office/drawing/2014/main" id="{6D2EAA18-9E15-A084-A140-70CCC1567E50}"/>
              </a:ext>
            </a:extLst>
          </p:cNvPr>
          <p:cNvSpPr txBox="1"/>
          <p:nvPr/>
        </p:nvSpPr>
        <p:spPr>
          <a:xfrm>
            <a:off x="9225917" y="2150791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Tier 1: Screening</a:t>
            </a:r>
            <a:endParaRPr lang="en-US" sz="1500" dirty="0"/>
          </a:p>
        </p:txBody>
      </p:sp>
      <p:sp>
        <p:nvSpPr>
          <p:cNvPr id="34" name="Shape 7">
            <a:extLst>
              <a:ext uri="{FF2B5EF4-FFF2-40B4-BE49-F238E27FC236}">
                <a16:creationId xmlns:a16="http://schemas.microsoft.com/office/drawing/2014/main" id="{A9ADFB33-2C8B-641C-5960-F9A9EA174641}"/>
              </a:ext>
            </a:extLst>
          </p:cNvPr>
          <p:cNvSpPr/>
          <p:nvPr/>
        </p:nvSpPr>
        <p:spPr>
          <a:xfrm>
            <a:off x="12197717" y="2150791"/>
            <a:ext cx="228600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8">
            <a:extLst>
              <a:ext uri="{FF2B5EF4-FFF2-40B4-BE49-F238E27FC236}">
                <a16:creationId xmlns:a16="http://schemas.microsoft.com/office/drawing/2014/main" id="{814DEC82-304D-D0BD-3D26-69FA891B778F}"/>
              </a:ext>
            </a:extLst>
          </p:cNvPr>
          <p:cNvSpPr/>
          <p:nvPr/>
        </p:nvSpPr>
        <p:spPr>
          <a:xfrm>
            <a:off x="12197717" y="2150791"/>
            <a:ext cx="2286000" cy="502920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9">
            <a:extLst>
              <a:ext uri="{FF2B5EF4-FFF2-40B4-BE49-F238E27FC236}">
                <a16:creationId xmlns:a16="http://schemas.microsoft.com/office/drawing/2014/main" id="{2D9BBC64-6379-D9A1-90D3-93561391C7A6}"/>
              </a:ext>
            </a:extLst>
          </p:cNvPr>
          <p:cNvSpPr txBox="1"/>
          <p:nvPr/>
        </p:nvSpPr>
        <p:spPr>
          <a:xfrm>
            <a:off x="12243437" y="2150791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Tier 2: Verification</a:t>
            </a:r>
            <a:endParaRPr lang="en-US" sz="1500" dirty="0"/>
          </a:p>
        </p:txBody>
      </p:sp>
      <p:sp>
        <p:nvSpPr>
          <p:cNvPr id="40" name="Shape 10">
            <a:extLst>
              <a:ext uri="{FF2B5EF4-FFF2-40B4-BE49-F238E27FC236}">
                <a16:creationId xmlns:a16="http://schemas.microsoft.com/office/drawing/2014/main" id="{9B47ED4B-E0B1-8EA4-5BB9-CC6D155A01CB}"/>
              </a:ext>
            </a:extLst>
          </p:cNvPr>
          <p:cNvSpPr/>
          <p:nvPr/>
        </p:nvSpPr>
        <p:spPr>
          <a:xfrm>
            <a:off x="15215237" y="2150791"/>
            <a:ext cx="228600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Shape 11">
            <a:extLst>
              <a:ext uri="{FF2B5EF4-FFF2-40B4-BE49-F238E27FC236}">
                <a16:creationId xmlns:a16="http://schemas.microsoft.com/office/drawing/2014/main" id="{461DCDF5-99F0-F5C2-C6AA-198456C14880}"/>
              </a:ext>
            </a:extLst>
          </p:cNvPr>
          <p:cNvSpPr/>
          <p:nvPr/>
        </p:nvSpPr>
        <p:spPr>
          <a:xfrm>
            <a:off x="15215237" y="2150791"/>
            <a:ext cx="2286000" cy="502920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12">
            <a:extLst>
              <a:ext uri="{FF2B5EF4-FFF2-40B4-BE49-F238E27FC236}">
                <a16:creationId xmlns:a16="http://schemas.microsoft.com/office/drawing/2014/main" id="{011396E7-9818-F4FB-76E5-55566B251C4C}"/>
              </a:ext>
            </a:extLst>
          </p:cNvPr>
          <p:cNvSpPr txBox="1"/>
          <p:nvPr/>
        </p:nvSpPr>
        <p:spPr>
          <a:xfrm>
            <a:off x="15260957" y="2150791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Remediation</a:t>
            </a:r>
            <a:endParaRPr lang="en-US" sz="1500" dirty="0"/>
          </a:p>
        </p:txBody>
      </p:sp>
      <p:sp>
        <p:nvSpPr>
          <p:cNvPr id="46" name="Shape 13">
            <a:extLst>
              <a:ext uri="{FF2B5EF4-FFF2-40B4-BE49-F238E27FC236}">
                <a16:creationId xmlns:a16="http://schemas.microsoft.com/office/drawing/2014/main" id="{33E9F0E0-8F12-AC75-1AF3-9119271D21C5}"/>
              </a:ext>
            </a:extLst>
          </p:cNvPr>
          <p:cNvSpPr/>
          <p:nvPr/>
        </p:nvSpPr>
        <p:spPr>
          <a:xfrm>
            <a:off x="8485253" y="4025311"/>
            <a:ext cx="658368" cy="0"/>
          </a:xfrm>
          <a:prstGeom prst="line">
            <a:avLst/>
          </a:prstGeom>
          <a:noFill/>
          <a:ln w="38100">
            <a:solidFill>
              <a:srgbClr val="1E3A5F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14">
            <a:extLst>
              <a:ext uri="{FF2B5EF4-FFF2-40B4-BE49-F238E27FC236}">
                <a16:creationId xmlns:a16="http://schemas.microsoft.com/office/drawing/2014/main" id="{CD2F40EA-E083-D12D-1CA3-4601CB71A8A9}"/>
              </a:ext>
            </a:extLst>
          </p:cNvPr>
          <p:cNvSpPr/>
          <p:nvPr/>
        </p:nvSpPr>
        <p:spPr>
          <a:xfrm>
            <a:off x="8485253" y="3385231"/>
            <a:ext cx="658368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15">
            <a:extLst>
              <a:ext uri="{FF2B5EF4-FFF2-40B4-BE49-F238E27FC236}">
                <a16:creationId xmlns:a16="http://schemas.microsoft.com/office/drawing/2014/main" id="{2831A563-8CDD-99E4-F0AC-054D4308EB00}"/>
              </a:ext>
            </a:extLst>
          </p:cNvPr>
          <p:cNvSpPr txBox="1"/>
          <p:nvPr/>
        </p:nvSpPr>
        <p:spPr>
          <a:xfrm>
            <a:off x="8485253" y="3385231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</a:t>
            </a:r>
            <a:endParaRPr lang="en-US" sz="1200" dirty="0"/>
          </a:p>
        </p:txBody>
      </p:sp>
      <p:sp>
        <p:nvSpPr>
          <p:cNvPr id="52" name="Shape 16">
            <a:extLst>
              <a:ext uri="{FF2B5EF4-FFF2-40B4-BE49-F238E27FC236}">
                <a16:creationId xmlns:a16="http://schemas.microsoft.com/office/drawing/2014/main" id="{A83E7FFC-C5CA-9D2C-6515-2176442BBB9F}"/>
              </a:ext>
            </a:extLst>
          </p:cNvPr>
          <p:cNvSpPr/>
          <p:nvPr/>
        </p:nvSpPr>
        <p:spPr>
          <a:xfrm>
            <a:off x="11502773" y="4025311"/>
            <a:ext cx="658368" cy="0"/>
          </a:xfrm>
          <a:prstGeom prst="line">
            <a:avLst/>
          </a:prstGeom>
          <a:noFill/>
          <a:ln w="38100">
            <a:solidFill>
              <a:srgbClr val="1E3A5F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17">
            <a:extLst>
              <a:ext uri="{FF2B5EF4-FFF2-40B4-BE49-F238E27FC236}">
                <a16:creationId xmlns:a16="http://schemas.microsoft.com/office/drawing/2014/main" id="{773F8CC1-C07C-7501-F6DF-7389E4340DC8}"/>
              </a:ext>
            </a:extLst>
          </p:cNvPr>
          <p:cNvSpPr/>
          <p:nvPr/>
        </p:nvSpPr>
        <p:spPr>
          <a:xfrm>
            <a:off x="11502773" y="3385231"/>
            <a:ext cx="658368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18">
            <a:extLst>
              <a:ext uri="{FF2B5EF4-FFF2-40B4-BE49-F238E27FC236}">
                <a16:creationId xmlns:a16="http://schemas.microsoft.com/office/drawing/2014/main" id="{42E8BD8F-9D1D-824D-FEC1-B29BAB928D04}"/>
              </a:ext>
            </a:extLst>
          </p:cNvPr>
          <p:cNvSpPr txBox="1"/>
          <p:nvPr/>
        </p:nvSpPr>
        <p:spPr>
          <a:xfrm>
            <a:off x="11502773" y="3385231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Suspects</a:t>
            </a:r>
            <a:endParaRPr lang="en-US" sz="1200" dirty="0"/>
          </a:p>
        </p:txBody>
      </p:sp>
      <p:sp>
        <p:nvSpPr>
          <p:cNvPr id="58" name="Shape 19">
            <a:extLst>
              <a:ext uri="{FF2B5EF4-FFF2-40B4-BE49-F238E27FC236}">
                <a16:creationId xmlns:a16="http://schemas.microsoft.com/office/drawing/2014/main" id="{6FC3E6CF-AC61-C122-E720-5E866A5E5117}"/>
              </a:ext>
            </a:extLst>
          </p:cNvPr>
          <p:cNvSpPr/>
          <p:nvPr/>
        </p:nvSpPr>
        <p:spPr>
          <a:xfrm>
            <a:off x="14520293" y="4025311"/>
            <a:ext cx="658368" cy="0"/>
          </a:xfrm>
          <a:prstGeom prst="line">
            <a:avLst/>
          </a:prstGeom>
          <a:noFill/>
          <a:ln w="38100">
            <a:solidFill>
              <a:srgbClr val="C6282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20">
            <a:extLst>
              <a:ext uri="{FF2B5EF4-FFF2-40B4-BE49-F238E27FC236}">
                <a16:creationId xmlns:a16="http://schemas.microsoft.com/office/drawing/2014/main" id="{9534A28F-F6E0-0278-7597-C5F3A1B312D7}"/>
              </a:ext>
            </a:extLst>
          </p:cNvPr>
          <p:cNvSpPr/>
          <p:nvPr/>
        </p:nvSpPr>
        <p:spPr>
          <a:xfrm>
            <a:off x="14520293" y="3385231"/>
            <a:ext cx="658368" cy="502920"/>
          </a:xfrm>
          <a:prstGeom prst="rect">
            <a:avLst/>
          </a:prstGeom>
          <a:solidFill>
            <a:srgbClr val="FDECEA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21">
            <a:extLst>
              <a:ext uri="{FF2B5EF4-FFF2-40B4-BE49-F238E27FC236}">
                <a16:creationId xmlns:a16="http://schemas.microsoft.com/office/drawing/2014/main" id="{240AD0A8-618E-F3B0-DD4D-11A7B485A6B5}"/>
              </a:ext>
            </a:extLst>
          </p:cNvPr>
          <p:cNvSpPr txBox="1"/>
          <p:nvPr/>
        </p:nvSpPr>
        <p:spPr>
          <a:xfrm>
            <a:off x="14520293" y="3385231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</a:t>
            </a:r>
            <a:endParaRPr lang="en-US" sz="1200" dirty="0"/>
          </a:p>
        </p:txBody>
      </p:sp>
      <p:sp>
        <p:nvSpPr>
          <p:cNvPr id="64" name="Text 22">
            <a:extLst>
              <a:ext uri="{FF2B5EF4-FFF2-40B4-BE49-F238E27FC236}">
                <a16:creationId xmlns:a16="http://schemas.microsoft.com/office/drawing/2014/main" id="{D51EE1F2-0421-E78D-5BFF-068D4A37F89F}"/>
              </a:ext>
            </a:extLst>
          </p:cNvPr>
          <p:cNvSpPr txBox="1"/>
          <p:nvPr/>
        </p:nvSpPr>
        <p:spPr>
          <a:xfrm>
            <a:off x="6299837" y="2745151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extraction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LDAP &amp; RPC audits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BloodHound / SharpHound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PKI schema</a:t>
            </a:r>
            <a:endParaRPr lang="en-US" sz="1600" dirty="0"/>
          </a:p>
        </p:txBody>
      </p:sp>
      <p:sp>
        <p:nvSpPr>
          <p:cNvPr id="66" name="Text 23">
            <a:extLst>
              <a:ext uri="{FF2B5EF4-FFF2-40B4-BE49-F238E27FC236}">
                <a16:creationId xmlns:a16="http://schemas.microsoft.com/office/drawing/2014/main" id="{06CB50E0-9914-4C9F-341B-142BC179A37E}"/>
              </a:ext>
            </a:extLst>
          </p:cNvPr>
          <p:cNvSpPr txBox="1"/>
          <p:nvPr/>
        </p:nvSpPr>
        <p:spPr>
          <a:xfrm>
            <a:off x="6299837" y="4391071"/>
            <a:ext cx="2011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mapping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100K+ nodes, 1M+ edges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Transitive DACLs &amp; groups</a:t>
            </a:r>
            <a:endParaRPr lang="en-US" sz="1600" dirty="0"/>
          </a:p>
        </p:txBody>
      </p:sp>
      <p:sp>
        <p:nvSpPr>
          <p:cNvPr id="68" name="Shape 24">
            <a:extLst>
              <a:ext uri="{FF2B5EF4-FFF2-40B4-BE49-F238E27FC236}">
                <a16:creationId xmlns:a16="http://schemas.microsoft.com/office/drawing/2014/main" id="{55609243-FDBA-B7EC-F65B-FCB06C3C7FCF}"/>
              </a:ext>
            </a:extLst>
          </p:cNvPr>
          <p:cNvSpPr/>
          <p:nvPr/>
        </p:nvSpPr>
        <p:spPr>
          <a:xfrm>
            <a:off x="6272405" y="5808391"/>
            <a:ext cx="2066544" cy="109728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25">
            <a:extLst>
              <a:ext uri="{FF2B5EF4-FFF2-40B4-BE49-F238E27FC236}">
                <a16:creationId xmlns:a16="http://schemas.microsoft.com/office/drawing/2014/main" id="{F90EE3C3-72C6-E8DA-2259-E47E1A84EC4D}"/>
              </a:ext>
            </a:extLst>
          </p:cNvPr>
          <p:cNvSpPr txBox="1"/>
          <p:nvPr/>
        </p:nvSpPr>
        <p:spPr>
          <a:xfrm>
            <a:off x="6382133" y="5808391"/>
            <a:ext cx="18470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auditor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sync via LDAP USN tracking</a:t>
            </a:r>
            <a:endParaRPr lang="en-US" sz="1600" dirty="0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0F539BAF-0BE4-6FD8-E22E-62C0ED9F4056}"/>
              </a:ext>
            </a:extLst>
          </p:cNvPr>
          <p:cNvSpPr txBox="1"/>
          <p:nvPr/>
        </p:nvSpPr>
        <p:spPr>
          <a:xfrm>
            <a:off x="9317357" y="2745151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CertGraph Hetero-GAT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every template's risk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&lt;25 ms per 1,000 nodes</a:t>
            </a:r>
            <a:endParaRPr lang="en-US" sz="1600" dirty="0"/>
          </a:p>
        </p:txBody>
      </p:sp>
      <p:sp>
        <p:nvSpPr>
          <p:cNvPr id="74" name="Text 27">
            <a:extLst>
              <a:ext uri="{FF2B5EF4-FFF2-40B4-BE49-F238E27FC236}">
                <a16:creationId xmlns:a16="http://schemas.microsoft.com/office/drawing/2014/main" id="{9008B64D-2069-2214-C0C9-2E3FDFCD06D8}"/>
              </a:ext>
            </a:extLst>
          </p:cNvPr>
          <p:cNvSpPr txBox="1"/>
          <p:nvPr/>
        </p:nvSpPr>
        <p:spPr>
          <a:xfrm>
            <a:off x="9317357" y="4391071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filter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Prunes &gt;95% benign templates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Emits Top-K suspect queue</a:t>
            </a:r>
            <a:endParaRPr lang="en-US" sz="1600" dirty="0"/>
          </a:p>
        </p:txBody>
      </p:sp>
      <p:sp>
        <p:nvSpPr>
          <p:cNvPr id="76" name="Shape 28">
            <a:extLst>
              <a:ext uri="{FF2B5EF4-FFF2-40B4-BE49-F238E27FC236}">
                <a16:creationId xmlns:a16="http://schemas.microsoft.com/office/drawing/2014/main" id="{EA3B008C-04E0-2851-1CD6-F3E854D0FBCA}"/>
              </a:ext>
            </a:extLst>
          </p:cNvPr>
          <p:cNvSpPr/>
          <p:nvPr/>
        </p:nvSpPr>
        <p:spPr>
          <a:xfrm>
            <a:off x="9289925" y="5808391"/>
            <a:ext cx="2066544" cy="109728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29">
            <a:extLst>
              <a:ext uri="{FF2B5EF4-FFF2-40B4-BE49-F238E27FC236}">
                <a16:creationId xmlns:a16="http://schemas.microsoft.com/office/drawing/2014/main" id="{928C69AC-6943-A575-24A6-59379C1CDEEA}"/>
              </a:ext>
            </a:extLst>
          </p:cNvPr>
          <p:cNvSpPr txBox="1"/>
          <p:nvPr/>
        </p:nvSpPr>
        <p:spPr>
          <a:xfrm>
            <a:off x="9399653" y="5808391"/>
            <a:ext cx="18470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sweep in &lt;2.4 s (linear-time GPU)</a:t>
            </a:r>
            <a:endParaRPr lang="en-US" sz="1600" dirty="0"/>
          </a:p>
        </p:txBody>
      </p:sp>
      <p:sp>
        <p:nvSpPr>
          <p:cNvPr id="80" name="Text 30">
            <a:extLst>
              <a:ext uri="{FF2B5EF4-FFF2-40B4-BE49-F238E27FC236}">
                <a16:creationId xmlns:a16="http://schemas.microsoft.com/office/drawing/2014/main" id="{A8FEFFB7-443F-1158-202B-25EB6483EE33}"/>
              </a:ext>
            </a:extLst>
          </p:cNvPr>
          <p:cNvSpPr txBox="1"/>
          <p:nvPr/>
        </p:nvSpPr>
        <p:spPr>
          <a:xfrm>
            <a:off x="12334877" y="2745151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traversal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2-hop authorization subgraph query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DACLs, OIDs &amp; enroll rights</a:t>
            </a:r>
            <a:endParaRPr lang="en-US" sz="1600" dirty="0"/>
          </a:p>
        </p:txBody>
      </p:sp>
      <p:sp>
        <p:nvSpPr>
          <p:cNvPr id="82" name="Text 31">
            <a:extLst>
              <a:ext uri="{FF2B5EF4-FFF2-40B4-BE49-F238E27FC236}">
                <a16:creationId xmlns:a16="http://schemas.microsoft.com/office/drawing/2014/main" id="{E3B069D6-12D6-B734-2475-8161ABD3376C}"/>
              </a:ext>
            </a:extLst>
          </p:cNvPr>
          <p:cNvSpPr txBox="1"/>
          <p:nvPr/>
        </p:nvSpPr>
        <p:spPr>
          <a:xfrm>
            <a:off x="12334877" y="4391071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Soundness decision</a:t>
            </a:r>
            <a:endParaRPr lang="en-US" sz="1600" dirty="0"/>
          </a:p>
        </p:txBody>
      </p:sp>
      <p:sp>
        <p:nvSpPr>
          <p:cNvPr id="84" name="Shape 32">
            <a:extLst>
              <a:ext uri="{FF2B5EF4-FFF2-40B4-BE49-F238E27FC236}">
                <a16:creationId xmlns:a16="http://schemas.microsoft.com/office/drawing/2014/main" id="{EFA47BDE-2826-B6A7-1726-857B58950E27}"/>
              </a:ext>
            </a:extLst>
          </p:cNvPr>
          <p:cNvSpPr/>
          <p:nvPr/>
        </p:nvSpPr>
        <p:spPr>
          <a:xfrm>
            <a:off x="12307445" y="4802551"/>
            <a:ext cx="2066544" cy="914400"/>
          </a:xfrm>
          <a:prstGeom prst="rect">
            <a:avLst/>
          </a:prstGeom>
          <a:solidFill>
            <a:srgbClr val="E3F5F1"/>
          </a:solidFill>
          <a:ln w="1905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33">
            <a:extLst>
              <a:ext uri="{FF2B5EF4-FFF2-40B4-BE49-F238E27FC236}">
                <a16:creationId xmlns:a16="http://schemas.microsoft.com/office/drawing/2014/main" id="{B5191E59-E976-124D-4708-552F485E0A40}"/>
              </a:ext>
            </a:extLst>
          </p:cNvPr>
          <p:cNvSpPr txBox="1"/>
          <p:nvPr/>
        </p:nvSpPr>
        <p:spPr>
          <a:xfrm>
            <a:off x="12417173" y="4802551"/>
            <a:ext cx="1847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negative (Safe)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 suppressed &amp; logged</a:t>
            </a:r>
            <a:endParaRPr lang="en-US" sz="1600" dirty="0"/>
          </a:p>
        </p:txBody>
      </p:sp>
      <p:sp>
        <p:nvSpPr>
          <p:cNvPr id="88" name="Shape 34">
            <a:extLst>
              <a:ext uri="{FF2B5EF4-FFF2-40B4-BE49-F238E27FC236}">
                <a16:creationId xmlns:a16="http://schemas.microsoft.com/office/drawing/2014/main" id="{B308E1A2-B416-4EFB-4C1B-44016F211AE7}"/>
              </a:ext>
            </a:extLst>
          </p:cNvPr>
          <p:cNvSpPr/>
          <p:nvPr/>
        </p:nvSpPr>
        <p:spPr>
          <a:xfrm>
            <a:off x="12307445" y="5808391"/>
            <a:ext cx="2066544" cy="1097280"/>
          </a:xfrm>
          <a:prstGeom prst="rect">
            <a:avLst/>
          </a:prstGeom>
          <a:solidFill>
            <a:srgbClr val="FDECEA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35">
            <a:extLst>
              <a:ext uri="{FF2B5EF4-FFF2-40B4-BE49-F238E27FC236}">
                <a16:creationId xmlns:a16="http://schemas.microsoft.com/office/drawing/2014/main" id="{B6FED4E8-BC0D-603A-6CF7-5200D4409735}"/>
              </a:ext>
            </a:extLst>
          </p:cNvPr>
          <p:cNvSpPr txBox="1"/>
          <p:nvPr/>
        </p:nvSpPr>
        <p:spPr>
          <a:xfrm>
            <a:off x="12417173" y="5808391"/>
            <a:ext cx="18470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exploit path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tree triggers auto-remediation</a:t>
            </a:r>
            <a:endParaRPr lang="en-US" sz="1600" dirty="0"/>
          </a:p>
        </p:txBody>
      </p:sp>
      <p:sp>
        <p:nvSpPr>
          <p:cNvPr id="92" name="Text 36">
            <a:extLst>
              <a:ext uri="{FF2B5EF4-FFF2-40B4-BE49-F238E27FC236}">
                <a16:creationId xmlns:a16="http://schemas.microsoft.com/office/drawing/2014/main" id="{2EC14640-69B2-A3E4-31BF-1BC4B2B9EA94}"/>
              </a:ext>
            </a:extLst>
          </p:cNvPr>
          <p:cNvSpPr txBox="1"/>
          <p:nvPr/>
        </p:nvSpPr>
        <p:spPr>
          <a:xfrm>
            <a:off x="15352397" y="2745151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optimization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Stackelberg game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Minimal-impact cut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paths removed</a:t>
            </a:r>
            <a:endParaRPr lang="en-US" sz="1600" dirty="0"/>
          </a:p>
        </p:txBody>
      </p:sp>
      <p:sp>
        <p:nvSpPr>
          <p:cNvPr id="94" name="Text 37">
            <a:extLst>
              <a:ext uri="{FF2B5EF4-FFF2-40B4-BE49-F238E27FC236}">
                <a16:creationId xmlns:a16="http://schemas.microsoft.com/office/drawing/2014/main" id="{A9D6A0BC-4A72-3028-56FC-BF8EB9BD7AC4}"/>
              </a:ext>
            </a:extLst>
          </p:cNvPr>
          <p:cNvSpPr txBox="1"/>
          <p:nvPr/>
        </p:nvSpPr>
        <p:spPr>
          <a:xfrm>
            <a:off x="15352397" y="4391071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LDAP actuation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Revokes rogue ACEs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Unlinks policy OIDs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disruption</a:t>
            </a:r>
            <a:endParaRPr lang="en-US" sz="1600" dirty="0"/>
          </a:p>
        </p:txBody>
      </p:sp>
      <p:sp>
        <p:nvSpPr>
          <p:cNvPr id="96" name="Shape 38">
            <a:extLst>
              <a:ext uri="{FF2B5EF4-FFF2-40B4-BE49-F238E27FC236}">
                <a16:creationId xmlns:a16="http://schemas.microsoft.com/office/drawing/2014/main" id="{8678A1CB-D198-96DD-28F8-463DDAB504EB}"/>
              </a:ext>
            </a:extLst>
          </p:cNvPr>
          <p:cNvSpPr/>
          <p:nvPr/>
        </p:nvSpPr>
        <p:spPr>
          <a:xfrm>
            <a:off x="15324965" y="5808391"/>
            <a:ext cx="2066544" cy="109728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Text 39">
            <a:extLst>
              <a:ext uri="{FF2B5EF4-FFF2-40B4-BE49-F238E27FC236}">
                <a16:creationId xmlns:a16="http://schemas.microsoft.com/office/drawing/2014/main" id="{21FCE074-083E-49F8-7B9A-D129566D8DFB}"/>
              </a:ext>
            </a:extLst>
          </p:cNvPr>
          <p:cNvSpPr txBox="1"/>
          <p:nvPr/>
        </p:nvSpPr>
        <p:spPr>
          <a:xfrm>
            <a:off x="15434693" y="5808391"/>
            <a:ext cx="18470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ACL revocation</a:t>
            </a:r>
            <a:endParaRPr lang="en-US" sz="1600" dirty="0"/>
          </a:p>
        </p:txBody>
      </p:sp>
      <p:sp>
        <p:nvSpPr>
          <p:cNvPr id="100" name="Shape 40">
            <a:extLst>
              <a:ext uri="{FF2B5EF4-FFF2-40B4-BE49-F238E27FC236}">
                <a16:creationId xmlns:a16="http://schemas.microsoft.com/office/drawing/2014/main" id="{6E0701CD-56D5-B501-95F6-3743C088B1AE}"/>
              </a:ext>
            </a:extLst>
          </p:cNvPr>
          <p:cNvSpPr/>
          <p:nvPr/>
        </p:nvSpPr>
        <p:spPr>
          <a:xfrm>
            <a:off x="16358237" y="7042831"/>
            <a:ext cx="0" cy="320040"/>
          </a:xfrm>
          <a:prstGeom prst="line">
            <a:avLst/>
          </a:prstGeom>
          <a:noFill/>
          <a:ln w="25400">
            <a:solidFill>
              <a:srgbClr val="334155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41">
            <a:extLst>
              <a:ext uri="{FF2B5EF4-FFF2-40B4-BE49-F238E27FC236}">
                <a16:creationId xmlns:a16="http://schemas.microsoft.com/office/drawing/2014/main" id="{8E75A67D-535F-3978-435D-9C636006306C}"/>
              </a:ext>
            </a:extLst>
          </p:cNvPr>
          <p:cNvSpPr/>
          <p:nvPr/>
        </p:nvSpPr>
        <p:spPr>
          <a:xfrm flipH="1">
            <a:off x="7305677" y="7362871"/>
            <a:ext cx="9052560" cy="0"/>
          </a:xfrm>
          <a:prstGeom prst="line">
            <a:avLst/>
          </a:prstGeom>
          <a:noFill/>
          <a:ln w="25400">
            <a:solidFill>
              <a:srgbClr val="334155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42">
            <a:extLst>
              <a:ext uri="{FF2B5EF4-FFF2-40B4-BE49-F238E27FC236}">
                <a16:creationId xmlns:a16="http://schemas.microsoft.com/office/drawing/2014/main" id="{2C79C5D0-9FC5-E0A6-6EC5-EF4467691F52}"/>
              </a:ext>
            </a:extLst>
          </p:cNvPr>
          <p:cNvSpPr/>
          <p:nvPr/>
        </p:nvSpPr>
        <p:spPr>
          <a:xfrm flipV="1">
            <a:off x="7305677" y="7088551"/>
            <a:ext cx="0" cy="274320"/>
          </a:xfrm>
          <a:prstGeom prst="line">
            <a:avLst/>
          </a:prstGeom>
          <a:noFill/>
          <a:ln w="25400">
            <a:solidFill>
              <a:srgbClr val="334155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43">
            <a:extLst>
              <a:ext uri="{FF2B5EF4-FFF2-40B4-BE49-F238E27FC236}">
                <a16:creationId xmlns:a16="http://schemas.microsoft.com/office/drawing/2014/main" id="{638187FC-C5A3-A909-EE7D-051B9CA1E4F0}"/>
              </a:ext>
            </a:extLst>
          </p:cNvPr>
          <p:cNvSpPr/>
          <p:nvPr/>
        </p:nvSpPr>
        <p:spPr>
          <a:xfrm>
            <a:off x="8750429" y="7161703"/>
            <a:ext cx="6172200" cy="402336"/>
          </a:xfrm>
          <a:prstGeom prst="rect">
            <a:avLst/>
          </a:prstGeom>
          <a:solidFill>
            <a:srgbClr val="FFFFFF"/>
          </a:solidFill>
          <a:ln w="1587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Text 44">
            <a:extLst>
              <a:ext uri="{FF2B5EF4-FFF2-40B4-BE49-F238E27FC236}">
                <a16:creationId xmlns:a16="http://schemas.microsoft.com/office/drawing/2014/main" id="{93B061D7-F471-C987-E822-3BCDD8768D9D}"/>
              </a:ext>
            </a:extLst>
          </p:cNvPr>
          <p:cNvSpPr txBox="1"/>
          <p:nvPr/>
        </p:nvSpPr>
        <p:spPr>
          <a:xfrm>
            <a:off x="8750429" y="7161703"/>
            <a:ext cx="6172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Closed-loop feedback: delta sync after remediation</a:t>
            </a:r>
            <a:endParaRPr lang="en-US" sz="1500" dirty="0"/>
          </a:p>
        </p:txBody>
      </p:sp>
      <p:grpSp>
        <p:nvGrpSpPr>
          <p:cNvPr id="109" name="Group 23">
            <a:extLst>
              <a:ext uri="{FF2B5EF4-FFF2-40B4-BE49-F238E27FC236}">
                <a16:creationId xmlns:a16="http://schemas.microsoft.com/office/drawing/2014/main" id="{6FC5448A-9803-89C9-E0F9-9CB2903350E1}"/>
              </a:ext>
            </a:extLst>
          </p:cNvPr>
          <p:cNvGrpSpPr/>
          <p:nvPr/>
        </p:nvGrpSpPr>
        <p:grpSpPr>
          <a:xfrm>
            <a:off x="1000675" y="4299631"/>
            <a:ext cx="5130970" cy="2926080"/>
            <a:chOff x="0" y="0"/>
            <a:chExt cx="10363200" cy="3901440"/>
          </a:xfrm>
        </p:grpSpPr>
        <p:sp>
          <p:nvSpPr>
            <p:cNvPr id="110" name="Freeform 24" descr="hard_negatives_comparison.png">
              <a:extLst>
                <a:ext uri="{FF2B5EF4-FFF2-40B4-BE49-F238E27FC236}">
                  <a16:creationId xmlns:a16="http://schemas.microsoft.com/office/drawing/2014/main" id="{3DBE3DD1-0351-47ED-8237-01EE6E53688B}"/>
                </a:ext>
              </a:extLst>
            </p:cNvPr>
            <p:cNvSpPr/>
            <p:nvPr/>
          </p:nvSpPr>
          <p:spPr>
            <a:xfrm>
              <a:off x="0" y="0"/>
              <a:ext cx="10363200" cy="3901440"/>
            </a:xfrm>
            <a:custGeom>
              <a:avLst/>
              <a:gdLst/>
              <a:ahLst/>
              <a:cxnLst/>
              <a:rect l="l" t="t" r="r" b="b"/>
              <a:pathLst>
                <a:path w="10363200" h="3901440">
                  <a:moveTo>
                    <a:pt x="0" y="0"/>
                  </a:moveTo>
                  <a:lnTo>
                    <a:pt x="10363200" y="0"/>
                  </a:lnTo>
                  <a:lnTo>
                    <a:pt x="10363200" y="3901440"/>
                  </a:lnTo>
                  <a:lnTo>
                    <a:pt x="0" y="39014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15584" b="-15584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2" name="TextBox 20">
            <a:extLst>
              <a:ext uri="{FF2B5EF4-FFF2-40B4-BE49-F238E27FC236}">
                <a16:creationId xmlns:a16="http://schemas.microsoft.com/office/drawing/2014/main" id="{FE878855-E6DD-7B39-6560-E3EA0E41B726}"/>
              </a:ext>
            </a:extLst>
          </p:cNvPr>
          <p:cNvSpPr txBox="1"/>
          <p:nvPr/>
        </p:nvSpPr>
        <p:spPr>
          <a:xfrm>
            <a:off x="1051560" y="8016785"/>
            <a:ext cx="16779239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195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Tier 1 — Neural Screener (18.2 </a:t>
            </a:r>
            <a:r>
              <a:rPr lang="en-US" sz="195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ms</a:t>
            </a:r>
            <a:r>
              <a:rPr lang="en-US" sz="195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):</a:t>
            </a:r>
            <a:r>
              <a:rPr lang="en-US" sz="195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Flags 62 of 600 templates as potentially risky, filtering out 89.7% of safe templates while retaining 100% of true attack paths.</a:t>
            </a:r>
          </a:p>
          <a:p>
            <a:pPr algn="l">
              <a:lnSpc>
                <a:spcPts val="2400"/>
              </a:lnSpc>
            </a:pPr>
            <a:r>
              <a:rPr lang="en-US" sz="195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Tier 2 — Symbolic Verifier (110.6 </a:t>
            </a:r>
            <a:r>
              <a:rPr lang="en-US" sz="195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ms</a:t>
            </a:r>
            <a:r>
              <a:rPr lang="en-US" sz="195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):</a:t>
            </a:r>
            <a:r>
              <a:rPr lang="en-US" sz="195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Traverses authorization graphs for flagged templates, generating mathematical proof traces and eliminating false alarms.</a:t>
            </a:r>
          </a:p>
          <a:p>
            <a:pPr algn="l">
              <a:lnSpc>
                <a:spcPts val="2400"/>
              </a:lnSpc>
            </a:pPr>
            <a:r>
              <a:rPr lang="en-US" sz="195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Combined System (128.8 </a:t>
            </a:r>
            <a:r>
              <a:rPr lang="en-US" sz="195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ms</a:t>
            </a:r>
            <a:r>
              <a:rPr lang="en-US" sz="195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):</a:t>
            </a:r>
            <a:r>
              <a:rPr lang="en-US" sz="195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Achieves zero false negatives and zero false alarms — combining neural speed with symbolic soundness.</a:t>
            </a:r>
          </a:p>
        </p:txBody>
      </p:sp>
      <p:sp>
        <p:nvSpPr>
          <p:cNvPr id="116" name="TextBox 11">
            <a:extLst>
              <a:ext uri="{FF2B5EF4-FFF2-40B4-BE49-F238E27FC236}">
                <a16:creationId xmlns:a16="http://schemas.microsoft.com/office/drawing/2014/main" id="{F4D3E68E-CC82-AE27-EB1E-5FA1843E4277}"/>
              </a:ext>
            </a:extLst>
          </p:cNvPr>
          <p:cNvSpPr txBox="1"/>
          <p:nvPr/>
        </p:nvSpPr>
        <p:spPr>
          <a:xfrm>
            <a:off x="5093208" y="7608354"/>
            <a:ext cx="7498080" cy="2783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lang="en-US" sz="1899" i="1" dirty="0">
                <a:solidFill>
                  <a:srgbClr val="000000"/>
                </a:solidFill>
                <a:latin typeface="Times New Roman Italics"/>
                <a:ea typeface="Times New Roman Italics"/>
                <a:cs typeface="Times New Roman Italics"/>
                <a:sym typeface="Times New Roman Italics"/>
              </a:rPr>
              <a:t>Figures : Neuro-Symbolic Architectural Verification</a:t>
            </a:r>
          </a:p>
        </p:txBody>
      </p:sp>
    </p:spTree>
    <p:extLst>
      <p:ext uri="{BB962C8B-B14F-4D97-AF65-F5344CB8AC3E}">
        <p14:creationId xmlns:p14="http://schemas.microsoft.com/office/powerpoint/2010/main" val="35978784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4000500" y="-4000500"/>
            <a:ext cx="10287000" cy="18288000"/>
            <a:chOff x="0" y="0"/>
            <a:chExt cx="13716000" cy="24384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716000" cy="24384000"/>
            </a:xfrm>
            <a:custGeom>
              <a:avLst/>
              <a:gdLst/>
              <a:ahLst/>
              <a:cxnLst/>
              <a:rect l="l" t="t" r="r" b="b"/>
              <a:pathLst>
                <a:path w="13716000" h="24384000">
                  <a:moveTo>
                    <a:pt x="13716000" y="0"/>
                  </a:moveTo>
                  <a:lnTo>
                    <a:pt x="13716000" y="24384000"/>
                  </a:lnTo>
                  <a:lnTo>
                    <a:pt x="0" y="24384000"/>
                  </a:lnTo>
                  <a:lnTo>
                    <a:pt x="0" y="0"/>
                  </a:lnTo>
                  <a:lnTo>
                    <a:pt x="13716000" y="0"/>
                  </a:lnTo>
                  <a:close/>
                </a:path>
              </a:pathLst>
            </a:custGeom>
            <a:blipFill>
              <a:blip r:embed="rId3"/>
              <a:stretch>
                <a:fillRect l="-12840" r="-1284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197864" y="832104"/>
            <a:ext cx="905256" cy="1152144"/>
            <a:chOff x="0" y="0"/>
            <a:chExt cx="1207008" cy="1536192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1207008" cy="1536192"/>
            </a:xfrm>
            <a:custGeom>
              <a:avLst/>
              <a:gdLst/>
              <a:ahLst/>
              <a:cxnLst/>
              <a:rect l="l" t="t" r="r" b="b"/>
              <a:pathLst>
                <a:path w="1207008" h="1536192">
                  <a:moveTo>
                    <a:pt x="0" y="0"/>
                  </a:moveTo>
                  <a:lnTo>
                    <a:pt x="1207008" y="0"/>
                  </a:lnTo>
                  <a:lnTo>
                    <a:pt x="1207008" y="1536192"/>
                  </a:lnTo>
                  <a:lnTo>
                    <a:pt x="0" y="15361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99" r="-9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2441448" y="995553"/>
            <a:ext cx="12801600" cy="7692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SCALABILITY &amp; AUTONOMOUS REMEDIATION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672816" y="465582"/>
            <a:ext cx="1600200" cy="320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39"/>
              </a:lnSpc>
            </a:pPr>
            <a:r>
              <a:rPr lang="en-US" sz="21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13/15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35040" y="9225534"/>
            <a:ext cx="6217920" cy="293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9"/>
              </a:lnSpc>
            </a:pPr>
            <a:r>
              <a:rPr lang="en-US" sz="21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Course Title: Project and Thesis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179195" y="2276856"/>
            <a:ext cx="5140775" cy="571119"/>
            <a:chOff x="0" y="0"/>
            <a:chExt cx="6854367" cy="76149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854367" cy="761492"/>
            </a:xfrm>
            <a:custGeom>
              <a:avLst/>
              <a:gdLst/>
              <a:ahLst/>
              <a:cxnLst/>
              <a:rect l="l" t="t" r="r" b="b"/>
              <a:pathLst>
                <a:path w="6854367" h="761492">
                  <a:moveTo>
                    <a:pt x="0" y="0"/>
                  </a:moveTo>
                  <a:lnTo>
                    <a:pt x="6854367" y="0"/>
                  </a:lnTo>
                  <a:lnTo>
                    <a:pt x="6854367" y="761492"/>
                  </a:lnTo>
                  <a:lnTo>
                    <a:pt x="0" y="76149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109171" r="7135" b="-116576"/>
              </a:stretch>
            </a:blip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19050"/>
              <a:ext cx="6854367" cy="7805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          Sub-Second Operational Scalability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98448" y="2276856"/>
            <a:ext cx="429768" cy="429768"/>
            <a:chOff x="0" y="0"/>
            <a:chExt cx="573024" cy="573024"/>
          </a:xfrm>
        </p:grpSpPr>
        <p:sp>
          <p:nvSpPr>
            <p:cNvPr id="13" name="Freeform 13" descr="image.png"/>
            <p:cNvSpPr/>
            <p:nvPr/>
          </p:nvSpPr>
          <p:spPr>
            <a:xfrm>
              <a:off x="0" y="0"/>
              <a:ext cx="573024" cy="573024"/>
            </a:xfrm>
            <a:custGeom>
              <a:avLst/>
              <a:gdLst/>
              <a:ahLst/>
              <a:cxnLst/>
              <a:rect l="l" t="t" r="r" b="b"/>
              <a:pathLst>
                <a:path w="573024" h="573024">
                  <a:moveTo>
                    <a:pt x="0" y="0"/>
                  </a:moveTo>
                  <a:lnTo>
                    <a:pt x="573024" y="0"/>
                  </a:lnTo>
                  <a:lnTo>
                    <a:pt x="573024" y="573024"/>
                  </a:lnTo>
                  <a:lnTo>
                    <a:pt x="0" y="5730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280160" y="2952750"/>
            <a:ext cx="7315200" cy="2305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1. 1,000-Node Topology: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20 ms forward inference time.</a:t>
            </a:r>
          </a:p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2. 5,000-Node Topology: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112.5 ms forward inference time.</a:t>
            </a:r>
          </a:p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3. 10,000-Node Topology (765k edges):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343 ms inference time — 12.4x faster than Dijkstra/BloodHound graph search.</a:t>
            </a:r>
          </a:p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4. Operational Benefit: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Enables continuous real-time directory audits without impacting enterprise authentication traffic.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179195" y="5381625"/>
            <a:ext cx="5140775" cy="626107"/>
            <a:chOff x="0" y="0"/>
            <a:chExt cx="6854367" cy="83480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6854367" cy="834809"/>
            </a:xfrm>
            <a:custGeom>
              <a:avLst/>
              <a:gdLst/>
              <a:ahLst/>
              <a:cxnLst/>
              <a:rect l="l" t="t" r="r" b="b"/>
              <a:pathLst>
                <a:path w="6854367" h="834809">
                  <a:moveTo>
                    <a:pt x="0" y="0"/>
                  </a:moveTo>
                  <a:lnTo>
                    <a:pt x="6854367" y="0"/>
                  </a:lnTo>
                  <a:lnTo>
                    <a:pt x="6854367" y="834809"/>
                  </a:lnTo>
                  <a:lnTo>
                    <a:pt x="0" y="834809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99583" r="7135" b="-97555"/>
              </a:stretch>
            </a:blip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19050"/>
              <a:ext cx="6854367" cy="8538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          Automated Attack Path Interdiction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298448" y="5477256"/>
            <a:ext cx="429768" cy="429768"/>
            <a:chOff x="0" y="0"/>
            <a:chExt cx="573024" cy="573024"/>
          </a:xfrm>
        </p:grpSpPr>
        <p:sp>
          <p:nvSpPr>
            <p:cNvPr id="19" name="Freeform 19" descr="image.png"/>
            <p:cNvSpPr/>
            <p:nvPr/>
          </p:nvSpPr>
          <p:spPr>
            <a:xfrm>
              <a:off x="0" y="0"/>
              <a:ext cx="573024" cy="573024"/>
            </a:xfrm>
            <a:custGeom>
              <a:avLst/>
              <a:gdLst/>
              <a:ahLst/>
              <a:cxnLst/>
              <a:rect l="l" t="t" r="r" b="b"/>
              <a:pathLst>
                <a:path w="573024" h="573024">
                  <a:moveTo>
                    <a:pt x="0" y="0"/>
                  </a:moveTo>
                  <a:lnTo>
                    <a:pt x="573024" y="0"/>
                  </a:lnTo>
                  <a:lnTo>
                    <a:pt x="573024" y="573024"/>
                  </a:lnTo>
                  <a:lnTo>
                    <a:pt x="0" y="5730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8925" r="-892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280160" y="6153150"/>
            <a:ext cx="7315200" cy="2762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1. Computational Proof (Theorem 2):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We proved that finding the minimum set of permission revocations to sever all attack paths (MPAI) is NP-hard.</a:t>
            </a:r>
          </a:p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2. Greedy Interdiction Algorithm: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We designed a disruption-bounded greedy algorithm that severs 68.6% of attack paths within a budget of 24 ACL operations.</a:t>
            </a:r>
          </a:p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3. Statistical Validation: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Statistically outperforms degree-centrality baselines across 30 enterprise topologies (p = 3.57e-11).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9601200" y="2103120"/>
            <a:ext cx="7132320" cy="3474720"/>
            <a:chOff x="0" y="0"/>
            <a:chExt cx="9509760" cy="4632960"/>
          </a:xfrm>
        </p:grpSpPr>
        <p:sp>
          <p:nvSpPr>
            <p:cNvPr id="22" name="Freeform 22" descr="scalability_metrics.png"/>
            <p:cNvSpPr/>
            <p:nvPr/>
          </p:nvSpPr>
          <p:spPr>
            <a:xfrm>
              <a:off x="0" y="0"/>
              <a:ext cx="9509760" cy="4632960"/>
            </a:xfrm>
            <a:custGeom>
              <a:avLst/>
              <a:gdLst/>
              <a:ahLst/>
              <a:cxnLst/>
              <a:rect l="l" t="t" r="r" b="b"/>
              <a:pathLst>
                <a:path w="9509760" h="4632960">
                  <a:moveTo>
                    <a:pt x="0" y="0"/>
                  </a:moveTo>
                  <a:lnTo>
                    <a:pt x="9509760" y="0"/>
                  </a:lnTo>
                  <a:lnTo>
                    <a:pt x="9509760" y="4632960"/>
                  </a:lnTo>
                  <a:lnTo>
                    <a:pt x="0" y="46329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38134" b="-38134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144000" y="5760720"/>
            <a:ext cx="8046720" cy="3200400"/>
            <a:chOff x="0" y="0"/>
            <a:chExt cx="10728960" cy="4267200"/>
          </a:xfrm>
        </p:grpSpPr>
        <p:sp>
          <p:nvSpPr>
            <p:cNvPr id="24" name="Freeform 24" descr="game_theoretic_convergence.png"/>
            <p:cNvSpPr/>
            <p:nvPr/>
          </p:nvSpPr>
          <p:spPr>
            <a:xfrm>
              <a:off x="0" y="0"/>
              <a:ext cx="10728960" cy="4267200"/>
            </a:xfrm>
            <a:custGeom>
              <a:avLst/>
              <a:gdLst/>
              <a:ahLst/>
              <a:cxnLst/>
              <a:rect l="l" t="t" r="r" b="b"/>
              <a:pathLst>
                <a:path w="10728960" h="4267200">
                  <a:moveTo>
                    <a:pt x="0" y="0"/>
                  </a:moveTo>
                  <a:lnTo>
                    <a:pt x="10728960" y="0"/>
                  </a:lnTo>
                  <a:lnTo>
                    <a:pt x="10728960" y="4267200"/>
                  </a:lnTo>
                  <a:lnTo>
                    <a:pt x="0" y="4267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t="-7473" b="-747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" name="TextBox 11">
            <a:extLst>
              <a:ext uri="{FF2B5EF4-FFF2-40B4-BE49-F238E27FC236}">
                <a16:creationId xmlns:a16="http://schemas.microsoft.com/office/drawing/2014/main" id="{6CAC14B0-46AF-13DC-4147-DAEB80C918E3}"/>
              </a:ext>
            </a:extLst>
          </p:cNvPr>
          <p:cNvSpPr txBox="1"/>
          <p:nvPr/>
        </p:nvSpPr>
        <p:spPr>
          <a:xfrm>
            <a:off x="9418320" y="8915400"/>
            <a:ext cx="7498080" cy="2783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lang="en-US" sz="1899" i="1" dirty="0">
                <a:solidFill>
                  <a:srgbClr val="000000"/>
                </a:solidFill>
                <a:latin typeface="Times New Roman Italics"/>
                <a:ea typeface="Times New Roman Italics"/>
                <a:cs typeface="Times New Roman Italics"/>
                <a:sym typeface="Times New Roman Italics"/>
              </a:rPr>
              <a:t>Figures: Architectural Scalability and Automation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bg_landscape.jp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2840" b="-1284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197864" y="832104"/>
            <a:ext cx="905256" cy="1152144"/>
            <a:chOff x="0" y="0"/>
            <a:chExt cx="1207008" cy="1536192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1207008" cy="1536192"/>
            </a:xfrm>
            <a:custGeom>
              <a:avLst/>
              <a:gdLst/>
              <a:ahLst/>
              <a:cxnLst/>
              <a:rect l="l" t="t" r="r" b="b"/>
              <a:pathLst>
                <a:path w="1207008" h="1536192">
                  <a:moveTo>
                    <a:pt x="0" y="0"/>
                  </a:moveTo>
                  <a:lnTo>
                    <a:pt x="1207008" y="0"/>
                  </a:lnTo>
                  <a:lnTo>
                    <a:pt x="1207008" y="1536192"/>
                  </a:lnTo>
                  <a:lnTo>
                    <a:pt x="0" y="15361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99" r="-9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2441448" y="1005078"/>
            <a:ext cx="12801600" cy="7597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CONCLUSION &amp; CONTRIBUTIONS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672816" y="465582"/>
            <a:ext cx="1600200" cy="320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39"/>
              </a:lnSpc>
            </a:pPr>
            <a:r>
              <a:rPr lang="en-US" sz="21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14/15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35040" y="9225534"/>
            <a:ext cx="6217920" cy="293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9"/>
              </a:lnSpc>
            </a:pPr>
            <a:r>
              <a:rPr lang="en-US" sz="21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Course Title: Project and Thesis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80160" y="1992630"/>
            <a:ext cx="15727680" cy="5219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 unified graph AI and verification framework that resolves the conflict between rapid vulnerability screening and formal soundness.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179195" y="2642235"/>
            <a:ext cx="4408170" cy="613410"/>
            <a:chOff x="0" y="0"/>
            <a:chExt cx="5877560" cy="81788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5877560" cy="817880"/>
            </a:xfrm>
            <a:custGeom>
              <a:avLst/>
              <a:gdLst/>
              <a:ahLst/>
              <a:cxnLst/>
              <a:rect l="l" t="t" r="r" b="b"/>
              <a:pathLst>
                <a:path w="5877560" h="817880">
                  <a:moveTo>
                    <a:pt x="0" y="0"/>
                  </a:moveTo>
                  <a:lnTo>
                    <a:pt x="5877560" y="0"/>
                  </a:lnTo>
                  <a:lnTo>
                    <a:pt x="5877560" y="817880"/>
                  </a:lnTo>
                  <a:lnTo>
                    <a:pt x="0" y="8178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90026" b="-90026"/>
              </a:stretch>
            </a:blip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179195" y="2642235"/>
            <a:ext cx="613410" cy="613410"/>
            <a:chOff x="0" y="0"/>
            <a:chExt cx="817880" cy="81788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7880" cy="817880"/>
            </a:xfrm>
            <a:custGeom>
              <a:avLst/>
              <a:gdLst/>
              <a:ahLst/>
              <a:cxnLst/>
              <a:rect l="l" t="t" r="r" b="b"/>
              <a:pathLst>
                <a:path w="817880" h="817880">
                  <a:moveTo>
                    <a:pt x="0" y="0"/>
                  </a:moveTo>
                  <a:lnTo>
                    <a:pt x="817880" y="0"/>
                  </a:lnTo>
                  <a:lnTo>
                    <a:pt x="817880" y="817880"/>
                  </a:lnTo>
                  <a:lnTo>
                    <a:pt x="0" y="817880"/>
                  </a:lnTo>
                  <a:close/>
                </a:path>
              </a:pathLst>
            </a:custGeom>
            <a:solidFill>
              <a:srgbClr val="000000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19050"/>
              <a:ext cx="817880" cy="8369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920240" y="2651760"/>
            <a:ext cx="3611880" cy="594360"/>
            <a:chOff x="0" y="0"/>
            <a:chExt cx="4815840" cy="79248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815840" cy="792480"/>
            </a:xfrm>
            <a:custGeom>
              <a:avLst/>
              <a:gdLst/>
              <a:ahLst/>
              <a:cxnLst/>
              <a:rect l="l" t="t" r="r" b="b"/>
              <a:pathLst>
                <a:path w="4815840" h="792480">
                  <a:moveTo>
                    <a:pt x="0" y="0"/>
                  </a:moveTo>
                  <a:lnTo>
                    <a:pt x="4815840" y="0"/>
                  </a:lnTo>
                  <a:lnTo>
                    <a:pt x="4815840" y="792480"/>
                  </a:lnTo>
                  <a:lnTo>
                    <a:pt x="0" y="7924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68409" b="-6840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19050"/>
              <a:ext cx="4815840" cy="8115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What We Contributed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280160" y="3409950"/>
            <a:ext cx="8229600" cy="55968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lang="en-US" sz="18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1. AD Graph Schema:</a:t>
            </a:r>
            <a:r>
              <a:rPr lang="en-US" sz="18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Formalized the first heterogeneous graph representation covering 5 entity types and 6 primary ADCS escalation classes.</a:t>
            </a:r>
          </a:p>
          <a:p>
            <a:pPr algn="l">
              <a:lnSpc>
                <a:spcPts val="2279"/>
              </a:lnSpc>
            </a:pPr>
            <a:r>
              <a:rPr lang="en-US" sz="18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2. Deep-Path Retention Proof:</a:t>
            </a:r>
            <a:r>
              <a:rPr lang="en-US" sz="18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Mathematically proved (Theorem 1) and implemented residual skips that preserve features over 4–8 hop chains.</a:t>
            </a:r>
          </a:p>
          <a:p>
            <a:pPr algn="l">
              <a:lnSpc>
                <a:spcPts val="2279"/>
              </a:lnSpc>
            </a:pPr>
            <a:r>
              <a:rPr lang="en-US" sz="18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3. Audited Enterprise Benchmark:</a:t>
            </a:r>
            <a:r>
              <a:rPr lang="en-US" sz="18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Achieved 99.86% Macro-F1 across 700 topologies (+28.2% over heuristics), tested under 96% class imbalance.</a:t>
            </a:r>
          </a:p>
          <a:p>
            <a:pPr algn="l">
              <a:lnSpc>
                <a:spcPts val="2279"/>
              </a:lnSpc>
            </a:pPr>
            <a:r>
              <a:rPr lang="en-US" sz="18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4. Neural Shortcut Discovery:</a:t>
            </a:r>
            <a:r>
              <a:rPr lang="en-US" sz="18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Uncovered that pure GNNs collapse to 1.59% accuracy on adversarial hard negatives due to flag memorization.</a:t>
            </a:r>
          </a:p>
          <a:p>
            <a:pPr algn="l">
              <a:lnSpc>
                <a:spcPts val="2279"/>
              </a:lnSpc>
            </a:pPr>
            <a:r>
              <a:rPr lang="en-US" sz="18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5. Two-Tier Verification Engine:</a:t>
            </a:r>
            <a:r>
              <a:rPr lang="en-US" sz="18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Built a hybrid system combining 18 ms neural screening with 110 ms symbolic verification (zero false negatives).</a:t>
            </a:r>
          </a:p>
          <a:p>
            <a:pPr algn="l">
              <a:lnSpc>
                <a:spcPts val="2279"/>
              </a:lnSpc>
            </a:pPr>
            <a:r>
              <a:rPr lang="en-US" sz="18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6. Automated Remediation Algorithm:</a:t>
            </a:r>
            <a:r>
              <a:rPr lang="en-US" sz="18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Proved MPAI NP-hardness (Theorem 2) and developed a greedy interdiction tool severing 68.6% of attack paths.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10048875" y="2642235"/>
            <a:ext cx="4408170" cy="613410"/>
            <a:chOff x="0" y="0"/>
            <a:chExt cx="5877560" cy="81788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5877560" cy="817880"/>
            </a:xfrm>
            <a:custGeom>
              <a:avLst/>
              <a:gdLst/>
              <a:ahLst/>
              <a:cxnLst/>
              <a:rect l="l" t="t" r="r" b="b"/>
              <a:pathLst>
                <a:path w="5877560" h="817880">
                  <a:moveTo>
                    <a:pt x="0" y="0"/>
                  </a:moveTo>
                  <a:lnTo>
                    <a:pt x="5877560" y="0"/>
                  </a:lnTo>
                  <a:lnTo>
                    <a:pt x="5877560" y="817880"/>
                  </a:lnTo>
                  <a:lnTo>
                    <a:pt x="0" y="8178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90026" b="-90026"/>
              </a:stretch>
            </a:blip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0048875" y="2642235"/>
            <a:ext cx="613410" cy="613410"/>
            <a:chOff x="0" y="0"/>
            <a:chExt cx="817880" cy="81788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17880" cy="817880"/>
            </a:xfrm>
            <a:custGeom>
              <a:avLst/>
              <a:gdLst/>
              <a:ahLst/>
              <a:cxnLst/>
              <a:rect l="l" t="t" r="r" b="b"/>
              <a:pathLst>
                <a:path w="817880" h="817880">
                  <a:moveTo>
                    <a:pt x="0" y="0"/>
                  </a:moveTo>
                  <a:lnTo>
                    <a:pt x="817880" y="0"/>
                  </a:lnTo>
                  <a:lnTo>
                    <a:pt x="817880" y="817880"/>
                  </a:lnTo>
                  <a:lnTo>
                    <a:pt x="0" y="817880"/>
                  </a:lnTo>
                  <a:close/>
                </a:path>
              </a:pathLst>
            </a:custGeom>
            <a:solidFill>
              <a:srgbClr val="000000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19050"/>
              <a:ext cx="817880" cy="8369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2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0789920" y="2651760"/>
            <a:ext cx="3611880" cy="594360"/>
            <a:chOff x="0" y="0"/>
            <a:chExt cx="4815840" cy="79248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815840" cy="792480"/>
            </a:xfrm>
            <a:custGeom>
              <a:avLst/>
              <a:gdLst/>
              <a:ahLst/>
              <a:cxnLst/>
              <a:rect l="l" t="t" r="r" b="b"/>
              <a:pathLst>
                <a:path w="4815840" h="792480">
                  <a:moveTo>
                    <a:pt x="0" y="0"/>
                  </a:moveTo>
                  <a:lnTo>
                    <a:pt x="4815840" y="0"/>
                  </a:lnTo>
                  <a:lnTo>
                    <a:pt x="4815840" y="792480"/>
                  </a:lnTo>
                  <a:lnTo>
                    <a:pt x="0" y="7924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68409" b="-6840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4815840" cy="8115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Limitations &amp; Future Work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0149840" y="3409950"/>
            <a:ext cx="6858000" cy="2487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1. Multi-label vulnerability classification for co-occurring ADCS escalation paths.</a:t>
            </a:r>
          </a:p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2. Support for cloud-hybrid identity fabrics (Microsoft Entra ID / Azure AD).</a:t>
            </a:r>
          </a:p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3. Real-time evaluation of automated remediation in live enterprise cyber-ranges.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0048875" y="6025515"/>
            <a:ext cx="4408170" cy="613410"/>
            <a:chOff x="0" y="0"/>
            <a:chExt cx="5877560" cy="81788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5877560" cy="817880"/>
            </a:xfrm>
            <a:custGeom>
              <a:avLst/>
              <a:gdLst/>
              <a:ahLst/>
              <a:cxnLst/>
              <a:rect l="l" t="t" r="r" b="b"/>
              <a:pathLst>
                <a:path w="5877560" h="817880">
                  <a:moveTo>
                    <a:pt x="0" y="0"/>
                  </a:moveTo>
                  <a:lnTo>
                    <a:pt x="5877560" y="0"/>
                  </a:lnTo>
                  <a:lnTo>
                    <a:pt x="5877560" y="817880"/>
                  </a:lnTo>
                  <a:lnTo>
                    <a:pt x="0" y="8178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90026" b="-90026"/>
              </a:stretch>
            </a:blip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0048875" y="6025515"/>
            <a:ext cx="613410" cy="613410"/>
            <a:chOff x="0" y="0"/>
            <a:chExt cx="817880" cy="81788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7880" cy="817880"/>
            </a:xfrm>
            <a:custGeom>
              <a:avLst/>
              <a:gdLst/>
              <a:ahLst/>
              <a:cxnLst/>
              <a:rect l="l" t="t" r="r" b="b"/>
              <a:pathLst>
                <a:path w="817880" h="817880">
                  <a:moveTo>
                    <a:pt x="0" y="0"/>
                  </a:moveTo>
                  <a:lnTo>
                    <a:pt x="817880" y="0"/>
                  </a:lnTo>
                  <a:lnTo>
                    <a:pt x="817880" y="817880"/>
                  </a:lnTo>
                  <a:lnTo>
                    <a:pt x="0" y="817880"/>
                  </a:lnTo>
                  <a:close/>
                </a:path>
              </a:pathLst>
            </a:custGeom>
            <a:solidFill>
              <a:srgbClr val="000000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19050"/>
              <a:ext cx="817880" cy="8369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3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0789920" y="6035040"/>
            <a:ext cx="3611880" cy="594360"/>
            <a:chOff x="0" y="0"/>
            <a:chExt cx="4815840" cy="79248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4815840" cy="792480"/>
            </a:xfrm>
            <a:custGeom>
              <a:avLst/>
              <a:gdLst/>
              <a:ahLst/>
              <a:cxnLst/>
              <a:rect l="l" t="t" r="r" b="b"/>
              <a:pathLst>
                <a:path w="4815840" h="792480">
                  <a:moveTo>
                    <a:pt x="0" y="0"/>
                  </a:moveTo>
                  <a:lnTo>
                    <a:pt x="4815840" y="0"/>
                  </a:lnTo>
                  <a:lnTo>
                    <a:pt x="4815840" y="792480"/>
                  </a:lnTo>
                  <a:lnTo>
                    <a:pt x="0" y="7924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68409" b="-6840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19050"/>
              <a:ext cx="4815840" cy="8115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Project &amp; Thesis Details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0149840" y="6793230"/>
            <a:ext cx="6858000" cy="2122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Course: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ECE 452 — Project and Thesis</a:t>
            </a:r>
          </a:p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Department: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Electronics and Communication Engineering (ECE)</a:t>
            </a:r>
          </a:p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Institution: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Hajee Mohammad Danesh Science and Technology University (HSTU)</a:t>
            </a:r>
          </a:p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Defense Session:</a:t>
            </a:r>
            <a:r>
              <a:rPr lang="en-US" sz="2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October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4000500" y="-4000500"/>
            <a:ext cx="10287000" cy="18288000"/>
            <a:chOff x="0" y="0"/>
            <a:chExt cx="13716000" cy="24384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716000" cy="24384000"/>
            </a:xfrm>
            <a:custGeom>
              <a:avLst/>
              <a:gdLst/>
              <a:ahLst/>
              <a:cxnLst/>
              <a:rect l="l" t="t" r="r" b="b"/>
              <a:pathLst>
                <a:path w="13716000" h="24384000">
                  <a:moveTo>
                    <a:pt x="13716000" y="0"/>
                  </a:moveTo>
                  <a:lnTo>
                    <a:pt x="13716000" y="24384000"/>
                  </a:lnTo>
                  <a:lnTo>
                    <a:pt x="0" y="24384000"/>
                  </a:lnTo>
                  <a:lnTo>
                    <a:pt x="0" y="0"/>
                  </a:lnTo>
                  <a:lnTo>
                    <a:pt x="13716000" y="0"/>
                  </a:lnTo>
                  <a:close/>
                </a:path>
              </a:pathLst>
            </a:custGeom>
            <a:blipFill>
              <a:blip r:embed="rId3"/>
              <a:stretch>
                <a:fillRect l="-12840" r="-1284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Freeform 4"/>
          <p:cNvSpPr/>
          <p:nvPr/>
        </p:nvSpPr>
        <p:spPr>
          <a:xfrm>
            <a:off x="5486400" y="4265819"/>
            <a:ext cx="7315200" cy="2752344"/>
          </a:xfrm>
          <a:custGeom>
            <a:avLst/>
            <a:gdLst/>
            <a:ahLst/>
            <a:cxnLst/>
            <a:rect l="l" t="t" r="r" b="b"/>
            <a:pathLst>
              <a:path w="7315200" h="2752344">
                <a:moveTo>
                  <a:pt x="0" y="0"/>
                </a:moveTo>
                <a:lnTo>
                  <a:pt x="7315200" y="0"/>
                </a:lnTo>
                <a:lnTo>
                  <a:pt x="7315200" y="2752344"/>
                </a:lnTo>
                <a:lnTo>
                  <a:pt x="0" y="275234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179" b="-17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4274239" y="7510177"/>
            <a:ext cx="9739513" cy="803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49"/>
              </a:lnSpc>
            </a:pPr>
            <a:r>
              <a:rPr lang="en-US" sz="54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ANY QUESTIONS ?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8135788" y="1235307"/>
            <a:ext cx="2016414" cy="2563787"/>
            <a:chOff x="0" y="0"/>
            <a:chExt cx="2688552" cy="341838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688590" cy="3418332"/>
            </a:xfrm>
            <a:custGeom>
              <a:avLst/>
              <a:gdLst/>
              <a:ahLst/>
              <a:cxnLst/>
              <a:rect l="l" t="t" r="r" b="b"/>
              <a:pathLst>
                <a:path w="2688590" h="3418332">
                  <a:moveTo>
                    <a:pt x="0" y="0"/>
                  </a:moveTo>
                  <a:lnTo>
                    <a:pt x="2688590" y="0"/>
                  </a:lnTo>
                  <a:lnTo>
                    <a:pt x="2688590" y="3418332"/>
                  </a:lnTo>
                  <a:lnTo>
                    <a:pt x="0" y="34183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50" r="-48" b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600</TotalTime>
  <Words>3977</Words>
  <Application>Microsoft Office PowerPoint</Application>
  <PresentationFormat>Custom</PresentationFormat>
  <Paragraphs>459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Times New Roman</vt:lpstr>
      <vt:lpstr>Calibri</vt:lpstr>
      <vt:lpstr>Times New Roman Bold</vt:lpstr>
      <vt:lpstr>Courier New</vt:lpstr>
      <vt:lpstr>Calibri (MS) Bold</vt:lpstr>
      <vt:lpstr>Times New Roman Italics</vt:lpstr>
      <vt:lpstr>Cambria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certgraph_thesis_defense.pptx</dc:title>
  <dc:creator>hs32</dc:creator>
  <cp:lastModifiedBy>SHAHRIAR HASAN</cp:lastModifiedBy>
  <cp:revision>4</cp:revision>
  <dcterms:created xsi:type="dcterms:W3CDTF">2006-08-16T00:00:00Z</dcterms:created>
  <dcterms:modified xsi:type="dcterms:W3CDTF">2026-10-10T17:32:34Z</dcterms:modified>
  <dc:identifier>DAHXljjJ_C4</dc:identifier>
</cp:coreProperties>
</file>